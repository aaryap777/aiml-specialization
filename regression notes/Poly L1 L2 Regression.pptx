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9" r:id="rId4"/>
    <p:sldId id="258" r:id="rId5"/>
    <p:sldId id="260" r:id="rId6"/>
    <p:sldId id="262" r:id="rId7"/>
    <p:sldId id="270" r:id="rId8"/>
    <p:sldId id="263" r:id="rId9"/>
    <p:sldId id="261" r:id="rId10"/>
    <p:sldId id="264" r:id="rId11"/>
    <p:sldId id="265" r:id="rId12"/>
    <p:sldId id="266" r:id="rId13"/>
    <p:sldId id="267" r:id="rId14"/>
    <p:sldId id="268" r:id="rId15"/>
    <p:sldId id="269" r:id="rId16"/>
    <p:sldId id="271" r:id="rId17"/>
    <p:sldId id="272" r:id="rId18"/>
    <p:sldId id="275" r:id="rId19"/>
    <p:sldId id="278" r:id="rId20"/>
    <p:sldId id="283" r:id="rId21"/>
    <p:sldId id="279" r:id="rId22"/>
    <p:sldId id="280" r:id="rId23"/>
    <p:sldId id="284" r:id="rId24"/>
    <p:sldId id="285" r:id="rId25"/>
    <p:sldId id="282" r:id="rId26"/>
    <p:sldId id="277" r:id="rId27"/>
    <p:sldId id="274" r:id="rId28"/>
    <p:sldId id="276"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5" autoAdjust="0"/>
    <p:restoredTop sz="91701" autoAdjust="0"/>
  </p:normalViewPr>
  <p:slideViewPr>
    <p:cSldViewPr snapToGrid="0">
      <p:cViewPr varScale="1">
        <p:scale>
          <a:sx n="57" d="100"/>
          <a:sy n="57" d="100"/>
        </p:scale>
        <p:origin x="38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CB03B116-EE6F-4D97-84B1-744F63DBEBD3}" type="datetimeFigureOut">
              <a:rPr lang="en-US" smtClean="0"/>
              <a:t>9/14/2024</a:t>
            </a:fld>
            <a:endParaRPr lang="en-US"/>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D3613423-96B4-48BC-B291-902D5929CE96}" type="slidenum">
              <a:rPr lang="en-US" smtClean="0"/>
              <a:t>‹#›</a:t>
            </a:fld>
            <a:endParaRPr lang="en-US"/>
          </a:p>
        </p:txBody>
      </p:sp>
    </p:spTree>
    <p:extLst>
      <p:ext uri="{BB962C8B-B14F-4D97-AF65-F5344CB8AC3E}">
        <p14:creationId xmlns:p14="http://schemas.microsoft.com/office/powerpoint/2010/main" val="3283869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03B116-EE6F-4D97-84B1-744F63DBEBD3}" type="datetimeFigureOut">
              <a:rPr lang="en-US" smtClean="0"/>
              <a:t>9/14/2024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613423-96B4-48BC-B291-902D5929CE96}" type="slidenum">
              <a:rPr lang="en-US" smtClean="0"/>
              <a:t>‹#›</a:t>
            </a:fld>
            <a:endParaRPr lang="en-US"/>
          </a:p>
        </p:txBody>
      </p:sp>
    </p:spTree>
    <p:extLst>
      <p:ext uri="{BB962C8B-B14F-4D97-AF65-F5344CB8AC3E}">
        <p14:creationId xmlns:p14="http://schemas.microsoft.com/office/powerpoint/2010/main" val="1232447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03B116-EE6F-4D97-84B1-744F63DBEBD3}" type="datetimeFigureOut">
              <a:rPr lang="en-US" smtClean="0"/>
              <a:t>9/14/2024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613423-96B4-48BC-B291-902D5929CE96}" type="slidenum">
              <a:rPr lang="en-US" smtClean="0"/>
              <a:t>‹#›</a:t>
            </a:fld>
            <a:endParaRPr lang="en-US"/>
          </a:p>
        </p:txBody>
      </p:sp>
    </p:spTree>
    <p:extLst>
      <p:ext uri="{BB962C8B-B14F-4D97-AF65-F5344CB8AC3E}">
        <p14:creationId xmlns:p14="http://schemas.microsoft.com/office/powerpoint/2010/main" val="3443885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B03B116-EE6F-4D97-84B1-744F63DBEBD3}" type="datetimeFigureOut">
              <a:rPr lang="en-US" smtClean="0"/>
              <a:t>9/14/2024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613423-96B4-48BC-B291-902D5929CE96}" type="slidenum">
              <a:rPr lang="en-US" smtClean="0"/>
              <a:t>‹#›</a:t>
            </a:fld>
            <a:endParaRPr lang="en-US"/>
          </a:p>
        </p:txBody>
      </p:sp>
    </p:spTree>
    <p:extLst>
      <p:ext uri="{BB962C8B-B14F-4D97-AF65-F5344CB8AC3E}">
        <p14:creationId xmlns:p14="http://schemas.microsoft.com/office/powerpoint/2010/main" val="236009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B03B116-EE6F-4D97-84B1-744F63DBEBD3}" type="datetimeFigureOut">
              <a:rPr lang="en-US" smtClean="0"/>
              <a:t>9/14/2024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3613423-96B4-48BC-B291-902D5929CE96}" type="slidenum">
              <a:rPr lang="en-US" smtClean="0"/>
              <a:t>‹#›</a:t>
            </a:fld>
            <a:endParaRPr lang="en-US"/>
          </a:p>
        </p:txBody>
      </p:sp>
    </p:spTree>
    <p:extLst>
      <p:ext uri="{BB962C8B-B14F-4D97-AF65-F5344CB8AC3E}">
        <p14:creationId xmlns:p14="http://schemas.microsoft.com/office/powerpoint/2010/main" val="3817714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B03B116-EE6F-4D97-84B1-744F63DBEBD3}" type="datetimeFigureOut">
              <a:rPr lang="en-US" smtClean="0"/>
              <a:t>9/14/2024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3613423-96B4-48BC-B291-902D5929CE96}" type="slidenum">
              <a:rPr lang="en-US" smtClean="0"/>
              <a:t>‹#›</a:t>
            </a:fld>
            <a:endParaRPr lang="en-US"/>
          </a:p>
        </p:txBody>
      </p:sp>
    </p:spTree>
    <p:extLst>
      <p:ext uri="{BB962C8B-B14F-4D97-AF65-F5344CB8AC3E}">
        <p14:creationId xmlns:p14="http://schemas.microsoft.com/office/powerpoint/2010/main" val="3596523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03B116-EE6F-4D97-84B1-744F63DBEBD3}" type="datetimeFigureOut">
              <a:rPr lang="en-US" smtClean="0"/>
              <a:t>9/14/2024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3613423-96B4-48BC-B291-902D5929CE96}" type="slidenum">
              <a:rPr lang="en-US" smtClean="0"/>
              <a:t>‹#›</a:t>
            </a:fld>
            <a:endParaRPr lang="en-US"/>
          </a:p>
        </p:txBody>
      </p:sp>
    </p:spTree>
    <p:extLst>
      <p:ext uri="{BB962C8B-B14F-4D97-AF65-F5344CB8AC3E}">
        <p14:creationId xmlns:p14="http://schemas.microsoft.com/office/powerpoint/2010/main" val="2727411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CB03B116-EE6F-4D97-84B1-744F63DBEBD3}" type="datetimeFigureOut">
              <a:rPr lang="en-US" smtClean="0"/>
              <a:t>9/14/2024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D3613423-96B4-48BC-B291-902D5929CE96}" type="slidenum">
              <a:rPr lang="en-US" smtClean="0"/>
              <a:t>‹#›</a:t>
            </a:fld>
            <a:endParaRPr lang="en-US"/>
          </a:p>
        </p:txBody>
      </p:sp>
    </p:spTree>
    <p:extLst>
      <p:ext uri="{BB962C8B-B14F-4D97-AF65-F5344CB8AC3E}">
        <p14:creationId xmlns:p14="http://schemas.microsoft.com/office/powerpoint/2010/main" val="4075068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CB03B116-EE6F-4D97-84B1-744F63DBEBD3}" type="datetimeFigureOut">
              <a:rPr lang="en-US" smtClean="0"/>
              <a:t>9/14/2024</a:t>
            </a:fld>
            <a:endParaRPr lang="en-US"/>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D3613423-96B4-48BC-B291-902D5929CE96}" type="slidenum">
              <a:rPr lang="en-US" smtClean="0"/>
              <a:t>‹#›</a:t>
            </a:fld>
            <a:endParaRPr lang="en-US"/>
          </a:p>
        </p:txBody>
      </p:sp>
    </p:spTree>
    <p:extLst>
      <p:ext uri="{BB962C8B-B14F-4D97-AF65-F5344CB8AC3E}">
        <p14:creationId xmlns:p14="http://schemas.microsoft.com/office/powerpoint/2010/main" val="472425730"/>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03B116-EE6F-4D97-84B1-744F63DBEBD3}" type="datetimeFigureOut">
              <a:rPr lang="en-US" smtClean="0"/>
              <a:t>9/14/2024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613423-96B4-48BC-B291-902D5929CE96}" type="slidenum">
              <a:rPr lang="en-US" smtClean="0"/>
              <a:t>‹#›</a:t>
            </a:fld>
            <a:endParaRPr lang="en-US"/>
          </a:p>
        </p:txBody>
      </p:sp>
    </p:spTree>
    <p:extLst>
      <p:ext uri="{BB962C8B-B14F-4D97-AF65-F5344CB8AC3E}">
        <p14:creationId xmlns:p14="http://schemas.microsoft.com/office/powerpoint/2010/main" val="2675861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03B116-EE6F-4D97-84B1-744F63DBEBD3}" type="datetimeFigureOut">
              <a:rPr lang="en-US" smtClean="0"/>
              <a:t>9/14/2024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613423-96B4-48BC-B291-902D5929CE96}" type="slidenum">
              <a:rPr lang="en-US" smtClean="0"/>
              <a:t>‹#›</a:t>
            </a:fld>
            <a:endParaRPr lang="en-US"/>
          </a:p>
        </p:txBody>
      </p:sp>
    </p:spTree>
    <p:extLst>
      <p:ext uri="{BB962C8B-B14F-4D97-AF65-F5344CB8AC3E}">
        <p14:creationId xmlns:p14="http://schemas.microsoft.com/office/powerpoint/2010/main" val="21936564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CB03B116-EE6F-4D97-84B1-744F63DBEBD3}" type="datetimeFigureOut">
              <a:rPr lang="en-US" smtClean="0"/>
              <a:t>9/14/2024</a:t>
            </a:fld>
            <a:endParaRPr lang="en-US"/>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US"/>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D3613423-96B4-48BC-B291-902D5929CE96}" type="slidenum">
              <a:rPr lang="en-US" smtClean="0"/>
              <a:t>‹#›</a:t>
            </a:fld>
            <a:endParaRPr lang="en-US"/>
          </a:p>
        </p:txBody>
      </p:sp>
    </p:spTree>
    <p:extLst>
      <p:ext uri="{BB962C8B-B14F-4D97-AF65-F5344CB8AC3E}">
        <p14:creationId xmlns:p14="http://schemas.microsoft.com/office/powerpoint/2010/main" val="4558859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enago.com/academy/quick-guide-to-biostatistics-in-clinical-research-regression-analysis/" TargetMode="External"/><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hyperlink" Target="https://creativecommons.org/licenses/by-nc-sa/3.0/"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 Id="rId5" Type="http://schemas.openxmlformats.org/officeDocument/2006/relationships/image" Target="../media/image29.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D4995BF0-8E87-4ECF-904C-D047955C15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933204-182C-772E-D7AE-6AC5AB16D958}"/>
              </a:ext>
            </a:extLst>
          </p:cNvPr>
          <p:cNvSpPr>
            <a:spLocks noGrp="1"/>
          </p:cNvSpPr>
          <p:nvPr>
            <p:ph type="ctrTitle"/>
          </p:nvPr>
        </p:nvSpPr>
        <p:spPr>
          <a:xfrm>
            <a:off x="609601" y="4385066"/>
            <a:ext cx="10923638" cy="1317643"/>
          </a:xfrm>
        </p:spPr>
        <p:txBody>
          <a:bodyPr>
            <a:normAutofit/>
          </a:bodyPr>
          <a:lstStyle/>
          <a:p>
            <a:r>
              <a:rPr lang="en-IN" sz="7200" dirty="0"/>
              <a:t>Regression</a:t>
            </a:r>
            <a:endParaRPr lang="en-US" sz="7200" dirty="0"/>
          </a:p>
        </p:txBody>
      </p:sp>
      <p:sp>
        <p:nvSpPr>
          <p:cNvPr id="3" name="Subtitle 2">
            <a:extLst>
              <a:ext uri="{FF2B5EF4-FFF2-40B4-BE49-F238E27FC236}">
                <a16:creationId xmlns:a16="http://schemas.microsoft.com/office/drawing/2014/main" id="{1A3B7E20-A008-9B83-DDA7-7F68D3366195}"/>
              </a:ext>
            </a:extLst>
          </p:cNvPr>
          <p:cNvSpPr>
            <a:spLocks noGrp="1"/>
          </p:cNvSpPr>
          <p:nvPr>
            <p:ph type="subTitle" idx="1"/>
          </p:nvPr>
        </p:nvSpPr>
        <p:spPr>
          <a:xfrm>
            <a:off x="609600" y="5702709"/>
            <a:ext cx="10923638" cy="521109"/>
          </a:xfrm>
        </p:spPr>
        <p:txBody>
          <a:bodyPr>
            <a:normAutofit/>
          </a:bodyPr>
          <a:lstStyle/>
          <a:p>
            <a:endParaRPr lang="en-US">
              <a:solidFill>
                <a:srgbClr val="FFFFFF"/>
              </a:solidFill>
            </a:endParaRPr>
          </a:p>
        </p:txBody>
      </p:sp>
      <p:pic>
        <p:nvPicPr>
          <p:cNvPr id="6" name="Picture 5" descr="A graph with a dotted line&#10;&#10;Description automatically generated">
            <a:extLst>
              <a:ext uri="{FF2B5EF4-FFF2-40B4-BE49-F238E27FC236}">
                <a16:creationId xmlns:a16="http://schemas.microsoft.com/office/drawing/2014/main" id="{09D57D7E-5E5D-A8D8-2C23-4586A88F5C01}"/>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7327"/>
          <a:stretch/>
        </p:blipFill>
        <p:spPr>
          <a:xfrm>
            <a:off x="1" y="10"/>
            <a:ext cx="12192000" cy="4242806"/>
          </a:xfrm>
          <a:prstGeom prst="rect">
            <a:avLst/>
          </a:prstGeom>
        </p:spPr>
      </p:pic>
      <p:sp>
        <p:nvSpPr>
          <p:cNvPr id="13" name="TextBox 12">
            <a:extLst>
              <a:ext uri="{FF2B5EF4-FFF2-40B4-BE49-F238E27FC236}">
                <a16:creationId xmlns:a16="http://schemas.microsoft.com/office/drawing/2014/main" id="{769DE1DD-996F-45D5-22B2-92498719B099}"/>
              </a:ext>
            </a:extLst>
          </p:cNvPr>
          <p:cNvSpPr txBox="1"/>
          <p:nvPr/>
        </p:nvSpPr>
        <p:spPr>
          <a:xfrm>
            <a:off x="9777558" y="4042761"/>
            <a:ext cx="2414443"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3" tooltip="https://www.enago.com/academy/quick-guide-to-biostatistics-in-clinical-research-regression-analysis/">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tooltip="https://creativecommons.org/licenses/by-nc-sa/3.0/">
                  <a:extLst>
                    <a:ext uri="{A12FA001-AC4F-418D-AE19-62706E023703}">
                      <ahyp:hlinkClr xmlns:ahyp="http://schemas.microsoft.com/office/drawing/2018/hyperlinkcolor" val="tx"/>
                    </a:ext>
                  </a:extLst>
                </a:hlinkClick>
              </a:rPr>
              <a:t>CC BY-SA-NC</a:t>
            </a:r>
            <a:endParaRPr lang="en-US" sz="700">
              <a:solidFill>
                <a:srgbClr val="FFFFFF"/>
              </a:solidFill>
            </a:endParaRPr>
          </a:p>
        </p:txBody>
      </p:sp>
    </p:spTree>
    <p:extLst>
      <p:ext uri="{BB962C8B-B14F-4D97-AF65-F5344CB8AC3E}">
        <p14:creationId xmlns:p14="http://schemas.microsoft.com/office/powerpoint/2010/main" val="320926117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9BC5E27-AEE0-4C15-3B6F-5CBE8EAE4220}"/>
              </a:ext>
            </a:extLst>
          </p:cNvPr>
          <p:cNvSpPr>
            <a:spLocks noGrp="1"/>
          </p:cNvSpPr>
          <p:nvPr>
            <p:ph type="title"/>
          </p:nvPr>
        </p:nvSpPr>
        <p:spPr>
          <a:xfrm>
            <a:off x="709612" y="-41071"/>
            <a:ext cx="10772775" cy="1658198"/>
          </a:xfrm>
        </p:spPr>
        <p:txBody>
          <a:bodyPr/>
          <a:lstStyle/>
          <a:p>
            <a:r>
              <a:rPr lang="en-IN" dirty="0"/>
              <a:t>Polynomial Regression</a:t>
            </a:r>
            <a:endParaRPr lang="en-US" dirty="0"/>
          </a:p>
        </p:txBody>
      </p:sp>
      <p:sp>
        <p:nvSpPr>
          <p:cNvPr id="24" name="TextBox 23">
            <a:extLst>
              <a:ext uri="{FF2B5EF4-FFF2-40B4-BE49-F238E27FC236}">
                <a16:creationId xmlns:a16="http://schemas.microsoft.com/office/drawing/2014/main" id="{E5A59313-7618-F1C9-5A16-7C7E1513FADE}"/>
              </a:ext>
            </a:extLst>
          </p:cNvPr>
          <p:cNvSpPr txBox="1"/>
          <p:nvPr/>
        </p:nvSpPr>
        <p:spPr>
          <a:xfrm>
            <a:off x="1421826" y="1522022"/>
            <a:ext cx="9035143" cy="646331"/>
          </a:xfrm>
          <a:prstGeom prst="rect">
            <a:avLst/>
          </a:prstGeom>
          <a:noFill/>
        </p:spPr>
        <p:txBody>
          <a:bodyPr wrap="square" rtlCol="0">
            <a:spAutoFit/>
          </a:bodyPr>
          <a:lstStyle/>
          <a:p>
            <a:pPr algn="just"/>
            <a:r>
              <a:rPr lang="en-US" b="1" dirty="0"/>
              <a:t>Polynomial regression</a:t>
            </a:r>
            <a:r>
              <a:rPr lang="en-US" dirty="0"/>
              <a:t> is a type of regression analysis where the relationship between the independent variable X and the dependent variable y is modeled as an nth degree polynomial. </a:t>
            </a:r>
          </a:p>
        </p:txBody>
      </p:sp>
      <p:pic>
        <p:nvPicPr>
          <p:cNvPr id="27" name="Picture 26">
            <a:extLst>
              <a:ext uri="{FF2B5EF4-FFF2-40B4-BE49-F238E27FC236}">
                <a16:creationId xmlns:a16="http://schemas.microsoft.com/office/drawing/2014/main" id="{73EF4D6D-EA04-6459-D9AF-39586157F35F}"/>
              </a:ext>
            </a:extLst>
          </p:cNvPr>
          <p:cNvPicPr>
            <a:picLocks noChangeAspect="1"/>
          </p:cNvPicPr>
          <p:nvPr/>
        </p:nvPicPr>
        <p:blipFill>
          <a:blip r:embed="rId2"/>
          <a:stretch>
            <a:fillRect/>
          </a:stretch>
        </p:blipFill>
        <p:spPr>
          <a:xfrm>
            <a:off x="2557672" y="2462793"/>
            <a:ext cx="6763453" cy="966207"/>
          </a:xfrm>
          <a:prstGeom prst="rect">
            <a:avLst/>
          </a:prstGeom>
        </p:spPr>
      </p:pic>
      <p:pic>
        <p:nvPicPr>
          <p:cNvPr id="41" name="Picture 40">
            <a:extLst>
              <a:ext uri="{FF2B5EF4-FFF2-40B4-BE49-F238E27FC236}">
                <a16:creationId xmlns:a16="http://schemas.microsoft.com/office/drawing/2014/main" id="{E45DB912-9856-EBEE-6332-E205EC77AC24}"/>
              </a:ext>
            </a:extLst>
          </p:cNvPr>
          <p:cNvPicPr>
            <a:picLocks noChangeAspect="1"/>
          </p:cNvPicPr>
          <p:nvPr/>
        </p:nvPicPr>
        <p:blipFill rotWithShape="1">
          <a:blip r:embed="rId3"/>
          <a:srcRect t="2296"/>
          <a:stretch/>
        </p:blipFill>
        <p:spPr>
          <a:xfrm>
            <a:off x="4194463" y="3649218"/>
            <a:ext cx="3958938" cy="2487597"/>
          </a:xfrm>
          <a:prstGeom prst="rect">
            <a:avLst/>
          </a:prstGeom>
        </p:spPr>
      </p:pic>
    </p:spTree>
    <p:extLst>
      <p:ext uri="{BB962C8B-B14F-4D97-AF65-F5344CB8AC3E}">
        <p14:creationId xmlns:p14="http://schemas.microsoft.com/office/powerpoint/2010/main" val="3869548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CC884B-3227-1F10-A71F-5A538EF7BCD1}"/>
              </a:ext>
            </a:extLst>
          </p:cNvPr>
          <p:cNvSpPr>
            <a:spLocks noGrp="1"/>
          </p:cNvSpPr>
          <p:nvPr>
            <p:ph type="title"/>
          </p:nvPr>
        </p:nvSpPr>
        <p:spPr>
          <a:xfrm>
            <a:off x="297197" y="-227896"/>
            <a:ext cx="10772775" cy="1658198"/>
          </a:xfrm>
        </p:spPr>
        <p:txBody>
          <a:bodyPr/>
          <a:lstStyle/>
          <a:p>
            <a:r>
              <a:rPr lang="en-US" dirty="0"/>
              <a:t>Why Use Polynomial Regression?</a:t>
            </a:r>
          </a:p>
        </p:txBody>
      </p:sp>
      <p:sp>
        <p:nvSpPr>
          <p:cNvPr id="4" name="Content Placeholder 3">
            <a:extLst>
              <a:ext uri="{FF2B5EF4-FFF2-40B4-BE49-F238E27FC236}">
                <a16:creationId xmlns:a16="http://schemas.microsoft.com/office/drawing/2014/main" id="{3F617C45-98C9-49D7-3AA8-22D46931D483}"/>
              </a:ext>
            </a:extLst>
          </p:cNvPr>
          <p:cNvSpPr>
            <a:spLocks noGrp="1"/>
          </p:cNvSpPr>
          <p:nvPr>
            <p:ph idx="1"/>
          </p:nvPr>
        </p:nvSpPr>
        <p:spPr>
          <a:xfrm>
            <a:off x="562534" y="1125281"/>
            <a:ext cx="10753725" cy="3766185"/>
          </a:xfrm>
        </p:spPr>
        <p:txBody>
          <a:bodyPr/>
          <a:lstStyle/>
          <a:p>
            <a:pPr marL="457200" indent="-457200" algn="just">
              <a:buFont typeface="+mj-lt"/>
              <a:buAutoNum type="arabicPeriod"/>
            </a:pPr>
            <a:r>
              <a:rPr lang="en-US" b="1" dirty="0"/>
              <a:t>Non-linear Relationships: </a:t>
            </a:r>
            <a:r>
              <a:rPr lang="en-US" dirty="0"/>
              <a:t>If the relationship between the independent and dependent variables is non-linear, polynomial regression can model the curvature in the data.</a:t>
            </a:r>
          </a:p>
          <a:p>
            <a:pPr marL="457200" indent="-457200" algn="just">
              <a:buFont typeface="+mj-lt"/>
              <a:buAutoNum type="arabicPeriod"/>
            </a:pPr>
            <a:r>
              <a:rPr lang="en-US" b="1" dirty="0"/>
              <a:t>Flexibility: </a:t>
            </a:r>
            <a:r>
              <a:rPr lang="en-US" dirty="0"/>
              <a:t>By adjusting the degree of the polynomial, you can fit a wider range of shapes to the data, providing a better fit compared to linear regression.</a:t>
            </a:r>
          </a:p>
        </p:txBody>
      </p:sp>
      <p:pic>
        <p:nvPicPr>
          <p:cNvPr id="32" name="Picture 31">
            <a:extLst>
              <a:ext uri="{FF2B5EF4-FFF2-40B4-BE49-F238E27FC236}">
                <a16:creationId xmlns:a16="http://schemas.microsoft.com/office/drawing/2014/main" id="{2040194E-64D1-A7F5-3BFF-5987985A7C87}"/>
              </a:ext>
            </a:extLst>
          </p:cNvPr>
          <p:cNvPicPr>
            <a:picLocks noChangeAspect="1"/>
          </p:cNvPicPr>
          <p:nvPr/>
        </p:nvPicPr>
        <p:blipFill>
          <a:blip r:embed="rId2"/>
          <a:stretch>
            <a:fillRect/>
          </a:stretch>
        </p:blipFill>
        <p:spPr>
          <a:xfrm>
            <a:off x="1421828" y="3143618"/>
            <a:ext cx="4453215" cy="2622030"/>
          </a:xfrm>
          <a:prstGeom prst="rect">
            <a:avLst/>
          </a:prstGeom>
        </p:spPr>
      </p:pic>
      <p:pic>
        <p:nvPicPr>
          <p:cNvPr id="33" name="Picture 32">
            <a:extLst>
              <a:ext uri="{FF2B5EF4-FFF2-40B4-BE49-F238E27FC236}">
                <a16:creationId xmlns:a16="http://schemas.microsoft.com/office/drawing/2014/main" id="{5046C726-6FA5-1EBF-B6BA-6F99EBDB59C6}"/>
              </a:ext>
            </a:extLst>
          </p:cNvPr>
          <p:cNvPicPr>
            <a:picLocks noChangeAspect="1"/>
          </p:cNvPicPr>
          <p:nvPr/>
        </p:nvPicPr>
        <p:blipFill>
          <a:blip r:embed="rId3"/>
          <a:stretch>
            <a:fillRect/>
          </a:stretch>
        </p:blipFill>
        <p:spPr>
          <a:xfrm>
            <a:off x="5875043" y="3069282"/>
            <a:ext cx="4599837" cy="2791354"/>
          </a:xfrm>
          <a:prstGeom prst="rect">
            <a:avLst/>
          </a:prstGeom>
        </p:spPr>
      </p:pic>
      <p:pic>
        <p:nvPicPr>
          <p:cNvPr id="37" name="Picture 36">
            <a:extLst>
              <a:ext uri="{FF2B5EF4-FFF2-40B4-BE49-F238E27FC236}">
                <a16:creationId xmlns:a16="http://schemas.microsoft.com/office/drawing/2014/main" id="{DFE8C0FE-F3BA-5DAF-D52E-5D793DA28A9B}"/>
              </a:ext>
            </a:extLst>
          </p:cNvPr>
          <p:cNvPicPr>
            <a:picLocks noChangeAspect="1"/>
          </p:cNvPicPr>
          <p:nvPr/>
        </p:nvPicPr>
        <p:blipFill>
          <a:blip r:embed="rId4"/>
          <a:stretch>
            <a:fillRect/>
          </a:stretch>
        </p:blipFill>
        <p:spPr>
          <a:xfrm>
            <a:off x="4424464" y="6081796"/>
            <a:ext cx="3029867" cy="682787"/>
          </a:xfrm>
          <a:prstGeom prst="rect">
            <a:avLst/>
          </a:prstGeom>
        </p:spPr>
      </p:pic>
      <p:sp>
        <p:nvSpPr>
          <p:cNvPr id="39" name="TextBox 38">
            <a:extLst>
              <a:ext uri="{FF2B5EF4-FFF2-40B4-BE49-F238E27FC236}">
                <a16:creationId xmlns:a16="http://schemas.microsoft.com/office/drawing/2014/main" id="{C76BEB7F-FEE4-97C9-3F05-7FDCCB866263}"/>
              </a:ext>
            </a:extLst>
          </p:cNvPr>
          <p:cNvSpPr txBox="1"/>
          <p:nvPr/>
        </p:nvSpPr>
        <p:spPr>
          <a:xfrm>
            <a:off x="1421828" y="5887465"/>
            <a:ext cx="8523514" cy="369332"/>
          </a:xfrm>
          <a:prstGeom prst="rect">
            <a:avLst/>
          </a:prstGeom>
          <a:noFill/>
        </p:spPr>
        <p:txBody>
          <a:bodyPr wrap="square">
            <a:spAutoFit/>
          </a:bodyPr>
          <a:lstStyle/>
          <a:p>
            <a:r>
              <a:rPr lang="en-US" dirty="0"/>
              <a:t>For example, a polynomial regression model of degree 2 (a quadratic model) is given by:</a:t>
            </a:r>
          </a:p>
        </p:txBody>
      </p:sp>
    </p:spTree>
    <p:extLst>
      <p:ext uri="{BB962C8B-B14F-4D97-AF65-F5344CB8AC3E}">
        <p14:creationId xmlns:p14="http://schemas.microsoft.com/office/powerpoint/2010/main" val="2441775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20C03-E21A-5367-49DE-1C73CB773431}"/>
              </a:ext>
            </a:extLst>
          </p:cNvPr>
          <p:cNvSpPr>
            <a:spLocks noGrp="1"/>
          </p:cNvSpPr>
          <p:nvPr>
            <p:ph type="title"/>
          </p:nvPr>
        </p:nvSpPr>
        <p:spPr>
          <a:xfrm>
            <a:off x="657223" y="0"/>
            <a:ext cx="10446205" cy="991810"/>
          </a:xfrm>
        </p:spPr>
        <p:txBody>
          <a:bodyPr/>
          <a:lstStyle/>
          <a:p>
            <a:r>
              <a:rPr lang="en-IN" dirty="0"/>
              <a:t>Steps –&gt; Salary Prediction</a:t>
            </a:r>
            <a:endParaRPr lang="en-US" dirty="0"/>
          </a:p>
        </p:txBody>
      </p:sp>
      <p:pic>
        <p:nvPicPr>
          <p:cNvPr id="4" name="Picture 3">
            <a:extLst>
              <a:ext uri="{FF2B5EF4-FFF2-40B4-BE49-F238E27FC236}">
                <a16:creationId xmlns:a16="http://schemas.microsoft.com/office/drawing/2014/main" id="{4CE7BE61-03DB-9891-1D3D-F8867CF8EBFC}"/>
              </a:ext>
            </a:extLst>
          </p:cNvPr>
          <p:cNvPicPr>
            <a:picLocks noChangeAspect="1"/>
          </p:cNvPicPr>
          <p:nvPr/>
        </p:nvPicPr>
        <p:blipFill>
          <a:blip r:embed="rId2"/>
          <a:stretch>
            <a:fillRect/>
          </a:stretch>
        </p:blipFill>
        <p:spPr>
          <a:xfrm>
            <a:off x="2823918" y="1184447"/>
            <a:ext cx="6298310" cy="5414487"/>
          </a:xfrm>
          <a:prstGeom prst="rect">
            <a:avLst/>
          </a:prstGeom>
        </p:spPr>
      </p:pic>
    </p:spTree>
    <p:extLst>
      <p:ext uri="{BB962C8B-B14F-4D97-AF65-F5344CB8AC3E}">
        <p14:creationId xmlns:p14="http://schemas.microsoft.com/office/powerpoint/2010/main" val="1080031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D035D32-76AC-30C5-C241-3E4164C7DC17}"/>
              </a:ext>
            </a:extLst>
          </p:cNvPr>
          <p:cNvSpPr>
            <a:spLocks noGrp="1"/>
          </p:cNvSpPr>
          <p:nvPr>
            <p:ph type="title"/>
          </p:nvPr>
        </p:nvSpPr>
        <p:spPr>
          <a:xfrm>
            <a:off x="372720" y="183848"/>
            <a:ext cx="11057661" cy="1658198"/>
          </a:xfrm>
        </p:spPr>
        <p:txBody>
          <a:bodyPr>
            <a:normAutofit/>
          </a:bodyPr>
          <a:lstStyle/>
          <a:p>
            <a:r>
              <a:rPr lang="en-US" sz="3600" b="1" dirty="0"/>
              <a:t>Overfitting and regularization in linear regression and logistic regression </a:t>
            </a:r>
          </a:p>
        </p:txBody>
      </p:sp>
      <p:sp>
        <p:nvSpPr>
          <p:cNvPr id="4" name="Content Placeholder 3">
            <a:extLst>
              <a:ext uri="{FF2B5EF4-FFF2-40B4-BE49-F238E27FC236}">
                <a16:creationId xmlns:a16="http://schemas.microsoft.com/office/drawing/2014/main" id="{DEBB0249-55A0-C785-D126-ED6121611D73}"/>
              </a:ext>
            </a:extLst>
          </p:cNvPr>
          <p:cNvSpPr>
            <a:spLocks noGrp="1"/>
          </p:cNvSpPr>
          <p:nvPr>
            <p:ph idx="1"/>
          </p:nvPr>
        </p:nvSpPr>
        <p:spPr>
          <a:xfrm>
            <a:off x="372720" y="1698171"/>
            <a:ext cx="5572922" cy="4713514"/>
          </a:xfrm>
        </p:spPr>
        <p:txBody>
          <a:bodyPr>
            <a:normAutofit fontScale="92500" lnSpcReduction="20000"/>
          </a:bodyPr>
          <a:lstStyle/>
          <a:p>
            <a:pPr algn="just">
              <a:buFont typeface="Wingdings" panose="05000000000000000000" pitchFamily="2" charset="2"/>
              <a:buChar char="Ø"/>
            </a:pPr>
            <a:r>
              <a:rPr lang="en-US" sz="2200" b="1" dirty="0">
                <a:latin typeface="Cambria" panose="02040503050406030204" pitchFamily="18" charset="0"/>
                <a:ea typeface="Cambria" panose="02040503050406030204" pitchFamily="18" charset="0"/>
              </a:rPr>
              <a:t>Overfitting</a:t>
            </a:r>
            <a:r>
              <a:rPr lang="en-US" sz="2200" dirty="0">
                <a:latin typeface="Cambria" panose="02040503050406030204" pitchFamily="18" charset="0"/>
                <a:ea typeface="Cambria" panose="02040503050406030204" pitchFamily="18" charset="0"/>
              </a:rPr>
              <a:t> occurs when a model performs very well on training data but poorly on new, unseen data.</a:t>
            </a:r>
          </a:p>
          <a:p>
            <a:pPr marL="0" indent="0" algn="just">
              <a:buNone/>
            </a:pPr>
            <a:endParaRPr lang="en-US" sz="22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200" b="1" dirty="0">
                <a:latin typeface="Cambria" panose="02040503050406030204" pitchFamily="18" charset="0"/>
                <a:ea typeface="Cambria" panose="02040503050406030204" pitchFamily="18" charset="0"/>
              </a:rPr>
              <a:t>Underfitting</a:t>
            </a:r>
            <a:r>
              <a:rPr lang="en-US" sz="2200" dirty="0">
                <a:latin typeface="Cambria" panose="02040503050406030204" pitchFamily="18" charset="0"/>
                <a:ea typeface="Cambria" panose="02040503050406030204" pitchFamily="18" charset="0"/>
              </a:rPr>
              <a:t> occurs when a model is too simple to capture the underlying patterns in the data, resulting in poor performance on both training and test datasets.</a:t>
            </a:r>
          </a:p>
          <a:p>
            <a:pPr algn="just">
              <a:buFont typeface="Wingdings" panose="05000000000000000000" pitchFamily="2" charset="2"/>
              <a:buChar char="Ø"/>
            </a:pPr>
            <a:endParaRPr lang="en-US" sz="22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200" b="1" dirty="0">
                <a:latin typeface="Cambria" panose="02040503050406030204" pitchFamily="18" charset="0"/>
                <a:ea typeface="Cambria" panose="02040503050406030204" pitchFamily="18" charset="0"/>
              </a:rPr>
              <a:t>Linear Regression:</a:t>
            </a:r>
          </a:p>
          <a:p>
            <a:pPr marL="256032" lvl="1" indent="0" algn="just">
              <a:buNone/>
            </a:pPr>
            <a:r>
              <a:rPr lang="en-US" sz="2200" b="1" dirty="0">
                <a:latin typeface="Cambria" panose="02040503050406030204" pitchFamily="18" charset="0"/>
                <a:ea typeface="Cambria" panose="02040503050406030204" pitchFamily="18" charset="0"/>
              </a:rPr>
              <a:t>Overfitting</a:t>
            </a:r>
            <a:r>
              <a:rPr lang="en-US" sz="2200" dirty="0">
                <a:latin typeface="Cambria" panose="02040503050406030204" pitchFamily="18" charset="0"/>
                <a:ea typeface="Cambria" panose="02040503050406030204" pitchFamily="18" charset="0"/>
              </a:rPr>
              <a:t> in linear regression happens when the model has too many features or a very high polynomial degree.</a:t>
            </a:r>
          </a:p>
          <a:p>
            <a:pPr marL="256032" lvl="1" indent="0" algn="just">
              <a:buNone/>
            </a:pPr>
            <a:endParaRPr lang="en-US" sz="22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200" b="1" dirty="0">
                <a:latin typeface="Cambria" panose="02040503050406030204" pitchFamily="18" charset="0"/>
                <a:ea typeface="Cambria" panose="02040503050406030204" pitchFamily="18" charset="0"/>
              </a:rPr>
              <a:t>Logistic Regression:</a:t>
            </a:r>
          </a:p>
          <a:p>
            <a:pPr marL="256032" lvl="1" indent="0" algn="just">
              <a:buNone/>
            </a:pPr>
            <a:r>
              <a:rPr lang="en-US" sz="2200" b="1" dirty="0">
                <a:latin typeface="Cambria" panose="02040503050406030204" pitchFamily="18" charset="0"/>
                <a:ea typeface="Cambria" panose="02040503050406030204" pitchFamily="18" charset="0"/>
              </a:rPr>
              <a:t>Overfitting</a:t>
            </a:r>
            <a:r>
              <a:rPr lang="en-US" sz="2200" dirty="0">
                <a:latin typeface="Cambria" panose="02040503050406030204" pitchFamily="18" charset="0"/>
                <a:ea typeface="Cambria" panose="02040503050406030204" pitchFamily="18" charset="0"/>
              </a:rPr>
              <a:t> in logistic regression can also occur when there are too many features relative to the number of observations. </a:t>
            </a:r>
          </a:p>
          <a:p>
            <a:pPr algn="just"/>
            <a:endParaRPr lang="en-US" dirty="0"/>
          </a:p>
        </p:txBody>
      </p:sp>
      <p:pic>
        <p:nvPicPr>
          <p:cNvPr id="2050" name="Picture 2" descr="underfitting-overfitting">
            <a:extLst>
              <a:ext uri="{FF2B5EF4-FFF2-40B4-BE49-F238E27FC236}">
                <a16:creationId xmlns:a16="http://schemas.microsoft.com/office/drawing/2014/main" id="{65C2DE3E-44D9-B9A3-5468-BDCB74B81F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5642" y="2762249"/>
            <a:ext cx="5873638" cy="18424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6442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D035D32-76AC-30C5-C241-3E4164C7DC17}"/>
              </a:ext>
            </a:extLst>
          </p:cNvPr>
          <p:cNvSpPr>
            <a:spLocks noGrp="1"/>
          </p:cNvSpPr>
          <p:nvPr>
            <p:ph type="title"/>
          </p:nvPr>
        </p:nvSpPr>
        <p:spPr>
          <a:xfrm>
            <a:off x="344940" y="-203656"/>
            <a:ext cx="10772775" cy="1658198"/>
          </a:xfrm>
        </p:spPr>
        <p:txBody>
          <a:bodyPr>
            <a:normAutofit/>
          </a:bodyPr>
          <a:lstStyle/>
          <a:p>
            <a:r>
              <a:rPr lang="en-IN" sz="3600" b="1" dirty="0"/>
              <a:t>Bias and Variance</a:t>
            </a:r>
            <a:endParaRPr lang="en-US" sz="3600" b="1" dirty="0"/>
          </a:p>
        </p:txBody>
      </p:sp>
      <p:sp>
        <p:nvSpPr>
          <p:cNvPr id="5" name="Content Placeholder 4">
            <a:extLst>
              <a:ext uri="{FF2B5EF4-FFF2-40B4-BE49-F238E27FC236}">
                <a16:creationId xmlns:a16="http://schemas.microsoft.com/office/drawing/2014/main" id="{777DC676-7B45-1E21-9C4B-0CEFB07EDBEF}"/>
              </a:ext>
            </a:extLst>
          </p:cNvPr>
          <p:cNvSpPr>
            <a:spLocks noGrp="1"/>
          </p:cNvSpPr>
          <p:nvPr>
            <p:ph sz="half" idx="1"/>
          </p:nvPr>
        </p:nvSpPr>
        <p:spPr>
          <a:xfrm>
            <a:off x="250371" y="1164443"/>
            <a:ext cx="5845629" cy="2704376"/>
          </a:xfrm>
        </p:spPr>
        <p:txBody>
          <a:bodyPr>
            <a:normAutofit fontScale="70000" lnSpcReduction="20000"/>
          </a:bodyPr>
          <a:lstStyle/>
          <a:p>
            <a:pPr algn="just"/>
            <a:r>
              <a:rPr lang="en-US" b="1" dirty="0"/>
              <a:t>Bias</a:t>
            </a:r>
            <a:r>
              <a:rPr lang="en-US" dirty="0"/>
              <a:t> refers to the error introduced by approximating a real-world problem, which may be complex, by a simplified model. </a:t>
            </a:r>
          </a:p>
          <a:p>
            <a:pPr algn="just"/>
            <a:r>
              <a:rPr lang="en-US" b="1" dirty="0"/>
              <a:t>High bias </a:t>
            </a:r>
            <a:r>
              <a:rPr lang="en-US" dirty="0"/>
              <a:t>means the model is too simple and may not capture the underlying patterns in the data.</a:t>
            </a:r>
          </a:p>
          <a:p>
            <a:pPr algn="just"/>
            <a:r>
              <a:rPr lang="en-US" b="1" dirty="0"/>
              <a:t>Characteristics:</a:t>
            </a:r>
          </a:p>
          <a:p>
            <a:pPr algn="just">
              <a:buFont typeface="Wingdings" panose="05000000000000000000" pitchFamily="2" charset="2"/>
              <a:buChar char="§"/>
            </a:pPr>
            <a:r>
              <a:rPr lang="en-US" dirty="0"/>
              <a:t>Underfitting occurs with high bias </a:t>
            </a:r>
            <a:r>
              <a:rPr lang="en-US" b="1" dirty="0"/>
              <a:t>(High training error and high test error.)</a:t>
            </a:r>
          </a:p>
          <a:p>
            <a:pPr algn="just">
              <a:buFont typeface="Wingdings" panose="05000000000000000000" pitchFamily="2" charset="2"/>
              <a:buChar char="§"/>
            </a:pPr>
            <a:r>
              <a:rPr lang="en-US" dirty="0"/>
              <a:t>The model makes strong assumptions about the data.</a:t>
            </a:r>
          </a:p>
        </p:txBody>
      </p:sp>
      <p:sp>
        <p:nvSpPr>
          <p:cNvPr id="6" name="Content Placeholder 5">
            <a:extLst>
              <a:ext uri="{FF2B5EF4-FFF2-40B4-BE49-F238E27FC236}">
                <a16:creationId xmlns:a16="http://schemas.microsoft.com/office/drawing/2014/main" id="{544B4928-CAAE-A2E1-6887-2900A52F5205}"/>
              </a:ext>
            </a:extLst>
          </p:cNvPr>
          <p:cNvSpPr>
            <a:spLocks noGrp="1"/>
          </p:cNvSpPr>
          <p:nvPr>
            <p:ph sz="half" idx="2"/>
          </p:nvPr>
        </p:nvSpPr>
        <p:spPr>
          <a:xfrm>
            <a:off x="6248400" y="1143348"/>
            <a:ext cx="5845629" cy="2435372"/>
          </a:xfrm>
        </p:spPr>
        <p:txBody>
          <a:bodyPr>
            <a:normAutofit fontScale="70000" lnSpcReduction="20000"/>
          </a:bodyPr>
          <a:lstStyle/>
          <a:p>
            <a:pPr algn="just"/>
            <a:r>
              <a:rPr lang="en-US" b="1" dirty="0"/>
              <a:t>Variance</a:t>
            </a:r>
            <a:r>
              <a:rPr lang="en-US" dirty="0"/>
              <a:t> refers to the error introduced by the model’s sensitivity to small fluctuations in the training data. </a:t>
            </a:r>
          </a:p>
          <a:p>
            <a:pPr algn="just"/>
            <a:r>
              <a:rPr lang="en-US" b="1" dirty="0"/>
              <a:t>High variance </a:t>
            </a:r>
            <a:r>
              <a:rPr lang="en-US" dirty="0"/>
              <a:t>means the model is too complex and may capture noise in the training data rather than the underlying pattern.</a:t>
            </a:r>
          </a:p>
          <a:p>
            <a:pPr algn="just"/>
            <a:r>
              <a:rPr lang="en-US" b="1" dirty="0"/>
              <a:t>Characteristics:</a:t>
            </a:r>
          </a:p>
          <a:p>
            <a:pPr algn="just">
              <a:buFont typeface="Wingdings" panose="05000000000000000000" pitchFamily="2" charset="2"/>
              <a:buChar char="§"/>
            </a:pPr>
            <a:r>
              <a:rPr lang="en-US" dirty="0"/>
              <a:t>Overfitting occurs with high variance </a:t>
            </a:r>
            <a:r>
              <a:rPr lang="en-US" b="1" dirty="0"/>
              <a:t>(Low training error but high test error)</a:t>
            </a:r>
            <a:r>
              <a:rPr lang="en-US" dirty="0"/>
              <a:t>.</a:t>
            </a:r>
          </a:p>
          <a:p>
            <a:pPr algn="just">
              <a:buFont typeface="Wingdings" panose="05000000000000000000" pitchFamily="2" charset="2"/>
              <a:buChar char="§"/>
            </a:pPr>
            <a:r>
              <a:rPr lang="en-US" dirty="0"/>
              <a:t>The model learns the details and noise in the training data.</a:t>
            </a:r>
          </a:p>
        </p:txBody>
      </p:sp>
      <p:sp>
        <p:nvSpPr>
          <p:cNvPr id="2" name="AutoShape 2">
            <a:extLst>
              <a:ext uri="{FF2B5EF4-FFF2-40B4-BE49-F238E27FC236}">
                <a16:creationId xmlns:a16="http://schemas.microsoft.com/office/drawing/2014/main" id="{EE62F1F2-D27E-96FD-C76B-201509601F1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127" name="Picture 7" descr="bias-variance in machine learning-edureka">
            <a:extLst>
              <a:ext uri="{FF2B5EF4-FFF2-40B4-BE49-F238E27FC236}">
                <a16:creationId xmlns:a16="http://schemas.microsoft.com/office/drawing/2014/main" id="{77025B15-F827-EB9C-78ED-80124C79D4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8514" y="3578720"/>
            <a:ext cx="5845629" cy="32217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0564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1C5D9-009D-F2EA-94DF-C594BC8B9186}"/>
              </a:ext>
            </a:extLst>
          </p:cNvPr>
          <p:cNvSpPr>
            <a:spLocks noGrp="1"/>
          </p:cNvSpPr>
          <p:nvPr>
            <p:ph type="title"/>
          </p:nvPr>
        </p:nvSpPr>
        <p:spPr>
          <a:xfrm>
            <a:off x="657225" y="499533"/>
            <a:ext cx="10010776" cy="665346"/>
          </a:xfrm>
        </p:spPr>
        <p:txBody>
          <a:bodyPr>
            <a:normAutofit fontScale="90000"/>
          </a:bodyPr>
          <a:lstStyle/>
          <a:p>
            <a:r>
              <a:rPr lang="en-IN" dirty="0"/>
              <a:t>Example – Matches Won</a:t>
            </a:r>
            <a:endParaRPr lang="en-US" dirty="0"/>
          </a:p>
        </p:txBody>
      </p:sp>
      <p:pic>
        <p:nvPicPr>
          <p:cNvPr id="5" name="Content Placeholder 4">
            <a:extLst>
              <a:ext uri="{FF2B5EF4-FFF2-40B4-BE49-F238E27FC236}">
                <a16:creationId xmlns:a16="http://schemas.microsoft.com/office/drawing/2014/main" id="{D978C6A2-2483-710A-44EB-F6E2CFA3430B}"/>
              </a:ext>
            </a:extLst>
          </p:cNvPr>
          <p:cNvPicPr>
            <a:picLocks noGrp="1" noChangeAspect="1"/>
          </p:cNvPicPr>
          <p:nvPr>
            <p:ph idx="1"/>
          </p:nvPr>
        </p:nvPicPr>
        <p:blipFill>
          <a:blip r:embed="rId2"/>
          <a:stretch>
            <a:fillRect/>
          </a:stretch>
        </p:blipFill>
        <p:spPr>
          <a:xfrm>
            <a:off x="352424" y="2393628"/>
            <a:ext cx="3427243" cy="2668229"/>
          </a:xfrm>
        </p:spPr>
      </p:pic>
      <p:pic>
        <p:nvPicPr>
          <p:cNvPr id="7" name="Picture 6">
            <a:extLst>
              <a:ext uri="{FF2B5EF4-FFF2-40B4-BE49-F238E27FC236}">
                <a16:creationId xmlns:a16="http://schemas.microsoft.com/office/drawing/2014/main" id="{657B3B66-45DD-BA9A-8F07-4D42C143B319}"/>
              </a:ext>
            </a:extLst>
          </p:cNvPr>
          <p:cNvPicPr>
            <a:picLocks noChangeAspect="1"/>
          </p:cNvPicPr>
          <p:nvPr/>
        </p:nvPicPr>
        <p:blipFill>
          <a:blip r:embed="rId3"/>
          <a:stretch>
            <a:fillRect/>
          </a:stretch>
        </p:blipFill>
        <p:spPr>
          <a:xfrm>
            <a:off x="352424" y="5061858"/>
            <a:ext cx="3427243" cy="665346"/>
          </a:xfrm>
          <a:prstGeom prst="rect">
            <a:avLst/>
          </a:prstGeom>
        </p:spPr>
      </p:pic>
      <p:pic>
        <p:nvPicPr>
          <p:cNvPr id="9" name="Picture 8">
            <a:extLst>
              <a:ext uri="{FF2B5EF4-FFF2-40B4-BE49-F238E27FC236}">
                <a16:creationId xmlns:a16="http://schemas.microsoft.com/office/drawing/2014/main" id="{DBB61A4C-7A7C-17C9-18BD-B92B957B9591}"/>
              </a:ext>
            </a:extLst>
          </p:cNvPr>
          <p:cNvPicPr>
            <a:picLocks noChangeAspect="1"/>
          </p:cNvPicPr>
          <p:nvPr/>
        </p:nvPicPr>
        <p:blipFill>
          <a:blip r:embed="rId4"/>
          <a:stretch>
            <a:fillRect/>
          </a:stretch>
        </p:blipFill>
        <p:spPr>
          <a:xfrm>
            <a:off x="4153827" y="2350986"/>
            <a:ext cx="3884345" cy="3439389"/>
          </a:xfrm>
          <a:prstGeom prst="rect">
            <a:avLst/>
          </a:prstGeom>
        </p:spPr>
      </p:pic>
      <p:pic>
        <p:nvPicPr>
          <p:cNvPr id="11" name="Picture 10">
            <a:extLst>
              <a:ext uri="{FF2B5EF4-FFF2-40B4-BE49-F238E27FC236}">
                <a16:creationId xmlns:a16="http://schemas.microsoft.com/office/drawing/2014/main" id="{F321668B-30D3-3D7B-5F18-13CA57C2241D}"/>
              </a:ext>
            </a:extLst>
          </p:cNvPr>
          <p:cNvPicPr>
            <a:picLocks noChangeAspect="1"/>
          </p:cNvPicPr>
          <p:nvPr/>
        </p:nvPicPr>
        <p:blipFill>
          <a:blip r:embed="rId5"/>
          <a:stretch>
            <a:fillRect/>
          </a:stretch>
        </p:blipFill>
        <p:spPr>
          <a:xfrm>
            <a:off x="8339563" y="2414157"/>
            <a:ext cx="3500013" cy="3376218"/>
          </a:xfrm>
          <a:prstGeom prst="rect">
            <a:avLst/>
          </a:prstGeom>
        </p:spPr>
      </p:pic>
    </p:spTree>
    <p:extLst>
      <p:ext uri="{BB962C8B-B14F-4D97-AF65-F5344CB8AC3E}">
        <p14:creationId xmlns:p14="http://schemas.microsoft.com/office/powerpoint/2010/main" val="1696802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49BE3-6FD2-9674-8CC2-6970D675DF19}"/>
              </a:ext>
            </a:extLst>
          </p:cNvPr>
          <p:cNvSpPr>
            <a:spLocks noGrp="1"/>
          </p:cNvSpPr>
          <p:nvPr>
            <p:ph type="title"/>
          </p:nvPr>
        </p:nvSpPr>
        <p:spPr>
          <a:xfrm>
            <a:off x="591910" y="129418"/>
            <a:ext cx="10587719" cy="1202605"/>
          </a:xfrm>
        </p:spPr>
        <p:txBody>
          <a:bodyPr/>
          <a:lstStyle/>
          <a:p>
            <a:r>
              <a:rPr lang="en-US" dirty="0"/>
              <a:t>Bias-Variance Tradeoff</a:t>
            </a:r>
          </a:p>
        </p:txBody>
      </p:sp>
      <p:sp>
        <p:nvSpPr>
          <p:cNvPr id="3" name="Content Placeholder 2">
            <a:extLst>
              <a:ext uri="{FF2B5EF4-FFF2-40B4-BE49-F238E27FC236}">
                <a16:creationId xmlns:a16="http://schemas.microsoft.com/office/drawing/2014/main" id="{B034AF09-47A8-213C-18D8-36E6DD70018C}"/>
              </a:ext>
            </a:extLst>
          </p:cNvPr>
          <p:cNvSpPr>
            <a:spLocks noGrp="1"/>
          </p:cNvSpPr>
          <p:nvPr>
            <p:ph sz="half" idx="1"/>
          </p:nvPr>
        </p:nvSpPr>
        <p:spPr>
          <a:xfrm>
            <a:off x="398602" y="1457467"/>
            <a:ext cx="4619712" cy="4997762"/>
          </a:xfrm>
        </p:spPr>
        <p:txBody>
          <a:bodyPr>
            <a:normAutofit lnSpcReduction="10000"/>
          </a:bodyPr>
          <a:lstStyle/>
          <a:p>
            <a:pPr algn="just"/>
            <a:r>
              <a:rPr lang="en-US" dirty="0"/>
              <a:t>The </a:t>
            </a:r>
            <a:r>
              <a:rPr lang="en-US" b="1" dirty="0"/>
              <a:t>bias-variance tradeoff</a:t>
            </a:r>
            <a:r>
              <a:rPr lang="en-US" dirty="0"/>
              <a:t> is the balance between bias and variance to minimize total error and achieve a model that generalizes well to unseen data.</a:t>
            </a:r>
          </a:p>
          <a:p>
            <a:pPr algn="just"/>
            <a:endParaRPr lang="en-US" dirty="0"/>
          </a:p>
          <a:p>
            <a:pPr algn="just">
              <a:buFont typeface="Arial" panose="020B0604020202020204" pitchFamily="34" charset="0"/>
              <a:buChar char="•"/>
            </a:pPr>
            <a:r>
              <a:rPr lang="en-US" b="1" dirty="0"/>
              <a:t>High Bias</a:t>
            </a:r>
            <a:r>
              <a:rPr lang="en-US" dirty="0"/>
              <a:t>: The model is too simple, leading to underfitting. It has high training error and high test error.</a:t>
            </a:r>
          </a:p>
          <a:p>
            <a:pPr marL="0" indent="0" algn="just">
              <a:buNone/>
            </a:pPr>
            <a:endParaRPr lang="en-US" dirty="0"/>
          </a:p>
          <a:p>
            <a:pPr algn="just">
              <a:buFont typeface="Arial" panose="020B0604020202020204" pitchFamily="34" charset="0"/>
              <a:buChar char="•"/>
            </a:pPr>
            <a:r>
              <a:rPr lang="en-US" b="1" dirty="0"/>
              <a:t>High Variance</a:t>
            </a:r>
            <a:r>
              <a:rPr lang="en-US" dirty="0"/>
              <a:t>: The model is too complex, leading to overfitting. It has low training error but high test error.</a:t>
            </a:r>
          </a:p>
          <a:p>
            <a:pPr algn="just"/>
            <a:endParaRPr lang="en-US" dirty="0"/>
          </a:p>
        </p:txBody>
      </p:sp>
      <p:pic>
        <p:nvPicPr>
          <p:cNvPr id="5" name="Picture 5">
            <a:extLst>
              <a:ext uri="{FF2B5EF4-FFF2-40B4-BE49-F238E27FC236}">
                <a16:creationId xmlns:a16="http://schemas.microsoft.com/office/drawing/2014/main" id="{43426381-9645-93F8-0D4D-869B80999429}"/>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5155214" y="1332023"/>
            <a:ext cx="6921214" cy="4883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8719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D035D32-76AC-30C5-C241-3E4164C7DC17}"/>
              </a:ext>
            </a:extLst>
          </p:cNvPr>
          <p:cNvSpPr>
            <a:spLocks noGrp="1"/>
          </p:cNvSpPr>
          <p:nvPr>
            <p:ph type="title"/>
          </p:nvPr>
        </p:nvSpPr>
        <p:spPr>
          <a:xfrm>
            <a:off x="657224" y="151191"/>
            <a:ext cx="10772775" cy="1035353"/>
          </a:xfrm>
        </p:spPr>
        <p:txBody>
          <a:bodyPr>
            <a:normAutofit/>
          </a:bodyPr>
          <a:lstStyle/>
          <a:p>
            <a:r>
              <a:rPr lang="en-US" sz="3600" b="1" dirty="0"/>
              <a:t>Regularization</a:t>
            </a:r>
          </a:p>
        </p:txBody>
      </p:sp>
      <p:sp>
        <p:nvSpPr>
          <p:cNvPr id="4" name="Content Placeholder 3">
            <a:extLst>
              <a:ext uri="{FF2B5EF4-FFF2-40B4-BE49-F238E27FC236}">
                <a16:creationId xmlns:a16="http://schemas.microsoft.com/office/drawing/2014/main" id="{DEBB0249-55A0-C785-D126-ED6121611D73}"/>
              </a:ext>
            </a:extLst>
          </p:cNvPr>
          <p:cNvSpPr>
            <a:spLocks noGrp="1"/>
          </p:cNvSpPr>
          <p:nvPr>
            <p:ph idx="1"/>
          </p:nvPr>
        </p:nvSpPr>
        <p:spPr>
          <a:xfrm>
            <a:off x="657224" y="1360715"/>
            <a:ext cx="10877552" cy="5181600"/>
          </a:xfrm>
        </p:spPr>
        <p:txBody>
          <a:bodyPr>
            <a:normAutofit fontScale="85000" lnSpcReduction="20000"/>
          </a:bodyPr>
          <a:lstStyle/>
          <a:p>
            <a:pPr algn="just">
              <a:buFont typeface="Wingdings" panose="05000000000000000000" pitchFamily="2" charset="2"/>
              <a:buChar char="Ø"/>
            </a:pPr>
            <a:r>
              <a:rPr lang="en-US" b="1" dirty="0"/>
              <a:t>Regularization</a:t>
            </a:r>
            <a:r>
              <a:rPr lang="en-US" dirty="0"/>
              <a:t> is a technique used to prevent overfitting by adding a penalty to the loss function, which discourages the model from becoming too complex. </a:t>
            </a:r>
          </a:p>
          <a:p>
            <a:pPr algn="just">
              <a:buFont typeface="Wingdings" panose="05000000000000000000" pitchFamily="2" charset="2"/>
              <a:buChar char="Ø"/>
            </a:pPr>
            <a:r>
              <a:rPr lang="en-US" dirty="0"/>
              <a:t>The goal is to balance the fit of the model to the training data with its ability to generalize to unseen data.</a:t>
            </a:r>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algn="just">
              <a:buFont typeface="Wingdings" panose="05000000000000000000" pitchFamily="2" charset="2"/>
              <a:buChar char="Ø"/>
            </a:pPr>
            <a:r>
              <a:rPr lang="en-US" b="1" dirty="0"/>
              <a:t>L1 Regularization (Lasso Regression)</a:t>
            </a:r>
            <a:r>
              <a:rPr lang="en-US" dirty="0"/>
              <a:t>: Adds a penalty equal to the absolute value of the magnitude of coefficients. This can lead to sparse models where some coefficients become zero, effectively selecting a subset of features.</a:t>
            </a:r>
          </a:p>
          <a:p>
            <a:pPr algn="just">
              <a:buFont typeface="Wingdings" panose="05000000000000000000" pitchFamily="2" charset="2"/>
              <a:buChar char="Ø"/>
            </a:pPr>
            <a:endParaRPr lang="en-US" dirty="0"/>
          </a:p>
          <a:p>
            <a:pPr algn="just">
              <a:buFont typeface="Wingdings" panose="05000000000000000000" pitchFamily="2" charset="2"/>
              <a:buChar char="Ø"/>
            </a:pPr>
            <a:r>
              <a:rPr lang="en-US" b="1" dirty="0"/>
              <a:t>L2 Regularization (Ridge Regression)</a:t>
            </a:r>
            <a:r>
              <a:rPr lang="en-US" dirty="0"/>
              <a:t>: Adds a penalty equal to the square of the magnitude of coefficients. This tends to shrink the coefficients but usually does not set them to zero, which can be useful when you believe all features contribute to the outcome but should be scaled down.</a:t>
            </a:r>
          </a:p>
          <a:p>
            <a:pPr marL="0" indent="0">
              <a:buNone/>
            </a:pPr>
            <a:endParaRPr lang="en-US" dirty="0"/>
          </a:p>
        </p:txBody>
      </p:sp>
      <p:sp>
        <p:nvSpPr>
          <p:cNvPr id="2" name="AutoShape 2">
            <a:extLst>
              <a:ext uri="{FF2B5EF4-FFF2-40B4-BE49-F238E27FC236}">
                <a16:creationId xmlns:a16="http://schemas.microsoft.com/office/drawing/2014/main" id="{EE62F1F2-D27E-96FD-C76B-201509601F1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100" name="Picture 4">
            <a:extLst>
              <a:ext uri="{FF2B5EF4-FFF2-40B4-BE49-F238E27FC236}">
                <a16:creationId xmlns:a16="http://schemas.microsoft.com/office/drawing/2014/main" id="{82508B49-0807-2318-5A43-DACD758CD89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0724" b="8016"/>
          <a:stretch/>
        </p:blipFill>
        <p:spPr bwMode="auto">
          <a:xfrm>
            <a:off x="3097326" y="2329543"/>
            <a:ext cx="5387748" cy="1959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195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DDEE8-4649-D962-4667-6DC30E7AEA08}"/>
              </a:ext>
            </a:extLst>
          </p:cNvPr>
          <p:cNvSpPr>
            <a:spLocks noGrp="1"/>
          </p:cNvSpPr>
          <p:nvPr>
            <p:ph type="title"/>
          </p:nvPr>
        </p:nvSpPr>
        <p:spPr>
          <a:xfrm>
            <a:off x="570138" y="0"/>
            <a:ext cx="10772775" cy="1658198"/>
          </a:xfrm>
        </p:spPr>
        <p:txBody>
          <a:bodyPr>
            <a:normAutofit/>
          </a:bodyPr>
          <a:lstStyle/>
          <a:p>
            <a:r>
              <a:rPr lang="en-US" sz="4000" b="1" dirty="0"/>
              <a:t>L1 Regularization- Lasso (Least Absolute Shrinkage and Selection Operator)</a:t>
            </a:r>
          </a:p>
        </p:txBody>
      </p:sp>
      <p:sp>
        <p:nvSpPr>
          <p:cNvPr id="3" name="Content Placeholder 2">
            <a:extLst>
              <a:ext uri="{FF2B5EF4-FFF2-40B4-BE49-F238E27FC236}">
                <a16:creationId xmlns:a16="http://schemas.microsoft.com/office/drawing/2014/main" id="{091B0112-5C7E-3B07-DB9D-33FA10FF51F2}"/>
              </a:ext>
            </a:extLst>
          </p:cNvPr>
          <p:cNvSpPr>
            <a:spLocks noGrp="1"/>
          </p:cNvSpPr>
          <p:nvPr>
            <p:ph idx="1"/>
          </p:nvPr>
        </p:nvSpPr>
        <p:spPr>
          <a:xfrm>
            <a:off x="570138" y="1445623"/>
            <a:ext cx="10753725" cy="4987834"/>
          </a:xfrm>
        </p:spPr>
        <p:txBody>
          <a:bodyPr>
            <a:normAutofit fontScale="85000" lnSpcReduction="20000"/>
          </a:bodyPr>
          <a:lstStyle/>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It prevent overfitting by penalizing the absolute sum of the coefficients. </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It has the unique ability to reduce some coefficients to exactly zero, effectively performing feature selection.</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In Lasso regression, the cost function is modified by adding a penalty equal to the absolute value of the magnitude of coefficients. </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The objective is to minimize this cost function:</a:t>
            </a:r>
          </a:p>
          <a:p>
            <a:pPr algn="just"/>
            <a:endParaRPr lang="en-US" dirty="0">
              <a:latin typeface="Cambria" panose="02040503050406030204" pitchFamily="18" charset="0"/>
              <a:ea typeface="Cambria" panose="02040503050406030204" pitchFamily="18" charset="0"/>
            </a:endParaRPr>
          </a:p>
          <a:p>
            <a:pPr algn="just"/>
            <a:endParaRPr lang="en-US" dirty="0">
              <a:latin typeface="Cambria" panose="02040503050406030204" pitchFamily="18" charset="0"/>
              <a:ea typeface="Cambria" panose="02040503050406030204" pitchFamily="18" charset="0"/>
            </a:endParaRPr>
          </a:p>
          <a:p>
            <a:pPr algn="just"/>
            <a:endParaRPr lang="en-US" dirty="0">
              <a:latin typeface="Cambria" panose="02040503050406030204" pitchFamily="18" charset="0"/>
              <a:ea typeface="Cambria" panose="02040503050406030204" pitchFamily="18" charset="0"/>
            </a:endParaRPr>
          </a:p>
          <a:p>
            <a:r>
              <a:rPr lang="en-US" b="1" dirty="0">
                <a:latin typeface="Cambria" panose="02040503050406030204" pitchFamily="18" charset="0"/>
                <a:ea typeface="Cambria" panose="02040503050406030204" pitchFamily="18" charset="0"/>
              </a:rPr>
              <a:t>Where</a:t>
            </a:r>
          </a:p>
          <a:p>
            <a:pPr>
              <a:buFont typeface="Wingdings" panose="05000000000000000000" pitchFamily="2" charset="2"/>
              <a:buChar char="Ø"/>
            </a:pPr>
            <a:r>
              <a:rPr lang="en-US" b="1" dirty="0">
                <a:latin typeface="Cambria" panose="02040503050406030204" pitchFamily="18" charset="0"/>
                <a:ea typeface="Cambria" panose="02040503050406030204" pitchFamily="18" charset="0"/>
              </a:rPr>
              <a:t>RSS (Residual Sum of Squares)</a:t>
            </a:r>
            <a:r>
              <a:rPr lang="en-US" dirty="0">
                <a:latin typeface="Cambria" panose="02040503050406030204" pitchFamily="18" charset="0"/>
                <a:ea typeface="Cambria" panose="02040503050406030204" pitchFamily="18" charset="0"/>
              </a:rPr>
              <a:t> is the sum of the squared differences between the observed and predicted values.</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λ </a:t>
            </a:r>
            <a:r>
              <a:rPr lang="en-US" b="1" dirty="0">
                <a:latin typeface="Cambria" panose="02040503050406030204" pitchFamily="18" charset="0"/>
                <a:ea typeface="Cambria" panose="02040503050406030204" pitchFamily="18" charset="0"/>
              </a:rPr>
              <a:t>lambda -&gt;</a:t>
            </a:r>
            <a:r>
              <a:rPr lang="en-US" dirty="0">
                <a:latin typeface="Cambria" panose="02040503050406030204" pitchFamily="18" charset="0"/>
                <a:ea typeface="Cambria" panose="02040503050406030204" pitchFamily="18" charset="0"/>
              </a:rPr>
              <a:t> λ is a tuning parameter that controls the strength of the penalty. A larger λ\</a:t>
            </a:r>
            <a:r>
              <a:rPr lang="en-US" dirty="0" err="1">
                <a:latin typeface="Cambria" panose="02040503050406030204" pitchFamily="18" charset="0"/>
                <a:ea typeface="Cambria" panose="02040503050406030204" pitchFamily="18" charset="0"/>
              </a:rPr>
              <a:t>lambdaλ</a:t>
            </a:r>
            <a:r>
              <a:rPr lang="en-US" dirty="0">
                <a:latin typeface="Cambria" panose="02040503050406030204" pitchFamily="18" charset="0"/>
                <a:ea typeface="Cambria" panose="02040503050406030204" pitchFamily="18" charset="0"/>
              </a:rPr>
              <a:t> means more regularization, and a smaller λ\</a:t>
            </a:r>
            <a:r>
              <a:rPr lang="en-US" dirty="0" err="1">
                <a:latin typeface="Cambria" panose="02040503050406030204" pitchFamily="18" charset="0"/>
                <a:ea typeface="Cambria" panose="02040503050406030204" pitchFamily="18" charset="0"/>
              </a:rPr>
              <a:t>lambdaλ</a:t>
            </a:r>
            <a:r>
              <a:rPr lang="en-US" dirty="0">
                <a:latin typeface="Cambria" panose="02040503050406030204" pitchFamily="18" charset="0"/>
                <a:ea typeface="Cambria" panose="02040503050406030204" pitchFamily="18" charset="0"/>
              </a:rPr>
              <a:t> means less.</a:t>
            </a:r>
          </a:p>
          <a:p>
            <a:pPr>
              <a:buFont typeface="Wingdings" panose="05000000000000000000" pitchFamily="2" charset="2"/>
              <a:buChar char="Ø"/>
            </a:pPr>
            <a:r>
              <a:rPr lang="el-GR" b="1" dirty="0">
                <a:latin typeface="Cambria" panose="02040503050406030204" pitchFamily="18" charset="0"/>
                <a:ea typeface="Cambria" panose="02040503050406030204" pitchFamily="18" charset="0"/>
              </a:rPr>
              <a:t>Β</a:t>
            </a:r>
            <a:r>
              <a:rPr lang="en-US" b="1" dirty="0">
                <a:latin typeface="Cambria" panose="02040503050406030204" pitchFamily="18" charset="0"/>
                <a:ea typeface="Cambria" panose="02040503050406030204" pitchFamily="18" charset="0"/>
              </a:rPr>
              <a:t>j </a:t>
            </a:r>
            <a:r>
              <a:rPr lang="en-US" b="1" dirty="0" err="1">
                <a:latin typeface="Cambria" panose="02040503050406030204" pitchFamily="18" charset="0"/>
                <a:ea typeface="Cambria" panose="02040503050406030204" pitchFamily="18" charset="0"/>
              </a:rPr>
              <a:t>beta_j</a:t>
            </a:r>
            <a:r>
              <a:rPr lang="en-US" b="1"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-&gt; βj​ are the coefficients of the model.</a:t>
            </a:r>
          </a:p>
          <a:p>
            <a:pPr algn="just"/>
            <a:endParaRPr lang="en-US" dirty="0"/>
          </a:p>
        </p:txBody>
      </p:sp>
      <p:pic>
        <p:nvPicPr>
          <p:cNvPr id="5" name="Picture 4">
            <a:extLst>
              <a:ext uri="{FF2B5EF4-FFF2-40B4-BE49-F238E27FC236}">
                <a16:creationId xmlns:a16="http://schemas.microsoft.com/office/drawing/2014/main" id="{837E2590-6C6C-62D5-4A55-E14543AC4A67}"/>
              </a:ext>
            </a:extLst>
          </p:cNvPr>
          <p:cNvPicPr>
            <a:picLocks noChangeAspect="1"/>
          </p:cNvPicPr>
          <p:nvPr/>
        </p:nvPicPr>
        <p:blipFill>
          <a:blip r:embed="rId2"/>
          <a:stretch>
            <a:fillRect/>
          </a:stretch>
        </p:blipFill>
        <p:spPr>
          <a:xfrm>
            <a:off x="3494006" y="3297610"/>
            <a:ext cx="4136880" cy="1283859"/>
          </a:xfrm>
          <a:prstGeom prst="rect">
            <a:avLst/>
          </a:prstGeom>
        </p:spPr>
      </p:pic>
    </p:spTree>
    <p:extLst>
      <p:ext uri="{BB962C8B-B14F-4D97-AF65-F5344CB8AC3E}">
        <p14:creationId xmlns:p14="http://schemas.microsoft.com/office/powerpoint/2010/main" val="2886309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C655850-65DB-22A5-6934-BE1AF60B191F}"/>
              </a:ext>
            </a:extLst>
          </p:cNvPr>
          <p:cNvPicPr>
            <a:picLocks noGrp="1" noChangeAspect="1"/>
          </p:cNvPicPr>
          <p:nvPr>
            <p:ph idx="1"/>
          </p:nvPr>
        </p:nvPicPr>
        <p:blipFill>
          <a:blip r:embed="rId2"/>
          <a:stretch>
            <a:fillRect/>
          </a:stretch>
        </p:blipFill>
        <p:spPr>
          <a:xfrm>
            <a:off x="1876424" y="0"/>
            <a:ext cx="7821116" cy="5164714"/>
          </a:xfrm>
        </p:spPr>
      </p:pic>
      <p:pic>
        <p:nvPicPr>
          <p:cNvPr id="7" name="Picture 6">
            <a:extLst>
              <a:ext uri="{FF2B5EF4-FFF2-40B4-BE49-F238E27FC236}">
                <a16:creationId xmlns:a16="http://schemas.microsoft.com/office/drawing/2014/main" id="{566091E9-9644-D787-E3BD-5E04E46378F6}"/>
              </a:ext>
            </a:extLst>
          </p:cNvPr>
          <p:cNvPicPr>
            <a:picLocks noChangeAspect="1"/>
          </p:cNvPicPr>
          <p:nvPr/>
        </p:nvPicPr>
        <p:blipFill>
          <a:blip r:embed="rId3"/>
          <a:stretch>
            <a:fillRect/>
          </a:stretch>
        </p:blipFill>
        <p:spPr>
          <a:xfrm>
            <a:off x="1876424" y="5164714"/>
            <a:ext cx="7821116" cy="1600423"/>
          </a:xfrm>
          <a:prstGeom prst="rect">
            <a:avLst/>
          </a:prstGeom>
        </p:spPr>
      </p:pic>
    </p:spTree>
    <p:extLst>
      <p:ext uri="{BB962C8B-B14F-4D97-AF65-F5344CB8AC3E}">
        <p14:creationId xmlns:p14="http://schemas.microsoft.com/office/powerpoint/2010/main" val="3238338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6D9FC02-676A-EB28-66C3-777F39BF542F}"/>
              </a:ext>
            </a:extLst>
          </p:cNvPr>
          <p:cNvPicPr>
            <a:picLocks noGrp="1" noChangeAspect="1"/>
          </p:cNvPicPr>
          <p:nvPr>
            <p:ph idx="1"/>
          </p:nvPr>
        </p:nvPicPr>
        <p:blipFill rotWithShape="1">
          <a:blip r:embed="rId2"/>
          <a:srcRect r="10611"/>
          <a:stretch/>
        </p:blipFill>
        <p:spPr>
          <a:xfrm>
            <a:off x="304801" y="544435"/>
            <a:ext cx="5557772" cy="5769127"/>
          </a:xfrm>
          <a:ln>
            <a:solidFill>
              <a:schemeClr val="accent1"/>
            </a:solidFill>
          </a:ln>
        </p:spPr>
      </p:pic>
      <p:pic>
        <p:nvPicPr>
          <p:cNvPr id="7" name="Picture 6">
            <a:extLst>
              <a:ext uri="{FF2B5EF4-FFF2-40B4-BE49-F238E27FC236}">
                <a16:creationId xmlns:a16="http://schemas.microsoft.com/office/drawing/2014/main" id="{BFADA0DC-B25C-4304-05F6-9D7F60718C89}"/>
              </a:ext>
            </a:extLst>
          </p:cNvPr>
          <p:cNvPicPr>
            <a:picLocks noChangeAspect="1"/>
          </p:cNvPicPr>
          <p:nvPr/>
        </p:nvPicPr>
        <p:blipFill>
          <a:blip r:embed="rId3"/>
          <a:stretch>
            <a:fillRect/>
          </a:stretch>
        </p:blipFill>
        <p:spPr>
          <a:xfrm>
            <a:off x="6096000" y="544436"/>
            <a:ext cx="5940589" cy="5769128"/>
          </a:xfrm>
          <a:prstGeom prst="rect">
            <a:avLst/>
          </a:prstGeom>
          <a:ln>
            <a:solidFill>
              <a:schemeClr val="accent1"/>
            </a:solidFill>
          </a:ln>
        </p:spPr>
      </p:pic>
    </p:spTree>
    <p:extLst>
      <p:ext uri="{BB962C8B-B14F-4D97-AF65-F5344CB8AC3E}">
        <p14:creationId xmlns:p14="http://schemas.microsoft.com/office/powerpoint/2010/main" val="356218724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33C99-EC29-2E35-63D0-1233D3818CB4}"/>
              </a:ext>
            </a:extLst>
          </p:cNvPr>
          <p:cNvSpPr>
            <a:spLocks noGrp="1"/>
          </p:cNvSpPr>
          <p:nvPr>
            <p:ph type="title"/>
          </p:nvPr>
        </p:nvSpPr>
        <p:spPr>
          <a:xfrm>
            <a:off x="287110" y="-447524"/>
            <a:ext cx="10772775" cy="1658198"/>
          </a:xfrm>
        </p:spPr>
        <p:txBody>
          <a:bodyPr>
            <a:normAutofit/>
          </a:bodyPr>
          <a:lstStyle/>
          <a:p>
            <a:r>
              <a:rPr lang="en-US" sz="2800" b="1" dirty="0"/>
              <a:t>Problem 2: Multi-Feature Lasso with Regularization</a:t>
            </a:r>
          </a:p>
        </p:txBody>
      </p:sp>
      <p:pic>
        <p:nvPicPr>
          <p:cNvPr id="5" name="Content Placeholder 4">
            <a:extLst>
              <a:ext uri="{FF2B5EF4-FFF2-40B4-BE49-F238E27FC236}">
                <a16:creationId xmlns:a16="http://schemas.microsoft.com/office/drawing/2014/main" id="{96890703-D849-86E4-68BB-011D3B673B87}"/>
              </a:ext>
            </a:extLst>
          </p:cNvPr>
          <p:cNvPicPr>
            <a:picLocks noGrp="1" noChangeAspect="1"/>
          </p:cNvPicPr>
          <p:nvPr>
            <p:ph idx="1"/>
          </p:nvPr>
        </p:nvPicPr>
        <p:blipFill>
          <a:blip r:embed="rId2"/>
          <a:stretch>
            <a:fillRect/>
          </a:stretch>
        </p:blipFill>
        <p:spPr>
          <a:xfrm>
            <a:off x="1110341" y="648812"/>
            <a:ext cx="7685315" cy="6211965"/>
          </a:xfrm>
        </p:spPr>
      </p:pic>
    </p:spTree>
    <p:extLst>
      <p:ext uri="{BB962C8B-B14F-4D97-AF65-F5344CB8AC3E}">
        <p14:creationId xmlns:p14="http://schemas.microsoft.com/office/powerpoint/2010/main" val="17774423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CF8A1-C41C-0829-A38B-B9F1A73BFB73}"/>
              </a:ext>
            </a:extLst>
          </p:cNvPr>
          <p:cNvSpPr>
            <a:spLocks noGrp="1"/>
          </p:cNvSpPr>
          <p:nvPr>
            <p:ph type="title"/>
          </p:nvPr>
        </p:nvSpPr>
        <p:spPr>
          <a:xfrm>
            <a:off x="254452" y="140304"/>
            <a:ext cx="10772775" cy="436638"/>
          </a:xfrm>
        </p:spPr>
        <p:txBody>
          <a:bodyPr>
            <a:normAutofit/>
          </a:bodyPr>
          <a:lstStyle/>
          <a:p>
            <a:r>
              <a:rPr lang="en-IN" sz="2400" b="1" dirty="0"/>
              <a:t>Problem 2 : Solution</a:t>
            </a:r>
            <a:endParaRPr lang="en-US" sz="2400" b="1" dirty="0"/>
          </a:p>
        </p:txBody>
      </p:sp>
      <p:pic>
        <p:nvPicPr>
          <p:cNvPr id="5" name="Content Placeholder 4">
            <a:extLst>
              <a:ext uri="{FF2B5EF4-FFF2-40B4-BE49-F238E27FC236}">
                <a16:creationId xmlns:a16="http://schemas.microsoft.com/office/drawing/2014/main" id="{62E390F3-864F-319A-BD3F-2CA008795694}"/>
              </a:ext>
            </a:extLst>
          </p:cNvPr>
          <p:cNvPicPr>
            <a:picLocks noGrp="1" noChangeAspect="1"/>
          </p:cNvPicPr>
          <p:nvPr>
            <p:ph idx="1"/>
          </p:nvPr>
        </p:nvPicPr>
        <p:blipFill>
          <a:blip r:embed="rId2"/>
          <a:stretch>
            <a:fillRect/>
          </a:stretch>
        </p:blipFill>
        <p:spPr>
          <a:xfrm>
            <a:off x="254452" y="771638"/>
            <a:ext cx="5984722" cy="5314723"/>
          </a:xfrm>
          <a:ln>
            <a:solidFill>
              <a:schemeClr val="accent1"/>
            </a:solidFill>
          </a:ln>
        </p:spPr>
      </p:pic>
      <p:pic>
        <p:nvPicPr>
          <p:cNvPr id="7" name="Picture 6">
            <a:extLst>
              <a:ext uri="{FF2B5EF4-FFF2-40B4-BE49-F238E27FC236}">
                <a16:creationId xmlns:a16="http://schemas.microsoft.com/office/drawing/2014/main" id="{DF7899B9-B81F-5411-39ED-D4E3D784475C}"/>
              </a:ext>
            </a:extLst>
          </p:cNvPr>
          <p:cNvPicPr>
            <a:picLocks noChangeAspect="1"/>
          </p:cNvPicPr>
          <p:nvPr/>
        </p:nvPicPr>
        <p:blipFill>
          <a:blip r:embed="rId3"/>
          <a:stretch>
            <a:fillRect/>
          </a:stretch>
        </p:blipFill>
        <p:spPr>
          <a:xfrm>
            <a:off x="6350921" y="1164474"/>
            <a:ext cx="5699565" cy="4158641"/>
          </a:xfrm>
          <a:prstGeom prst="rect">
            <a:avLst/>
          </a:prstGeom>
          <a:ln>
            <a:solidFill>
              <a:schemeClr val="accent1"/>
            </a:solidFill>
          </a:ln>
        </p:spPr>
      </p:pic>
    </p:spTree>
    <p:extLst>
      <p:ext uri="{BB962C8B-B14F-4D97-AF65-F5344CB8AC3E}">
        <p14:creationId xmlns:p14="http://schemas.microsoft.com/office/powerpoint/2010/main" val="1059277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84924-2F79-B711-0C92-E8B4EC4F8624}"/>
              </a:ext>
            </a:extLst>
          </p:cNvPr>
          <p:cNvSpPr>
            <a:spLocks noGrp="1"/>
          </p:cNvSpPr>
          <p:nvPr>
            <p:ph type="title"/>
          </p:nvPr>
        </p:nvSpPr>
        <p:spPr>
          <a:xfrm>
            <a:off x="178253" y="118533"/>
            <a:ext cx="10772775" cy="839410"/>
          </a:xfrm>
        </p:spPr>
        <p:txBody>
          <a:bodyPr/>
          <a:lstStyle/>
          <a:p>
            <a:r>
              <a:rPr lang="en-US" b="1" dirty="0"/>
              <a:t>L2 Regularization</a:t>
            </a:r>
            <a:r>
              <a:rPr lang="en-US" dirty="0"/>
              <a:t> -Ridge Regularization,</a:t>
            </a:r>
          </a:p>
        </p:txBody>
      </p:sp>
      <p:sp>
        <p:nvSpPr>
          <p:cNvPr id="3" name="Content Placeholder 2">
            <a:extLst>
              <a:ext uri="{FF2B5EF4-FFF2-40B4-BE49-F238E27FC236}">
                <a16:creationId xmlns:a16="http://schemas.microsoft.com/office/drawing/2014/main" id="{220A836D-7945-31FE-0B55-01DBAFDC649B}"/>
              </a:ext>
            </a:extLst>
          </p:cNvPr>
          <p:cNvSpPr>
            <a:spLocks noGrp="1"/>
          </p:cNvSpPr>
          <p:nvPr>
            <p:ph idx="1"/>
          </p:nvPr>
        </p:nvSpPr>
        <p:spPr>
          <a:xfrm>
            <a:off x="360971" y="1077683"/>
            <a:ext cx="10590057" cy="4310743"/>
          </a:xfrm>
        </p:spPr>
        <p:txBody>
          <a:bodyPr>
            <a:normAutofit/>
          </a:bodyPr>
          <a:lstStyle/>
          <a:p>
            <a:pPr algn="just">
              <a:buFont typeface="Wingdings" panose="05000000000000000000" pitchFamily="2" charset="2"/>
              <a:buChar char="Ø"/>
            </a:pPr>
            <a:r>
              <a:rPr lang="en-US" sz="2200" dirty="0"/>
              <a:t>It prevent overfitting by adding a penalty term to the loss function. </a:t>
            </a:r>
          </a:p>
          <a:p>
            <a:pPr algn="just">
              <a:buFont typeface="Wingdings" panose="05000000000000000000" pitchFamily="2" charset="2"/>
              <a:buChar char="Ø"/>
            </a:pPr>
            <a:r>
              <a:rPr lang="en-US" sz="2200" dirty="0"/>
              <a:t>This penalty term is proportional to the square of the magnitude of the model coefficients.</a:t>
            </a:r>
          </a:p>
          <a:p>
            <a:pPr algn="just">
              <a:buFont typeface="Wingdings" panose="05000000000000000000" pitchFamily="2" charset="2"/>
              <a:buChar char="Ø"/>
            </a:pPr>
            <a:r>
              <a:rPr lang="en-US" sz="2200" dirty="0"/>
              <a:t>The main goal of L2 regularization is to reduce the complexity of the model by penalizing large coefficients. This helps in making the model more generalizable and reduces overfitting.</a:t>
            </a:r>
          </a:p>
          <a:p>
            <a:pPr algn="just">
              <a:buFont typeface="Wingdings" panose="05000000000000000000" pitchFamily="2" charset="2"/>
              <a:buChar char="Ø"/>
            </a:pPr>
            <a:r>
              <a:rPr lang="en-US" sz="2200" dirty="0"/>
              <a:t>L2 regularization adds a term to the loss function which is the sum of the squared values of the coefficients multiplied by a regularization parameter (alpha).</a:t>
            </a:r>
          </a:p>
          <a:p>
            <a:pPr algn="just">
              <a:buFont typeface="Wingdings" panose="05000000000000000000" pitchFamily="2" charset="2"/>
              <a:buChar char="Ø"/>
            </a:pPr>
            <a:r>
              <a:rPr lang="en-US" sz="2200" dirty="0"/>
              <a:t>Mathematically, the regularized cost function for linear regression with L2 regularization can be expressed as:</a:t>
            </a:r>
          </a:p>
        </p:txBody>
      </p:sp>
      <p:pic>
        <p:nvPicPr>
          <p:cNvPr id="7" name="Picture 6">
            <a:extLst>
              <a:ext uri="{FF2B5EF4-FFF2-40B4-BE49-F238E27FC236}">
                <a16:creationId xmlns:a16="http://schemas.microsoft.com/office/drawing/2014/main" id="{D4062FEA-E85D-9A95-88E4-7F1E37FF3622}"/>
              </a:ext>
            </a:extLst>
          </p:cNvPr>
          <p:cNvPicPr>
            <a:picLocks noChangeAspect="1"/>
          </p:cNvPicPr>
          <p:nvPr/>
        </p:nvPicPr>
        <p:blipFill>
          <a:blip r:embed="rId2"/>
          <a:stretch>
            <a:fillRect/>
          </a:stretch>
        </p:blipFill>
        <p:spPr>
          <a:xfrm>
            <a:off x="1214981" y="4426905"/>
            <a:ext cx="5087060" cy="828791"/>
          </a:xfrm>
          <a:prstGeom prst="rect">
            <a:avLst/>
          </a:prstGeom>
        </p:spPr>
      </p:pic>
      <p:pic>
        <p:nvPicPr>
          <p:cNvPr id="9" name="Picture 8">
            <a:extLst>
              <a:ext uri="{FF2B5EF4-FFF2-40B4-BE49-F238E27FC236}">
                <a16:creationId xmlns:a16="http://schemas.microsoft.com/office/drawing/2014/main" id="{B4D600EB-3898-9555-138C-EE20427F78F6}"/>
              </a:ext>
            </a:extLst>
          </p:cNvPr>
          <p:cNvPicPr>
            <a:picLocks noChangeAspect="1"/>
          </p:cNvPicPr>
          <p:nvPr/>
        </p:nvPicPr>
        <p:blipFill>
          <a:blip r:embed="rId3"/>
          <a:stretch>
            <a:fillRect/>
          </a:stretch>
        </p:blipFill>
        <p:spPr>
          <a:xfrm>
            <a:off x="7156051" y="4166387"/>
            <a:ext cx="4731368" cy="2596483"/>
          </a:xfrm>
          <a:prstGeom prst="rect">
            <a:avLst/>
          </a:prstGeom>
        </p:spPr>
      </p:pic>
    </p:spTree>
    <p:extLst>
      <p:ext uri="{BB962C8B-B14F-4D97-AF65-F5344CB8AC3E}">
        <p14:creationId xmlns:p14="http://schemas.microsoft.com/office/powerpoint/2010/main" val="624798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565D6-3F30-B4D9-A640-F3EA59FCE2EF}"/>
              </a:ext>
            </a:extLst>
          </p:cNvPr>
          <p:cNvSpPr>
            <a:spLocks noGrp="1"/>
          </p:cNvSpPr>
          <p:nvPr>
            <p:ph type="title"/>
          </p:nvPr>
        </p:nvSpPr>
        <p:spPr>
          <a:xfrm>
            <a:off x="657224" y="499533"/>
            <a:ext cx="10772775" cy="1111553"/>
          </a:xfrm>
        </p:spPr>
        <p:txBody>
          <a:bodyPr/>
          <a:lstStyle/>
          <a:p>
            <a:r>
              <a:rPr lang="it-IT" b="1" dirty="0"/>
              <a:t>Coordinate Descent in Lasso Regression</a:t>
            </a:r>
            <a:endParaRPr lang="en-IN" b="1" dirty="0"/>
          </a:p>
        </p:txBody>
      </p:sp>
      <p:sp>
        <p:nvSpPr>
          <p:cNvPr id="3" name="Content Placeholder 2">
            <a:extLst>
              <a:ext uri="{FF2B5EF4-FFF2-40B4-BE49-F238E27FC236}">
                <a16:creationId xmlns:a16="http://schemas.microsoft.com/office/drawing/2014/main" id="{FADB49E9-1399-2483-0C7C-A962C4EF0F88}"/>
              </a:ext>
            </a:extLst>
          </p:cNvPr>
          <p:cNvSpPr>
            <a:spLocks noGrp="1"/>
          </p:cNvSpPr>
          <p:nvPr>
            <p:ph idx="1"/>
          </p:nvPr>
        </p:nvSpPr>
        <p:spPr>
          <a:xfrm>
            <a:off x="657224" y="1804607"/>
            <a:ext cx="10753725" cy="3766185"/>
          </a:xfrm>
        </p:spPr>
        <p:txBody>
          <a:bodyPr>
            <a:normAutofit/>
          </a:bodyPr>
          <a:lstStyle/>
          <a:p>
            <a:pPr marL="0" indent="0">
              <a:buNone/>
            </a:pPr>
            <a:r>
              <a:rPr lang="en-US" sz="3200" spc="-120" dirty="0">
                <a:solidFill>
                  <a:schemeClr val="accent1"/>
                </a:solidFill>
                <a:latin typeface="+mj-lt"/>
                <a:ea typeface="+mj-ea"/>
                <a:cs typeface="+mj-cs"/>
              </a:rPr>
              <a:t>What is Coordinate Descent?</a:t>
            </a:r>
          </a:p>
          <a:p>
            <a:pPr>
              <a:buFont typeface="Arial" panose="020B0604020202020204" pitchFamily="34" charset="0"/>
              <a:buChar char="•"/>
            </a:pPr>
            <a:r>
              <a:rPr lang="en-US" dirty="0"/>
              <a:t>Optimization algorithm for large-scale problems.</a:t>
            </a:r>
          </a:p>
          <a:p>
            <a:pPr>
              <a:buFont typeface="Arial" panose="020B0604020202020204" pitchFamily="34" charset="0"/>
              <a:buChar char="•"/>
            </a:pPr>
            <a:r>
              <a:rPr lang="en-US" dirty="0"/>
              <a:t>Works by </a:t>
            </a:r>
            <a:r>
              <a:rPr lang="en-US" b="1" dirty="0"/>
              <a:t>minimizing one feature (variable) at a time</a:t>
            </a:r>
            <a:r>
              <a:rPr lang="en-US" dirty="0"/>
              <a:t>.</a:t>
            </a:r>
          </a:p>
          <a:p>
            <a:pPr>
              <a:buFont typeface="Arial" panose="020B0604020202020204" pitchFamily="34" charset="0"/>
              <a:buChar char="•"/>
            </a:pPr>
            <a:r>
              <a:rPr lang="en-US" dirty="0"/>
              <a:t>Efficient for models with </a:t>
            </a:r>
            <a:r>
              <a:rPr lang="en-US" b="1" dirty="0"/>
              <a:t>L1 regularization</a:t>
            </a:r>
            <a:r>
              <a:rPr lang="en-US" dirty="0"/>
              <a:t> like Lasso regression</a:t>
            </a:r>
          </a:p>
          <a:p>
            <a:pPr marL="0" indent="0">
              <a:buNone/>
            </a:pPr>
            <a:r>
              <a:rPr lang="en-US" sz="3200" spc="-120" dirty="0">
                <a:solidFill>
                  <a:schemeClr val="accent1"/>
                </a:solidFill>
                <a:latin typeface="+mj-lt"/>
                <a:ea typeface="+mj-ea"/>
                <a:cs typeface="+mj-cs"/>
              </a:rPr>
              <a:t>Predicting</a:t>
            </a:r>
            <a:r>
              <a:rPr lang="en-US" sz="3200" b="1" dirty="0"/>
              <a:t> </a:t>
            </a:r>
            <a:r>
              <a:rPr lang="en-US" sz="3200" spc="-120" dirty="0">
                <a:solidFill>
                  <a:schemeClr val="accent1"/>
                </a:solidFill>
                <a:latin typeface="+mj-lt"/>
                <a:ea typeface="+mj-ea"/>
                <a:cs typeface="+mj-cs"/>
              </a:rPr>
              <a:t>House Prices Example:</a:t>
            </a:r>
          </a:p>
          <a:p>
            <a:pPr marL="892175" lvl="2" indent="-446088">
              <a:buFont typeface="Wingdings" panose="05000000000000000000" pitchFamily="2" charset="2"/>
              <a:buChar char="Ø"/>
            </a:pPr>
            <a:r>
              <a:rPr lang="en-US" dirty="0"/>
              <a:t>Predict the price of a house using features like </a:t>
            </a:r>
            <a:r>
              <a:rPr lang="en-US" b="1" dirty="0"/>
              <a:t>size, location, number of rooms, age of house, swimming pool</a:t>
            </a:r>
            <a:r>
              <a:rPr lang="en-US" dirty="0"/>
              <a:t>.</a:t>
            </a:r>
          </a:p>
          <a:p>
            <a:pPr marL="892175" lvl="2" indent="-446088">
              <a:buFont typeface="Wingdings" panose="05000000000000000000" pitchFamily="2" charset="2"/>
              <a:buChar char="Ø"/>
            </a:pPr>
            <a:r>
              <a:rPr lang="en-US" dirty="0"/>
              <a:t>The algorithm updates coefficients for each feature, shrinking irrelevant ones to zero (e.g., </a:t>
            </a:r>
            <a:r>
              <a:rPr lang="en-US" b="1" dirty="0"/>
              <a:t>"swimming pool"</a:t>
            </a:r>
            <a:r>
              <a:rPr lang="en-US" dirty="0"/>
              <a:t>).</a:t>
            </a:r>
          </a:p>
          <a:p>
            <a:pPr>
              <a:buFont typeface="Arial" panose="020B0604020202020204" pitchFamily="34" charset="0"/>
              <a:buChar char="•"/>
            </a:pPr>
            <a:endParaRPr lang="en-US" dirty="0"/>
          </a:p>
          <a:p>
            <a:endParaRPr lang="en-IN" dirty="0"/>
          </a:p>
        </p:txBody>
      </p:sp>
    </p:spTree>
    <p:extLst>
      <p:ext uri="{BB962C8B-B14F-4D97-AF65-F5344CB8AC3E}">
        <p14:creationId xmlns:p14="http://schemas.microsoft.com/office/powerpoint/2010/main" val="26135232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11C5B-E204-EE45-496B-2BE4A8549990}"/>
              </a:ext>
            </a:extLst>
          </p:cNvPr>
          <p:cNvSpPr>
            <a:spLocks noGrp="1"/>
          </p:cNvSpPr>
          <p:nvPr>
            <p:ph type="title"/>
          </p:nvPr>
        </p:nvSpPr>
        <p:spPr/>
        <p:txBody>
          <a:bodyPr/>
          <a:lstStyle/>
          <a:p>
            <a:r>
              <a:rPr lang="en-US" b="1" dirty="0"/>
              <a:t>How Does Coordinate Descent Work?</a:t>
            </a:r>
            <a:endParaRPr lang="en-IN" dirty="0"/>
          </a:p>
        </p:txBody>
      </p:sp>
      <p:sp>
        <p:nvSpPr>
          <p:cNvPr id="3" name="Content Placeholder 2">
            <a:extLst>
              <a:ext uri="{FF2B5EF4-FFF2-40B4-BE49-F238E27FC236}">
                <a16:creationId xmlns:a16="http://schemas.microsoft.com/office/drawing/2014/main" id="{1FC98409-1243-9BB6-17A4-D5EC854E7757}"/>
              </a:ext>
            </a:extLst>
          </p:cNvPr>
          <p:cNvSpPr>
            <a:spLocks noGrp="1"/>
          </p:cNvSpPr>
          <p:nvPr>
            <p:ph idx="1"/>
          </p:nvPr>
        </p:nvSpPr>
        <p:spPr/>
        <p:txBody>
          <a:bodyPr/>
          <a:lstStyle/>
          <a:p>
            <a:pPr>
              <a:buFont typeface="Arial" panose="020B0604020202020204" pitchFamily="34" charset="0"/>
              <a:buChar char="•"/>
            </a:pPr>
            <a:r>
              <a:rPr lang="en-US" b="1" dirty="0"/>
              <a:t>Step-by-step optimization</a:t>
            </a:r>
            <a:r>
              <a:rPr lang="en-US" dirty="0"/>
              <a:t> of each feature’s coefficient.</a:t>
            </a:r>
          </a:p>
          <a:p>
            <a:pPr>
              <a:buFont typeface="Arial" panose="020B0604020202020204" pitchFamily="34" charset="0"/>
              <a:buChar char="•"/>
            </a:pPr>
            <a:r>
              <a:rPr lang="en-US" dirty="0"/>
              <a:t>Iteratively updates each coefficient while keeping others fixed.</a:t>
            </a:r>
          </a:p>
          <a:p>
            <a:pPr>
              <a:buFont typeface="Arial" panose="020B0604020202020204" pitchFamily="34" charset="0"/>
              <a:buChar char="•"/>
            </a:pPr>
            <a:r>
              <a:rPr lang="en-US" dirty="0"/>
              <a:t>Finds the best coefficient for each feature, moving feature by feature.</a:t>
            </a:r>
          </a:p>
          <a:p>
            <a:pPr marL="0" indent="0">
              <a:buNone/>
            </a:pPr>
            <a:endParaRPr lang="en-US" dirty="0"/>
          </a:p>
          <a:p>
            <a:pPr marL="0" indent="0">
              <a:buNone/>
            </a:pPr>
            <a:r>
              <a:rPr lang="en-US" sz="3200" b="1" spc="-120" dirty="0">
                <a:solidFill>
                  <a:schemeClr val="accent1"/>
                </a:solidFill>
                <a:latin typeface="+mj-lt"/>
                <a:ea typeface="+mj-ea"/>
                <a:cs typeface="+mj-cs"/>
              </a:rPr>
              <a:t>Convergence</a:t>
            </a:r>
            <a:r>
              <a:rPr lang="en-US" sz="3200" b="1" dirty="0"/>
              <a:t> </a:t>
            </a:r>
            <a:r>
              <a:rPr lang="en-US" sz="3200" b="1" spc="-120" dirty="0">
                <a:solidFill>
                  <a:schemeClr val="accent1"/>
                </a:solidFill>
                <a:latin typeface="+mj-lt"/>
                <a:ea typeface="+mj-ea"/>
                <a:cs typeface="+mj-cs"/>
              </a:rPr>
              <a:t>and Efficiency</a:t>
            </a:r>
          </a:p>
          <a:p>
            <a:pPr>
              <a:buFont typeface="Arial" panose="020B0604020202020204" pitchFamily="34" charset="0"/>
              <a:buChar char="•"/>
            </a:pPr>
            <a:r>
              <a:rPr lang="en-US" dirty="0"/>
              <a:t>Coordinate descent is computationally efficient, even for </a:t>
            </a:r>
            <a:r>
              <a:rPr lang="en-US" b="1" dirty="0"/>
              <a:t>high-dimensional data</a:t>
            </a:r>
            <a:r>
              <a:rPr lang="en-US" dirty="0"/>
              <a:t>.</a:t>
            </a:r>
          </a:p>
          <a:p>
            <a:pPr>
              <a:buFont typeface="Arial" panose="020B0604020202020204" pitchFamily="34" charset="0"/>
              <a:buChar char="•"/>
            </a:pPr>
            <a:r>
              <a:rPr lang="en-US" dirty="0"/>
              <a:t>The algorithm stops when the solution </a:t>
            </a:r>
            <a:r>
              <a:rPr lang="en-US" b="1" dirty="0"/>
              <a:t>converges</a:t>
            </a:r>
            <a:r>
              <a:rPr lang="en-US" dirty="0"/>
              <a:t> (when changes in coefficients become small).</a:t>
            </a:r>
          </a:p>
          <a:p>
            <a:pPr marL="0" indent="0">
              <a:buNone/>
            </a:pPr>
            <a:endParaRPr lang="en-US" dirty="0"/>
          </a:p>
        </p:txBody>
      </p:sp>
    </p:spTree>
    <p:extLst>
      <p:ext uri="{BB962C8B-B14F-4D97-AF65-F5344CB8AC3E}">
        <p14:creationId xmlns:p14="http://schemas.microsoft.com/office/powerpoint/2010/main" val="22690961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F06E9B43-71B1-B934-A4FB-A592DC70409D}"/>
              </a:ext>
            </a:extLst>
          </p:cNvPr>
          <p:cNvSpPr>
            <a:spLocks noGrp="1"/>
          </p:cNvSpPr>
          <p:nvPr>
            <p:ph type="title"/>
          </p:nvPr>
        </p:nvSpPr>
        <p:spPr/>
        <p:txBody>
          <a:bodyPr/>
          <a:lstStyle/>
          <a:p>
            <a:endParaRPr lang="en-IN"/>
          </a:p>
        </p:txBody>
      </p:sp>
      <p:pic>
        <p:nvPicPr>
          <p:cNvPr id="16" name="Picture 15">
            <a:extLst>
              <a:ext uri="{FF2B5EF4-FFF2-40B4-BE49-F238E27FC236}">
                <a16:creationId xmlns:a16="http://schemas.microsoft.com/office/drawing/2014/main" id="{FE78954E-980C-93B6-069A-5D33C190BA0A}"/>
              </a:ext>
            </a:extLst>
          </p:cNvPr>
          <p:cNvPicPr>
            <a:picLocks noChangeAspect="1"/>
          </p:cNvPicPr>
          <p:nvPr/>
        </p:nvPicPr>
        <p:blipFill>
          <a:blip r:embed="rId2"/>
          <a:stretch>
            <a:fillRect/>
          </a:stretch>
        </p:blipFill>
        <p:spPr>
          <a:xfrm>
            <a:off x="1403663" y="0"/>
            <a:ext cx="7838310" cy="5869038"/>
          </a:xfrm>
          <a:prstGeom prst="rect">
            <a:avLst/>
          </a:prstGeom>
        </p:spPr>
      </p:pic>
      <p:pic>
        <p:nvPicPr>
          <p:cNvPr id="19" name="Picture 18">
            <a:extLst>
              <a:ext uri="{FF2B5EF4-FFF2-40B4-BE49-F238E27FC236}">
                <a16:creationId xmlns:a16="http://schemas.microsoft.com/office/drawing/2014/main" id="{9719C0BC-8442-C998-14CB-382E666CADD8}"/>
              </a:ext>
            </a:extLst>
          </p:cNvPr>
          <p:cNvPicPr>
            <a:picLocks noChangeAspect="1"/>
          </p:cNvPicPr>
          <p:nvPr/>
        </p:nvPicPr>
        <p:blipFill>
          <a:blip r:embed="rId3"/>
          <a:srcRect b="28116"/>
          <a:stretch/>
        </p:blipFill>
        <p:spPr>
          <a:xfrm>
            <a:off x="1403663" y="5869038"/>
            <a:ext cx="8148846" cy="831163"/>
          </a:xfrm>
          <a:prstGeom prst="rect">
            <a:avLst/>
          </a:prstGeom>
        </p:spPr>
      </p:pic>
      <p:pic>
        <p:nvPicPr>
          <p:cNvPr id="21" name="Picture 20">
            <a:extLst>
              <a:ext uri="{FF2B5EF4-FFF2-40B4-BE49-F238E27FC236}">
                <a16:creationId xmlns:a16="http://schemas.microsoft.com/office/drawing/2014/main" id="{F5721E2B-620A-3D71-705B-05B6C45CCC1C}"/>
              </a:ext>
            </a:extLst>
          </p:cNvPr>
          <p:cNvPicPr>
            <a:picLocks noChangeAspect="1"/>
          </p:cNvPicPr>
          <p:nvPr/>
        </p:nvPicPr>
        <p:blipFill>
          <a:blip r:embed="rId4"/>
          <a:stretch>
            <a:fillRect/>
          </a:stretch>
        </p:blipFill>
        <p:spPr>
          <a:xfrm>
            <a:off x="7181384" y="4164980"/>
            <a:ext cx="5090493" cy="1298809"/>
          </a:xfrm>
          <a:prstGeom prst="rect">
            <a:avLst/>
          </a:prstGeom>
        </p:spPr>
      </p:pic>
      <p:pic>
        <p:nvPicPr>
          <p:cNvPr id="23" name="Picture 22">
            <a:extLst>
              <a:ext uri="{FF2B5EF4-FFF2-40B4-BE49-F238E27FC236}">
                <a16:creationId xmlns:a16="http://schemas.microsoft.com/office/drawing/2014/main" id="{A5C90F32-935C-C11B-0893-D66A002E1CB0}"/>
              </a:ext>
            </a:extLst>
          </p:cNvPr>
          <p:cNvPicPr>
            <a:picLocks noChangeAspect="1"/>
          </p:cNvPicPr>
          <p:nvPr/>
        </p:nvPicPr>
        <p:blipFill>
          <a:blip r:embed="rId5"/>
          <a:stretch>
            <a:fillRect/>
          </a:stretch>
        </p:blipFill>
        <p:spPr>
          <a:xfrm>
            <a:off x="6873405" y="1235475"/>
            <a:ext cx="5221620" cy="1589560"/>
          </a:xfrm>
          <a:prstGeom prst="rect">
            <a:avLst/>
          </a:prstGeom>
        </p:spPr>
      </p:pic>
    </p:spTree>
    <p:extLst>
      <p:ext uri="{BB962C8B-B14F-4D97-AF65-F5344CB8AC3E}">
        <p14:creationId xmlns:p14="http://schemas.microsoft.com/office/powerpoint/2010/main" val="3584689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500" fill="hold"/>
                                        <p:tgtEl>
                                          <p:spTgt spid="23"/>
                                        </p:tgtEl>
                                        <p:attrNameLst>
                                          <p:attrName>ppt_x</p:attrName>
                                        </p:attrNameLst>
                                      </p:cBhvr>
                                      <p:tavLst>
                                        <p:tav tm="0">
                                          <p:val>
                                            <p:strVal val="#ppt_x"/>
                                          </p:val>
                                        </p:tav>
                                        <p:tav tm="100000">
                                          <p:val>
                                            <p:strVal val="#ppt_x"/>
                                          </p:val>
                                        </p:tav>
                                      </p:tavLst>
                                    </p:anim>
                                    <p:anim calcmode="lin" valueType="num">
                                      <p:cBhvr additive="base">
                                        <p:cTn id="1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ppt_x"/>
                                          </p:val>
                                        </p:tav>
                                        <p:tav tm="100000">
                                          <p:val>
                                            <p:strVal val="#ppt_x"/>
                                          </p:val>
                                        </p:tav>
                                      </p:tavLst>
                                    </p:anim>
                                    <p:anim calcmode="lin" valueType="num">
                                      <p:cBhvr additive="base">
                                        <p:cTn id="2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3FB05-1EFB-AACC-6016-76624607C54E}"/>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0B2458D3-F866-C503-D515-9F37A127820B}"/>
              </a:ext>
            </a:extLst>
          </p:cNvPr>
          <p:cNvPicPr>
            <a:picLocks noChangeAspect="1"/>
          </p:cNvPicPr>
          <p:nvPr/>
        </p:nvPicPr>
        <p:blipFill>
          <a:blip r:embed="rId2"/>
          <a:stretch>
            <a:fillRect/>
          </a:stretch>
        </p:blipFill>
        <p:spPr>
          <a:xfrm>
            <a:off x="657224" y="376869"/>
            <a:ext cx="10899060" cy="5644790"/>
          </a:xfrm>
          <a:prstGeom prst="rect">
            <a:avLst/>
          </a:prstGeom>
        </p:spPr>
      </p:pic>
    </p:spTree>
    <p:extLst>
      <p:ext uri="{BB962C8B-B14F-4D97-AF65-F5344CB8AC3E}">
        <p14:creationId xmlns:p14="http://schemas.microsoft.com/office/powerpoint/2010/main" val="10894745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EBB0D-2438-8843-A0B8-5E492E27473E}"/>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28C5DCD6-EDDC-AC74-3EC5-564A17BDA4CB}"/>
              </a:ext>
            </a:extLst>
          </p:cNvPr>
          <p:cNvPicPr>
            <a:picLocks noChangeAspect="1"/>
          </p:cNvPicPr>
          <p:nvPr/>
        </p:nvPicPr>
        <p:blipFill>
          <a:blip r:embed="rId2"/>
          <a:stretch>
            <a:fillRect/>
          </a:stretch>
        </p:blipFill>
        <p:spPr>
          <a:xfrm>
            <a:off x="150656" y="499533"/>
            <a:ext cx="11890688" cy="5319865"/>
          </a:xfrm>
          <a:prstGeom prst="rect">
            <a:avLst/>
          </a:prstGeom>
        </p:spPr>
      </p:pic>
    </p:spTree>
    <p:extLst>
      <p:ext uri="{BB962C8B-B14F-4D97-AF65-F5344CB8AC3E}">
        <p14:creationId xmlns:p14="http://schemas.microsoft.com/office/powerpoint/2010/main" val="33804625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D65E9-B5BB-4F18-0E76-115F449AE3EE}"/>
              </a:ext>
            </a:extLst>
          </p:cNvPr>
          <p:cNvSpPr>
            <a:spLocks noGrp="1"/>
          </p:cNvSpPr>
          <p:nvPr>
            <p:ph type="title"/>
          </p:nvPr>
        </p:nvSpPr>
        <p:spPr/>
        <p:txBody>
          <a:bodyPr/>
          <a:lstStyle/>
          <a:p>
            <a:endParaRPr lang="en-IN"/>
          </a:p>
        </p:txBody>
      </p:sp>
      <p:pic>
        <p:nvPicPr>
          <p:cNvPr id="6" name="Picture 5">
            <a:extLst>
              <a:ext uri="{FF2B5EF4-FFF2-40B4-BE49-F238E27FC236}">
                <a16:creationId xmlns:a16="http://schemas.microsoft.com/office/drawing/2014/main" id="{29CD4C6F-1901-124C-A360-8B6ED7B464CF}"/>
              </a:ext>
            </a:extLst>
          </p:cNvPr>
          <p:cNvPicPr>
            <a:picLocks noChangeAspect="1"/>
          </p:cNvPicPr>
          <p:nvPr/>
        </p:nvPicPr>
        <p:blipFill>
          <a:blip r:embed="rId2"/>
          <a:stretch>
            <a:fillRect/>
          </a:stretch>
        </p:blipFill>
        <p:spPr>
          <a:xfrm>
            <a:off x="361335" y="499533"/>
            <a:ext cx="11068664" cy="5088494"/>
          </a:xfrm>
          <a:prstGeom prst="rect">
            <a:avLst/>
          </a:prstGeom>
        </p:spPr>
      </p:pic>
    </p:spTree>
    <p:extLst>
      <p:ext uri="{BB962C8B-B14F-4D97-AF65-F5344CB8AC3E}">
        <p14:creationId xmlns:p14="http://schemas.microsoft.com/office/powerpoint/2010/main" val="30313453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E09E3-1EF9-C57A-F531-13E7204CE76A}"/>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94FDB187-4F2C-D339-9E3E-2FF452545DB2}"/>
              </a:ext>
            </a:extLst>
          </p:cNvPr>
          <p:cNvPicPr>
            <a:picLocks noChangeAspect="1"/>
          </p:cNvPicPr>
          <p:nvPr/>
        </p:nvPicPr>
        <p:blipFill>
          <a:blip r:embed="rId2"/>
          <a:stretch>
            <a:fillRect/>
          </a:stretch>
        </p:blipFill>
        <p:spPr>
          <a:xfrm>
            <a:off x="657224" y="126934"/>
            <a:ext cx="9534294" cy="6604132"/>
          </a:xfrm>
          <a:prstGeom prst="rect">
            <a:avLst/>
          </a:prstGeom>
        </p:spPr>
      </p:pic>
    </p:spTree>
    <p:extLst>
      <p:ext uri="{BB962C8B-B14F-4D97-AF65-F5344CB8AC3E}">
        <p14:creationId xmlns:p14="http://schemas.microsoft.com/office/powerpoint/2010/main" val="40771484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FE446-2B0A-DB17-3F0B-32AA10BFEA1D}"/>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6C62031D-F212-6017-E4DB-44EA6E8D1123}"/>
              </a:ext>
            </a:extLst>
          </p:cNvPr>
          <p:cNvPicPr>
            <a:picLocks noChangeAspect="1"/>
          </p:cNvPicPr>
          <p:nvPr/>
        </p:nvPicPr>
        <p:blipFill>
          <a:blip r:embed="rId2"/>
          <a:stretch>
            <a:fillRect/>
          </a:stretch>
        </p:blipFill>
        <p:spPr>
          <a:xfrm>
            <a:off x="418758" y="499533"/>
            <a:ext cx="11011241" cy="5023799"/>
          </a:xfrm>
          <a:prstGeom prst="rect">
            <a:avLst/>
          </a:prstGeom>
        </p:spPr>
      </p:pic>
    </p:spTree>
    <p:extLst>
      <p:ext uri="{BB962C8B-B14F-4D97-AF65-F5344CB8AC3E}">
        <p14:creationId xmlns:p14="http://schemas.microsoft.com/office/powerpoint/2010/main" val="24873870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A2363-2143-D8A2-AD27-818018A77CB0}"/>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87E4D8DF-26FA-D2E9-55C9-7D1B756CE3B2}"/>
              </a:ext>
            </a:extLst>
          </p:cNvPr>
          <p:cNvPicPr>
            <a:picLocks noChangeAspect="1"/>
          </p:cNvPicPr>
          <p:nvPr/>
        </p:nvPicPr>
        <p:blipFill>
          <a:blip r:embed="rId2"/>
          <a:stretch>
            <a:fillRect/>
          </a:stretch>
        </p:blipFill>
        <p:spPr>
          <a:xfrm>
            <a:off x="530038" y="611045"/>
            <a:ext cx="10899961" cy="4953413"/>
          </a:xfrm>
          <a:prstGeom prst="rect">
            <a:avLst/>
          </a:prstGeom>
        </p:spPr>
      </p:pic>
    </p:spTree>
    <p:extLst>
      <p:ext uri="{BB962C8B-B14F-4D97-AF65-F5344CB8AC3E}">
        <p14:creationId xmlns:p14="http://schemas.microsoft.com/office/powerpoint/2010/main" val="39566564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EDD5-A362-2E12-94F4-248E4F75C15D}"/>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EB142CA9-9CF5-C943-F513-C10DC7C08C3C}"/>
              </a:ext>
            </a:extLst>
          </p:cNvPr>
          <p:cNvPicPr>
            <a:picLocks noChangeAspect="1"/>
          </p:cNvPicPr>
          <p:nvPr/>
        </p:nvPicPr>
        <p:blipFill>
          <a:blip r:embed="rId2"/>
          <a:stretch>
            <a:fillRect/>
          </a:stretch>
        </p:blipFill>
        <p:spPr>
          <a:xfrm>
            <a:off x="762001" y="658590"/>
            <a:ext cx="9958737" cy="5254138"/>
          </a:xfrm>
          <a:prstGeom prst="rect">
            <a:avLst/>
          </a:prstGeom>
        </p:spPr>
      </p:pic>
    </p:spTree>
    <p:extLst>
      <p:ext uri="{BB962C8B-B14F-4D97-AF65-F5344CB8AC3E}">
        <p14:creationId xmlns:p14="http://schemas.microsoft.com/office/powerpoint/2010/main" val="19454357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6B52C-96B0-1A87-6CAD-6DD89CDE5C68}"/>
              </a:ext>
            </a:extLst>
          </p:cNvPr>
          <p:cNvSpPr>
            <a:spLocks noGrp="1"/>
          </p:cNvSpPr>
          <p:nvPr>
            <p:ph type="title"/>
          </p:nvPr>
        </p:nvSpPr>
        <p:spPr>
          <a:xfrm>
            <a:off x="668376" y="815437"/>
            <a:ext cx="2721596" cy="136087"/>
          </a:xfrm>
        </p:spPr>
        <p:txBody>
          <a:bodyPr>
            <a:normAutofit fontScale="90000"/>
          </a:bodyPr>
          <a:lstStyle/>
          <a:p>
            <a:r>
              <a:rPr lang="en-IN" b="1" dirty="0"/>
              <a:t>Process</a:t>
            </a:r>
            <a:br>
              <a:rPr lang="en-IN" b="1" dirty="0"/>
            </a:br>
            <a:r>
              <a:rPr lang="en-IN" b="1" dirty="0"/>
              <a:t>Flow </a:t>
            </a:r>
          </a:p>
        </p:txBody>
      </p:sp>
      <p:sp>
        <p:nvSpPr>
          <p:cNvPr id="7" name="Oval 6">
            <a:extLst>
              <a:ext uri="{FF2B5EF4-FFF2-40B4-BE49-F238E27FC236}">
                <a16:creationId xmlns:a16="http://schemas.microsoft.com/office/drawing/2014/main" id="{503D0BC3-8BFE-4D5D-D979-EEBE03DFC6E5}"/>
              </a:ext>
            </a:extLst>
          </p:cNvPr>
          <p:cNvSpPr/>
          <p:nvPr/>
        </p:nvSpPr>
        <p:spPr>
          <a:xfrm>
            <a:off x="4864539" y="382360"/>
            <a:ext cx="2074127" cy="86615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Start</a:t>
            </a:r>
          </a:p>
        </p:txBody>
      </p:sp>
      <p:sp>
        <p:nvSpPr>
          <p:cNvPr id="8" name="Parallelogram 7">
            <a:extLst>
              <a:ext uri="{FF2B5EF4-FFF2-40B4-BE49-F238E27FC236}">
                <a16:creationId xmlns:a16="http://schemas.microsoft.com/office/drawing/2014/main" id="{A4104DB1-A28E-F997-BF31-6B669796DA6F}"/>
              </a:ext>
            </a:extLst>
          </p:cNvPr>
          <p:cNvSpPr/>
          <p:nvPr/>
        </p:nvSpPr>
        <p:spPr>
          <a:xfrm>
            <a:off x="4346008" y="1462958"/>
            <a:ext cx="3111192" cy="555879"/>
          </a:xfrm>
          <a:prstGeom prst="parallelogra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Initialize beta</a:t>
            </a:r>
          </a:p>
        </p:txBody>
      </p:sp>
      <p:sp>
        <p:nvSpPr>
          <p:cNvPr id="9" name="Rectangle: Rounded Corners 8">
            <a:extLst>
              <a:ext uri="{FF2B5EF4-FFF2-40B4-BE49-F238E27FC236}">
                <a16:creationId xmlns:a16="http://schemas.microsoft.com/office/drawing/2014/main" id="{648922CA-F7B7-59A0-476A-D8E84121C33F}"/>
              </a:ext>
            </a:extLst>
          </p:cNvPr>
          <p:cNvSpPr/>
          <p:nvPr/>
        </p:nvSpPr>
        <p:spPr>
          <a:xfrm>
            <a:off x="4346008" y="2306343"/>
            <a:ext cx="2988528" cy="64708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For each j -&gt; </a:t>
            </a:r>
          </a:p>
          <a:p>
            <a:pPr algn="ctr"/>
            <a:r>
              <a:rPr lang="en-IN" dirty="0"/>
              <a:t>Compute residual</a:t>
            </a:r>
          </a:p>
        </p:txBody>
      </p:sp>
      <p:sp>
        <p:nvSpPr>
          <p:cNvPr id="10" name="Rectangle: Rounded Corners 9">
            <a:extLst>
              <a:ext uri="{FF2B5EF4-FFF2-40B4-BE49-F238E27FC236}">
                <a16:creationId xmlns:a16="http://schemas.microsoft.com/office/drawing/2014/main" id="{41E970E1-6A53-7EBB-50B5-2B528710A481}"/>
              </a:ext>
            </a:extLst>
          </p:cNvPr>
          <p:cNvSpPr/>
          <p:nvPr/>
        </p:nvSpPr>
        <p:spPr>
          <a:xfrm>
            <a:off x="4294343" y="3214565"/>
            <a:ext cx="3111192" cy="64708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Calculate Gradient</a:t>
            </a:r>
          </a:p>
        </p:txBody>
      </p:sp>
      <p:sp>
        <p:nvSpPr>
          <p:cNvPr id="11" name="Rectangle: Rounded Corners 10">
            <a:extLst>
              <a:ext uri="{FF2B5EF4-FFF2-40B4-BE49-F238E27FC236}">
                <a16:creationId xmlns:a16="http://schemas.microsoft.com/office/drawing/2014/main" id="{F7B8D5C0-D066-2BBB-8CFC-6C9753C18377}"/>
              </a:ext>
            </a:extLst>
          </p:cNvPr>
          <p:cNvSpPr/>
          <p:nvPr/>
        </p:nvSpPr>
        <p:spPr>
          <a:xfrm>
            <a:off x="3760568" y="4134493"/>
            <a:ext cx="4558238" cy="6470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Update </a:t>
            </a:r>
            <a:r>
              <a:rPr lang="en-US" dirty="0" err="1"/>
              <a:t>beta_j</a:t>
            </a:r>
            <a:r>
              <a:rPr lang="en-US" dirty="0"/>
              <a:t> using soft-thresholding</a:t>
            </a:r>
            <a:endParaRPr lang="en-IN" dirty="0"/>
          </a:p>
        </p:txBody>
      </p:sp>
      <p:sp>
        <p:nvSpPr>
          <p:cNvPr id="12" name="Rectangle: Rounded Corners 11">
            <a:extLst>
              <a:ext uri="{FF2B5EF4-FFF2-40B4-BE49-F238E27FC236}">
                <a16:creationId xmlns:a16="http://schemas.microsoft.com/office/drawing/2014/main" id="{6AF75FC0-FC6C-D982-7E71-2C4F5E18F661}"/>
              </a:ext>
            </a:extLst>
          </p:cNvPr>
          <p:cNvSpPr/>
          <p:nvPr/>
        </p:nvSpPr>
        <p:spPr>
          <a:xfrm>
            <a:off x="4294343" y="5029974"/>
            <a:ext cx="3214517" cy="6470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Repeat until convergence</a:t>
            </a:r>
            <a:endParaRPr lang="en-IN" dirty="0"/>
          </a:p>
        </p:txBody>
      </p:sp>
      <p:sp>
        <p:nvSpPr>
          <p:cNvPr id="15" name="Oval 14">
            <a:extLst>
              <a:ext uri="{FF2B5EF4-FFF2-40B4-BE49-F238E27FC236}">
                <a16:creationId xmlns:a16="http://schemas.microsoft.com/office/drawing/2014/main" id="{DFCA2F55-4BFE-4930-DE81-5E209976E5AA}"/>
              </a:ext>
            </a:extLst>
          </p:cNvPr>
          <p:cNvSpPr/>
          <p:nvPr/>
        </p:nvSpPr>
        <p:spPr>
          <a:xfrm>
            <a:off x="4864537" y="5897806"/>
            <a:ext cx="2074127" cy="86615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Stop</a:t>
            </a:r>
          </a:p>
        </p:txBody>
      </p:sp>
      <p:cxnSp>
        <p:nvCxnSpPr>
          <p:cNvPr id="17" name="Straight Arrow Connector 16">
            <a:extLst>
              <a:ext uri="{FF2B5EF4-FFF2-40B4-BE49-F238E27FC236}">
                <a16:creationId xmlns:a16="http://schemas.microsoft.com/office/drawing/2014/main" id="{E387192C-F209-6886-A799-7B7290D02CD4}"/>
              </a:ext>
            </a:extLst>
          </p:cNvPr>
          <p:cNvCxnSpPr>
            <a:stCxn id="7" idx="4"/>
            <a:endCxn id="8" idx="0"/>
          </p:cNvCxnSpPr>
          <p:nvPr/>
        </p:nvCxnSpPr>
        <p:spPr>
          <a:xfrm>
            <a:off x="5901603" y="1248515"/>
            <a:ext cx="1" cy="2144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7F2CDCD-F124-16A5-87EB-5E15B4AED3C9}"/>
              </a:ext>
            </a:extLst>
          </p:cNvPr>
          <p:cNvCxnSpPr>
            <a:cxnSpLocks/>
            <a:stCxn id="8" idx="4"/>
          </p:cNvCxnSpPr>
          <p:nvPr/>
        </p:nvCxnSpPr>
        <p:spPr>
          <a:xfrm>
            <a:off x="5901604" y="2018837"/>
            <a:ext cx="0" cy="2875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E79ABC1-319E-C434-E02C-4C9B531BC387}"/>
              </a:ext>
            </a:extLst>
          </p:cNvPr>
          <p:cNvCxnSpPr>
            <a:stCxn id="9" idx="2"/>
            <a:endCxn id="10" idx="0"/>
          </p:cNvCxnSpPr>
          <p:nvPr/>
        </p:nvCxnSpPr>
        <p:spPr>
          <a:xfrm>
            <a:off x="5840272" y="2953424"/>
            <a:ext cx="9667" cy="2611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B9CD828-A8DD-D07A-6EFC-A191A097FE71}"/>
              </a:ext>
            </a:extLst>
          </p:cNvPr>
          <p:cNvCxnSpPr>
            <a:cxnSpLocks/>
            <a:stCxn id="10" idx="2"/>
          </p:cNvCxnSpPr>
          <p:nvPr/>
        </p:nvCxnSpPr>
        <p:spPr>
          <a:xfrm flipH="1">
            <a:off x="5840272" y="3861646"/>
            <a:ext cx="9667" cy="2875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5EF8251-557C-1AE3-2063-CAB810EA47B3}"/>
              </a:ext>
            </a:extLst>
          </p:cNvPr>
          <p:cNvCxnSpPr>
            <a:cxnSpLocks/>
            <a:stCxn id="11" idx="2"/>
          </p:cNvCxnSpPr>
          <p:nvPr/>
        </p:nvCxnSpPr>
        <p:spPr>
          <a:xfrm>
            <a:off x="6039687" y="4781575"/>
            <a:ext cx="0" cy="2483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E8D99160-3D60-9B29-D365-F02D793E094E}"/>
              </a:ext>
            </a:extLst>
          </p:cNvPr>
          <p:cNvCxnSpPr>
            <a:stCxn id="12" idx="2"/>
            <a:endCxn id="15" idx="0"/>
          </p:cNvCxnSpPr>
          <p:nvPr/>
        </p:nvCxnSpPr>
        <p:spPr>
          <a:xfrm flipH="1">
            <a:off x="5901601" y="5677056"/>
            <a:ext cx="1" cy="2207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91609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72031-A840-6896-AAE4-D8313CB4D5C6}"/>
              </a:ext>
            </a:extLst>
          </p:cNvPr>
          <p:cNvSpPr>
            <a:spLocks noGrp="1"/>
          </p:cNvSpPr>
          <p:nvPr>
            <p:ph type="title"/>
          </p:nvPr>
        </p:nvSpPr>
        <p:spPr/>
        <p:txBody>
          <a:bodyPr/>
          <a:lstStyle/>
          <a:p>
            <a:r>
              <a:rPr lang="en-US" b="1" dirty="0"/>
              <a:t>Benefits of Coordinate Descent</a:t>
            </a:r>
            <a:endParaRPr lang="en-IN" dirty="0"/>
          </a:p>
        </p:txBody>
      </p:sp>
      <p:sp>
        <p:nvSpPr>
          <p:cNvPr id="3" name="Content Placeholder 2">
            <a:extLst>
              <a:ext uri="{FF2B5EF4-FFF2-40B4-BE49-F238E27FC236}">
                <a16:creationId xmlns:a16="http://schemas.microsoft.com/office/drawing/2014/main" id="{51D2DB2F-F945-3A4B-5467-4EE53D4287E2}"/>
              </a:ext>
            </a:extLst>
          </p:cNvPr>
          <p:cNvSpPr>
            <a:spLocks noGrp="1"/>
          </p:cNvSpPr>
          <p:nvPr>
            <p:ph idx="1"/>
          </p:nvPr>
        </p:nvSpPr>
        <p:spPr/>
        <p:txBody>
          <a:bodyPr/>
          <a:lstStyle/>
          <a:p>
            <a:pPr>
              <a:buFont typeface="Arial" panose="020B0604020202020204" pitchFamily="34" charset="0"/>
              <a:buChar char="•"/>
            </a:pPr>
            <a:r>
              <a:rPr lang="en-US" dirty="0"/>
              <a:t>Efficient for </a:t>
            </a:r>
            <a:r>
              <a:rPr lang="en-US" b="1" dirty="0"/>
              <a:t>high-dimensional</a:t>
            </a:r>
            <a:r>
              <a:rPr lang="en-US" dirty="0"/>
              <a:t> data.</a:t>
            </a:r>
          </a:p>
          <a:p>
            <a:pPr>
              <a:buFont typeface="Arial" panose="020B0604020202020204" pitchFamily="34" charset="0"/>
              <a:buChar char="•"/>
            </a:pPr>
            <a:r>
              <a:rPr lang="en-US" dirty="0"/>
              <a:t>Automatically selects the most important features.</a:t>
            </a:r>
          </a:p>
          <a:p>
            <a:pPr>
              <a:buFont typeface="Arial" panose="020B0604020202020204" pitchFamily="34" charset="0"/>
              <a:buChar char="•"/>
            </a:pPr>
            <a:r>
              <a:rPr lang="en-US" dirty="0"/>
              <a:t>Helps in reducing </a:t>
            </a:r>
            <a:r>
              <a:rPr lang="en-US" b="1" dirty="0"/>
              <a:t>model complexity</a:t>
            </a:r>
            <a:r>
              <a:rPr lang="en-US" dirty="0"/>
              <a:t> and improving </a:t>
            </a:r>
            <a:r>
              <a:rPr lang="en-US" b="1" dirty="0"/>
              <a:t>interpretability</a:t>
            </a:r>
            <a:r>
              <a:rPr lang="en-US" dirty="0"/>
              <a:t>.</a:t>
            </a:r>
          </a:p>
          <a:p>
            <a:endParaRPr lang="en-IN" dirty="0"/>
          </a:p>
        </p:txBody>
      </p:sp>
    </p:spTree>
    <p:extLst>
      <p:ext uri="{BB962C8B-B14F-4D97-AF65-F5344CB8AC3E}">
        <p14:creationId xmlns:p14="http://schemas.microsoft.com/office/powerpoint/2010/main" val="8788684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A8AA0-E1AE-2503-06E7-874F7F274A3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C3DC6DF-3C26-141E-75A7-E9B933AF4D92}"/>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679941003"/>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docProps/app.xml><?xml version="1.0" encoding="utf-8"?>
<Properties xmlns="http://schemas.openxmlformats.org/officeDocument/2006/extended-properties" xmlns:vt="http://schemas.openxmlformats.org/officeDocument/2006/docPropsVTypes">
  <Template>Metropolitan</Template>
  <TotalTime>863</TotalTime>
  <Words>1051</Words>
  <Application>Microsoft Office PowerPoint</Application>
  <PresentationFormat>Widescreen</PresentationFormat>
  <Paragraphs>98</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 Light</vt:lpstr>
      <vt:lpstr>Cambria</vt:lpstr>
      <vt:lpstr>Wingdings</vt:lpstr>
      <vt:lpstr>Metropolitan</vt:lpstr>
      <vt:lpstr>Regression</vt:lpstr>
      <vt:lpstr>Polynomial Regression</vt:lpstr>
      <vt:lpstr>Why Use Polynomial Regression?</vt:lpstr>
      <vt:lpstr>Steps –&gt; Salary Prediction</vt:lpstr>
      <vt:lpstr>Overfitting and regularization in linear regression and logistic regression </vt:lpstr>
      <vt:lpstr>Bias and Variance</vt:lpstr>
      <vt:lpstr>Example – Matches Won</vt:lpstr>
      <vt:lpstr>Bias-Variance Tradeoff</vt:lpstr>
      <vt:lpstr>Regularization</vt:lpstr>
      <vt:lpstr>L1 Regularization- Lasso (Least Absolute Shrinkage and Selection Operator)</vt:lpstr>
      <vt:lpstr>PowerPoint Presentation</vt:lpstr>
      <vt:lpstr>PowerPoint Presentation</vt:lpstr>
      <vt:lpstr>Problem 2: Multi-Feature Lasso with Regularization</vt:lpstr>
      <vt:lpstr>Problem 2 : Solution</vt:lpstr>
      <vt:lpstr>L2 Regularization -Ridge Regularization,</vt:lpstr>
      <vt:lpstr>Coordinate Descent in Lasso Regression</vt:lpstr>
      <vt:lpstr>How Does Coordinate Descent 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Process Flow </vt:lpstr>
      <vt:lpstr>Benefits of Coordinate Descent</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KADALE, NILAM</dc:creator>
  <cp:lastModifiedBy>PRATHAMESH KADALE</cp:lastModifiedBy>
  <cp:revision>6</cp:revision>
  <dcterms:created xsi:type="dcterms:W3CDTF">2024-08-23T12:54:17Z</dcterms:created>
  <dcterms:modified xsi:type="dcterms:W3CDTF">2024-09-14T01:21:39Z</dcterms:modified>
</cp:coreProperties>
</file>