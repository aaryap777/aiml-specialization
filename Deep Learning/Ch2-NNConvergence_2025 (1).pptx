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 id="2147483699" r:id="rId2"/>
    <p:sldMasterId id="2147483715" r:id="rId3"/>
    <p:sldMasterId id="2147483799" r:id="rId4"/>
  </p:sldMasterIdLst>
  <p:notesMasterIdLst>
    <p:notesMasterId r:id="rId73"/>
  </p:notesMasterIdLst>
  <p:sldIdLst>
    <p:sldId id="256" r:id="rId5"/>
    <p:sldId id="313" r:id="rId6"/>
    <p:sldId id="258" r:id="rId7"/>
    <p:sldId id="261" r:id="rId8"/>
    <p:sldId id="260" r:id="rId9"/>
    <p:sldId id="259" r:id="rId10"/>
    <p:sldId id="286" r:id="rId11"/>
    <p:sldId id="376" r:id="rId12"/>
    <p:sldId id="299" r:id="rId13"/>
    <p:sldId id="308" r:id="rId14"/>
    <p:sldId id="321" r:id="rId15"/>
    <p:sldId id="305" r:id="rId16"/>
    <p:sldId id="301" r:id="rId17"/>
    <p:sldId id="312" r:id="rId18"/>
    <p:sldId id="302" r:id="rId19"/>
    <p:sldId id="306" r:id="rId20"/>
    <p:sldId id="303" r:id="rId21"/>
    <p:sldId id="262" r:id="rId22"/>
    <p:sldId id="263" r:id="rId23"/>
    <p:sldId id="264" r:id="rId24"/>
    <p:sldId id="310" r:id="rId25"/>
    <p:sldId id="289" r:id="rId26"/>
    <p:sldId id="304" r:id="rId27"/>
    <p:sldId id="285" r:id="rId28"/>
    <p:sldId id="288" r:id="rId29"/>
    <p:sldId id="265" r:id="rId30"/>
    <p:sldId id="377" r:id="rId31"/>
    <p:sldId id="266" r:id="rId32"/>
    <p:sldId id="317" r:id="rId33"/>
    <p:sldId id="379" r:id="rId34"/>
    <p:sldId id="268" r:id="rId35"/>
    <p:sldId id="319" r:id="rId36"/>
    <p:sldId id="269" r:id="rId37"/>
    <p:sldId id="270" r:id="rId38"/>
    <p:sldId id="322" r:id="rId39"/>
    <p:sldId id="380" r:id="rId40"/>
    <p:sldId id="318" r:id="rId41"/>
    <p:sldId id="271" r:id="rId42"/>
    <p:sldId id="293" r:id="rId43"/>
    <p:sldId id="378" r:id="rId44"/>
    <p:sldId id="381" r:id="rId45"/>
    <p:sldId id="272" r:id="rId46"/>
    <p:sldId id="273" r:id="rId47"/>
    <p:sldId id="274" r:id="rId48"/>
    <p:sldId id="275" r:id="rId49"/>
    <p:sldId id="323" r:id="rId50"/>
    <p:sldId id="314" r:id="rId51"/>
    <p:sldId id="315" r:id="rId52"/>
    <p:sldId id="279" r:id="rId53"/>
    <p:sldId id="280" r:id="rId54"/>
    <p:sldId id="281" r:id="rId55"/>
    <p:sldId id="316" r:id="rId56"/>
    <p:sldId id="382" r:id="rId57"/>
    <p:sldId id="383" r:id="rId58"/>
    <p:sldId id="282" r:id="rId59"/>
    <p:sldId id="287" r:id="rId60"/>
    <p:sldId id="384" r:id="rId61"/>
    <p:sldId id="290" r:id="rId62"/>
    <p:sldId id="291" r:id="rId63"/>
    <p:sldId id="294" r:id="rId64"/>
    <p:sldId id="385" r:id="rId65"/>
    <p:sldId id="386" r:id="rId66"/>
    <p:sldId id="387" r:id="rId67"/>
    <p:sldId id="388" r:id="rId68"/>
    <p:sldId id="375" r:id="rId69"/>
    <p:sldId id="320" r:id="rId70"/>
    <p:sldId id="295" r:id="rId71"/>
    <p:sldId id="300" r:id="rId7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0838" autoAdjust="0"/>
  </p:normalViewPr>
  <p:slideViewPr>
    <p:cSldViewPr snapToGrid="0">
      <p:cViewPr varScale="1">
        <p:scale>
          <a:sx n="75" d="100"/>
          <a:sy n="75" d="100"/>
        </p:scale>
        <p:origin x="98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3AD054-26E6-4E11-BAD5-27FFD87AF16B}" type="datetimeFigureOut">
              <a:rPr lang="en-IN" smtClean="0"/>
              <a:t>22-02-2025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A5A3A-D620-4849-BFF4-5B5853D93111}" type="slidenum">
              <a:rPr lang="en-IN" smtClean="0"/>
              <a:t>‹#›</a:t>
            </a:fld>
            <a:endParaRPr lang="en-IN"/>
          </a:p>
        </p:txBody>
      </p:sp>
    </p:spTree>
    <p:extLst>
      <p:ext uri="{BB962C8B-B14F-4D97-AF65-F5344CB8AC3E}">
        <p14:creationId xmlns:p14="http://schemas.microsoft.com/office/powerpoint/2010/main" val="2271682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machine learning model reaches convergence when it achieves a state during training in which  settles to within an error range around the final value. </a:t>
            </a:r>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3</a:t>
            </a:fld>
            <a:endParaRPr lang="en-IN"/>
          </a:p>
        </p:txBody>
      </p:sp>
    </p:spTree>
    <p:extLst>
      <p:ext uri="{BB962C8B-B14F-4D97-AF65-F5344CB8AC3E}">
        <p14:creationId xmlns:p14="http://schemas.microsoft.com/office/powerpoint/2010/main" val="2068440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Draw is so comply use</a:t>
            </a:r>
            <a:r>
              <a:rPr lang="en-US" altLang="zh-TW" baseline="0" dirty="0"/>
              <a:t> Minecraft</a:t>
            </a:r>
            <a:endParaRPr lang="en-US" altLang="zh-TW" dirty="0"/>
          </a:p>
          <a:p>
            <a:endParaRPr lang="en-US" altLang="zh-TW" dirty="0"/>
          </a:p>
          <a:p>
            <a:r>
              <a:rPr lang="en-US" altLang="zh-TW" dirty="0"/>
              <a:t>Easy</a:t>
            </a:r>
            <a:r>
              <a:rPr lang="en-US" altLang="zh-TW" baseline="0" dirty="0"/>
              <a:t> for more than two variables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555555"/>
                </a:solidFill>
                <a:effectLst/>
                <a:latin typeface="Helvetica Neue"/>
              </a:rPr>
              <a:t>Gradient</a:t>
            </a:r>
            <a:r>
              <a:rPr lang="en-US" b="0" i="0" dirty="0">
                <a:solidFill>
                  <a:srgbClr val="555555"/>
                </a:solidFill>
                <a:effectLst/>
                <a:latin typeface="Helvetica Neue"/>
              </a:rPr>
              <a:t>: First order derivative for a multivariate objective function.</a:t>
            </a:r>
          </a:p>
          <a:p>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95D05C0D-00F1-4D27-9FA2-F1BC4B0526DB}" type="slidenum">
              <a:rPr lang="zh-TW" altLang="en-US" smtClean="0"/>
              <a:t>9</a:t>
            </a:fld>
            <a:endParaRPr lang="zh-TW" altLang="en-US"/>
          </a:p>
        </p:txBody>
      </p:sp>
    </p:spTree>
    <p:extLst>
      <p:ext uri="{BB962C8B-B14F-4D97-AF65-F5344CB8AC3E}">
        <p14:creationId xmlns:p14="http://schemas.microsoft.com/office/powerpoint/2010/main" val="3268117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Overfitting is </a:t>
            </a:r>
            <a:r>
              <a:rPr lang="en-US" b="1" i="0" dirty="0">
                <a:solidFill>
                  <a:srgbClr val="202124"/>
                </a:solidFill>
                <a:effectLst/>
                <a:latin typeface="arial" panose="020B0604020202020204" pitchFamily="34" charset="0"/>
              </a:rPr>
              <a:t>a modeling error in statistics</a:t>
            </a:r>
            <a:r>
              <a:rPr lang="en-US" b="0" i="0" dirty="0">
                <a:solidFill>
                  <a:srgbClr val="202124"/>
                </a:solidFill>
                <a:effectLst/>
                <a:latin typeface="arial" panose="020B0604020202020204" pitchFamily="34" charset="0"/>
              </a:rPr>
              <a:t> that occurs when a function is too closely aligned to a limited set of data points. ... Thus, attempting to make the model conform too closely to slightly inaccurate data can infect the model with substantial errors and reduce its predictive power.</a:t>
            </a:r>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12</a:t>
            </a:fld>
            <a:endParaRPr lang="en-IN"/>
          </a:p>
        </p:txBody>
      </p:sp>
    </p:spTree>
    <p:extLst>
      <p:ext uri="{BB962C8B-B14F-4D97-AF65-F5344CB8AC3E}">
        <p14:creationId xmlns:p14="http://schemas.microsoft.com/office/powerpoint/2010/main" val="2948734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20</a:t>
            </a:fld>
            <a:endParaRPr lang="en-IN"/>
          </a:p>
        </p:txBody>
      </p:sp>
    </p:spTree>
    <p:extLst>
      <p:ext uri="{BB962C8B-B14F-4D97-AF65-F5344CB8AC3E}">
        <p14:creationId xmlns:p14="http://schemas.microsoft.com/office/powerpoint/2010/main" val="2302054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26</a:t>
            </a:fld>
            <a:endParaRPr lang="en-IN"/>
          </a:p>
        </p:txBody>
      </p:sp>
    </p:spTree>
    <p:extLst>
      <p:ext uri="{BB962C8B-B14F-4D97-AF65-F5344CB8AC3E}">
        <p14:creationId xmlns:p14="http://schemas.microsoft.com/office/powerpoint/2010/main" val="337675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If I am repeatedly being asked to move in the same direction then I should</a:t>
            </a:r>
          </a:p>
          <a:p>
            <a:pPr algn="l"/>
            <a:r>
              <a:rPr lang="en-US" sz="1800" b="0" i="0" u="none" strike="noStrike" baseline="0" dirty="0">
                <a:latin typeface="CMR10"/>
              </a:rPr>
              <a:t>probably gain some confidence and start taking bigger steps in that direction</a:t>
            </a:r>
          </a:p>
          <a:p>
            <a:pPr algn="l"/>
            <a:r>
              <a:rPr lang="en-US" sz="1800" b="0" i="0" u="none" strike="noStrike" baseline="0" dirty="0">
                <a:latin typeface="CMR10"/>
              </a:rPr>
              <a:t>Just as a ball gains momentum while rolling down a slope</a:t>
            </a:r>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31</a:t>
            </a:fld>
            <a:endParaRPr lang="en-IN"/>
          </a:p>
        </p:txBody>
      </p:sp>
    </p:spTree>
    <p:extLst>
      <p:ext uri="{BB962C8B-B14F-4D97-AF65-F5344CB8AC3E}">
        <p14:creationId xmlns:p14="http://schemas.microsoft.com/office/powerpoint/2010/main" val="2279715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Google Sans"/>
              </a:rPr>
              <a:t>The neural network's weights are changed in momentum-based gradient descent using the weighted sum of the previous gradient and the current gradient.</a:t>
            </a:r>
          </a:p>
          <a:p>
            <a:r>
              <a:rPr lang="en-US" b="0" i="0" dirty="0">
                <a:solidFill>
                  <a:srgbClr val="383838"/>
                </a:solidFill>
                <a:effectLst/>
                <a:latin typeface="Inter"/>
              </a:rPr>
              <a:t>we take a fraction of the parameter update from the previous gradient step and add it to the current gradient step.</a:t>
            </a:r>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32</a:t>
            </a:fld>
            <a:endParaRPr lang="en-IN"/>
          </a:p>
        </p:txBody>
      </p:sp>
    </p:spTree>
    <p:extLst>
      <p:ext uri="{BB962C8B-B14F-4D97-AF65-F5344CB8AC3E}">
        <p14:creationId xmlns:p14="http://schemas.microsoft.com/office/powerpoint/2010/main" val="2709082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45</a:t>
            </a:fld>
            <a:endParaRPr lang="en-IN"/>
          </a:p>
        </p:txBody>
      </p:sp>
    </p:spTree>
    <p:extLst>
      <p:ext uri="{BB962C8B-B14F-4D97-AF65-F5344CB8AC3E}">
        <p14:creationId xmlns:p14="http://schemas.microsoft.com/office/powerpoint/2010/main" val="703268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46</a:t>
            </a:fld>
            <a:endParaRPr lang="en-IN"/>
          </a:p>
        </p:txBody>
      </p:sp>
    </p:spTree>
    <p:extLst>
      <p:ext uri="{BB962C8B-B14F-4D97-AF65-F5344CB8AC3E}">
        <p14:creationId xmlns:p14="http://schemas.microsoft.com/office/powerpoint/2010/main" val="2580286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Right: learning rate size</a:t>
            </a:r>
            <a:r>
              <a:rPr lang="en-US" altLang="zh-TW" baseline="0" dirty="0"/>
              <a:t> (small, large…)</a:t>
            </a:r>
            <a:endParaRPr lang="zh-TW" altLang="en-US" dirty="0"/>
          </a:p>
        </p:txBody>
      </p:sp>
      <p:sp>
        <p:nvSpPr>
          <p:cNvPr id="4" name="投影片編號版面配置區 3"/>
          <p:cNvSpPr>
            <a:spLocks noGrp="1"/>
          </p:cNvSpPr>
          <p:nvPr>
            <p:ph type="sldNum" sz="quarter" idx="10"/>
          </p:nvPr>
        </p:nvSpPr>
        <p:spPr/>
        <p:txBody>
          <a:bodyPr/>
          <a:lstStyle/>
          <a:p>
            <a:fld id="{3D5FD5E6-1D4C-4574-A5FD-B73197860C4A}" type="slidenum">
              <a:rPr lang="zh-TW" altLang="en-US" smtClean="0"/>
              <a:t>47</a:t>
            </a:fld>
            <a:endParaRPr lang="zh-TW" altLang="en-US"/>
          </a:p>
        </p:txBody>
      </p:sp>
    </p:spTree>
    <p:extLst>
      <p:ext uri="{BB962C8B-B14F-4D97-AF65-F5344CB8AC3E}">
        <p14:creationId xmlns:p14="http://schemas.microsoft.com/office/powerpoint/2010/main" val="4289990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solidFill>
                  <a:srgbClr val="0000FF"/>
                </a:solidFill>
              </a:rPr>
              <a:t>Advanced Idea: </a:t>
            </a:r>
            <a:r>
              <a:rPr lang="en-US" altLang="zh-TW" sz="1200" b="0" i="0" kern="1200" dirty="0">
                <a:solidFill>
                  <a:schemeClr val="tx1"/>
                </a:solidFill>
                <a:effectLst/>
                <a:latin typeface="+mn-lt"/>
                <a:ea typeface="+mn-ea"/>
                <a:cs typeface="+mn-cs"/>
              </a:rPr>
              <a:t>Eta</a:t>
            </a:r>
            <a:endParaRPr lang="en-US" altLang="zh-TW" dirty="0">
              <a:solidFill>
                <a:srgbClr val="0000FF"/>
              </a:solidFill>
            </a:endParaRPr>
          </a:p>
          <a:p>
            <a:pPr lvl="1"/>
            <a:r>
              <a:rPr lang="en-US" altLang="zh-TW" dirty="0">
                <a:solidFill>
                  <a:srgbClr val="0000FF"/>
                </a:solidFill>
              </a:rPr>
              <a:t>Can we give each parameters different learning rates?</a:t>
            </a:r>
          </a:p>
          <a:p>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48</a:t>
            </a:fld>
            <a:endParaRPr lang="zh-TW" altLang="en-US"/>
          </a:p>
        </p:txBody>
      </p:sp>
    </p:spTree>
    <p:extLst>
      <p:ext uri="{BB962C8B-B14F-4D97-AF65-F5344CB8AC3E}">
        <p14:creationId xmlns:p14="http://schemas.microsoft.com/office/powerpoint/2010/main" val="1610219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parameter</a:t>
            </a:r>
            <a:r>
              <a:rPr lang="en-US" baseline="0" dirty="0"/>
              <a:t> has its own learning rate.</a:t>
            </a:r>
          </a:p>
          <a:p>
            <a:r>
              <a:rPr lang="en-US" baseline="0" dirty="0" err="1"/>
              <a:t>gt</a:t>
            </a:r>
            <a:r>
              <a:rPr lang="en-US" baseline="0" dirty="0"/>
              <a:t> represents the gradient at the time t</a:t>
            </a:r>
          </a:p>
          <a:p>
            <a:r>
              <a:rPr lang="en-US" baseline="0" dirty="0" err="1"/>
              <a:t>nt</a:t>
            </a:r>
            <a:r>
              <a:rPr lang="en-US" baseline="0" dirty="0"/>
              <a:t> represents the learning rate at time t (iteration t)</a:t>
            </a:r>
          </a:p>
          <a:p>
            <a:r>
              <a:rPr lang="en-US" baseline="0" dirty="0"/>
              <a:t>The learning rate is adjusted as per the sum of previous gradients – if gradients change is more then </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3D5FD5E6-1D4C-4574-A5FD-B73197860C4A}" type="slidenum">
              <a:rPr lang="zh-TW" altLang="en-US" smtClean="0"/>
              <a:t>49</a:t>
            </a:fld>
            <a:endParaRPr lang="zh-TW" altLang="en-US"/>
          </a:p>
        </p:txBody>
      </p:sp>
    </p:spTree>
    <p:extLst>
      <p:ext uri="{BB962C8B-B14F-4D97-AF65-F5344CB8AC3E}">
        <p14:creationId xmlns:p14="http://schemas.microsoft.com/office/powerpoint/2010/main" val="435153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Why</a:t>
            </a:r>
            <a:r>
              <a:rPr lang="en-US" altLang="zh-TW" baseline="0" dirty="0"/>
              <a:t> square</a:t>
            </a:r>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50</a:t>
            </a:fld>
            <a:endParaRPr lang="zh-TW" altLang="en-US"/>
          </a:p>
        </p:txBody>
      </p:sp>
    </p:spTree>
    <p:extLst>
      <p:ext uri="{BB962C8B-B14F-4D97-AF65-F5344CB8AC3E}">
        <p14:creationId xmlns:p14="http://schemas.microsoft.com/office/powerpoint/2010/main" val="3930105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51</a:t>
            </a:fld>
            <a:endParaRPr lang="zh-TW" altLang="en-US"/>
          </a:p>
        </p:txBody>
      </p:sp>
    </p:spTree>
    <p:extLst>
      <p:ext uri="{BB962C8B-B14F-4D97-AF65-F5344CB8AC3E}">
        <p14:creationId xmlns:p14="http://schemas.microsoft.com/office/powerpoint/2010/main" val="2683498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Contradiction??????</a:t>
            </a:r>
          </a:p>
          <a:p>
            <a:endParaRPr lang="en-US" altLang="zh-TW" dirty="0"/>
          </a:p>
          <a:p>
            <a:r>
              <a:rPr lang="en-US" altLang="zh-TW" dirty="0"/>
              <a:t>Gradient</a:t>
            </a:r>
            <a:r>
              <a:rPr lang="en-US" altLang="zh-TW" baseline="0" dirty="0"/>
              <a:t> and learning rate</a:t>
            </a:r>
            <a:endParaRPr lang="zh-TW" altLang="en-US" dirty="0"/>
          </a:p>
        </p:txBody>
      </p:sp>
      <p:sp>
        <p:nvSpPr>
          <p:cNvPr id="4" name="投影片編號版面配置區 3"/>
          <p:cNvSpPr>
            <a:spLocks noGrp="1"/>
          </p:cNvSpPr>
          <p:nvPr>
            <p:ph type="sldNum" sz="quarter" idx="10"/>
          </p:nvPr>
        </p:nvSpPr>
        <p:spPr/>
        <p:txBody>
          <a:bodyPr/>
          <a:lstStyle/>
          <a:p>
            <a:fld id="{E1F38C80-00F7-436B-8B87-50F370165391}" type="slidenum">
              <a:rPr lang="zh-TW" altLang="en-US" smtClean="0"/>
              <a:t>52</a:t>
            </a:fld>
            <a:endParaRPr lang="zh-TW" altLang="en-US"/>
          </a:p>
        </p:txBody>
      </p:sp>
    </p:spTree>
    <p:extLst>
      <p:ext uri="{BB962C8B-B14F-4D97-AF65-F5344CB8AC3E}">
        <p14:creationId xmlns:p14="http://schemas.microsoft.com/office/powerpoint/2010/main" val="1660350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Roboto" panose="02000000000000000000" pitchFamily="2" charset="0"/>
              </a:rPr>
              <a:t>sparse features, i.e., features that occur only infrequently. </a:t>
            </a:r>
          </a:p>
          <a:p>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53</a:t>
            </a:fld>
            <a:endParaRPr lang="en-IN"/>
          </a:p>
        </p:txBody>
      </p:sp>
    </p:spTree>
    <p:extLst>
      <p:ext uri="{BB962C8B-B14F-4D97-AF65-F5344CB8AC3E}">
        <p14:creationId xmlns:p14="http://schemas.microsoft.com/office/powerpoint/2010/main" val="1463423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70C0"/>
                </a:solidFill>
              </a:rPr>
              <a:t>RPROP</a:t>
            </a:r>
            <a:r>
              <a:rPr lang="en-US" dirty="0"/>
              <a:t>: Considers the sign of gradient so that weights do not overshoot</a:t>
            </a:r>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54</a:t>
            </a:fld>
            <a:endParaRPr lang="en-IN"/>
          </a:p>
        </p:txBody>
      </p:sp>
    </p:spTree>
    <p:extLst>
      <p:ext uri="{BB962C8B-B14F-4D97-AF65-F5344CB8AC3E}">
        <p14:creationId xmlns:p14="http://schemas.microsoft.com/office/powerpoint/2010/main" val="480576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https://www.youtube.com/watch?v=ajI_HTyaCu8</a:t>
            </a:r>
          </a:p>
        </p:txBody>
      </p:sp>
      <p:sp>
        <p:nvSpPr>
          <p:cNvPr id="4" name="Slide Number Placeholder 3"/>
          <p:cNvSpPr>
            <a:spLocks noGrp="1"/>
          </p:cNvSpPr>
          <p:nvPr>
            <p:ph type="sldNum" sz="quarter" idx="5"/>
          </p:nvPr>
        </p:nvSpPr>
        <p:spPr/>
        <p:txBody>
          <a:bodyPr/>
          <a:lstStyle/>
          <a:p>
            <a:fld id="{890A5A3A-D620-4849-BFF4-5B5853D93111}" type="slidenum">
              <a:rPr lang="en-IN" smtClean="0"/>
              <a:t>59</a:t>
            </a:fld>
            <a:endParaRPr lang="en-IN"/>
          </a:p>
        </p:txBody>
      </p:sp>
    </p:spTree>
    <p:extLst>
      <p:ext uri="{BB962C8B-B14F-4D97-AF65-F5344CB8AC3E}">
        <p14:creationId xmlns:p14="http://schemas.microsoft.com/office/powerpoint/2010/main" val="1368352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https://statusneo.com/boosting-neural-network-adadelta-optimization-explained/</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err="1">
                <a:effectLst/>
                <a:latin typeface="Roboto" panose="02000000000000000000" pitchFamily="2" charset="0"/>
              </a:rPr>
              <a:t>st</a:t>
            </a:r>
            <a:r>
              <a:rPr lang="en-US" b="0" i="0" dirty="0">
                <a:effectLst/>
                <a:latin typeface="Roboto" panose="02000000000000000000" pitchFamily="2" charset="0"/>
              </a:rPr>
              <a:t> to store a leaky average of the second moment of the gradient and </a:t>
            </a:r>
            <a:r>
              <a:rPr lang="en-US" b="0" i="0" dirty="0" err="1">
                <a:effectLst/>
                <a:latin typeface="Roboto" panose="02000000000000000000" pitchFamily="2" charset="0"/>
              </a:rPr>
              <a:t>Δxt</a:t>
            </a:r>
            <a:r>
              <a:rPr lang="en-US" b="0" i="0" dirty="0">
                <a:effectLst/>
                <a:latin typeface="Roboto" panose="02000000000000000000" pitchFamily="2" charset="0"/>
              </a:rPr>
              <a:t> to store a leaky average of the second moment of the change of parameters in the model itself</a:t>
            </a:r>
          </a:p>
          <a:p>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61</a:t>
            </a:fld>
            <a:endParaRPr lang="en-IN"/>
          </a:p>
        </p:txBody>
      </p:sp>
    </p:spTree>
    <p:extLst>
      <p:ext uri="{BB962C8B-B14F-4D97-AF65-F5344CB8AC3E}">
        <p14:creationId xmlns:p14="http://schemas.microsoft.com/office/powerpoint/2010/main" val="1975192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spcAft>
                <a:spcPts val="1050"/>
              </a:spcAft>
            </a:pPr>
            <a:r>
              <a:rPr lang="en-US" b="0" i="0" u="none" strike="noStrike" dirty="0">
                <a:solidFill>
                  <a:srgbClr val="05192D"/>
                </a:solidFill>
                <a:effectLst/>
                <a:latin typeface="Studio-Feixen-Sans"/>
              </a:rPr>
              <a:t>https://www.datacamp.com/tutorial/adam-optimizer-tutorial</a:t>
            </a:r>
          </a:p>
          <a:p>
            <a:pPr algn="l" rtl="0">
              <a:spcAft>
                <a:spcPts val="1050"/>
              </a:spcAft>
            </a:pPr>
            <a:r>
              <a:rPr lang="en-US" b="0" i="0" u="none" strike="noStrike" dirty="0">
                <a:solidFill>
                  <a:srgbClr val="05192D"/>
                </a:solidFill>
                <a:effectLst/>
                <a:latin typeface="Studio-Feixen-Sans"/>
              </a:rPr>
              <a:t>Adam is like merging your skateboard (momentum) with your adaptive shoes (RMSprop) and adding a smart navigation system to the mix.</a:t>
            </a:r>
            <a:endParaRPr lang="en-US" b="0" i="0" dirty="0">
              <a:solidFill>
                <a:srgbClr val="05192D"/>
              </a:solidFill>
              <a:effectLst/>
              <a:latin typeface="Studio-Feixen-Sans"/>
            </a:endParaRPr>
          </a:p>
          <a:p>
            <a:pPr algn="l" rtl="0">
              <a:spcAft>
                <a:spcPts val="1050"/>
              </a:spcAft>
            </a:pPr>
            <a:r>
              <a:rPr lang="en-US" b="0" i="0" u="none" strike="noStrike" dirty="0">
                <a:solidFill>
                  <a:srgbClr val="05192D"/>
                </a:solidFill>
                <a:effectLst/>
                <a:latin typeface="Studio-Feixen-Sans"/>
              </a:rPr>
              <a:t>The skateboard part (momentum) keeps you going in the right general direction. This means that in downhill, smooth, and consistent regions, Adam allows you to move rapidly. In tricky, variable terrain, it helps you maintain a steady but cautious pace.</a:t>
            </a:r>
            <a:endParaRPr lang="en-US" b="0" i="0" dirty="0">
              <a:solidFill>
                <a:srgbClr val="05192D"/>
              </a:solidFill>
              <a:effectLst/>
              <a:latin typeface="Studio-Feixen-Sans"/>
            </a:endParaRPr>
          </a:p>
          <a:p>
            <a:pPr algn="l" rtl="0">
              <a:spcAft>
                <a:spcPts val="1050"/>
              </a:spcAft>
            </a:pPr>
            <a:r>
              <a:rPr lang="en-US" b="0" i="0" u="none" strike="noStrike" dirty="0">
                <a:solidFill>
                  <a:srgbClr val="05192D"/>
                </a:solidFill>
                <a:effectLst/>
                <a:latin typeface="Studio-Feixen-Sans"/>
              </a:rPr>
              <a:t>The adaptive shoes (RMSprop) sense where you’re going and adjust the skateboard’s grip. The smart navigation system (bias correction) in Adam is especially important at the start of your journey, where you start off from a random point and don’t know much about the terrain.</a:t>
            </a:r>
            <a:endParaRPr lang="en-US" b="0" i="0" dirty="0">
              <a:solidFill>
                <a:srgbClr val="05192D"/>
              </a:solidFill>
              <a:effectLst/>
              <a:latin typeface="Studio-Feixen-Sans"/>
            </a:endParaRPr>
          </a:p>
          <a:p>
            <a:pPr algn="l" rtl="0">
              <a:spcAft>
                <a:spcPts val="1050"/>
              </a:spcAft>
            </a:pPr>
            <a:r>
              <a:rPr lang="en-US" b="0" i="0" u="none" strike="noStrike" dirty="0">
                <a:solidFill>
                  <a:srgbClr val="05192D"/>
                </a:solidFill>
                <a:effectLst/>
                <a:latin typeface="Studio-Feixen-Sans"/>
              </a:rPr>
              <a:t>This combination of attributes is why Adam often finds the lowest point (the solution to the problem) in a very efficient manner and why its structure can handle different types of terrain (different types of machine learning problems) well.</a:t>
            </a:r>
            <a:endParaRPr lang="en-US" b="0" i="0" dirty="0">
              <a:solidFill>
                <a:srgbClr val="05192D"/>
              </a:solidFill>
              <a:effectLst/>
              <a:latin typeface="Studio-Feixen-Sans"/>
            </a:endParaRPr>
          </a:p>
          <a:p>
            <a:endParaRPr lang="en-IN" dirty="0"/>
          </a:p>
        </p:txBody>
      </p:sp>
      <p:sp>
        <p:nvSpPr>
          <p:cNvPr id="4" name="Slide Number Placeholder 3"/>
          <p:cNvSpPr>
            <a:spLocks noGrp="1"/>
          </p:cNvSpPr>
          <p:nvPr>
            <p:ph type="sldNum" sz="quarter" idx="5"/>
          </p:nvPr>
        </p:nvSpPr>
        <p:spPr/>
        <p:txBody>
          <a:bodyPr/>
          <a:lstStyle/>
          <a:p>
            <a:fld id="{890A5A3A-D620-4849-BFF4-5B5853D93111}" type="slidenum">
              <a:rPr lang="en-IN" smtClean="0"/>
              <a:t>63</a:t>
            </a:fld>
            <a:endParaRPr lang="en-IN"/>
          </a:p>
        </p:txBody>
      </p:sp>
    </p:spTree>
    <p:extLst>
      <p:ext uri="{BB962C8B-B14F-4D97-AF65-F5344CB8AC3E}">
        <p14:creationId xmlns:p14="http://schemas.microsoft.com/office/powerpoint/2010/main" val="1588686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lets us see how different kinds of learning algorithms work.</a:t>
            </a:r>
          </a:p>
        </p:txBody>
      </p:sp>
      <p:sp>
        <p:nvSpPr>
          <p:cNvPr id="4" name="Slide Number Placeholder 3"/>
          <p:cNvSpPr>
            <a:spLocks noGrp="1"/>
          </p:cNvSpPr>
          <p:nvPr>
            <p:ph type="sldNum" sz="quarter" idx="10"/>
          </p:nvPr>
        </p:nvSpPr>
        <p:spPr/>
        <p:txBody>
          <a:bodyPr/>
          <a:lstStyle/>
          <a:p>
            <a:fld id="{4AEF1C44-8468-42BA-A4C2-F2C6BCEA5D60}" type="slidenum">
              <a:rPr lang="en-US" smtClean="0"/>
              <a:t>65</a:t>
            </a:fld>
            <a:endParaRPr lang="en-US"/>
          </a:p>
        </p:txBody>
      </p:sp>
    </p:spTree>
    <p:extLst>
      <p:ext uri="{BB962C8B-B14F-4D97-AF65-F5344CB8AC3E}">
        <p14:creationId xmlns:p14="http://schemas.microsoft.com/office/powerpoint/2010/main" val="4148486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940281"/>
            <a:ext cx="12192000" cy="696967"/>
          </a:xfrm>
          <a:prstGeom prst="rect">
            <a:avLst/>
          </a:prstGeom>
        </p:spPr>
        <p:txBody>
          <a:bodyPr anchor="ctr"/>
          <a:lstStyle>
            <a:lvl1pPr marL="0" indent="0" algn="ctr">
              <a:lnSpc>
                <a:spcPct val="100000"/>
              </a:lnSpc>
              <a:buNone/>
              <a:defRPr sz="4800" b="1" baseline="0">
                <a:solidFill>
                  <a:schemeClr val="tx1">
                    <a:lumMod val="75000"/>
                    <a:lumOff val="25000"/>
                  </a:schemeClr>
                </a:solidFill>
                <a:latin typeface="+mj-lt"/>
                <a:cs typeface="Arial" pitchFamily="34" charset="0"/>
              </a:defRPr>
            </a:lvl1pPr>
          </a:lstStyle>
          <a:p>
            <a:pPr lvl="0"/>
            <a:r>
              <a:rPr lang="en-US" altLang="ko-KR" dirty="0">
                <a:ea typeface="맑은 고딕" pitchFamily="50" charset="-127"/>
              </a:rPr>
              <a:t>FREE PPT TEMPLATES</a:t>
            </a:r>
            <a:endParaRPr lang="en-US" altLang="ko-KR" dirty="0"/>
          </a:p>
        </p:txBody>
      </p:sp>
      <p:sp>
        <p:nvSpPr>
          <p:cNvPr id="11" name="Text Placeholder 9"/>
          <p:cNvSpPr>
            <a:spLocks noGrp="1"/>
          </p:cNvSpPr>
          <p:nvPr>
            <p:ph type="body" sz="quarter" idx="11" hasCustomPrompt="1"/>
          </p:nvPr>
        </p:nvSpPr>
        <p:spPr>
          <a:xfrm>
            <a:off x="-197" y="5637245"/>
            <a:ext cx="12192000" cy="384043"/>
          </a:xfrm>
          <a:prstGeom prst="rect">
            <a:avLst/>
          </a:prstGeom>
        </p:spPr>
        <p:txBody>
          <a:bodyPr anchor="ctr"/>
          <a:lstStyle>
            <a:lvl1pPr marL="0" indent="0" algn="ctr">
              <a:lnSpc>
                <a:spcPct val="100000"/>
              </a:lnSpc>
              <a:buNone/>
              <a:defRPr sz="1867" b="1" baseline="0">
                <a:solidFill>
                  <a:schemeClr val="tx1">
                    <a:lumMod val="75000"/>
                    <a:lumOff val="25000"/>
                  </a:schemeClr>
                </a:solidFill>
                <a:latin typeface="+mn-lt"/>
                <a:cs typeface="Arial" pitchFamily="34" charset="0"/>
              </a:defRPr>
            </a:lvl1pPr>
          </a:lstStyle>
          <a:p>
            <a:pPr lvl="0"/>
            <a:r>
              <a:rPr lang="en-US" altLang="ko-KR" dirty="0"/>
              <a:t>INSTERT THE TITLE OF YOUR PRESENTATION HERE</a:t>
            </a:r>
            <a:endParaRPr lang="ko-KR" altLang="en-US" dirty="0"/>
          </a:p>
        </p:txBody>
      </p:sp>
    </p:spTree>
    <p:extLst>
      <p:ext uri="{BB962C8B-B14F-4D97-AF65-F5344CB8AC3E}">
        <p14:creationId xmlns:p14="http://schemas.microsoft.com/office/powerpoint/2010/main" val="3020543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67"/>
          </a:p>
        </p:txBody>
      </p:sp>
      <p:sp>
        <p:nvSpPr>
          <p:cNvPr id="2" name="Oval 1"/>
          <p:cNvSpPr/>
          <p:nvPr/>
        </p:nvSpPr>
        <p:spPr>
          <a:xfrm>
            <a:off x="3599723" y="932723"/>
            <a:ext cx="4992555" cy="4992555"/>
          </a:xfrm>
          <a:prstGeom prst="ellipse">
            <a:avLst/>
          </a:prstGeom>
          <a:solidFill>
            <a:schemeClr val="accent1">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67"/>
          </a:p>
        </p:txBody>
      </p:sp>
      <p:sp>
        <p:nvSpPr>
          <p:cNvPr id="10" name="Text Placeholder 9"/>
          <p:cNvSpPr>
            <a:spLocks noGrp="1"/>
          </p:cNvSpPr>
          <p:nvPr>
            <p:ph type="body" sz="quarter" idx="10" hasCustomPrompt="1"/>
          </p:nvPr>
        </p:nvSpPr>
        <p:spPr>
          <a:xfrm>
            <a:off x="3599723" y="2908307"/>
            <a:ext cx="4992555" cy="768084"/>
          </a:xfrm>
          <a:prstGeom prst="rect">
            <a:avLst/>
          </a:prstGeom>
        </p:spPr>
        <p:txBody>
          <a:bodyPr anchor="ctr"/>
          <a:lstStyle>
            <a:lvl1pPr marL="0" indent="0" algn="ctr">
              <a:buNone/>
              <a:defRPr sz="48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3599525" y="3676392"/>
            <a:ext cx="4992555"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242050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endParaRPr lang="en-US" dirty="0"/>
          </a:p>
        </p:txBody>
      </p:sp>
      <p:sp>
        <p:nvSpPr>
          <p:cNvPr id="5" name="Footer Placeholder 4"/>
          <p:cNvSpPr>
            <a:spLocks noGrp="1"/>
          </p:cNvSpPr>
          <p:nvPr>
            <p:ph type="ftr" sz="quarter" idx="11"/>
          </p:nvPr>
        </p:nvSpPr>
        <p:spPr/>
        <p:txBody>
          <a:bodyPr/>
          <a:lstStyle/>
          <a:p>
            <a:r>
              <a:rPr lang="en-US"/>
              <a:t>Dr. Deepali Vora</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73128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Dr. Deepali Vora</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95497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2013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12192000" cy="14127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608728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527381" y="260648"/>
            <a:ext cx="11233248"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527381" y="1028733"/>
            <a:ext cx="11233248"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610825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39350" y="452670"/>
            <a:ext cx="5664629"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39350" y="1220755"/>
            <a:ext cx="5664629"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630994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12192000" cy="14127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865662" y="1700809"/>
            <a:ext cx="2198492" cy="2198492"/>
          </a:xfrm>
          <a:prstGeom prst="ellipse">
            <a:avLst/>
          </a:prstGeom>
          <a:solidFill>
            <a:schemeClr val="bg1">
              <a:lumMod val="95000"/>
            </a:schemeClr>
          </a:solidFill>
          <a:ln w="38100">
            <a:solidFill>
              <a:schemeClr val="accent1"/>
            </a:solidFill>
          </a:ln>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3627721" y="1700809"/>
            <a:ext cx="2198492" cy="2198492"/>
          </a:xfrm>
          <a:prstGeom prst="ellipse">
            <a:avLst/>
          </a:prstGeom>
          <a:solidFill>
            <a:schemeClr val="bg1">
              <a:lumMod val="95000"/>
            </a:schemeClr>
          </a:solidFill>
          <a:ln w="38100">
            <a:solidFill>
              <a:schemeClr val="accent2"/>
            </a:solidFill>
          </a:ln>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6389779" y="1700809"/>
            <a:ext cx="2198492" cy="2198492"/>
          </a:xfrm>
          <a:prstGeom prst="ellipse">
            <a:avLst/>
          </a:prstGeom>
          <a:solidFill>
            <a:schemeClr val="bg1">
              <a:lumMod val="95000"/>
            </a:schemeClr>
          </a:solidFill>
          <a:ln w="38100">
            <a:solidFill>
              <a:schemeClr val="accent3"/>
            </a:solidFill>
          </a:ln>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9151839" y="1700809"/>
            <a:ext cx="2198492" cy="2198492"/>
          </a:xfrm>
          <a:prstGeom prst="ellipse">
            <a:avLst/>
          </a:prstGeom>
          <a:solidFill>
            <a:schemeClr val="bg1">
              <a:lumMod val="95000"/>
            </a:schemeClr>
          </a:solidFill>
          <a:ln w="38100">
            <a:solidFill>
              <a:schemeClr val="accent4"/>
            </a:solidFill>
          </a:ln>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7670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12192000"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254627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4" name="Rectangle 3"/>
          <p:cNvSpPr/>
          <p:nvPr userDrawn="1"/>
        </p:nvSpPr>
        <p:spPr>
          <a:xfrm>
            <a:off x="6096000" y="0"/>
            <a:ext cx="5472608"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5" name="Picture Placeholder 2"/>
          <p:cNvSpPr>
            <a:spLocks noGrp="1"/>
          </p:cNvSpPr>
          <p:nvPr>
            <p:ph type="pic" idx="1" hasCustomPrompt="1"/>
          </p:nvPr>
        </p:nvSpPr>
        <p:spPr>
          <a:xfrm>
            <a:off x="0" y="2660915"/>
            <a:ext cx="12192000" cy="384042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154389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2" name="Picture Placeholder 2"/>
          <p:cNvSpPr>
            <a:spLocks noGrp="1"/>
          </p:cNvSpPr>
          <p:nvPr>
            <p:ph type="pic" idx="10" hasCustomPrompt="1"/>
          </p:nvPr>
        </p:nvSpPr>
        <p:spPr>
          <a:xfrm>
            <a:off x="0" y="1556792"/>
            <a:ext cx="3840000" cy="3744416"/>
          </a:xfrm>
          <a:prstGeom prst="rect">
            <a:avLst/>
          </a:prstGeom>
          <a:solidFill>
            <a:schemeClr val="bg1">
              <a:lumMod val="95000"/>
            </a:schemeClr>
          </a:solidFill>
          <a:ln w="12700">
            <a:noFill/>
          </a:ln>
        </p:spPr>
        <p:txBody>
          <a:bodyPr anchor="ctr"/>
          <a:lstStyle>
            <a:lvl1pPr marL="0" indent="0" algn="ctr">
              <a:buNone/>
              <a:defRPr sz="160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 </a:t>
            </a:r>
            <a:endParaRPr lang="ko-KR" altLang="en-US" dirty="0"/>
          </a:p>
        </p:txBody>
      </p:sp>
      <p:sp>
        <p:nvSpPr>
          <p:cNvPr id="3" name="Picture Placeholder 2"/>
          <p:cNvSpPr>
            <a:spLocks noGrp="1"/>
          </p:cNvSpPr>
          <p:nvPr>
            <p:ph type="pic" idx="11" hasCustomPrompt="1"/>
          </p:nvPr>
        </p:nvSpPr>
        <p:spPr>
          <a:xfrm>
            <a:off x="8352000" y="1"/>
            <a:ext cx="3840000" cy="6857999"/>
          </a:xfrm>
          <a:prstGeom prst="rect">
            <a:avLst/>
          </a:prstGeom>
          <a:solidFill>
            <a:schemeClr val="bg1">
              <a:lumMod val="95000"/>
            </a:schemeClr>
          </a:solidFill>
          <a:ln w="12700">
            <a:noFill/>
          </a:ln>
        </p:spPr>
        <p:txBody>
          <a:bodyPr anchor="ctr"/>
          <a:lstStyle>
            <a:lvl1pPr marL="0" indent="0" algn="ctr">
              <a:buNone/>
              <a:defRPr sz="160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 </a:t>
            </a:r>
            <a:endParaRPr lang="ko-KR" altLang="en-US" dirty="0"/>
          </a:p>
        </p:txBody>
      </p:sp>
    </p:spTree>
    <p:extLst>
      <p:ext uri="{BB962C8B-B14F-4D97-AF65-F5344CB8AC3E}">
        <p14:creationId xmlns:p14="http://schemas.microsoft.com/office/powerpoint/2010/main" val="1611272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accent1"/>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4463819" y="175381"/>
            <a:ext cx="7728181" cy="206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5472000" y="2397761"/>
            <a:ext cx="6720000" cy="206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9" name="Picture Placeholder 2"/>
          <p:cNvSpPr>
            <a:spLocks noGrp="1"/>
          </p:cNvSpPr>
          <p:nvPr>
            <p:ph type="pic" idx="13" hasCustomPrompt="1"/>
          </p:nvPr>
        </p:nvSpPr>
        <p:spPr>
          <a:xfrm>
            <a:off x="6432000" y="4620141"/>
            <a:ext cx="5760000" cy="206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058123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5249889" y="2"/>
            <a:ext cx="2496000"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5" name="Picture Placeholder 2"/>
          <p:cNvSpPr>
            <a:spLocks noGrp="1"/>
          </p:cNvSpPr>
          <p:nvPr>
            <p:ph type="pic" idx="10" hasCustomPrompt="1"/>
          </p:nvPr>
        </p:nvSpPr>
        <p:spPr>
          <a:xfrm>
            <a:off x="2624944" y="2"/>
            <a:ext cx="2496000"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6" name="Picture Placeholder 2"/>
          <p:cNvSpPr>
            <a:spLocks noGrp="1"/>
          </p:cNvSpPr>
          <p:nvPr>
            <p:ph type="pic" idx="11" hasCustomPrompt="1"/>
          </p:nvPr>
        </p:nvSpPr>
        <p:spPr>
          <a:xfrm>
            <a:off x="0" y="2"/>
            <a:ext cx="2496000"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926379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Images Layout">
    <p:bg>
      <p:bgPr>
        <a:solidFill>
          <a:schemeClr val="bg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2" hasCustomPrompt="1"/>
          </p:nvPr>
        </p:nvSpPr>
        <p:spPr>
          <a:xfrm>
            <a:off x="8925520" y="2948933"/>
            <a:ext cx="2592288" cy="340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6" name="Picture Placeholder 2"/>
          <p:cNvSpPr>
            <a:spLocks noGrp="1"/>
          </p:cNvSpPr>
          <p:nvPr>
            <p:ph type="pic" idx="13" hasCustomPrompt="1"/>
          </p:nvPr>
        </p:nvSpPr>
        <p:spPr>
          <a:xfrm>
            <a:off x="6173213" y="2948933"/>
            <a:ext cx="2592288" cy="340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7" name="Picture Placeholder 2"/>
          <p:cNvSpPr>
            <a:spLocks noGrp="1"/>
          </p:cNvSpPr>
          <p:nvPr>
            <p:ph type="pic" idx="14" hasCustomPrompt="1"/>
          </p:nvPr>
        </p:nvSpPr>
        <p:spPr>
          <a:xfrm>
            <a:off x="3420908" y="2948933"/>
            <a:ext cx="2592288" cy="340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5" hasCustomPrompt="1"/>
          </p:nvPr>
        </p:nvSpPr>
        <p:spPr>
          <a:xfrm>
            <a:off x="668603" y="596933"/>
            <a:ext cx="2592288" cy="5760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607467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5060828" y="307892"/>
            <a:ext cx="4392149" cy="2016224"/>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7484222" y="4532361"/>
            <a:ext cx="4391925" cy="2016224"/>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5060828" y="2420127"/>
            <a:ext cx="2304256" cy="412845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7495339" y="2419365"/>
            <a:ext cx="1957637" cy="2016224"/>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8" hasCustomPrompt="1"/>
          </p:nvPr>
        </p:nvSpPr>
        <p:spPr>
          <a:xfrm>
            <a:off x="9571891" y="307892"/>
            <a:ext cx="2304256" cy="412845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6097960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4"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09388" y="1751814"/>
            <a:ext cx="8584243" cy="4366084"/>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1309198" y="2308372"/>
            <a:ext cx="4114129" cy="304249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100074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12192000" cy="14127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4677139"/>
            <a:ext cx="12192000" cy="21808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solidFill>
                <a:schemeClr val="tx1"/>
              </a:solidFill>
            </a:endParaRPr>
          </a:p>
        </p:txBody>
      </p:sp>
      <p:pic>
        <p:nvPicPr>
          <p:cNvPr id="6" name="Picture 2" descr="D:\Fullppt\PNG이미지\핸드폰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646967" y="1438674"/>
            <a:ext cx="4497771" cy="5446711"/>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4755105" y="1622871"/>
            <a:ext cx="2593953" cy="400686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169241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endParaRPr>
            </a:p>
          </p:txBody>
        </p:sp>
      </p:grpSp>
    </p:spTree>
    <p:extLst>
      <p:ext uri="{BB962C8B-B14F-4D97-AF65-F5344CB8AC3E}">
        <p14:creationId xmlns:p14="http://schemas.microsoft.com/office/powerpoint/2010/main" val="30032017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6096000" y="3004317"/>
            <a:ext cx="6096000" cy="63143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6096000" y="3635752"/>
            <a:ext cx="6096000"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2454722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pPr>
              <a:defRPr/>
            </a:pPr>
            <a:endParaRPr lang="es-ES"/>
          </a:p>
        </p:txBody>
      </p:sp>
      <p:sp>
        <p:nvSpPr>
          <p:cNvPr id="8" name="Footer Placeholder 7"/>
          <p:cNvSpPr>
            <a:spLocks noGrp="1"/>
          </p:cNvSpPr>
          <p:nvPr>
            <p:ph type="ftr" sz="quarter" idx="11"/>
          </p:nvPr>
        </p:nvSpPr>
        <p:spPr/>
        <p:txBody>
          <a:bodyPr/>
          <a:lstStyle/>
          <a:p>
            <a:pPr>
              <a:defRPr/>
            </a:pPr>
            <a:r>
              <a:rPr lang="es-ES"/>
              <a:t>Dr. Deepali Vora</a:t>
            </a:r>
          </a:p>
        </p:txBody>
      </p:sp>
      <p:sp>
        <p:nvSpPr>
          <p:cNvPr id="9" name="Slide Number Placeholder 8"/>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2903239826"/>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s-ES"/>
          </a:p>
        </p:txBody>
      </p:sp>
      <p:sp>
        <p:nvSpPr>
          <p:cNvPr id="8" name="Footer Placeholder 7"/>
          <p:cNvSpPr>
            <a:spLocks noGrp="1"/>
          </p:cNvSpPr>
          <p:nvPr>
            <p:ph type="ftr" sz="quarter" idx="11"/>
          </p:nvPr>
        </p:nvSpPr>
        <p:spPr/>
        <p:txBody>
          <a:bodyPr/>
          <a:lstStyle/>
          <a:p>
            <a:pPr>
              <a:defRPr/>
            </a:pPr>
            <a:r>
              <a:rPr lang="es-ES"/>
              <a:t>Dr. Deepali Vora</a:t>
            </a:r>
          </a:p>
        </p:txBody>
      </p:sp>
      <p:sp>
        <p:nvSpPr>
          <p:cNvPr id="9" name="Slide Number Placeholder 8"/>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2662714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pPr>
              <a:defRPr/>
            </a:pPr>
            <a:endParaRPr lang="es-ES"/>
          </a:p>
        </p:txBody>
      </p:sp>
      <p:sp>
        <p:nvSpPr>
          <p:cNvPr id="8" name="Footer Placeholder 7"/>
          <p:cNvSpPr>
            <a:spLocks noGrp="1"/>
          </p:cNvSpPr>
          <p:nvPr>
            <p:ph type="ftr" sz="quarter" idx="11"/>
          </p:nvPr>
        </p:nvSpPr>
        <p:spPr/>
        <p:txBody>
          <a:bodyPr/>
          <a:lstStyle/>
          <a:p>
            <a:pPr>
              <a:defRPr/>
            </a:pPr>
            <a:r>
              <a:rPr lang="es-ES"/>
              <a:t>Dr. Deepali Vora</a:t>
            </a:r>
          </a:p>
        </p:txBody>
      </p:sp>
      <p:sp>
        <p:nvSpPr>
          <p:cNvPr id="9" name="Slide Number Placeholder 8"/>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1733702048"/>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pPr>
              <a:defRPr/>
            </a:pPr>
            <a:endParaRPr lang="es-ES"/>
          </a:p>
        </p:txBody>
      </p:sp>
      <p:sp>
        <p:nvSpPr>
          <p:cNvPr id="9" name="Footer Placeholder 8"/>
          <p:cNvSpPr>
            <a:spLocks noGrp="1"/>
          </p:cNvSpPr>
          <p:nvPr>
            <p:ph type="ftr" sz="quarter" idx="11"/>
          </p:nvPr>
        </p:nvSpPr>
        <p:spPr/>
        <p:txBody>
          <a:bodyPr/>
          <a:lstStyle/>
          <a:p>
            <a:pPr>
              <a:defRPr/>
            </a:pPr>
            <a:r>
              <a:rPr lang="es-ES"/>
              <a:t>Dr. Deepali Vora</a:t>
            </a:r>
          </a:p>
        </p:txBody>
      </p:sp>
      <p:sp>
        <p:nvSpPr>
          <p:cNvPr id="10" name="Slide Number Placeholder 9"/>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3865449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s-ES" altLang="en-US"/>
          </a:p>
        </p:txBody>
      </p:sp>
      <p:sp>
        <p:nvSpPr>
          <p:cNvPr id="8" name="Footer Placeholder 7"/>
          <p:cNvSpPr>
            <a:spLocks noGrp="1"/>
          </p:cNvSpPr>
          <p:nvPr>
            <p:ph type="ftr" sz="quarter" idx="11"/>
          </p:nvPr>
        </p:nvSpPr>
        <p:spPr/>
        <p:txBody>
          <a:bodyPr/>
          <a:lstStyle/>
          <a:p>
            <a:r>
              <a:rPr lang="es-ES" altLang="en-US"/>
              <a:t>Dr. Deepali Vora</a:t>
            </a:r>
          </a:p>
        </p:txBody>
      </p:sp>
      <p:sp>
        <p:nvSpPr>
          <p:cNvPr id="9" name="Slide Number Placeholder 8"/>
          <p:cNvSpPr>
            <a:spLocks noGrp="1"/>
          </p:cNvSpPr>
          <p:nvPr>
            <p:ph type="sldNum" sz="quarter" idx="12"/>
          </p:nvPr>
        </p:nvSpPr>
        <p:spPr/>
        <p:txBody>
          <a:bodyPr/>
          <a:lstStyle/>
          <a:p>
            <a:fld id="{558C8165-2D1E-416A-9942-38411A88E014}" type="slidenum">
              <a:rPr lang="es-ES" altLang="en-US" smtClean="0"/>
              <a:pPr/>
              <a:t>‹#›</a:t>
            </a:fld>
            <a:endParaRPr lang="es-ES" alt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497093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s-ES"/>
          </a:p>
        </p:txBody>
      </p:sp>
      <p:sp>
        <p:nvSpPr>
          <p:cNvPr id="4" name="Footer Placeholder 3"/>
          <p:cNvSpPr>
            <a:spLocks noGrp="1"/>
          </p:cNvSpPr>
          <p:nvPr>
            <p:ph type="ftr" sz="quarter" idx="11"/>
          </p:nvPr>
        </p:nvSpPr>
        <p:spPr/>
        <p:txBody>
          <a:bodyPr/>
          <a:lstStyle/>
          <a:p>
            <a:pPr>
              <a:defRPr/>
            </a:pPr>
            <a:r>
              <a:rPr lang="es-ES"/>
              <a:t>Dr. Deepali Vora</a:t>
            </a:r>
          </a:p>
        </p:txBody>
      </p:sp>
      <p:sp>
        <p:nvSpPr>
          <p:cNvPr id="5" name="Slide Number Placeholder 4"/>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15193098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s-ES"/>
          </a:p>
        </p:txBody>
      </p:sp>
      <p:sp>
        <p:nvSpPr>
          <p:cNvPr id="3" name="Footer Placeholder 2"/>
          <p:cNvSpPr>
            <a:spLocks noGrp="1"/>
          </p:cNvSpPr>
          <p:nvPr>
            <p:ph type="ftr" sz="quarter" idx="11"/>
          </p:nvPr>
        </p:nvSpPr>
        <p:spPr/>
        <p:txBody>
          <a:bodyPr/>
          <a:lstStyle/>
          <a:p>
            <a:pPr>
              <a:defRPr/>
            </a:pPr>
            <a:r>
              <a:rPr lang="es-ES"/>
              <a:t>Dr. Deepali Vora</a:t>
            </a:r>
          </a:p>
        </p:txBody>
      </p:sp>
      <p:sp>
        <p:nvSpPr>
          <p:cNvPr id="4" name="Slide Number Placeholder 3"/>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17858267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pPr>
              <a:defRPr/>
            </a:pPr>
            <a:endParaRPr lang="es-E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pPr>
              <a:defRPr/>
            </a:pPr>
            <a:r>
              <a:rPr lang="es-ES"/>
              <a:t>Dr. Deepali Vora</a:t>
            </a:r>
          </a:p>
        </p:txBody>
      </p:sp>
      <p:sp>
        <p:nvSpPr>
          <p:cNvPr id="11" name="Slide Number Placeholder 10"/>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122530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pPr>
              <a:defRPr/>
            </a:pPr>
            <a:endParaRPr lang="es-E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pPr>
              <a:defRPr/>
            </a:pPr>
            <a:r>
              <a:rPr lang="es-ES"/>
              <a:t>Dr. Deepali Vora</a:t>
            </a:r>
          </a:p>
        </p:txBody>
      </p:sp>
      <p:sp>
        <p:nvSpPr>
          <p:cNvPr id="10" name="Slide Number Placeholder 9"/>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28361441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r>
              <a:rPr lang="es-ES"/>
              <a:t>Dr. Deepali Vora</a:t>
            </a:r>
          </a:p>
        </p:txBody>
      </p:sp>
      <p:sp>
        <p:nvSpPr>
          <p:cNvPr id="6" name="Slide Number Placeholder 5"/>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21342935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r>
              <a:rPr lang="es-ES"/>
              <a:t>Dr. Deepali Vora</a:t>
            </a:r>
          </a:p>
        </p:txBody>
      </p:sp>
      <p:sp>
        <p:nvSpPr>
          <p:cNvPr id="6" name="Slide Number Placeholder 5"/>
          <p:cNvSpPr>
            <a:spLocks noGrp="1"/>
          </p:cNvSpPr>
          <p:nvPr>
            <p:ph type="sldNum" sz="quarter" idx="12"/>
          </p:nvPr>
        </p:nvSpPr>
        <p:spPr/>
        <p:txBody>
          <a:bodyPr/>
          <a:lstStyle/>
          <a:p>
            <a:fld id="{9370333F-211E-480A-A48D-622F2EB68390}" type="slidenum">
              <a:rPr lang="es-ES" altLang="en-US" smtClean="0"/>
              <a:pPr/>
              <a:t>‹#›</a:t>
            </a:fld>
            <a:endParaRPr lang="es-ES" altLang="en-US"/>
          </a:p>
        </p:txBody>
      </p:sp>
    </p:spTree>
    <p:extLst>
      <p:ext uri="{BB962C8B-B14F-4D97-AF65-F5344CB8AC3E}">
        <p14:creationId xmlns:p14="http://schemas.microsoft.com/office/powerpoint/2010/main" val="6415841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90"/>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5225"/>
            <a:ext cx="2844800" cy="476251"/>
          </a:xfrm>
          <a:prstGeom prst="rect">
            <a:avLst/>
          </a:prstGeom>
        </p:spPr>
        <p:txBody>
          <a:bodyPr/>
          <a:lstStyle>
            <a:lvl1pPr>
              <a:defRPr/>
            </a:lvl1pPr>
          </a:lstStyle>
          <a:p>
            <a:endParaRPr lang="en-US"/>
          </a:p>
        </p:txBody>
      </p:sp>
      <p:sp>
        <p:nvSpPr>
          <p:cNvPr id="7" name="Footer Placeholder 6"/>
          <p:cNvSpPr>
            <a:spLocks noGrp="1"/>
          </p:cNvSpPr>
          <p:nvPr>
            <p:ph type="ftr" sz="quarter" idx="11"/>
          </p:nvPr>
        </p:nvSpPr>
        <p:spPr>
          <a:xfrm>
            <a:off x="4165600" y="6245225"/>
            <a:ext cx="3860800" cy="476251"/>
          </a:xfrm>
          <a:prstGeom prst="rect">
            <a:avLst/>
          </a:prstGeom>
        </p:spPr>
        <p:txBody>
          <a:bodyPr/>
          <a:lstStyle>
            <a:lvl1pPr>
              <a:defRPr/>
            </a:lvl1pPr>
          </a:lstStyle>
          <a:p>
            <a:r>
              <a:rPr lang="en-US"/>
              <a:t>Dr. Deepali Vora</a:t>
            </a:r>
          </a:p>
        </p:txBody>
      </p:sp>
      <p:sp>
        <p:nvSpPr>
          <p:cNvPr id="8" name="Slide Number Placeholder 7"/>
          <p:cNvSpPr>
            <a:spLocks noGrp="1"/>
          </p:cNvSpPr>
          <p:nvPr>
            <p:ph type="sldNum" sz="quarter" idx="12"/>
          </p:nvPr>
        </p:nvSpPr>
        <p:spPr>
          <a:xfrm>
            <a:off x="8737600" y="6245225"/>
            <a:ext cx="2844800" cy="476251"/>
          </a:xfrm>
          <a:prstGeom prst="rect">
            <a:avLst/>
          </a:prstGeom>
        </p:spPr>
        <p:txBody>
          <a:bodyPr/>
          <a:lstStyle>
            <a:lvl1pPr>
              <a:defRPr/>
            </a:lvl1pPr>
          </a:lstStyle>
          <a:p>
            <a:fld id="{FC009779-55AD-BC4D-8753-9D733F0932BF}" type="slidenum">
              <a:rPr lang="en-US"/>
              <a:pPr/>
              <a:t>‹#›</a:t>
            </a:fld>
            <a:endParaRPr lang="en-US"/>
          </a:p>
        </p:txBody>
      </p:sp>
    </p:spTree>
    <p:extLst>
      <p:ext uri="{BB962C8B-B14F-4D97-AF65-F5344CB8AC3E}">
        <p14:creationId xmlns:p14="http://schemas.microsoft.com/office/powerpoint/2010/main" val="35628715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07389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6" Type="http://schemas.openxmlformats.org/officeDocument/2006/relationships/theme" Target="../theme/theme2.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60561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transition>
    <p:fade thruBlk="1"/>
  </p:transition>
  <p:hf hd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1200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Lst>
  <p:hf hd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4268864"/>
      </p:ext>
    </p:extLst>
  </p:cSld>
  <p:clrMap bg1="lt1" tx1="dk1" bg2="lt2" tx2="dk2" accent1="accent1" accent2="accent2" accent3="accent3" accent4="accent4" accent5="accent5" accent6="accent6" hlink="hlink" folHlink="folHlink"/>
  <p:sldLayoutIdLst>
    <p:sldLayoutId id="2147483716" r:id="rId1"/>
  </p:sldLayoutIdLst>
  <p:hf hd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r>
              <a:rPr lang="en-US"/>
              <a:t>Dr. Deepali Vora</a:t>
            </a:r>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1400531039"/>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Lst>
  <p:transition>
    <p:fade thruBlk="1"/>
  </p:transition>
  <p:hf hd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2.xml"/><Relationship Id="rId16" Type="http://schemas.openxmlformats.org/officeDocument/2006/relationships/image" Target="../media/image26.png"/><Relationship Id="rId1" Type="http://schemas.openxmlformats.org/officeDocument/2006/relationships/slideLayout" Target="../slideLayouts/slideLayout2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2.xml"/><Relationship Id="rId1" Type="http://schemas.openxmlformats.org/officeDocument/2006/relationships/video" Target="https://www.youtube.com/embed/qg4PchTECck?feature=oembed"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1.bin"/><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bin"/><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32.emf"/><Relationship Id="rId7" Type="http://schemas.openxmlformats.org/officeDocument/2006/relationships/image" Target="../media/image34.emf"/><Relationship Id="rId2" Type="http://schemas.openxmlformats.org/officeDocument/2006/relationships/oleObject" Target="../embeddings/oleObject3.bin"/><Relationship Id="rId1" Type="http://schemas.openxmlformats.org/officeDocument/2006/relationships/slideLayout" Target="../slideLayouts/slideLayout32.xml"/><Relationship Id="rId6" Type="http://schemas.openxmlformats.org/officeDocument/2006/relationships/oleObject" Target="../embeddings/oleObject5.bin"/><Relationship Id="rId5" Type="http://schemas.openxmlformats.org/officeDocument/2006/relationships/image" Target="../media/image33.emf"/><Relationship Id="rId4"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6.bin"/><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slideLayout" Target="../slideLayouts/slideLayout22.xml"/><Relationship Id="rId1" Type="http://schemas.openxmlformats.org/officeDocument/2006/relationships/video" Target="https://www.youtube.com/embed/WNBu7CWaEDE?feature=oembed"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https://colab.research.google.com/drive/1UkwkeclPcAc9lEWq7RFecpYfMOkfZDL4" TargetMode="Externa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38.emf"/><Relationship Id="rId7" Type="http://schemas.openxmlformats.org/officeDocument/2006/relationships/image" Target="../media/image40.emf"/><Relationship Id="rId2" Type="http://schemas.openxmlformats.org/officeDocument/2006/relationships/oleObject" Target="../embeddings/oleObject7.bin"/><Relationship Id="rId1" Type="http://schemas.openxmlformats.org/officeDocument/2006/relationships/slideLayout" Target="../slideLayouts/slideLayout22.xml"/><Relationship Id="rId6" Type="http://schemas.openxmlformats.org/officeDocument/2006/relationships/oleObject" Target="../embeddings/oleObject9.bin"/><Relationship Id="rId5" Type="http://schemas.openxmlformats.org/officeDocument/2006/relationships/image" Target="../media/image39.emf"/><Relationship Id="rId4" Type="http://schemas.openxmlformats.org/officeDocument/2006/relationships/oleObject" Target="../embeddings/oleObject8.bin"/><Relationship Id="rId9" Type="http://schemas.openxmlformats.org/officeDocument/2006/relationships/image" Target="../media/image41.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0.xml"/><Relationship Id="rId1" Type="http://schemas.openxmlformats.org/officeDocument/2006/relationships/slideLayout" Target="../slideLayouts/slideLayout26.xml"/><Relationship Id="rId4" Type="http://schemas.openxmlformats.org/officeDocument/2006/relationships/image" Target="../media/image43.wmf"/></Relationships>
</file>

<file path=ppt/slides/_rels/slide48.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0.png"/><Relationship Id="rId7"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22.xml"/><Relationship Id="rId6" Type="http://schemas.openxmlformats.org/officeDocument/2006/relationships/image" Target="../media/image44.png"/><Relationship Id="rId5" Type="http://schemas.openxmlformats.org/officeDocument/2006/relationships/image" Target="../media/image430.png"/><Relationship Id="rId4" Type="http://schemas.openxmlformats.org/officeDocument/2006/relationships/image" Target="../media/image43.png"/></Relationships>
</file>

<file path=ppt/slides/_rels/slide5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22.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5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2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2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8.xml"/><Relationship Id="rId1" Type="http://schemas.openxmlformats.org/officeDocument/2006/relationships/slideLayout" Target="../slideLayouts/slideLayout22.xml"/><Relationship Id="rId6" Type="http://schemas.openxmlformats.org/officeDocument/2006/relationships/image" Target="../media/image69.emf"/><Relationship Id="rId5" Type="http://schemas.openxmlformats.org/officeDocument/2006/relationships/oleObject" Target="../embeddings/oleObject13.bin"/><Relationship Id="rId4" Type="http://schemas.openxmlformats.org/officeDocument/2006/relationships/image" Target="../media/image68.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5.xml.rels><?xml version="1.0" encoding="UTF-8" standalone="yes"?>
<Relationships xmlns="http://schemas.openxmlformats.org/package/2006/relationships"><Relationship Id="rId3" Type="http://schemas.openxmlformats.org/officeDocument/2006/relationships/image" Target="../media/image70.gif"/><Relationship Id="rId2" Type="http://schemas.openxmlformats.org/officeDocument/2006/relationships/notesSlide" Target="../notesSlides/notesSlide21.xml"/><Relationship Id="rId1" Type="http://schemas.openxmlformats.org/officeDocument/2006/relationships/slideLayout" Target="../slideLayouts/slideLayout22.xml"/><Relationship Id="rId4" Type="http://schemas.openxmlformats.org/officeDocument/2006/relationships/image" Target="../media/image71.gi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982AA-04DE-49B8-9913-1CBD83069787}"/>
              </a:ext>
            </a:extLst>
          </p:cNvPr>
          <p:cNvSpPr>
            <a:spLocks noGrp="1"/>
          </p:cNvSpPr>
          <p:nvPr>
            <p:ph type="ctrTitle"/>
          </p:nvPr>
        </p:nvSpPr>
        <p:spPr/>
        <p:txBody>
          <a:bodyPr/>
          <a:lstStyle/>
          <a:p>
            <a:r>
              <a:rPr lang="en-US" dirty="0"/>
              <a:t>Neural Network </a:t>
            </a:r>
            <a:br>
              <a:rPr lang="en-US" dirty="0"/>
            </a:br>
            <a:r>
              <a:rPr lang="en-US" dirty="0"/>
              <a:t>Convergence</a:t>
            </a:r>
            <a:endParaRPr lang="en-IN" dirty="0"/>
          </a:p>
        </p:txBody>
      </p:sp>
      <p:sp>
        <p:nvSpPr>
          <p:cNvPr id="3" name="Subtitle 2">
            <a:extLst>
              <a:ext uri="{FF2B5EF4-FFF2-40B4-BE49-F238E27FC236}">
                <a16:creationId xmlns:a16="http://schemas.microsoft.com/office/drawing/2014/main" id="{69D044EA-3765-49D1-9738-84EBB18D77D1}"/>
              </a:ext>
            </a:extLst>
          </p:cNvPr>
          <p:cNvSpPr>
            <a:spLocks noGrp="1"/>
          </p:cNvSpPr>
          <p:nvPr>
            <p:ph type="subTitle" idx="1"/>
          </p:nvPr>
        </p:nvSpPr>
        <p:spPr/>
        <p:txBody>
          <a:bodyPr/>
          <a:lstStyle/>
          <a:p>
            <a:r>
              <a:rPr lang="en-US" dirty="0">
                <a:solidFill>
                  <a:srgbClr val="0070C0"/>
                </a:solidFill>
              </a:rPr>
              <a:t>Specialization – AIML – Introduction to Deep Learning</a:t>
            </a:r>
          </a:p>
          <a:p>
            <a:r>
              <a:rPr lang="en-US" dirty="0"/>
              <a:t>By. Dr. Deepali Vora</a:t>
            </a:r>
            <a:endParaRPr lang="en-IN" dirty="0"/>
          </a:p>
        </p:txBody>
      </p:sp>
      <p:sp>
        <p:nvSpPr>
          <p:cNvPr id="4" name="Footer Placeholder 3">
            <a:extLst>
              <a:ext uri="{FF2B5EF4-FFF2-40B4-BE49-F238E27FC236}">
                <a16:creationId xmlns:a16="http://schemas.microsoft.com/office/drawing/2014/main" id="{E3F3E8FA-01B6-4A5E-97A0-E929346220A8}"/>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B8693BAF-5E6F-4681-9451-C3DF87BBF3D0}"/>
              </a:ext>
            </a:extLst>
          </p:cNvPr>
          <p:cNvSpPr>
            <a:spLocks noGrp="1"/>
          </p:cNvSpPr>
          <p:nvPr>
            <p:ph type="sldNum" sz="quarter" idx="12"/>
          </p:nvPr>
        </p:nvSpPr>
        <p:spPr/>
        <p:txBody>
          <a:bodyPr/>
          <a:lstStyle/>
          <a:p>
            <a:fld id="{9370333F-211E-480A-A48D-622F2EB68390}" type="slidenum">
              <a:rPr lang="es-ES" altLang="en-US" smtClean="0"/>
              <a:pPr/>
              <a:t>1</a:t>
            </a:fld>
            <a:endParaRPr lang="es-ES" altLang="en-US"/>
          </a:p>
        </p:txBody>
      </p:sp>
    </p:spTree>
    <p:extLst>
      <p:ext uri="{BB962C8B-B14F-4D97-AF65-F5344CB8AC3E}">
        <p14:creationId xmlns:p14="http://schemas.microsoft.com/office/powerpoint/2010/main" val="1977057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6EAE0-3969-406C-8BD2-A1AA9D0748D9}"/>
              </a:ext>
            </a:extLst>
          </p:cNvPr>
          <p:cNvSpPr>
            <a:spLocks noGrp="1"/>
          </p:cNvSpPr>
          <p:nvPr>
            <p:ph type="title"/>
          </p:nvPr>
        </p:nvSpPr>
        <p:spPr/>
        <p:txBody>
          <a:bodyPr/>
          <a:lstStyle/>
          <a:p>
            <a:r>
              <a:rPr lang="en-US" dirty="0"/>
              <a:t>What we know</a:t>
            </a:r>
            <a:endParaRPr lang="en-IN" dirty="0"/>
          </a:p>
        </p:txBody>
      </p:sp>
      <p:sp>
        <p:nvSpPr>
          <p:cNvPr id="3" name="Content Placeholder 2">
            <a:extLst>
              <a:ext uri="{FF2B5EF4-FFF2-40B4-BE49-F238E27FC236}">
                <a16:creationId xmlns:a16="http://schemas.microsoft.com/office/drawing/2014/main" id="{AEF27DE3-4707-4DC3-AD66-2592B84F3D91}"/>
              </a:ext>
            </a:extLst>
          </p:cNvPr>
          <p:cNvSpPr>
            <a:spLocks noGrp="1"/>
          </p:cNvSpPr>
          <p:nvPr>
            <p:ph idx="1"/>
          </p:nvPr>
        </p:nvSpPr>
        <p:spPr>
          <a:xfrm>
            <a:off x="2231136" y="2347784"/>
            <a:ext cx="7729728" cy="4226011"/>
          </a:xfrm>
        </p:spPr>
        <p:txBody>
          <a:bodyPr>
            <a:normAutofit/>
          </a:bodyPr>
          <a:lstStyle/>
          <a:p>
            <a:r>
              <a:rPr lang="en-US" dirty="0"/>
              <a:t>Neural networks are universal approximators –</a:t>
            </a:r>
          </a:p>
          <a:p>
            <a:pPr lvl="1"/>
            <a:r>
              <a:rPr lang="en-US" dirty="0"/>
              <a:t> Can model any odd thing</a:t>
            </a:r>
          </a:p>
          <a:p>
            <a:pPr lvl="1"/>
            <a:r>
              <a:rPr lang="en-US" dirty="0"/>
              <a:t> Provided they have the right architecture </a:t>
            </a:r>
          </a:p>
          <a:p>
            <a:r>
              <a:rPr lang="en-US" dirty="0"/>
              <a:t>We must train them to approximate any function</a:t>
            </a:r>
          </a:p>
          <a:p>
            <a:pPr lvl="1"/>
            <a:r>
              <a:rPr lang="en-US" dirty="0"/>
              <a:t>Specify the architecture </a:t>
            </a:r>
          </a:p>
          <a:p>
            <a:pPr lvl="1"/>
            <a:r>
              <a:rPr lang="en-US" dirty="0"/>
              <a:t>Learn their weights and biases</a:t>
            </a:r>
          </a:p>
          <a:p>
            <a:r>
              <a:rPr lang="en-US" dirty="0"/>
              <a:t> Networks are trained to minimize total “error” on a training set </a:t>
            </a:r>
          </a:p>
          <a:p>
            <a:pPr lvl="1"/>
            <a:r>
              <a:rPr lang="en-US" dirty="0"/>
              <a:t>We do so through empirical risk minimization</a:t>
            </a:r>
          </a:p>
          <a:p>
            <a:r>
              <a:rPr lang="en-US" dirty="0"/>
              <a:t> We use variants of gradient descent to do so </a:t>
            </a:r>
          </a:p>
          <a:p>
            <a:r>
              <a:rPr lang="en-US" dirty="0"/>
              <a:t>The gradient of the error with respect to network parameters is computed through backpropagation</a:t>
            </a:r>
            <a:endParaRPr lang="en-IN" dirty="0"/>
          </a:p>
        </p:txBody>
      </p:sp>
      <p:sp>
        <p:nvSpPr>
          <p:cNvPr id="4" name="Footer Placeholder 3">
            <a:extLst>
              <a:ext uri="{FF2B5EF4-FFF2-40B4-BE49-F238E27FC236}">
                <a16:creationId xmlns:a16="http://schemas.microsoft.com/office/drawing/2014/main" id="{9D5D46A8-7F7F-4B12-AF98-F7B8F31ACA97}"/>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23B6808B-8D2C-4455-AFE2-3C5497FC7093}"/>
              </a:ext>
            </a:extLst>
          </p:cNvPr>
          <p:cNvSpPr>
            <a:spLocks noGrp="1"/>
          </p:cNvSpPr>
          <p:nvPr>
            <p:ph type="sldNum" sz="quarter" idx="12"/>
          </p:nvPr>
        </p:nvSpPr>
        <p:spPr/>
        <p:txBody>
          <a:bodyPr/>
          <a:lstStyle/>
          <a:p>
            <a:fld id="{9370333F-211E-480A-A48D-622F2EB68390}" type="slidenum">
              <a:rPr lang="es-ES" altLang="en-US" smtClean="0"/>
              <a:pPr/>
              <a:t>2</a:t>
            </a:fld>
            <a:endParaRPr lang="es-ES" altLang="en-US"/>
          </a:p>
        </p:txBody>
      </p:sp>
    </p:spTree>
    <p:extLst>
      <p:ext uri="{BB962C8B-B14F-4D97-AF65-F5344CB8AC3E}">
        <p14:creationId xmlns:p14="http://schemas.microsoft.com/office/powerpoint/2010/main" val="3279146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28274-7AF4-4B5F-80AE-88E2ACE875F0}"/>
              </a:ext>
            </a:extLst>
          </p:cNvPr>
          <p:cNvSpPr>
            <a:spLocks noGrp="1"/>
          </p:cNvSpPr>
          <p:nvPr>
            <p:ph type="title"/>
          </p:nvPr>
        </p:nvSpPr>
        <p:spPr/>
        <p:txBody>
          <a:bodyPr/>
          <a:lstStyle/>
          <a:p>
            <a:r>
              <a:rPr lang="en-US" dirty="0"/>
              <a:t>Convergence in NN</a:t>
            </a:r>
            <a:endParaRPr lang="en-IN" dirty="0"/>
          </a:p>
        </p:txBody>
      </p:sp>
      <p:sp>
        <p:nvSpPr>
          <p:cNvPr id="3" name="Content Placeholder 2">
            <a:extLst>
              <a:ext uri="{FF2B5EF4-FFF2-40B4-BE49-F238E27FC236}">
                <a16:creationId xmlns:a16="http://schemas.microsoft.com/office/drawing/2014/main" id="{3BF0B496-C83E-4E98-A1F8-E63B4F67E98B}"/>
              </a:ext>
            </a:extLst>
          </p:cNvPr>
          <p:cNvSpPr>
            <a:spLocks noGrp="1"/>
          </p:cNvSpPr>
          <p:nvPr>
            <p:ph idx="1"/>
          </p:nvPr>
        </p:nvSpPr>
        <p:spPr>
          <a:xfrm>
            <a:off x="6862438" y="2638044"/>
            <a:ext cx="4465469" cy="3523059"/>
          </a:xfrm>
        </p:spPr>
        <p:txBody>
          <a:bodyPr>
            <a:normAutofit/>
          </a:bodyPr>
          <a:lstStyle/>
          <a:p>
            <a:r>
              <a:rPr lang="en-US" dirty="0"/>
              <a:t>In the context of conventional artificial neural networks convergence describes a progression towards a network state where the network has learned to properly respond to a set of training patterns within some margin of error.</a:t>
            </a:r>
          </a:p>
          <a:p>
            <a:r>
              <a:rPr lang="en-US" dirty="0"/>
              <a:t>In other words, a model converges when additional training will not improve the model.</a:t>
            </a:r>
            <a:endParaRPr lang="en-IN" dirty="0"/>
          </a:p>
        </p:txBody>
      </p:sp>
      <p:pic>
        <p:nvPicPr>
          <p:cNvPr id="5" name="Picture 4">
            <a:extLst>
              <a:ext uri="{FF2B5EF4-FFF2-40B4-BE49-F238E27FC236}">
                <a16:creationId xmlns:a16="http://schemas.microsoft.com/office/drawing/2014/main" id="{5F4AA302-9816-4CC7-80CC-039CEB09E13E}"/>
              </a:ext>
            </a:extLst>
          </p:cNvPr>
          <p:cNvPicPr>
            <a:picLocks noChangeAspect="1"/>
          </p:cNvPicPr>
          <p:nvPr/>
        </p:nvPicPr>
        <p:blipFill>
          <a:blip r:embed="rId3"/>
          <a:stretch>
            <a:fillRect/>
          </a:stretch>
        </p:blipFill>
        <p:spPr>
          <a:xfrm>
            <a:off x="1180729" y="2353475"/>
            <a:ext cx="5555387" cy="3980326"/>
          </a:xfrm>
          <a:prstGeom prst="rect">
            <a:avLst/>
          </a:prstGeom>
        </p:spPr>
      </p:pic>
      <p:sp>
        <p:nvSpPr>
          <p:cNvPr id="6" name="Footer Placeholder 5">
            <a:extLst>
              <a:ext uri="{FF2B5EF4-FFF2-40B4-BE49-F238E27FC236}">
                <a16:creationId xmlns:a16="http://schemas.microsoft.com/office/drawing/2014/main" id="{A05D3C37-A879-4FFC-A293-9F25B43A56C4}"/>
              </a:ext>
            </a:extLst>
          </p:cNvPr>
          <p:cNvSpPr>
            <a:spLocks noGrp="1"/>
          </p:cNvSpPr>
          <p:nvPr>
            <p:ph type="ftr" sz="quarter" idx="11"/>
          </p:nvPr>
        </p:nvSpPr>
        <p:spPr/>
        <p:txBody>
          <a:bodyPr/>
          <a:lstStyle/>
          <a:p>
            <a:pPr>
              <a:defRPr/>
            </a:pPr>
            <a:r>
              <a:rPr lang="es-ES"/>
              <a:t>Dr. Deepali Vora</a:t>
            </a:r>
          </a:p>
        </p:txBody>
      </p:sp>
      <p:sp>
        <p:nvSpPr>
          <p:cNvPr id="7" name="Slide Number Placeholder 6">
            <a:extLst>
              <a:ext uri="{FF2B5EF4-FFF2-40B4-BE49-F238E27FC236}">
                <a16:creationId xmlns:a16="http://schemas.microsoft.com/office/drawing/2014/main" id="{41B50F1D-0150-4A27-80BF-C455A5895536}"/>
              </a:ext>
            </a:extLst>
          </p:cNvPr>
          <p:cNvSpPr>
            <a:spLocks noGrp="1"/>
          </p:cNvSpPr>
          <p:nvPr>
            <p:ph type="sldNum" sz="quarter" idx="12"/>
          </p:nvPr>
        </p:nvSpPr>
        <p:spPr/>
        <p:txBody>
          <a:bodyPr/>
          <a:lstStyle/>
          <a:p>
            <a:fld id="{9370333F-211E-480A-A48D-622F2EB68390}" type="slidenum">
              <a:rPr lang="es-ES" altLang="en-US" smtClean="0"/>
              <a:pPr/>
              <a:t>3</a:t>
            </a:fld>
            <a:endParaRPr lang="es-ES" altLang="en-US"/>
          </a:p>
        </p:txBody>
      </p:sp>
    </p:spTree>
    <p:extLst>
      <p:ext uri="{BB962C8B-B14F-4D97-AF65-F5344CB8AC3E}">
        <p14:creationId xmlns:p14="http://schemas.microsoft.com/office/powerpoint/2010/main" val="1438130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4412-7CDF-4A52-AE8F-330D6E972E60}"/>
              </a:ext>
            </a:extLst>
          </p:cNvPr>
          <p:cNvSpPr>
            <a:spLocks noGrp="1"/>
          </p:cNvSpPr>
          <p:nvPr>
            <p:ph type="title"/>
          </p:nvPr>
        </p:nvSpPr>
        <p:spPr/>
        <p:txBody>
          <a:bodyPr/>
          <a:lstStyle/>
          <a:p>
            <a:r>
              <a:rPr lang="en-US" dirty="0"/>
              <a:t>BP and GD</a:t>
            </a:r>
            <a:endParaRPr lang="en-IN" dirty="0"/>
          </a:p>
        </p:txBody>
      </p:sp>
      <p:sp>
        <p:nvSpPr>
          <p:cNvPr id="3" name="Content Placeholder 2">
            <a:extLst>
              <a:ext uri="{FF2B5EF4-FFF2-40B4-BE49-F238E27FC236}">
                <a16:creationId xmlns:a16="http://schemas.microsoft.com/office/drawing/2014/main" id="{4CF29BB4-A287-4740-A571-269C2C9ACA3F}"/>
              </a:ext>
            </a:extLst>
          </p:cNvPr>
          <p:cNvSpPr>
            <a:spLocks noGrp="1"/>
          </p:cNvSpPr>
          <p:nvPr>
            <p:ph idx="1"/>
          </p:nvPr>
        </p:nvSpPr>
        <p:spPr/>
        <p:txBody>
          <a:bodyPr/>
          <a:lstStyle/>
          <a:p>
            <a:r>
              <a:rPr lang="en-US" dirty="0"/>
              <a:t>Error is calculated</a:t>
            </a:r>
          </a:p>
          <a:p>
            <a:r>
              <a:rPr lang="en-US" dirty="0"/>
              <a:t>The convergence is based on how well we minimize the error</a:t>
            </a:r>
          </a:p>
          <a:p>
            <a:r>
              <a:rPr lang="en-US" dirty="0"/>
              <a:t>The training is faster if we minimize the error early by finding suitable weight values</a:t>
            </a:r>
          </a:p>
          <a:p>
            <a:r>
              <a:rPr lang="en-US" dirty="0"/>
              <a:t>But does training with GD using BP converge? And if converge then at what time?</a:t>
            </a:r>
            <a:endParaRPr lang="en-IN" dirty="0"/>
          </a:p>
        </p:txBody>
      </p:sp>
      <p:sp>
        <p:nvSpPr>
          <p:cNvPr id="4" name="Footer Placeholder 3">
            <a:extLst>
              <a:ext uri="{FF2B5EF4-FFF2-40B4-BE49-F238E27FC236}">
                <a16:creationId xmlns:a16="http://schemas.microsoft.com/office/drawing/2014/main" id="{A5DCD72F-F553-4E82-BB13-688421B4D91A}"/>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DCA1C85B-34BB-4496-B0EE-628951E08B3C}"/>
              </a:ext>
            </a:extLst>
          </p:cNvPr>
          <p:cNvSpPr>
            <a:spLocks noGrp="1"/>
          </p:cNvSpPr>
          <p:nvPr>
            <p:ph type="sldNum" sz="quarter" idx="12"/>
          </p:nvPr>
        </p:nvSpPr>
        <p:spPr/>
        <p:txBody>
          <a:bodyPr/>
          <a:lstStyle/>
          <a:p>
            <a:fld id="{9370333F-211E-480A-A48D-622F2EB68390}" type="slidenum">
              <a:rPr lang="es-ES" altLang="en-US" smtClean="0"/>
              <a:pPr/>
              <a:t>4</a:t>
            </a:fld>
            <a:endParaRPr lang="es-ES" altLang="en-US"/>
          </a:p>
        </p:txBody>
      </p:sp>
    </p:spTree>
    <p:extLst>
      <p:ext uri="{BB962C8B-B14F-4D97-AF65-F5344CB8AC3E}">
        <p14:creationId xmlns:p14="http://schemas.microsoft.com/office/powerpoint/2010/main" val="216696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623387" y="223759"/>
            <a:ext cx="7729728" cy="1188720"/>
          </a:xfrm>
        </p:spPr>
        <p:txBody>
          <a:bodyPr>
            <a:normAutofit fontScale="90000"/>
          </a:bodyPr>
          <a:lstStyle/>
          <a:p>
            <a:r>
              <a:rPr lang="en-US" sz="3733" dirty="0"/>
              <a:t>The error surface for a linear neuron</a:t>
            </a:r>
          </a:p>
        </p:txBody>
      </p:sp>
      <p:sp>
        <p:nvSpPr>
          <p:cNvPr id="176131" name="Rectangle 3"/>
          <p:cNvSpPr>
            <a:spLocks noGrp="1" noChangeArrowheads="1"/>
          </p:cNvSpPr>
          <p:nvPr>
            <p:ph idx="1"/>
          </p:nvPr>
        </p:nvSpPr>
        <p:spPr>
          <a:xfrm>
            <a:off x="417655" y="1886330"/>
            <a:ext cx="7276444" cy="3875533"/>
          </a:xfrm>
        </p:spPr>
        <p:txBody>
          <a:bodyPr>
            <a:normAutofit fontScale="85000" lnSpcReduction="20000"/>
          </a:bodyPr>
          <a:lstStyle/>
          <a:p>
            <a:r>
              <a:rPr lang="en-US" sz="2667" dirty="0"/>
              <a:t>The error surface lies in a space with a horizontal axis for each weight and one vertical axis for the error. </a:t>
            </a:r>
          </a:p>
          <a:p>
            <a:pPr lvl="1"/>
            <a:r>
              <a:rPr lang="en-US" sz="2667" dirty="0">
                <a:solidFill>
                  <a:srgbClr val="00B0F0"/>
                </a:solidFill>
              </a:rPr>
              <a:t>For a linear neuron with a squared error, it is a quadratic bowl. </a:t>
            </a:r>
          </a:p>
          <a:p>
            <a:pPr lvl="1"/>
            <a:r>
              <a:rPr lang="en-US" sz="2667" dirty="0">
                <a:solidFill>
                  <a:srgbClr val="00B0F0"/>
                </a:solidFill>
              </a:rPr>
              <a:t>Vertical cross-sections are parabolas. </a:t>
            </a:r>
          </a:p>
          <a:p>
            <a:pPr lvl="1"/>
            <a:r>
              <a:rPr lang="en-US" sz="2667" dirty="0">
                <a:solidFill>
                  <a:srgbClr val="00B0F0"/>
                </a:solidFill>
              </a:rPr>
              <a:t>Horizontal cross-sections are ellipses.</a:t>
            </a:r>
            <a:endParaRPr lang="en-US" sz="2133" dirty="0">
              <a:solidFill>
                <a:srgbClr val="00B0F0"/>
              </a:solidFill>
            </a:endParaRPr>
          </a:p>
          <a:p>
            <a:r>
              <a:rPr lang="en-US" sz="2667" dirty="0"/>
              <a:t>For multi-layer, non-linear nets the error surface is much more complicated.</a:t>
            </a:r>
          </a:p>
          <a:p>
            <a:pPr marL="228600" lvl="1"/>
            <a:r>
              <a:rPr lang="en-US" sz="2700" dirty="0"/>
              <a:t>But locally, a piece of a quadratic bowl is usually a very good approximation.</a:t>
            </a:r>
          </a:p>
        </p:txBody>
      </p:sp>
      <p:sp>
        <p:nvSpPr>
          <p:cNvPr id="176132" name="Rectangle 4"/>
          <p:cNvSpPr>
            <a:spLocks noChangeArrowheads="1"/>
          </p:cNvSpPr>
          <p:nvPr/>
        </p:nvSpPr>
        <p:spPr bwMode="auto">
          <a:xfrm>
            <a:off x="8256241" y="1216813"/>
            <a:ext cx="3312372" cy="1800225"/>
          </a:xfrm>
          <a:prstGeom prst="rect">
            <a:avLst/>
          </a:prstGeom>
          <a:solidFill>
            <a:srgbClr val="EEECE1"/>
          </a:solidFill>
          <a:ln w="9525">
            <a:solidFill>
              <a:schemeClr val="tx1"/>
            </a:solidFill>
            <a:miter lim="800000"/>
            <a:headEnd/>
            <a:tailEnd/>
          </a:ln>
          <a:effectLst/>
        </p:spPr>
        <p:txBody>
          <a:bodyPr wrap="none" anchor="ctr"/>
          <a:lstStyle/>
          <a:p>
            <a:endParaRPr lang="en-US" sz="2400"/>
          </a:p>
        </p:txBody>
      </p:sp>
      <p:sp>
        <p:nvSpPr>
          <p:cNvPr id="176135" name="Freeform 7"/>
          <p:cNvSpPr>
            <a:spLocks/>
          </p:cNvSpPr>
          <p:nvPr/>
        </p:nvSpPr>
        <p:spPr bwMode="auto">
          <a:xfrm>
            <a:off x="8495974" y="1143786"/>
            <a:ext cx="1441449" cy="1751013"/>
          </a:xfrm>
          <a:custGeom>
            <a:avLst/>
            <a:gdLst>
              <a:gd name="T0" fmla="*/ 0 w 681"/>
              <a:gd name="T1" fmla="*/ 0 h 1103"/>
              <a:gd name="T2" fmla="*/ 46 w 681"/>
              <a:gd name="T3" fmla="*/ 272 h 1103"/>
              <a:gd name="T4" fmla="*/ 182 w 681"/>
              <a:gd name="T5" fmla="*/ 680 h 1103"/>
              <a:gd name="T6" fmla="*/ 408 w 681"/>
              <a:gd name="T7" fmla="*/ 997 h 1103"/>
              <a:gd name="T8" fmla="*/ 590 w 681"/>
              <a:gd name="T9" fmla="*/ 1088 h 1103"/>
              <a:gd name="T10" fmla="*/ 681 w 681"/>
              <a:gd name="T11" fmla="*/ 1088 h 1103"/>
            </a:gdLst>
            <a:ahLst/>
            <a:cxnLst>
              <a:cxn ang="0">
                <a:pos x="T0" y="T1"/>
              </a:cxn>
              <a:cxn ang="0">
                <a:pos x="T2" y="T3"/>
              </a:cxn>
              <a:cxn ang="0">
                <a:pos x="T4" y="T5"/>
              </a:cxn>
              <a:cxn ang="0">
                <a:pos x="T6" y="T7"/>
              </a:cxn>
              <a:cxn ang="0">
                <a:pos x="T8" y="T9"/>
              </a:cxn>
              <a:cxn ang="0">
                <a:pos x="T10" y="T11"/>
              </a:cxn>
            </a:cxnLst>
            <a:rect l="0" t="0" r="r" b="b"/>
            <a:pathLst>
              <a:path w="681" h="1103">
                <a:moveTo>
                  <a:pt x="0" y="0"/>
                </a:moveTo>
                <a:cubicBezTo>
                  <a:pt x="8" y="79"/>
                  <a:pt x="16" y="159"/>
                  <a:pt x="46" y="272"/>
                </a:cubicBezTo>
                <a:cubicBezTo>
                  <a:pt x="76" y="385"/>
                  <a:pt x="122" y="559"/>
                  <a:pt x="182" y="680"/>
                </a:cubicBezTo>
                <a:cubicBezTo>
                  <a:pt x="242" y="801"/>
                  <a:pt x="340" y="929"/>
                  <a:pt x="408" y="997"/>
                </a:cubicBezTo>
                <a:cubicBezTo>
                  <a:pt x="476" y="1065"/>
                  <a:pt x="545" y="1073"/>
                  <a:pt x="590" y="1088"/>
                </a:cubicBezTo>
                <a:cubicBezTo>
                  <a:pt x="635" y="1103"/>
                  <a:pt x="666" y="1088"/>
                  <a:pt x="681" y="1088"/>
                </a:cubicBezTo>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76136" name="Freeform 8"/>
          <p:cNvSpPr>
            <a:spLocks/>
          </p:cNvSpPr>
          <p:nvPr/>
        </p:nvSpPr>
        <p:spPr bwMode="auto">
          <a:xfrm flipH="1">
            <a:off x="9935303" y="1143786"/>
            <a:ext cx="1631949" cy="1751013"/>
          </a:xfrm>
          <a:custGeom>
            <a:avLst/>
            <a:gdLst>
              <a:gd name="T0" fmla="*/ 0 w 681"/>
              <a:gd name="T1" fmla="*/ 0 h 1103"/>
              <a:gd name="T2" fmla="*/ 46 w 681"/>
              <a:gd name="T3" fmla="*/ 272 h 1103"/>
              <a:gd name="T4" fmla="*/ 182 w 681"/>
              <a:gd name="T5" fmla="*/ 680 h 1103"/>
              <a:gd name="T6" fmla="*/ 408 w 681"/>
              <a:gd name="T7" fmla="*/ 997 h 1103"/>
              <a:gd name="T8" fmla="*/ 590 w 681"/>
              <a:gd name="T9" fmla="*/ 1088 h 1103"/>
              <a:gd name="T10" fmla="*/ 681 w 681"/>
              <a:gd name="T11" fmla="*/ 1088 h 1103"/>
            </a:gdLst>
            <a:ahLst/>
            <a:cxnLst>
              <a:cxn ang="0">
                <a:pos x="T0" y="T1"/>
              </a:cxn>
              <a:cxn ang="0">
                <a:pos x="T2" y="T3"/>
              </a:cxn>
              <a:cxn ang="0">
                <a:pos x="T4" y="T5"/>
              </a:cxn>
              <a:cxn ang="0">
                <a:pos x="T6" y="T7"/>
              </a:cxn>
              <a:cxn ang="0">
                <a:pos x="T8" y="T9"/>
              </a:cxn>
              <a:cxn ang="0">
                <a:pos x="T10" y="T11"/>
              </a:cxn>
            </a:cxnLst>
            <a:rect l="0" t="0" r="r" b="b"/>
            <a:pathLst>
              <a:path w="681" h="1103">
                <a:moveTo>
                  <a:pt x="0" y="0"/>
                </a:moveTo>
                <a:cubicBezTo>
                  <a:pt x="8" y="79"/>
                  <a:pt x="16" y="159"/>
                  <a:pt x="46" y="272"/>
                </a:cubicBezTo>
                <a:cubicBezTo>
                  <a:pt x="76" y="385"/>
                  <a:pt x="122" y="559"/>
                  <a:pt x="182" y="680"/>
                </a:cubicBezTo>
                <a:cubicBezTo>
                  <a:pt x="242" y="801"/>
                  <a:pt x="340" y="929"/>
                  <a:pt x="408" y="997"/>
                </a:cubicBezTo>
                <a:cubicBezTo>
                  <a:pt x="476" y="1065"/>
                  <a:pt x="545" y="1073"/>
                  <a:pt x="590" y="1088"/>
                </a:cubicBezTo>
                <a:cubicBezTo>
                  <a:pt x="635" y="1103"/>
                  <a:pt x="666" y="1088"/>
                  <a:pt x="681" y="1088"/>
                </a:cubicBezTo>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grpSp>
        <p:nvGrpSpPr>
          <p:cNvPr id="2" name="Group 1">
            <a:extLst>
              <a:ext uri="{FF2B5EF4-FFF2-40B4-BE49-F238E27FC236}">
                <a16:creationId xmlns:a16="http://schemas.microsoft.com/office/drawing/2014/main" id="{46380B00-4344-434F-9F65-F88F70796044}"/>
              </a:ext>
            </a:extLst>
          </p:cNvPr>
          <p:cNvGrpSpPr/>
          <p:nvPr/>
        </p:nvGrpSpPr>
        <p:grpSpPr>
          <a:xfrm>
            <a:off x="7733579" y="1626363"/>
            <a:ext cx="389850" cy="891166"/>
            <a:chOff x="7509605" y="1505735"/>
            <a:chExt cx="389850" cy="891166"/>
          </a:xfrm>
        </p:grpSpPr>
        <p:sp>
          <p:nvSpPr>
            <p:cNvPr id="176137" name="Text Box 9"/>
            <p:cNvSpPr txBox="1">
              <a:spLocks noChangeArrowheads="1"/>
            </p:cNvSpPr>
            <p:nvPr/>
          </p:nvSpPr>
          <p:spPr bwMode="auto">
            <a:xfrm>
              <a:off x="7509605" y="1812126"/>
              <a:ext cx="38985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3200" dirty="0"/>
                <a:t>E</a:t>
              </a:r>
            </a:p>
          </p:txBody>
        </p:sp>
        <p:sp>
          <p:nvSpPr>
            <p:cNvPr id="176142" name="Line 14"/>
            <p:cNvSpPr>
              <a:spLocks noChangeShapeType="1"/>
            </p:cNvSpPr>
            <p:nvPr/>
          </p:nvSpPr>
          <p:spPr bwMode="auto">
            <a:xfrm flipV="1">
              <a:off x="7727619" y="1505735"/>
              <a:ext cx="0" cy="287339"/>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grpSp>
      <p:sp>
        <p:nvSpPr>
          <p:cNvPr id="176152" name="Rectangle 24"/>
          <p:cNvSpPr>
            <a:spLocks noChangeArrowheads="1"/>
          </p:cNvSpPr>
          <p:nvPr/>
        </p:nvSpPr>
        <p:spPr bwMode="auto">
          <a:xfrm>
            <a:off x="8311621" y="3795705"/>
            <a:ext cx="3266016" cy="1968219"/>
          </a:xfrm>
          <a:prstGeom prst="rect">
            <a:avLst/>
          </a:prstGeom>
          <a:solidFill>
            <a:srgbClr val="EEECE1"/>
          </a:solidFill>
          <a:ln w="9525">
            <a:solidFill>
              <a:schemeClr val="tx1"/>
            </a:solidFill>
            <a:miter lim="800000"/>
            <a:headEnd/>
            <a:tailEnd/>
          </a:ln>
          <a:effectLst/>
        </p:spPr>
        <p:txBody>
          <a:bodyPr wrap="none" anchor="ctr"/>
          <a:lstStyle/>
          <a:p>
            <a:endParaRPr lang="en-US" sz="2400"/>
          </a:p>
        </p:txBody>
      </p:sp>
      <p:sp>
        <p:nvSpPr>
          <p:cNvPr id="176154" name="Text Box 26"/>
          <p:cNvSpPr txBox="1">
            <a:spLocks noChangeArrowheads="1"/>
          </p:cNvSpPr>
          <p:nvPr/>
        </p:nvSpPr>
        <p:spPr bwMode="auto">
          <a:xfrm>
            <a:off x="9649357" y="5871851"/>
            <a:ext cx="601447" cy="5027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667"/>
              <a:t>w2</a:t>
            </a:r>
          </a:p>
        </p:txBody>
      </p:sp>
      <p:grpSp>
        <p:nvGrpSpPr>
          <p:cNvPr id="3" name="Group 2">
            <a:extLst>
              <a:ext uri="{FF2B5EF4-FFF2-40B4-BE49-F238E27FC236}">
                <a16:creationId xmlns:a16="http://schemas.microsoft.com/office/drawing/2014/main" id="{C338F7E8-31DE-41A8-A5A0-7A5553B7554B}"/>
              </a:ext>
            </a:extLst>
          </p:cNvPr>
          <p:cNvGrpSpPr/>
          <p:nvPr/>
        </p:nvGrpSpPr>
        <p:grpSpPr>
          <a:xfrm>
            <a:off x="7820713" y="4244164"/>
            <a:ext cx="601447" cy="899641"/>
            <a:chOff x="7632172" y="4035113"/>
            <a:chExt cx="601447" cy="899641"/>
          </a:xfrm>
        </p:grpSpPr>
        <p:sp>
          <p:nvSpPr>
            <p:cNvPr id="176153" name="Text Box 25"/>
            <p:cNvSpPr txBox="1">
              <a:spLocks noChangeArrowheads="1"/>
            </p:cNvSpPr>
            <p:nvPr/>
          </p:nvSpPr>
          <p:spPr bwMode="auto">
            <a:xfrm>
              <a:off x="7632172" y="4431988"/>
              <a:ext cx="601447" cy="5027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667"/>
                <a:t>w1</a:t>
              </a:r>
            </a:p>
          </p:txBody>
        </p:sp>
        <p:sp>
          <p:nvSpPr>
            <p:cNvPr id="176155" name="Line 27"/>
            <p:cNvSpPr>
              <a:spLocks noChangeShapeType="1"/>
            </p:cNvSpPr>
            <p:nvPr/>
          </p:nvSpPr>
          <p:spPr bwMode="auto">
            <a:xfrm flipV="1">
              <a:off x="7928504" y="4035113"/>
              <a:ext cx="0" cy="360363"/>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grpSp>
      <p:sp>
        <p:nvSpPr>
          <p:cNvPr id="176156" name="Line 28"/>
          <p:cNvSpPr>
            <a:spLocks noChangeShapeType="1"/>
          </p:cNvSpPr>
          <p:nvPr/>
        </p:nvSpPr>
        <p:spPr bwMode="auto">
          <a:xfrm>
            <a:off x="10424055" y="6051237"/>
            <a:ext cx="575733" cy="0"/>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76157" name="Oval 29"/>
          <p:cNvSpPr>
            <a:spLocks noChangeArrowheads="1"/>
          </p:cNvSpPr>
          <p:nvPr/>
        </p:nvSpPr>
        <p:spPr bwMode="auto">
          <a:xfrm rot="2463579">
            <a:off x="9463088" y="3747778"/>
            <a:ext cx="1056216" cy="1944687"/>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176158" name="Oval 30"/>
          <p:cNvSpPr>
            <a:spLocks noChangeArrowheads="1"/>
          </p:cNvSpPr>
          <p:nvPr/>
        </p:nvSpPr>
        <p:spPr bwMode="auto">
          <a:xfrm rot="2463579">
            <a:off x="9590088" y="3963678"/>
            <a:ext cx="821267" cy="1512887"/>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176159" name="Oval 31"/>
          <p:cNvSpPr>
            <a:spLocks noChangeArrowheads="1"/>
          </p:cNvSpPr>
          <p:nvPr/>
        </p:nvSpPr>
        <p:spPr bwMode="auto">
          <a:xfrm rot="2463579">
            <a:off x="9655704" y="4220849"/>
            <a:ext cx="603251" cy="1111251"/>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176160" name="Oval 32"/>
          <p:cNvSpPr>
            <a:spLocks noChangeArrowheads="1"/>
          </p:cNvSpPr>
          <p:nvPr/>
        </p:nvSpPr>
        <p:spPr bwMode="auto">
          <a:xfrm rot="2463579">
            <a:off x="9744609" y="4320862"/>
            <a:ext cx="469900" cy="865188"/>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4" name="Footer Placeholder 3">
            <a:extLst>
              <a:ext uri="{FF2B5EF4-FFF2-40B4-BE49-F238E27FC236}">
                <a16:creationId xmlns:a16="http://schemas.microsoft.com/office/drawing/2014/main" id="{7C51E66E-D841-431E-A849-3F09F65ACE49}"/>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1920494B-B127-4DD4-9B33-9127AA8F1AD9}"/>
              </a:ext>
            </a:extLst>
          </p:cNvPr>
          <p:cNvSpPr>
            <a:spLocks noGrp="1"/>
          </p:cNvSpPr>
          <p:nvPr>
            <p:ph type="sldNum" sz="quarter" idx="12"/>
          </p:nvPr>
        </p:nvSpPr>
        <p:spPr/>
        <p:txBody>
          <a:bodyPr/>
          <a:lstStyle/>
          <a:p>
            <a:fld id="{9370333F-211E-480A-A48D-622F2EB68390}" type="slidenum">
              <a:rPr lang="es-ES" altLang="en-US" smtClean="0"/>
              <a:pPr/>
              <a:t>5</a:t>
            </a:fld>
            <a:endParaRPr lang="es-ES" altLang="en-US"/>
          </a:p>
        </p:txBody>
      </p:sp>
    </p:spTree>
    <p:extLst>
      <p:ext uri="{BB962C8B-B14F-4D97-AF65-F5344CB8AC3E}">
        <p14:creationId xmlns:p14="http://schemas.microsoft.com/office/powerpoint/2010/main" val="3435552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2D8A-5305-4206-A774-D36B6C181804}"/>
              </a:ext>
            </a:extLst>
          </p:cNvPr>
          <p:cNvSpPr>
            <a:spLocks noGrp="1"/>
          </p:cNvSpPr>
          <p:nvPr>
            <p:ph type="title"/>
          </p:nvPr>
        </p:nvSpPr>
        <p:spPr/>
        <p:txBody>
          <a:bodyPr/>
          <a:lstStyle/>
          <a:p>
            <a:r>
              <a:rPr lang="en-US" dirty="0"/>
              <a:t>Error and error surface</a:t>
            </a:r>
            <a:endParaRPr lang="en-IN" dirty="0"/>
          </a:p>
        </p:txBody>
      </p:sp>
      <p:sp>
        <p:nvSpPr>
          <p:cNvPr id="3" name="Content Placeholder 2">
            <a:extLst>
              <a:ext uri="{FF2B5EF4-FFF2-40B4-BE49-F238E27FC236}">
                <a16:creationId xmlns:a16="http://schemas.microsoft.com/office/drawing/2014/main" id="{04850CA1-EB6C-4C36-BC31-171E6317124B}"/>
              </a:ext>
            </a:extLst>
          </p:cNvPr>
          <p:cNvSpPr>
            <a:spLocks noGrp="1"/>
          </p:cNvSpPr>
          <p:nvPr>
            <p:ph idx="1"/>
          </p:nvPr>
        </p:nvSpPr>
        <p:spPr>
          <a:xfrm>
            <a:off x="6096000" y="2638044"/>
            <a:ext cx="3864864" cy="3101983"/>
          </a:xfrm>
        </p:spPr>
        <p:txBody>
          <a:bodyPr/>
          <a:lstStyle/>
          <a:p>
            <a:r>
              <a:rPr lang="en-US" dirty="0"/>
              <a:t>Everything revolves around error</a:t>
            </a:r>
          </a:p>
          <a:p>
            <a:endParaRPr lang="en-IN" dirty="0"/>
          </a:p>
        </p:txBody>
      </p:sp>
      <p:pic>
        <p:nvPicPr>
          <p:cNvPr id="4" name="Picture 3">
            <a:extLst>
              <a:ext uri="{FF2B5EF4-FFF2-40B4-BE49-F238E27FC236}">
                <a16:creationId xmlns:a16="http://schemas.microsoft.com/office/drawing/2014/main" id="{69E3F5EF-C0BE-47BE-B06D-FB12E5E5E0BA}"/>
              </a:ext>
            </a:extLst>
          </p:cNvPr>
          <p:cNvPicPr>
            <a:picLocks noChangeAspect="1"/>
          </p:cNvPicPr>
          <p:nvPr/>
        </p:nvPicPr>
        <p:blipFill>
          <a:blip r:embed="rId2"/>
          <a:stretch>
            <a:fillRect/>
          </a:stretch>
        </p:blipFill>
        <p:spPr>
          <a:xfrm>
            <a:off x="482243" y="2788399"/>
            <a:ext cx="5214902" cy="3260547"/>
          </a:xfrm>
          <a:prstGeom prst="rect">
            <a:avLst/>
          </a:prstGeom>
        </p:spPr>
      </p:pic>
      <p:pic>
        <p:nvPicPr>
          <p:cNvPr id="6" name="Picture 5">
            <a:extLst>
              <a:ext uri="{FF2B5EF4-FFF2-40B4-BE49-F238E27FC236}">
                <a16:creationId xmlns:a16="http://schemas.microsoft.com/office/drawing/2014/main" id="{C93E8983-B439-4EE0-A3B3-69B8B4BB73C2}"/>
              </a:ext>
            </a:extLst>
          </p:cNvPr>
          <p:cNvPicPr>
            <a:picLocks noChangeAspect="1"/>
          </p:cNvPicPr>
          <p:nvPr/>
        </p:nvPicPr>
        <p:blipFill>
          <a:blip r:embed="rId3"/>
          <a:stretch>
            <a:fillRect/>
          </a:stretch>
        </p:blipFill>
        <p:spPr>
          <a:xfrm>
            <a:off x="6096000" y="2353705"/>
            <a:ext cx="5734050" cy="3905250"/>
          </a:xfrm>
          <a:prstGeom prst="rect">
            <a:avLst/>
          </a:prstGeom>
        </p:spPr>
      </p:pic>
      <p:sp>
        <p:nvSpPr>
          <p:cNvPr id="7" name="Footer Placeholder 6">
            <a:extLst>
              <a:ext uri="{FF2B5EF4-FFF2-40B4-BE49-F238E27FC236}">
                <a16:creationId xmlns:a16="http://schemas.microsoft.com/office/drawing/2014/main" id="{424AC9F7-E765-4B05-B9C5-4D563A3C9CEE}"/>
              </a:ext>
            </a:extLst>
          </p:cNvPr>
          <p:cNvSpPr>
            <a:spLocks noGrp="1"/>
          </p:cNvSpPr>
          <p:nvPr>
            <p:ph type="ftr" sz="quarter" idx="11"/>
          </p:nvPr>
        </p:nvSpPr>
        <p:spPr/>
        <p:txBody>
          <a:bodyPr/>
          <a:lstStyle/>
          <a:p>
            <a:pPr>
              <a:defRPr/>
            </a:pPr>
            <a:r>
              <a:rPr lang="es-ES"/>
              <a:t>Dr. Deepali Vora</a:t>
            </a:r>
          </a:p>
        </p:txBody>
      </p:sp>
      <p:sp>
        <p:nvSpPr>
          <p:cNvPr id="8" name="Slide Number Placeholder 7">
            <a:extLst>
              <a:ext uri="{FF2B5EF4-FFF2-40B4-BE49-F238E27FC236}">
                <a16:creationId xmlns:a16="http://schemas.microsoft.com/office/drawing/2014/main" id="{90FF6AD0-94B4-471A-AA53-22DFAD55A515}"/>
              </a:ext>
            </a:extLst>
          </p:cNvPr>
          <p:cNvSpPr>
            <a:spLocks noGrp="1"/>
          </p:cNvSpPr>
          <p:nvPr>
            <p:ph type="sldNum" sz="quarter" idx="12"/>
          </p:nvPr>
        </p:nvSpPr>
        <p:spPr/>
        <p:txBody>
          <a:bodyPr/>
          <a:lstStyle/>
          <a:p>
            <a:fld id="{9370333F-211E-480A-A48D-622F2EB68390}" type="slidenum">
              <a:rPr lang="es-ES" altLang="en-US" smtClean="0"/>
              <a:pPr/>
              <a:t>6</a:t>
            </a:fld>
            <a:endParaRPr lang="es-ES" altLang="en-US"/>
          </a:p>
        </p:txBody>
      </p:sp>
    </p:spTree>
    <p:extLst>
      <p:ext uri="{BB962C8B-B14F-4D97-AF65-F5344CB8AC3E}">
        <p14:creationId xmlns:p14="http://schemas.microsoft.com/office/powerpoint/2010/main" val="205360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and Global Minima</a:t>
            </a:r>
          </a:p>
        </p:txBody>
      </p:sp>
      <p:grpSp>
        <p:nvGrpSpPr>
          <p:cNvPr id="6" name="Group 33"/>
          <p:cNvGrpSpPr>
            <a:grpSpLocks/>
          </p:cNvGrpSpPr>
          <p:nvPr/>
        </p:nvGrpSpPr>
        <p:grpSpPr bwMode="auto">
          <a:xfrm>
            <a:off x="2667496" y="2235528"/>
            <a:ext cx="7123755" cy="4190999"/>
            <a:chOff x="1176" y="620"/>
            <a:chExt cx="3024" cy="1680"/>
          </a:xfrm>
        </p:grpSpPr>
        <p:sp>
          <p:nvSpPr>
            <p:cNvPr id="7" name="Rectangle 9"/>
            <p:cNvSpPr>
              <a:spLocks noChangeArrowheads="1"/>
            </p:cNvSpPr>
            <p:nvPr/>
          </p:nvSpPr>
          <p:spPr bwMode="auto">
            <a:xfrm>
              <a:off x="1176" y="620"/>
              <a:ext cx="3024" cy="168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p>
          </p:txBody>
        </p:sp>
        <p:sp>
          <p:nvSpPr>
            <p:cNvPr id="8" name="Line 10"/>
            <p:cNvSpPr>
              <a:spLocks noChangeShapeType="1"/>
            </p:cNvSpPr>
            <p:nvPr/>
          </p:nvSpPr>
          <p:spPr bwMode="auto">
            <a:xfrm>
              <a:off x="1584" y="76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Rectangle 26" descr="Světlý šikmo nahoru"/>
            <p:cNvSpPr>
              <a:spLocks noChangeArrowheads="1"/>
            </p:cNvSpPr>
            <p:nvPr/>
          </p:nvSpPr>
          <p:spPr bwMode="auto">
            <a:xfrm>
              <a:off x="2208" y="1968"/>
              <a:ext cx="1632" cy="144"/>
            </a:xfrm>
            <a:prstGeom prst="rect">
              <a:avLst/>
            </a:prstGeom>
            <a:pattFill prst="ltUpDiag">
              <a:fgClr>
                <a:srgbClr val="0033CC"/>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11"/>
            <p:cNvSpPr>
              <a:spLocks noChangeShapeType="1"/>
            </p:cNvSpPr>
            <p:nvPr/>
          </p:nvSpPr>
          <p:spPr bwMode="auto">
            <a:xfrm>
              <a:off x="1488" y="2112"/>
              <a:ext cx="26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 name="Group 17"/>
            <p:cNvGrpSpPr>
              <a:grpSpLocks/>
            </p:cNvGrpSpPr>
            <p:nvPr/>
          </p:nvGrpSpPr>
          <p:grpSpPr bwMode="auto">
            <a:xfrm>
              <a:off x="2016" y="904"/>
              <a:ext cx="1953" cy="933"/>
              <a:chOff x="1509" y="904"/>
              <a:chExt cx="1953" cy="933"/>
            </a:xfrm>
          </p:grpSpPr>
          <p:sp>
            <p:nvSpPr>
              <p:cNvPr id="24" name="Freeform 15"/>
              <p:cNvSpPr>
                <a:spLocks/>
              </p:cNvSpPr>
              <p:nvPr/>
            </p:nvSpPr>
            <p:spPr bwMode="auto">
              <a:xfrm>
                <a:off x="2494" y="904"/>
                <a:ext cx="968" cy="933"/>
              </a:xfrm>
              <a:custGeom>
                <a:avLst/>
                <a:gdLst>
                  <a:gd name="T0" fmla="*/ 0 w 968"/>
                  <a:gd name="T1" fmla="*/ 260 h 933"/>
                  <a:gd name="T2" fmla="*/ 12 w 968"/>
                  <a:gd name="T3" fmla="*/ 369 h 933"/>
                  <a:gd name="T4" fmla="*/ 29 w 968"/>
                  <a:gd name="T5" fmla="*/ 404 h 933"/>
                  <a:gd name="T6" fmla="*/ 40 w 968"/>
                  <a:gd name="T7" fmla="*/ 473 h 933"/>
                  <a:gd name="T8" fmla="*/ 52 w 968"/>
                  <a:gd name="T9" fmla="*/ 628 h 933"/>
                  <a:gd name="T10" fmla="*/ 92 w 968"/>
                  <a:gd name="T11" fmla="*/ 697 h 933"/>
                  <a:gd name="T12" fmla="*/ 104 w 968"/>
                  <a:gd name="T13" fmla="*/ 715 h 933"/>
                  <a:gd name="T14" fmla="*/ 127 w 968"/>
                  <a:gd name="T15" fmla="*/ 824 h 933"/>
                  <a:gd name="T16" fmla="*/ 133 w 968"/>
                  <a:gd name="T17" fmla="*/ 887 h 933"/>
                  <a:gd name="T18" fmla="*/ 150 w 968"/>
                  <a:gd name="T19" fmla="*/ 899 h 933"/>
                  <a:gd name="T20" fmla="*/ 167 w 968"/>
                  <a:gd name="T21" fmla="*/ 933 h 933"/>
                  <a:gd name="T22" fmla="*/ 225 w 968"/>
                  <a:gd name="T23" fmla="*/ 876 h 933"/>
                  <a:gd name="T24" fmla="*/ 259 w 968"/>
                  <a:gd name="T25" fmla="*/ 812 h 933"/>
                  <a:gd name="T26" fmla="*/ 300 w 968"/>
                  <a:gd name="T27" fmla="*/ 634 h 933"/>
                  <a:gd name="T28" fmla="*/ 323 w 968"/>
                  <a:gd name="T29" fmla="*/ 582 h 933"/>
                  <a:gd name="T30" fmla="*/ 380 w 968"/>
                  <a:gd name="T31" fmla="*/ 427 h 933"/>
                  <a:gd name="T32" fmla="*/ 403 w 968"/>
                  <a:gd name="T33" fmla="*/ 306 h 933"/>
                  <a:gd name="T34" fmla="*/ 432 w 968"/>
                  <a:gd name="T35" fmla="*/ 236 h 933"/>
                  <a:gd name="T36" fmla="*/ 478 w 968"/>
                  <a:gd name="T37" fmla="*/ 162 h 933"/>
                  <a:gd name="T38" fmla="*/ 518 w 968"/>
                  <a:gd name="T39" fmla="*/ 173 h 933"/>
                  <a:gd name="T40" fmla="*/ 530 w 968"/>
                  <a:gd name="T41" fmla="*/ 300 h 933"/>
                  <a:gd name="T42" fmla="*/ 565 w 968"/>
                  <a:gd name="T43" fmla="*/ 277 h 933"/>
                  <a:gd name="T44" fmla="*/ 588 w 968"/>
                  <a:gd name="T45" fmla="*/ 242 h 933"/>
                  <a:gd name="T46" fmla="*/ 628 w 968"/>
                  <a:gd name="T47" fmla="*/ 173 h 933"/>
                  <a:gd name="T48" fmla="*/ 662 w 968"/>
                  <a:gd name="T49" fmla="*/ 156 h 933"/>
                  <a:gd name="T50" fmla="*/ 732 w 968"/>
                  <a:gd name="T51" fmla="*/ 116 h 933"/>
                  <a:gd name="T52" fmla="*/ 853 w 968"/>
                  <a:gd name="T53" fmla="*/ 58 h 933"/>
                  <a:gd name="T54" fmla="*/ 968 w 968"/>
                  <a:gd name="T55"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68" h="933">
                    <a:moveTo>
                      <a:pt x="0" y="260"/>
                    </a:moveTo>
                    <a:cubicBezTo>
                      <a:pt x="5" y="296"/>
                      <a:pt x="4" y="333"/>
                      <a:pt x="12" y="369"/>
                    </a:cubicBezTo>
                    <a:cubicBezTo>
                      <a:pt x="15" y="382"/>
                      <a:pt x="25" y="392"/>
                      <a:pt x="29" y="404"/>
                    </a:cubicBezTo>
                    <a:cubicBezTo>
                      <a:pt x="32" y="427"/>
                      <a:pt x="38" y="450"/>
                      <a:pt x="40" y="473"/>
                    </a:cubicBezTo>
                    <a:cubicBezTo>
                      <a:pt x="44" y="525"/>
                      <a:pt x="36" y="579"/>
                      <a:pt x="52" y="628"/>
                    </a:cubicBezTo>
                    <a:cubicBezTo>
                      <a:pt x="59" y="650"/>
                      <a:pt x="80" y="679"/>
                      <a:pt x="92" y="697"/>
                    </a:cubicBezTo>
                    <a:cubicBezTo>
                      <a:pt x="96" y="703"/>
                      <a:pt x="104" y="715"/>
                      <a:pt x="104" y="715"/>
                    </a:cubicBezTo>
                    <a:cubicBezTo>
                      <a:pt x="113" y="751"/>
                      <a:pt x="115" y="789"/>
                      <a:pt x="127" y="824"/>
                    </a:cubicBezTo>
                    <a:cubicBezTo>
                      <a:pt x="129" y="845"/>
                      <a:pt x="127" y="867"/>
                      <a:pt x="133" y="887"/>
                    </a:cubicBezTo>
                    <a:cubicBezTo>
                      <a:pt x="135" y="894"/>
                      <a:pt x="145" y="894"/>
                      <a:pt x="150" y="899"/>
                    </a:cubicBezTo>
                    <a:cubicBezTo>
                      <a:pt x="160" y="910"/>
                      <a:pt x="162" y="920"/>
                      <a:pt x="167" y="933"/>
                    </a:cubicBezTo>
                    <a:cubicBezTo>
                      <a:pt x="216" y="922"/>
                      <a:pt x="200" y="911"/>
                      <a:pt x="225" y="876"/>
                    </a:cubicBezTo>
                    <a:cubicBezTo>
                      <a:pt x="230" y="840"/>
                      <a:pt x="231" y="832"/>
                      <a:pt x="259" y="812"/>
                    </a:cubicBezTo>
                    <a:cubicBezTo>
                      <a:pt x="270" y="759"/>
                      <a:pt x="269" y="678"/>
                      <a:pt x="300" y="634"/>
                    </a:cubicBezTo>
                    <a:cubicBezTo>
                      <a:pt x="306" y="614"/>
                      <a:pt x="311" y="599"/>
                      <a:pt x="323" y="582"/>
                    </a:cubicBezTo>
                    <a:cubicBezTo>
                      <a:pt x="339" y="528"/>
                      <a:pt x="349" y="475"/>
                      <a:pt x="380" y="427"/>
                    </a:cubicBezTo>
                    <a:cubicBezTo>
                      <a:pt x="390" y="387"/>
                      <a:pt x="393" y="346"/>
                      <a:pt x="403" y="306"/>
                    </a:cubicBezTo>
                    <a:cubicBezTo>
                      <a:pt x="410" y="278"/>
                      <a:pt x="421" y="261"/>
                      <a:pt x="432" y="236"/>
                    </a:cubicBezTo>
                    <a:cubicBezTo>
                      <a:pt x="445" y="207"/>
                      <a:pt x="443" y="172"/>
                      <a:pt x="478" y="162"/>
                    </a:cubicBezTo>
                    <a:cubicBezTo>
                      <a:pt x="491" y="166"/>
                      <a:pt x="513" y="160"/>
                      <a:pt x="518" y="173"/>
                    </a:cubicBezTo>
                    <a:cubicBezTo>
                      <a:pt x="532" y="213"/>
                      <a:pt x="525" y="258"/>
                      <a:pt x="530" y="300"/>
                    </a:cubicBezTo>
                    <a:cubicBezTo>
                      <a:pt x="541" y="292"/>
                      <a:pt x="556" y="287"/>
                      <a:pt x="565" y="277"/>
                    </a:cubicBezTo>
                    <a:cubicBezTo>
                      <a:pt x="574" y="267"/>
                      <a:pt x="588" y="242"/>
                      <a:pt x="588" y="242"/>
                    </a:cubicBezTo>
                    <a:cubicBezTo>
                      <a:pt x="595" y="217"/>
                      <a:pt x="607" y="190"/>
                      <a:pt x="628" y="173"/>
                    </a:cubicBezTo>
                    <a:cubicBezTo>
                      <a:pt x="638" y="165"/>
                      <a:pt x="651" y="163"/>
                      <a:pt x="662" y="156"/>
                    </a:cubicBezTo>
                    <a:cubicBezTo>
                      <a:pt x="678" y="133"/>
                      <a:pt x="705" y="124"/>
                      <a:pt x="732" y="116"/>
                    </a:cubicBezTo>
                    <a:cubicBezTo>
                      <a:pt x="759" y="97"/>
                      <a:pt x="821" y="69"/>
                      <a:pt x="853" y="58"/>
                    </a:cubicBezTo>
                    <a:cubicBezTo>
                      <a:pt x="890" y="33"/>
                      <a:pt x="928" y="20"/>
                      <a:pt x="968" y="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16"/>
              <p:cNvSpPr>
                <a:spLocks/>
              </p:cNvSpPr>
              <p:nvPr/>
            </p:nvSpPr>
            <p:spPr bwMode="auto">
              <a:xfrm>
                <a:off x="1509" y="967"/>
                <a:ext cx="985" cy="343"/>
              </a:xfrm>
              <a:custGeom>
                <a:avLst/>
                <a:gdLst>
                  <a:gd name="T0" fmla="*/ 985 w 985"/>
                  <a:gd name="T1" fmla="*/ 191 h 343"/>
                  <a:gd name="T2" fmla="*/ 951 w 985"/>
                  <a:gd name="T3" fmla="*/ 81 h 343"/>
                  <a:gd name="T4" fmla="*/ 904 w 985"/>
                  <a:gd name="T5" fmla="*/ 41 h 343"/>
                  <a:gd name="T6" fmla="*/ 812 w 985"/>
                  <a:gd name="T7" fmla="*/ 64 h 343"/>
                  <a:gd name="T8" fmla="*/ 778 w 985"/>
                  <a:gd name="T9" fmla="*/ 133 h 343"/>
                  <a:gd name="T10" fmla="*/ 749 w 985"/>
                  <a:gd name="T11" fmla="*/ 173 h 343"/>
                  <a:gd name="T12" fmla="*/ 593 w 985"/>
                  <a:gd name="T13" fmla="*/ 168 h 343"/>
                  <a:gd name="T14" fmla="*/ 536 w 985"/>
                  <a:gd name="T15" fmla="*/ 110 h 343"/>
                  <a:gd name="T16" fmla="*/ 484 w 985"/>
                  <a:gd name="T17" fmla="*/ 47 h 343"/>
                  <a:gd name="T18" fmla="*/ 328 w 985"/>
                  <a:gd name="T19" fmla="*/ 47 h 343"/>
                  <a:gd name="T20" fmla="*/ 317 w 985"/>
                  <a:gd name="T21" fmla="*/ 64 h 343"/>
                  <a:gd name="T22" fmla="*/ 300 w 985"/>
                  <a:gd name="T23" fmla="*/ 81 h 343"/>
                  <a:gd name="T24" fmla="*/ 294 w 985"/>
                  <a:gd name="T25" fmla="*/ 99 h 343"/>
                  <a:gd name="T26" fmla="*/ 271 w 985"/>
                  <a:gd name="T27" fmla="*/ 133 h 343"/>
                  <a:gd name="T28" fmla="*/ 236 w 985"/>
                  <a:gd name="T29" fmla="*/ 150 h 343"/>
                  <a:gd name="T30" fmla="*/ 138 w 985"/>
                  <a:gd name="T31" fmla="*/ 220 h 343"/>
                  <a:gd name="T32" fmla="*/ 81 w 985"/>
                  <a:gd name="T33" fmla="*/ 271 h 343"/>
                  <a:gd name="T34" fmla="*/ 46 w 985"/>
                  <a:gd name="T35" fmla="*/ 294 h 343"/>
                  <a:gd name="T36" fmla="*/ 35 w 985"/>
                  <a:gd name="T37" fmla="*/ 312 h 343"/>
                  <a:gd name="T38" fmla="*/ 17 w 985"/>
                  <a:gd name="T39" fmla="*/ 323 h 343"/>
                  <a:gd name="T40" fmla="*/ 0 w 985"/>
                  <a:gd name="T41" fmla="*/ 341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5" h="343">
                    <a:moveTo>
                      <a:pt x="985" y="191"/>
                    </a:moveTo>
                    <a:cubicBezTo>
                      <a:pt x="979" y="152"/>
                      <a:pt x="968" y="116"/>
                      <a:pt x="951" y="81"/>
                    </a:cubicBezTo>
                    <a:cubicBezTo>
                      <a:pt x="942" y="62"/>
                      <a:pt x="904" y="41"/>
                      <a:pt x="904" y="41"/>
                    </a:cubicBezTo>
                    <a:cubicBezTo>
                      <a:pt x="860" y="46"/>
                      <a:pt x="845" y="44"/>
                      <a:pt x="812" y="64"/>
                    </a:cubicBezTo>
                    <a:cubicBezTo>
                      <a:pt x="798" y="85"/>
                      <a:pt x="788" y="110"/>
                      <a:pt x="778" y="133"/>
                    </a:cubicBezTo>
                    <a:cubicBezTo>
                      <a:pt x="759" y="175"/>
                      <a:pt x="780" y="164"/>
                      <a:pt x="749" y="173"/>
                    </a:cubicBezTo>
                    <a:cubicBezTo>
                      <a:pt x="697" y="171"/>
                      <a:pt x="645" y="173"/>
                      <a:pt x="593" y="168"/>
                    </a:cubicBezTo>
                    <a:cubicBezTo>
                      <a:pt x="570" y="166"/>
                      <a:pt x="556" y="124"/>
                      <a:pt x="536" y="110"/>
                    </a:cubicBezTo>
                    <a:cubicBezTo>
                      <a:pt x="527" y="85"/>
                      <a:pt x="506" y="61"/>
                      <a:pt x="484" y="47"/>
                    </a:cubicBezTo>
                    <a:cubicBezTo>
                      <a:pt x="453" y="0"/>
                      <a:pt x="374" y="32"/>
                      <a:pt x="328" y="47"/>
                    </a:cubicBezTo>
                    <a:cubicBezTo>
                      <a:pt x="324" y="53"/>
                      <a:pt x="321" y="59"/>
                      <a:pt x="317" y="64"/>
                    </a:cubicBezTo>
                    <a:cubicBezTo>
                      <a:pt x="312" y="70"/>
                      <a:pt x="304" y="74"/>
                      <a:pt x="300" y="81"/>
                    </a:cubicBezTo>
                    <a:cubicBezTo>
                      <a:pt x="297" y="86"/>
                      <a:pt x="297" y="93"/>
                      <a:pt x="294" y="99"/>
                    </a:cubicBezTo>
                    <a:cubicBezTo>
                      <a:pt x="287" y="111"/>
                      <a:pt x="279" y="122"/>
                      <a:pt x="271" y="133"/>
                    </a:cubicBezTo>
                    <a:cubicBezTo>
                      <a:pt x="264" y="144"/>
                      <a:pt x="247" y="143"/>
                      <a:pt x="236" y="150"/>
                    </a:cubicBezTo>
                    <a:cubicBezTo>
                      <a:pt x="219" y="178"/>
                      <a:pt x="167" y="201"/>
                      <a:pt x="138" y="220"/>
                    </a:cubicBezTo>
                    <a:cubicBezTo>
                      <a:pt x="118" y="250"/>
                      <a:pt x="115" y="261"/>
                      <a:pt x="81" y="271"/>
                    </a:cubicBezTo>
                    <a:cubicBezTo>
                      <a:pt x="49" y="319"/>
                      <a:pt x="93" y="262"/>
                      <a:pt x="46" y="294"/>
                    </a:cubicBezTo>
                    <a:cubicBezTo>
                      <a:pt x="40" y="298"/>
                      <a:pt x="40" y="307"/>
                      <a:pt x="35" y="312"/>
                    </a:cubicBezTo>
                    <a:cubicBezTo>
                      <a:pt x="30" y="317"/>
                      <a:pt x="23" y="319"/>
                      <a:pt x="17" y="323"/>
                    </a:cubicBezTo>
                    <a:cubicBezTo>
                      <a:pt x="5" y="343"/>
                      <a:pt x="13" y="341"/>
                      <a:pt x="0" y="341"/>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2" name="Text Box 19"/>
            <p:cNvSpPr txBox="1">
              <a:spLocks noChangeArrowheads="1"/>
            </p:cNvSpPr>
            <p:nvPr/>
          </p:nvSpPr>
          <p:spPr bwMode="auto">
            <a:xfrm>
              <a:off x="3984" y="2064"/>
              <a:ext cx="192"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atin typeface="Times New Roman" pitchFamily="18" charset="0"/>
                </a:rPr>
                <a:t>x</a:t>
              </a:r>
              <a:endParaRPr lang="cs-CZ">
                <a:latin typeface="Times New Roman" pitchFamily="18" charset="0"/>
              </a:endParaRPr>
            </a:p>
          </p:txBody>
        </p:sp>
        <p:sp>
          <p:nvSpPr>
            <p:cNvPr id="13" name="Text Box 20"/>
            <p:cNvSpPr txBox="1">
              <a:spLocks noChangeArrowheads="1"/>
            </p:cNvSpPr>
            <p:nvPr/>
          </p:nvSpPr>
          <p:spPr bwMode="auto">
            <a:xfrm>
              <a:off x="1296" y="816"/>
              <a:ext cx="432"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i="1">
                  <a:latin typeface="Times New Roman" pitchFamily="18" charset="0"/>
                </a:rPr>
                <a:t>f</a:t>
              </a:r>
              <a:r>
                <a:rPr lang="en-US">
                  <a:latin typeface="Times New Roman" pitchFamily="18" charset="0"/>
                </a:rPr>
                <a:t>(x)</a:t>
              </a:r>
              <a:endParaRPr lang="cs-CZ">
                <a:latin typeface="Times New Roman" pitchFamily="18" charset="0"/>
              </a:endParaRPr>
            </a:p>
          </p:txBody>
        </p:sp>
        <p:sp>
          <p:nvSpPr>
            <p:cNvPr id="14" name="Line 21"/>
            <p:cNvSpPr>
              <a:spLocks noChangeShapeType="1"/>
            </p:cNvSpPr>
            <p:nvPr/>
          </p:nvSpPr>
          <p:spPr bwMode="auto">
            <a:xfrm>
              <a:off x="2208" y="1152"/>
              <a:ext cx="0" cy="960"/>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22"/>
            <p:cNvSpPr>
              <a:spLocks noChangeShapeType="1"/>
            </p:cNvSpPr>
            <p:nvPr/>
          </p:nvSpPr>
          <p:spPr bwMode="auto">
            <a:xfrm>
              <a:off x="3840" y="960"/>
              <a:ext cx="0" cy="1152"/>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23"/>
            <p:cNvSpPr>
              <a:spLocks noChangeShapeType="1"/>
            </p:cNvSpPr>
            <p:nvPr/>
          </p:nvSpPr>
          <p:spPr bwMode="auto">
            <a:xfrm>
              <a:off x="2688" y="1152"/>
              <a:ext cx="0" cy="960"/>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24"/>
            <p:cNvSpPr>
              <a:spLocks noChangeShapeType="1"/>
            </p:cNvSpPr>
            <p:nvPr/>
          </p:nvSpPr>
          <p:spPr bwMode="auto">
            <a:xfrm>
              <a:off x="3552" y="1200"/>
              <a:ext cx="0" cy="912"/>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25"/>
            <p:cNvSpPr>
              <a:spLocks noChangeShapeType="1"/>
            </p:cNvSpPr>
            <p:nvPr/>
          </p:nvSpPr>
          <p:spPr bwMode="auto">
            <a:xfrm>
              <a:off x="3168" y="1824"/>
              <a:ext cx="0" cy="288"/>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Text Box 27"/>
            <p:cNvSpPr txBox="1">
              <a:spLocks noChangeArrowheads="1"/>
            </p:cNvSpPr>
            <p:nvPr/>
          </p:nvSpPr>
          <p:spPr bwMode="auto">
            <a:xfrm>
              <a:off x="2010" y="720"/>
              <a:ext cx="28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a:t>strong</a:t>
              </a:r>
            </a:p>
            <a:p>
              <a:pPr algn="ctr"/>
              <a:r>
                <a:rPr lang="en-US" sz="1000"/>
                <a:t>local</a:t>
              </a:r>
            </a:p>
            <a:p>
              <a:pPr algn="ctr"/>
              <a:r>
                <a:rPr lang="en-US" sz="1000"/>
                <a:t>minimum</a:t>
              </a:r>
              <a:endParaRPr lang="cs-CZ" sz="1000"/>
            </a:p>
          </p:txBody>
        </p:sp>
        <p:sp>
          <p:nvSpPr>
            <p:cNvPr id="20" name="Text Box 28"/>
            <p:cNvSpPr txBox="1">
              <a:spLocks noChangeArrowheads="1"/>
            </p:cNvSpPr>
            <p:nvPr/>
          </p:nvSpPr>
          <p:spPr bwMode="auto">
            <a:xfrm>
              <a:off x="2538" y="672"/>
              <a:ext cx="28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dirty="0"/>
                <a:t>weak</a:t>
              </a:r>
            </a:p>
            <a:p>
              <a:pPr algn="ctr"/>
              <a:r>
                <a:rPr lang="en-US" sz="1000" dirty="0"/>
                <a:t>local</a:t>
              </a:r>
            </a:p>
            <a:p>
              <a:pPr algn="ctr"/>
              <a:r>
                <a:rPr lang="en-US" sz="1000" dirty="0"/>
                <a:t>minimum</a:t>
              </a:r>
              <a:endParaRPr lang="cs-CZ" sz="1000" dirty="0"/>
            </a:p>
          </p:txBody>
        </p:sp>
        <p:sp>
          <p:nvSpPr>
            <p:cNvPr id="21" name="Text Box 30"/>
            <p:cNvSpPr txBox="1">
              <a:spLocks noChangeArrowheads="1"/>
            </p:cNvSpPr>
            <p:nvPr/>
          </p:nvSpPr>
          <p:spPr bwMode="auto">
            <a:xfrm>
              <a:off x="3055" y="854"/>
              <a:ext cx="28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a:t>strong</a:t>
              </a:r>
            </a:p>
            <a:p>
              <a:pPr algn="ctr"/>
              <a:r>
                <a:rPr lang="en-US" sz="1000"/>
                <a:t>global</a:t>
              </a:r>
            </a:p>
            <a:p>
              <a:pPr algn="ctr"/>
              <a:r>
                <a:rPr lang="en-US" sz="1000"/>
                <a:t>minimum</a:t>
              </a:r>
              <a:endParaRPr lang="cs-CZ" sz="1000"/>
            </a:p>
          </p:txBody>
        </p:sp>
        <p:sp>
          <p:nvSpPr>
            <p:cNvPr id="22" name="Text Box 31"/>
            <p:cNvSpPr txBox="1">
              <a:spLocks noChangeArrowheads="1"/>
            </p:cNvSpPr>
            <p:nvPr/>
          </p:nvSpPr>
          <p:spPr bwMode="auto">
            <a:xfrm>
              <a:off x="3439" y="672"/>
              <a:ext cx="28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a:t>strong</a:t>
              </a:r>
            </a:p>
            <a:p>
              <a:pPr algn="ctr"/>
              <a:r>
                <a:rPr lang="en-US" sz="1000"/>
                <a:t>local</a:t>
              </a:r>
            </a:p>
            <a:p>
              <a:pPr algn="ctr"/>
              <a:r>
                <a:rPr lang="en-US" sz="1000"/>
                <a:t>minimum</a:t>
              </a:r>
              <a:endParaRPr lang="cs-CZ" sz="1000"/>
            </a:p>
          </p:txBody>
        </p:sp>
        <p:sp>
          <p:nvSpPr>
            <p:cNvPr id="23" name="Text Box 32"/>
            <p:cNvSpPr txBox="1">
              <a:spLocks noChangeArrowheads="1"/>
            </p:cNvSpPr>
            <p:nvPr/>
          </p:nvSpPr>
          <p:spPr bwMode="auto">
            <a:xfrm>
              <a:off x="2807" y="2112"/>
              <a:ext cx="395" cy="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a:solidFill>
                    <a:srgbClr val="0033CC"/>
                  </a:solidFill>
                </a:rPr>
                <a:t>feasible region</a:t>
              </a:r>
              <a:endParaRPr lang="cs-CZ" sz="1000">
                <a:solidFill>
                  <a:srgbClr val="0033CC"/>
                </a:solidFill>
              </a:endParaRPr>
            </a:p>
          </p:txBody>
        </p:sp>
      </p:grpSp>
      <p:sp>
        <p:nvSpPr>
          <p:cNvPr id="3" name="TextBox 2">
            <a:extLst>
              <a:ext uri="{FF2B5EF4-FFF2-40B4-BE49-F238E27FC236}">
                <a16:creationId xmlns:a16="http://schemas.microsoft.com/office/drawing/2014/main" id="{445AF48F-F0BB-475A-9B86-CC224923910C}"/>
              </a:ext>
            </a:extLst>
          </p:cNvPr>
          <p:cNvSpPr txBox="1"/>
          <p:nvPr/>
        </p:nvSpPr>
        <p:spPr>
          <a:xfrm>
            <a:off x="10181968" y="2604735"/>
            <a:ext cx="1767016"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dirty="0"/>
              <a:t>Saddle Points</a:t>
            </a:r>
            <a:endParaRPr lang="en-IN" sz="2000" dirty="0"/>
          </a:p>
        </p:txBody>
      </p:sp>
      <p:sp>
        <p:nvSpPr>
          <p:cNvPr id="26" name="Footer Placeholder 25">
            <a:extLst>
              <a:ext uri="{FF2B5EF4-FFF2-40B4-BE49-F238E27FC236}">
                <a16:creationId xmlns:a16="http://schemas.microsoft.com/office/drawing/2014/main" id="{B332FDA9-AC61-4F8F-9FDD-9F4235E1C215}"/>
              </a:ext>
            </a:extLst>
          </p:cNvPr>
          <p:cNvSpPr>
            <a:spLocks noGrp="1"/>
          </p:cNvSpPr>
          <p:nvPr>
            <p:ph type="ftr" sz="quarter" idx="11"/>
          </p:nvPr>
        </p:nvSpPr>
        <p:spPr/>
        <p:txBody>
          <a:bodyPr/>
          <a:lstStyle/>
          <a:p>
            <a:pPr>
              <a:defRPr/>
            </a:pPr>
            <a:r>
              <a:rPr lang="es-ES"/>
              <a:t>Dr. Deepali Vora</a:t>
            </a:r>
          </a:p>
        </p:txBody>
      </p:sp>
      <p:sp>
        <p:nvSpPr>
          <p:cNvPr id="27" name="Slide Number Placeholder 26">
            <a:extLst>
              <a:ext uri="{FF2B5EF4-FFF2-40B4-BE49-F238E27FC236}">
                <a16:creationId xmlns:a16="http://schemas.microsoft.com/office/drawing/2014/main" id="{F5A3F54D-1EE1-4A24-97CC-9600D96CD836}"/>
              </a:ext>
            </a:extLst>
          </p:cNvPr>
          <p:cNvSpPr>
            <a:spLocks noGrp="1"/>
          </p:cNvSpPr>
          <p:nvPr>
            <p:ph type="sldNum" sz="quarter" idx="12"/>
          </p:nvPr>
        </p:nvSpPr>
        <p:spPr/>
        <p:txBody>
          <a:bodyPr/>
          <a:lstStyle/>
          <a:p>
            <a:fld id="{9370333F-211E-480A-A48D-622F2EB68390}" type="slidenum">
              <a:rPr lang="es-ES" altLang="en-US" smtClean="0"/>
              <a:pPr/>
              <a:t>7</a:t>
            </a:fld>
            <a:endParaRPr lang="es-ES" altLang="en-US"/>
          </a:p>
        </p:txBody>
      </p:sp>
    </p:spTree>
    <p:extLst>
      <p:ext uri="{BB962C8B-B14F-4D97-AF65-F5344CB8AC3E}">
        <p14:creationId xmlns:p14="http://schemas.microsoft.com/office/powerpoint/2010/main" val="1573112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and Global Minima</a:t>
            </a:r>
          </a:p>
        </p:txBody>
      </p:sp>
      <p:grpSp>
        <p:nvGrpSpPr>
          <p:cNvPr id="6" name="Group 33"/>
          <p:cNvGrpSpPr>
            <a:grpSpLocks/>
          </p:cNvGrpSpPr>
          <p:nvPr/>
        </p:nvGrpSpPr>
        <p:grpSpPr bwMode="auto">
          <a:xfrm>
            <a:off x="2667496" y="2235528"/>
            <a:ext cx="7123755" cy="4190999"/>
            <a:chOff x="1176" y="620"/>
            <a:chExt cx="3024" cy="1680"/>
          </a:xfrm>
        </p:grpSpPr>
        <p:sp>
          <p:nvSpPr>
            <p:cNvPr id="7" name="Rectangle 9"/>
            <p:cNvSpPr>
              <a:spLocks noChangeArrowheads="1"/>
            </p:cNvSpPr>
            <p:nvPr/>
          </p:nvSpPr>
          <p:spPr bwMode="auto">
            <a:xfrm>
              <a:off x="1176" y="620"/>
              <a:ext cx="3024" cy="168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p>
          </p:txBody>
        </p:sp>
        <p:sp>
          <p:nvSpPr>
            <p:cNvPr id="8" name="Line 10"/>
            <p:cNvSpPr>
              <a:spLocks noChangeShapeType="1"/>
            </p:cNvSpPr>
            <p:nvPr/>
          </p:nvSpPr>
          <p:spPr bwMode="auto">
            <a:xfrm>
              <a:off x="1584" y="768"/>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Rectangle 26" descr="Světlý šikmo nahoru"/>
            <p:cNvSpPr>
              <a:spLocks noChangeArrowheads="1"/>
            </p:cNvSpPr>
            <p:nvPr/>
          </p:nvSpPr>
          <p:spPr bwMode="auto">
            <a:xfrm>
              <a:off x="2208" y="1968"/>
              <a:ext cx="1632" cy="144"/>
            </a:xfrm>
            <a:prstGeom prst="rect">
              <a:avLst/>
            </a:prstGeom>
            <a:pattFill prst="ltUpDiag">
              <a:fgClr>
                <a:srgbClr val="0033CC"/>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11"/>
            <p:cNvSpPr>
              <a:spLocks noChangeShapeType="1"/>
            </p:cNvSpPr>
            <p:nvPr/>
          </p:nvSpPr>
          <p:spPr bwMode="auto">
            <a:xfrm>
              <a:off x="1488" y="2112"/>
              <a:ext cx="26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 name="Group 17"/>
            <p:cNvGrpSpPr>
              <a:grpSpLocks/>
            </p:cNvGrpSpPr>
            <p:nvPr/>
          </p:nvGrpSpPr>
          <p:grpSpPr bwMode="auto">
            <a:xfrm>
              <a:off x="2016" y="904"/>
              <a:ext cx="1953" cy="933"/>
              <a:chOff x="1509" y="904"/>
              <a:chExt cx="1953" cy="933"/>
            </a:xfrm>
          </p:grpSpPr>
          <p:sp>
            <p:nvSpPr>
              <p:cNvPr id="24" name="Freeform 15"/>
              <p:cNvSpPr>
                <a:spLocks/>
              </p:cNvSpPr>
              <p:nvPr/>
            </p:nvSpPr>
            <p:spPr bwMode="auto">
              <a:xfrm>
                <a:off x="2494" y="904"/>
                <a:ext cx="968" cy="933"/>
              </a:xfrm>
              <a:custGeom>
                <a:avLst/>
                <a:gdLst>
                  <a:gd name="T0" fmla="*/ 0 w 968"/>
                  <a:gd name="T1" fmla="*/ 260 h 933"/>
                  <a:gd name="T2" fmla="*/ 12 w 968"/>
                  <a:gd name="T3" fmla="*/ 369 h 933"/>
                  <a:gd name="T4" fmla="*/ 29 w 968"/>
                  <a:gd name="T5" fmla="*/ 404 h 933"/>
                  <a:gd name="T6" fmla="*/ 40 w 968"/>
                  <a:gd name="T7" fmla="*/ 473 h 933"/>
                  <a:gd name="T8" fmla="*/ 52 w 968"/>
                  <a:gd name="T9" fmla="*/ 628 h 933"/>
                  <a:gd name="T10" fmla="*/ 92 w 968"/>
                  <a:gd name="T11" fmla="*/ 697 h 933"/>
                  <a:gd name="T12" fmla="*/ 104 w 968"/>
                  <a:gd name="T13" fmla="*/ 715 h 933"/>
                  <a:gd name="T14" fmla="*/ 127 w 968"/>
                  <a:gd name="T15" fmla="*/ 824 h 933"/>
                  <a:gd name="T16" fmla="*/ 133 w 968"/>
                  <a:gd name="T17" fmla="*/ 887 h 933"/>
                  <a:gd name="T18" fmla="*/ 150 w 968"/>
                  <a:gd name="T19" fmla="*/ 899 h 933"/>
                  <a:gd name="T20" fmla="*/ 167 w 968"/>
                  <a:gd name="T21" fmla="*/ 933 h 933"/>
                  <a:gd name="T22" fmla="*/ 225 w 968"/>
                  <a:gd name="T23" fmla="*/ 876 h 933"/>
                  <a:gd name="T24" fmla="*/ 259 w 968"/>
                  <a:gd name="T25" fmla="*/ 812 h 933"/>
                  <a:gd name="T26" fmla="*/ 300 w 968"/>
                  <a:gd name="T27" fmla="*/ 634 h 933"/>
                  <a:gd name="T28" fmla="*/ 323 w 968"/>
                  <a:gd name="T29" fmla="*/ 582 h 933"/>
                  <a:gd name="T30" fmla="*/ 380 w 968"/>
                  <a:gd name="T31" fmla="*/ 427 h 933"/>
                  <a:gd name="T32" fmla="*/ 403 w 968"/>
                  <a:gd name="T33" fmla="*/ 306 h 933"/>
                  <a:gd name="T34" fmla="*/ 432 w 968"/>
                  <a:gd name="T35" fmla="*/ 236 h 933"/>
                  <a:gd name="T36" fmla="*/ 478 w 968"/>
                  <a:gd name="T37" fmla="*/ 162 h 933"/>
                  <a:gd name="T38" fmla="*/ 518 w 968"/>
                  <a:gd name="T39" fmla="*/ 173 h 933"/>
                  <a:gd name="T40" fmla="*/ 530 w 968"/>
                  <a:gd name="T41" fmla="*/ 300 h 933"/>
                  <a:gd name="T42" fmla="*/ 565 w 968"/>
                  <a:gd name="T43" fmla="*/ 277 h 933"/>
                  <a:gd name="T44" fmla="*/ 588 w 968"/>
                  <a:gd name="T45" fmla="*/ 242 h 933"/>
                  <a:gd name="T46" fmla="*/ 628 w 968"/>
                  <a:gd name="T47" fmla="*/ 173 h 933"/>
                  <a:gd name="T48" fmla="*/ 662 w 968"/>
                  <a:gd name="T49" fmla="*/ 156 h 933"/>
                  <a:gd name="T50" fmla="*/ 732 w 968"/>
                  <a:gd name="T51" fmla="*/ 116 h 933"/>
                  <a:gd name="T52" fmla="*/ 853 w 968"/>
                  <a:gd name="T53" fmla="*/ 58 h 933"/>
                  <a:gd name="T54" fmla="*/ 968 w 968"/>
                  <a:gd name="T55"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68" h="933">
                    <a:moveTo>
                      <a:pt x="0" y="260"/>
                    </a:moveTo>
                    <a:cubicBezTo>
                      <a:pt x="5" y="296"/>
                      <a:pt x="4" y="333"/>
                      <a:pt x="12" y="369"/>
                    </a:cubicBezTo>
                    <a:cubicBezTo>
                      <a:pt x="15" y="382"/>
                      <a:pt x="25" y="392"/>
                      <a:pt x="29" y="404"/>
                    </a:cubicBezTo>
                    <a:cubicBezTo>
                      <a:pt x="32" y="427"/>
                      <a:pt x="38" y="450"/>
                      <a:pt x="40" y="473"/>
                    </a:cubicBezTo>
                    <a:cubicBezTo>
                      <a:pt x="44" y="525"/>
                      <a:pt x="36" y="579"/>
                      <a:pt x="52" y="628"/>
                    </a:cubicBezTo>
                    <a:cubicBezTo>
                      <a:pt x="59" y="650"/>
                      <a:pt x="80" y="679"/>
                      <a:pt x="92" y="697"/>
                    </a:cubicBezTo>
                    <a:cubicBezTo>
                      <a:pt x="96" y="703"/>
                      <a:pt x="104" y="715"/>
                      <a:pt x="104" y="715"/>
                    </a:cubicBezTo>
                    <a:cubicBezTo>
                      <a:pt x="113" y="751"/>
                      <a:pt x="115" y="789"/>
                      <a:pt x="127" y="824"/>
                    </a:cubicBezTo>
                    <a:cubicBezTo>
                      <a:pt x="129" y="845"/>
                      <a:pt x="127" y="867"/>
                      <a:pt x="133" y="887"/>
                    </a:cubicBezTo>
                    <a:cubicBezTo>
                      <a:pt x="135" y="894"/>
                      <a:pt x="145" y="894"/>
                      <a:pt x="150" y="899"/>
                    </a:cubicBezTo>
                    <a:cubicBezTo>
                      <a:pt x="160" y="910"/>
                      <a:pt x="162" y="920"/>
                      <a:pt x="167" y="933"/>
                    </a:cubicBezTo>
                    <a:cubicBezTo>
                      <a:pt x="216" y="922"/>
                      <a:pt x="200" y="911"/>
                      <a:pt x="225" y="876"/>
                    </a:cubicBezTo>
                    <a:cubicBezTo>
                      <a:pt x="230" y="840"/>
                      <a:pt x="231" y="832"/>
                      <a:pt x="259" y="812"/>
                    </a:cubicBezTo>
                    <a:cubicBezTo>
                      <a:pt x="270" y="759"/>
                      <a:pt x="269" y="678"/>
                      <a:pt x="300" y="634"/>
                    </a:cubicBezTo>
                    <a:cubicBezTo>
                      <a:pt x="306" y="614"/>
                      <a:pt x="311" y="599"/>
                      <a:pt x="323" y="582"/>
                    </a:cubicBezTo>
                    <a:cubicBezTo>
                      <a:pt x="339" y="528"/>
                      <a:pt x="349" y="475"/>
                      <a:pt x="380" y="427"/>
                    </a:cubicBezTo>
                    <a:cubicBezTo>
                      <a:pt x="390" y="387"/>
                      <a:pt x="393" y="346"/>
                      <a:pt x="403" y="306"/>
                    </a:cubicBezTo>
                    <a:cubicBezTo>
                      <a:pt x="410" y="278"/>
                      <a:pt x="421" y="261"/>
                      <a:pt x="432" y="236"/>
                    </a:cubicBezTo>
                    <a:cubicBezTo>
                      <a:pt x="445" y="207"/>
                      <a:pt x="443" y="172"/>
                      <a:pt x="478" y="162"/>
                    </a:cubicBezTo>
                    <a:cubicBezTo>
                      <a:pt x="491" y="166"/>
                      <a:pt x="513" y="160"/>
                      <a:pt x="518" y="173"/>
                    </a:cubicBezTo>
                    <a:cubicBezTo>
                      <a:pt x="532" y="213"/>
                      <a:pt x="525" y="258"/>
                      <a:pt x="530" y="300"/>
                    </a:cubicBezTo>
                    <a:cubicBezTo>
                      <a:pt x="541" y="292"/>
                      <a:pt x="556" y="287"/>
                      <a:pt x="565" y="277"/>
                    </a:cubicBezTo>
                    <a:cubicBezTo>
                      <a:pt x="574" y="267"/>
                      <a:pt x="588" y="242"/>
                      <a:pt x="588" y="242"/>
                    </a:cubicBezTo>
                    <a:cubicBezTo>
                      <a:pt x="595" y="217"/>
                      <a:pt x="607" y="190"/>
                      <a:pt x="628" y="173"/>
                    </a:cubicBezTo>
                    <a:cubicBezTo>
                      <a:pt x="638" y="165"/>
                      <a:pt x="651" y="163"/>
                      <a:pt x="662" y="156"/>
                    </a:cubicBezTo>
                    <a:cubicBezTo>
                      <a:pt x="678" y="133"/>
                      <a:pt x="705" y="124"/>
                      <a:pt x="732" y="116"/>
                    </a:cubicBezTo>
                    <a:cubicBezTo>
                      <a:pt x="759" y="97"/>
                      <a:pt x="821" y="69"/>
                      <a:pt x="853" y="58"/>
                    </a:cubicBezTo>
                    <a:cubicBezTo>
                      <a:pt x="890" y="33"/>
                      <a:pt x="928" y="20"/>
                      <a:pt x="968" y="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16"/>
              <p:cNvSpPr>
                <a:spLocks/>
              </p:cNvSpPr>
              <p:nvPr/>
            </p:nvSpPr>
            <p:spPr bwMode="auto">
              <a:xfrm>
                <a:off x="1509" y="967"/>
                <a:ext cx="985" cy="343"/>
              </a:xfrm>
              <a:custGeom>
                <a:avLst/>
                <a:gdLst>
                  <a:gd name="T0" fmla="*/ 985 w 985"/>
                  <a:gd name="T1" fmla="*/ 191 h 343"/>
                  <a:gd name="T2" fmla="*/ 951 w 985"/>
                  <a:gd name="T3" fmla="*/ 81 h 343"/>
                  <a:gd name="T4" fmla="*/ 904 w 985"/>
                  <a:gd name="T5" fmla="*/ 41 h 343"/>
                  <a:gd name="T6" fmla="*/ 812 w 985"/>
                  <a:gd name="T7" fmla="*/ 64 h 343"/>
                  <a:gd name="T8" fmla="*/ 778 w 985"/>
                  <a:gd name="T9" fmla="*/ 133 h 343"/>
                  <a:gd name="T10" fmla="*/ 749 w 985"/>
                  <a:gd name="T11" fmla="*/ 173 h 343"/>
                  <a:gd name="T12" fmla="*/ 593 w 985"/>
                  <a:gd name="T13" fmla="*/ 168 h 343"/>
                  <a:gd name="T14" fmla="*/ 536 w 985"/>
                  <a:gd name="T15" fmla="*/ 110 h 343"/>
                  <a:gd name="T16" fmla="*/ 484 w 985"/>
                  <a:gd name="T17" fmla="*/ 47 h 343"/>
                  <a:gd name="T18" fmla="*/ 328 w 985"/>
                  <a:gd name="T19" fmla="*/ 47 h 343"/>
                  <a:gd name="T20" fmla="*/ 317 w 985"/>
                  <a:gd name="T21" fmla="*/ 64 h 343"/>
                  <a:gd name="T22" fmla="*/ 300 w 985"/>
                  <a:gd name="T23" fmla="*/ 81 h 343"/>
                  <a:gd name="T24" fmla="*/ 294 w 985"/>
                  <a:gd name="T25" fmla="*/ 99 h 343"/>
                  <a:gd name="T26" fmla="*/ 271 w 985"/>
                  <a:gd name="T27" fmla="*/ 133 h 343"/>
                  <a:gd name="T28" fmla="*/ 236 w 985"/>
                  <a:gd name="T29" fmla="*/ 150 h 343"/>
                  <a:gd name="T30" fmla="*/ 138 w 985"/>
                  <a:gd name="T31" fmla="*/ 220 h 343"/>
                  <a:gd name="T32" fmla="*/ 81 w 985"/>
                  <a:gd name="T33" fmla="*/ 271 h 343"/>
                  <a:gd name="T34" fmla="*/ 46 w 985"/>
                  <a:gd name="T35" fmla="*/ 294 h 343"/>
                  <a:gd name="T36" fmla="*/ 35 w 985"/>
                  <a:gd name="T37" fmla="*/ 312 h 343"/>
                  <a:gd name="T38" fmla="*/ 17 w 985"/>
                  <a:gd name="T39" fmla="*/ 323 h 343"/>
                  <a:gd name="T40" fmla="*/ 0 w 985"/>
                  <a:gd name="T41" fmla="*/ 341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5" h="343">
                    <a:moveTo>
                      <a:pt x="985" y="191"/>
                    </a:moveTo>
                    <a:cubicBezTo>
                      <a:pt x="979" y="152"/>
                      <a:pt x="968" y="116"/>
                      <a:pt x="951" y="81"/>
                    </a:cubicBezTo>
                    <a:cubicBezTo>
                      <a:pt x="942" y="62"/>
                      <a:pt x="904" y="41"/>
                      <a:pt x="904" y="41"/>
                    </a:cubicBezTo>
                    <a:cubicBezTo>
                      <a:pt x="860" y="46"/>
                      <a:pt x="845" y="44"/>
                      <a:pt x="812" y="64"/>
                    </a:cubicBezTo>
                    <a:cubicBezTo>
                      <a:pt x="798" y="85"/>
                      <a:pt x="788" y="110"/>
                      <a:pt x="778" y="133"/>
                    </a:cubicBezTo>
                    <a:cubicBezTo>
                      <a:pt x="759" y="175"/>
                      <a:pt x="780" y="164"/>
                      <a:pt x="749" y="173"/>
                    </a:cubicBezTo>
                    <a:cubicBezTo>
                      <a:pt x="697" y="171"/>
                      <a:pt x="645" y="173"/>
                      <a:pt x="593" y="168"/>
                    </a:cubicBezTo>
                    <a:cubicBezTo>
                      <a:pt x="570" y="166"/>
                      <a:pt x="556" y="124"/>
                      <a:pt x="536" y="110"/>
                    </a:cubicBezTo>
                    <a:cubicBezTo>
                      <a:pt x="527" y="85"/>
                      <a:pt x="506" y="61"/>
                      <a:pt x="484" y="47"/>
                    </a:cubicBezTo>
                    <a:cubicBezTo>
                      <a:pt x="453" y="0"/>
                      <a:pt x="374" y="32"/>
                      <a:pt x="328" y="47"/>
                    </a:cubicBezTo>
                    <a:cubicBezTo>
                      <a:pt x="324" y="53"/>
                      <a:pt x="321" y="59"/>
                      <a:pt x="317" y="64"/>
                    </a:cubicBezTo>
                    <a:cubicBezTo>
                      <a:pt x="312" y="70"/>
                      <a:pt x="304" y="74"/>
                      <a:pt x="300" y="81"/>
                    </a:cubicBezTo>
                    <a:cubicBezTo>
                      <a:pt x="297" y="86"/>
                      <a:pt x="297" y="93"/>
                      <a:pt x="294" y="99"/>
                    </a:cubicBezTo>
                    <a:cubicBezTo>
                      <a:pt x="287" y="111"/>
                      <a:pt x="279" y="122"/>
                      <a:pt x="271" y="133"/>
                    </a:cubicBezTo>
                    <a:cubicBezTo>
                      <a:pt x="264" y="144"/>
                      <a:pt x="247" y="143"/>
                      <a:pt x="236" y="150"/>
                    </a:cubicBezTo>
                    <a:cubicBezTo>
                      <a:pt x="219" y="178"/>
                      <a:pt x="167" y="201"/>
                      <a:pt x="138" y="220"/>
                    </a:cubicBezTo>
                    <a:cubicBezTo>
                      <a:pt x="118" y="250"/>
                      <a:pt x="115" y="261"/>
                      <a:pt x="81" y="271"/>
                    </a:cubicBezTo>
                    <a:cubicBezTo>
                      <a:pt x="49" y="319"/>
                      <a:pt x="93" y="262"/>
                      <a:pt x="46" y="294"/>
                    </a:cubicBezTo>
                    <a:cubicBezTo>
                      <a:pt x="40" y="298"/>
                      <a:pt x="40" y="307"/>
                      <a:pt x="35" y="312"/>
                    </a:cubicBezTo>
                    <a:cubicBezTo>
                      <a:pt x="30" y="317"/>
                      <a:pt x="23" y="319"/>
                      <a:pt x="17" y="323"/>
                    </a:cubicBezTo>
                    <a:cubicBezTo>
                      <a:pt x="5" y="343"/>
                      <a:pt x="13" y="341"/>
                      <a:pt x="0" y="341"/>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2" name="Text Box 19"/>
            <p:cNvSpPr txBox="1">
              <a:spLocks noChangeArrowheads="1"/>
            </p:cNvSpPr>
            <p:nvPr/>
          </p:nvSpPr>
          <p:spPr bwMode="auto">
            <a:xfrm>
              <a:off x="3984" y="2064"/>
              <a:ext cx="192"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atin typeface="Times New Roman" pitchFamily="18" charset="0"/>
                </a:rPr>
                <a:t>x</a:t>
              </a:r>
              <a:endParaRPr lang="cs-CZ">
                <a:latin typeface="Times New Roman" pitchFamily="18" charset="0"/>
              </a:endParaRPr>
            </a:p>
          </p:txBody>
        </p:sp>
        <p:sp>
          <p:nvSpPr>
            <p:cNvPr id="13" name="Text Box 20"/>
            <p:cNvSpPr txBox="1">
              <a:spLocks noChangeArrowheads="1"/>
            </p:cNvSpPr>
            <p:nvPr/>
          </p:nvSpPr>
          <p:spPr bwMode="auto">
            <a:xfrm>
              <a:off x="1296" y="816"/>
              <a:ext cx="432"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i="1">
                  <a:latin typeface="Times New Roman" pitchFamily="18" charset="0"/>
                </a:rPr>
                <a:t>f</a:t>
              </a:r>
              <a:r>
                <a:rPr lang="en-US">
                  <a:latin typeface="Times New Roman" pitchFamily="18" charset="0"/>
                </a:rPr>
                <a:t>(x)</a:t>
              </a:r>
              <a:endParaRPr lang="cs-CZ">
                <a:latin typeface="Times New Roman" pitchFamily="18" charset="0"/>
              </a:endParaRPr>
            </a:p>
          </p:txBody>
        </p:sp>
        <p:sp>
          <p:nvSpPr>
            <p:cNvPr id="14" name="Line 21"/>
            <p:cNvSpPr>
              <a:spLocks noChangeShapeType="1"/>
            </p:cNvSpPr>
            <p:nvPr/>
          </p:nvSpPr>
          <p:spPr bwMode="auto">
            <a:xfrm>
              <a:off x="2208" y="1152"/>
              <a:ext cx="0" cy="960"/>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22"/>
            <p:cNvSpPr>
              <a:spLocks noChangeShapeType="1"/>
            </p:cNvSpPr>
            <p:nvPr/>
          </p:nvSpPr>
          <p:spPr bwMode="auto">
            <a:xfrm>
              <a:off x="3840" y="960"/>
              <a:ext cx="0" cy="1152"/>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23"/>
            <p:cNvSpPr>
              <a:spLocks noChangeShapeType="1"/>
            </p:cNvSpPr>
            <p:nvPr/>
          </p:nvSpPr>
          <p:spPr bwMode="auto">
            <a:xfrm>
              <a:off x="2688" y="1152"/>
              <a:ext cx="0" cy="960"/>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24"/>
            <p:cNvSpPr>
              <a:spLocks noChangeShapeType="1"/>
            </p:cNvSpPr>
            <p:nvPr/>
          </p:nvSpPr>
          <p:spPr bwMode="auto">
            <a:xfrm>
              <a:off x="3552" y="1200"/>
              <a:ext cx="0" cy="912"/>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25"/>
            <p:cNvSpPr>
              <a:spLocks noChangeShapeType="1"/>
            </p:cNvSpPr>
            <p:nvPr/>
          </p:nvSpPr>
          <p:spPr bwMode="auto">
            <a:xfrm>
              <a:off x="3168" y="1824"/>
              <a:ext cx="0" cy="288"/>
            </a:xfrm>
            <a:prstGeom prst="line">
              <a:avLst/>
            </a:prstGeom>
            <a:noFill/>
            <a:ln w="9525">
              <a:solidFill>
                <a:schemeClr val="tx1"/>
              </a:solidFill>
              <a:prstDash val="dash"/>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Text Box 27"/>
            <p:cNvSpPr txBox="1">
              <a:spLocks noChangeArrowheads="1"/>
            </p:cNvSpPr>
            <p:nvPr/>
          </p:nvSpPr>
          <p:spPr bwMode="auto">
            <a:xfrm>
              <a:off x="2010" y="720"/>
              <a:ext cx="28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a:t>strong</a:t>
              </a:r>
            </a:p>
            <a:p>
              <a:pPr algn="ctr"/>
              <a:r>
                <a:rPr lang="en-US" sz="1000"/>
                <a:t>local</a:t>
              </a:r>
            </a:p>
            <a:p>
              <a:pPr algn="ctr"/>
              <a:r>
                <a:rPr lang="en-US" sz="1000"/>
                <a:t>minimum</a:t>
              </a:r>
              <a:endParaRPr lang="cs-CZ" sz="1000"/>
            </a:p>
          </p:txBody>
        </p:sp>
        <p:sp>
          <p:nvSpPr>
            <p:cNvPr id="20" name="Text Box 28"/>
            <p:cNvSpPr txBox="1">
              <a:spLocks noChangeArrowheads="1"/>
            </p:cNvSpPr>
            <p:nvPr/>
          </p:nvSpPr>
          <p:spPr bwMode="auto">
            <a:xfrm>
              <a:off x="2506" y="992"/>
              <a:ext cx="351" cy="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dirty="0"/>
                <a:t>Saddle Point</a:t>
              </a:r>
              <a:endParaRPr lang="cs-CZ" sz="1000" dirty="0"/>
            </a:p>
          </p:txBody>
        </p:sp>
        <p:sp>
          <p:nvSpPr>
            <p:cNvPr id="21" name="Text Box 30"/>
            <p:cNvSpPr txBox="1">
              <a:spLocks noChangeArrowheads="1"/>
            </p:cNvSpPr>
            <p:nvPr/>
          </p:nvSpPr>
          <p:spPr bwMode="auto">
            <a:xfrm>
              <a:off x="3055" y="854"/>
              <a:ext cx="28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a:t>strong</a:t>
              </a:r>
            </a:p>
            <a:p>
              <a:pPr algn="ctr"/>
              <a:r>
                <a:rPr lang="en-US" sz="1000"/>
                <a:t>global</a:t>
              </a:r>
            </a:p>
            <a:p>
              <a:pPr algn="ctr"/>
              <a:r>
                <a:rPr lang="en-US" sz="1000"/>
                <a:t>minimum</a:t>
              </a:r>
              <a:endParaRPr lang="cs-CZ" sz="1000"/>
            </a:p>
          </p:txBody>
        </p:sp>
        <p:sp>
          <p:nvSpPr>
            <p:cNvPr id="22" name="Text Box 31"/>
            <p:cNvSpPr txBox="1">
              <a:spLocks noChangeArrowheads="1"/>
            </p:cNvSpPr>
            <p:nvPr/>
          </p:nvSpPr>
          <p:spPr bwMode="auto">
            <a:xfrm>
              <a:off x="3439" y="672"/>
              <a:ext cx="284"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a:t>strong</a:t>
              </a:r>
            </a:p>
            <a:p>
              <a:pPr algn="ctr"/>
              <a:r>
                <a:rPr lang="en-US" sz="1000"/>
                <a:t>local</a:t>
              </a:r>
            </a:p>
            <a:p>
              <a:pPr algn="ctr"/>
              <a:r>
                <a:rPr lang="en-US" sz="1000"/>
                <a:t>minimum</a:t>
              </a:r>
              <a:endParaRPr lang="cs-CZ" sz="1000"/>
            </a:p>
          </p:txBody>
        </p:sp>
        <p:sp>
          <p:nvSpPr>
            <p:cNvPr id="23" name="Text Box 32"/>
            <p:cNvSpPr txBox="1">
              <a:spLocks noChangeArrowheads="1"/>
            </p:cNvSpPr>
            <p:nvPr/>
          </p:nvSpPr>
          <p:spPr bwMode="auto">
            <a:xfrm>
              <a:off x="2807" y="2112"/>
              <a:ext cx="395" cy="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000">
                  <a:solidFill>
                    <a:srgbClr val="0033CC"/>
                  </a:solidFill>
                </a:rPr>
                <a:t>feasible region</a:t>
              </a:r>
              <a:endParaRPr lang="cs-CZ" sz="1000">
                <a:solidFill>
                  <a:srgbClr val="0033CC"/>
                </a:solidFill>
              </a:endParaRPr>
            </a:p>
          </p:txBody>
        </p:sp>
      </p:grpSp>
      <p:sp>
        <p:nvSpPr>
          <p:cNvPr id="3" name="TextBox 2">
            <a:extLst>
              <a:ext uri="{FF2B5EF4-FFF2-40B4-BE49-F238E27FC236}">
                <a16:creationId xmlns:a16="http://schemas.microsoft.com/office/drawing/2014/main" id="{445AF48F-F0BB-475A-9B86-CC224923910C}"/>
              </a:ext>
            </a:extLst>
          </p:cNvPr>
          <p:cNvSpPr txBox="1"/>
          <p:nvPr/>
        </p:nvSpPr>
        <p:spPr>
          <a:xfrm>
            <a:off x="10181968" y="2604735"/>
            <a:ext cx="1767016"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000" dirty="0"/>
              <a:t>Saddle Points</a:t>
            </a:r>
            <a:endParaRPr lang="en-IN" sz="2000" dirty="0"/>
          </a:p>
        </p:txBody>
      </p:sp>
      <p:sp>
        <p:nvSpPr>
          <p:cNvPr id="26" name="Footer Placeholder 25">
            <a:extLst>
              <a:ext uri="{FF2B5EF4-FFF2-40B4-BE49-F238E27FC236}">
                <a16:creationId xmlns:a16="http://schemas.microsoft.com/office/drawing/2014/main" id="{B332FDA9-AC61-4F8F-9FDD-9F4235E1C215}"/>
              </a:ext>
            </a:extLst>
          </p:cNvPr>
          <p:cNvSpPr>
            <a:spLocks noGrp="1"/>
          </p:cNvSpPr>
          <p:nvPr>
            <p:ph type="ftr" sz="quarter" idx="11"/>
          </p:nvPr>
        </p:nvSpPr>
        <p:spPr/>
        <p:txBody>
          <a:bodyPr/>
          <a:lstStyle/>
          <a:p>
            <a:pPr>
              <a:defRPr/>
            </a:pPr>
            <a:r>
              <a:rPr lang="es-ES"/>
              <a:t>Dr. Deepali Vora</a:t>
            </a:r>
          </a:p>
        </p:txBody>
      </p:sp>
      <p:sp>
        <p:nvSpPr>
          <p:cNvPr id="27" name="Slide Number Placeholder 26">
            <a:extLst>
              <a:ext uri="{FF2B5EF4-FFF2-40B4-BE49-F238E27FC236}">
                <a16:creationId xmlns:a16="http://schemas.microsoft.com/office/drawing/2014/main" id="{F5A3F54D-1EE1-4A24-97CC-9600D96CD836}"/>
              </a:ext>
            </a:extLst>
          </p:cNvPr>
          <p:cNvSpPr>
            <a:spLocks noGrp="1"/>
          </p:cNvSpPr>
          <p:nvPr>
            <p:ph type="sldNum" sz="quarter" idx="12"/>
          </p:nvPr>
        </p:nvSpPr>
        <p:spPr/>
        <p:txBody>
          <a:bodyPr/>
          <a:lstStyle/>
          <a:p>
            <a:fld id="{9370333F-211E-480A-A48D-622F2EB68390}" type="slidenum">
              <a:rPr lang="es-ES" altLang="en-US" smtClean="0"/>
              <a:pPr/>
              <a:t>8</a:t>
            </a:fld>
            <a:endParaRPr lang="es-ES" altLang="en-US"/>
          </a:p>
        </p:txBody>
      </p:sp>
    </p:spTree>
    <p:extLst>
      <p:ext uri="{BB962C8B-B14F-4D97-AF65-F5344CB8AC3E}">
        <p14:creationId xmlns:p14="http://schemas.microsoft.com/office/powerpoint/2010/main" val="2721258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152650" y="365127"/>
            <a:ext cx="7886700" cy="522692"/>
          </a:xfrm>
        </p:spPr>
        <p:txBody>
          <a:bodyPr>
            <a:normAutofit fontScale="90000"/>
          </a:bodyPr>
          <a:lstStyle/>
          <a:p>
            <a:r>
              <a:rPr lang="en-US" altLang="zh-TW" b="1" dirty="0">
                <a:solidFill>
                  <a:srgbClr val="C00000"/>
                </a:solidFill>
              </a:rPr>
              <a:t>Gradient Descent </a:t>
            </a:r>
            <a:endParaRPr lang="zh-TW" altLang="en-US" b="1" dirty="0">
              <a:solidFill>
                <a:srgbClr val="C00000"/>
              </a:solidFill>
            </a:endParaRPr>
          </a:p>
        </p:txBody>
      </p:sp>
      <p:cxnSp>
        <p:nvCxnSpPr>
          <p:cNvPr id="21" name="直線單箭頭接點 20"/>
          <p:cNvCxnSpPr/>
          <p:nvPr/>
        </p:nvCxnSpPr>
        <p:spPr>
          <a:xfrm>
            <a:off x="3082607" y="2599261"/>
            <a:ext cx="1709005" cy="62324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a:off x="4780289" y="3219526"/>
            <a:ext cx="908500" cy="683399"/>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H="1">
            <a:off x="5621015" y="3874324"/>
            <a:ext cx="49277" cy="1096034"/>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flipH="1">
            <a:off x="4529307" y="4862278"/>
            <a:ext cx="1140985" cy="1424354"/>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a:off x="2522643" y="4699997"/>
            <a:ext cx="69019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a:off x="2531626" y="4201838"/>
            <a:ext cx="690196"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H="1" flipV="1">
            <a:off x="2134500" y="2217027"/>
            <a:ext cx="948106" cy="38223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文字方塊 18"/>
              <p:cNvSpPr txBox="1"/>
              <p:nvPr/>
            </p:nvSpPr>
            <p:spPr>
              <a:xfrm>
                <a:off x="6979792" y="2246885"/>
                <a:ext cx="3055326" cy="461665"/>
              </a:xfrm>
              <a:prstGeom prst="rect">
                <a:avLst/>
              </a:prstGeom>
              <a:noFill/>
            </p:spPr>
            <p:txBody>
              <a:bodyPr wrap="square" rtlCol="0">
                <a:spAutoFit/>
              </a:bodyPr>
              <a:lstStyle/>
              <a:p>
                <a:r>
                  <a:rPr lang="en-US" altLang="zh-TW" sz="2400" dirty="0"/>
                  <a:t>Start at position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a14:m>
                <a:endParaRPr lang="zh-TW" altLang="en-US" sz="2400" baseline="-250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6979792" y="2246885"/>
                <a:ext cx="3055326" cy="461665"/>
              </a:xfrm>
              <a:prstGeom prst="rect">
                <a:avLst/>
              </a:prstGeom>
              <a:blipFill>
                <a:blip r:embed="rId3"/>
                <a:stretch>
                  <a:fillRect l="-3194" t="-10667" b="-30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6962206" y="2885191"/>
                <a:ext cx="4393958" cy="461665"/>
              </a:xfrm>
              <a:prstGeom prst="rect">
                <a:avLst/>
              </a:prstGeom>
              <a:noFill/>
            </p:spPr>
            <p:txBody>
              <a:bodyPr wrap="square" rtlCol="0">
                <a:spAutoFit/>
              </a:bodyPr>
              <a:lstStyle/>
              <a:p>
                <a:r>
                  <a:rPr lang="en-US" altLang="zh-TW" sz="2400" dirty="0"/>
                  <a:t>Compute gradient at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a14:m>
                <a:endParaRPr lang="zh-TW" altLang="en-US" sz="2400" baseline="-250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6962206" y="2885191"/>
                <a:ext cx="4393958" cy="461665"/>
              </a:xfrm>
              <a:prstGeom prst="rect">
                <a:avLst/>
              </a:prstGeom>
              <a:blipFill>
                <a:blip r:embed="rId4"/>
                <a:stretch>
                  <a:fillRect l="-2080" t="-10526" b="-28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6981257" y="3561576"/>
                <a:ext cx="4169019" cy="461665"/>
              </a:xfrm>
              <a:prstGeom prst="rect">
                <a:avLst/>
              </a:prstGeom>
              <a:noFill/>
            </p:spPr>
            <p:txBody>
              <a:bodyPr wrap="square" rtlCol="0">
                <a:spAutoFit/>
              </a:bodyPr>
              <a:lstStyle/>
              <a:p>
                <a:r>
                  <a:rPr lang="en-US" altLang="zh-TW" sz="2400" dirty="0"/>
                  <a:t>Move to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1</m:t>
                        </m:r>
                      </m:sup>
                    </m:sSup>
                  </m:oMath>
                </a14:m>
                <a:r>
                  <a:rPr lang="en-US" altLang="zh-TW" sz="2400" dirty="0"/>
                  <a:t> =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a14:m>
                <a:r>
                  <a:rPr lang="en-US" altLang="zh-TW" sz="2400" dirty="0"/>
                  <a:t> - </a:t>
                </a:r>
                <a:r>
                  <a:rPr lang="el-GR" altLang="zh-TW" sz="2400" dirty="0"/>
                  <a:t>η</a:t>
                </a:r>
                <a14:m>
                  <m:oMath xmlns:m="http://schemas.openxmlformats.org/officeDocument/2006/math">
                    <m:r>
                      <a:rPr lang="zh-TW" altLang="en-US" sz="2400" i="1">
                        <a:latin typeface="Cambria Math" panose="02040503050406030204" pitchFamily="18" charset="0"/>
                      </a:rPr>
                      <m:t>𝛻</m:t>
                    </m:r>
                    <m:r>
                      <a:rPr lang="en-US" altLang="zh-TW" sz="2400" i="1">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e>
                    </m:d>
                  </m:oMath>
                </a14:m>
                <a:endParaRPr lang="zh-TW" altLang="en-US" sz="2400" baseline="-250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6981257" y="3561576"/>
                <a:ext cx="4169019" cy="461665"/>
              </a:xfrm>
              <a:prstGeom prst="rect">
                <a:avLst/>
              </a:prstGeom>
              <a:blipFill>
                <a:blip r:embed="rId5"/>
                <a:stretch>
                  <a:fillRect l="-2193" t="-11842" b="-28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6964365" y="4190994"/>
                <a:ext cx="3993172" cy="461665"/>
              </a:xfrm>
              <a:prstGeom prst="rect">
                <a:avLst/>
              </a:prstGeom>
              <a:noFill/>
            </p:spPr>
            <p:txBody>
              <a:bodyPr wrap="square" rtlCol="0">
                <a:spAutoFit/>
              </a:bodyPr>
              <a:lstStyle/>
              <a:p>
                <a:r>
                  <a:rPr lang="en-US" altLang="zh-TW" sz="2400" dirty="0"/>
                  <a:t>Compute gradient at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1</m:t>
                        </m:r>
                      </m:sup>
                    </m:sSup>
                  </m:oMath>
                </a14:m>
                <a:endParaRPr lang="zh-TW" altLang="en-US" sz="2400" baseline="-250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6964365" y="4190994"/>
                <a:ext cx="3993172" cy="461665"/>
              </a:xfrm>
              <a:prstGeom prst="rect">
                <a:avLst/>
              </a:prstGeom>
              <a:blipFill>
                <a:blip r:embed="rId6"/>
                <a:stretch>
                  <a:fillRect l="-2290" t="-10526" b="-28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文字方塊 19"/>
              <p:cNvSpPr txBox="1"/>
              <p:nvPr/>
            </p:nvSpPr>
            <p:spPr>
              <a:xfrm>
                <a:off x="6975257" y="4866815"/>
                <a:ext cx="4169019" cy="461665"/>
              </a:xfrm>
              <a:prstGeom prst="rect">
                <a:avLst/>
              </a:prstGeom>
              <a:noFill/>
            </p:spPr>
            <p:txBody>
              <a:bodyPr wrap="square" rtlCol="0">
                <a:spAutoFit/>
              </a:bodyPr>
              <a:lstStyle/>
              <a:p>
                <a:r>
                  <a:rPr lang="en-US" altLang="zh-TW" sz="2400" dirty="0"/>
                  <a:t>Move to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2</m:t>
                        </m:r>
                      </m:sup>
                    </m:sSup>
                  </m:oMath>
                </a14:m>
                <a:r>
                  <a:rPr lang="en-US" altLang="zh-TW" sz="2400" dirty="0"/>
                  <a:t> =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1</m:t>
                        </m:r>
                      </m:sup>
                    </m:sSup>
                  </m:oMath>
                </a14:m>
                <a:r>
                  <a:rPr lang="en-US" altLang="zh-TW" sz="2400" dirty="0"/>
                  <a:t> – </a:t>
                </a:r>
                <a:r>
                  <a:rPr lang="el-GR" altLang="zh-TW" sz="2400" dirty="0"/>
                  <a:t>η</a:t>
                </a:r>
                <a14:m>
                  <m:oMath xmlns:m="http://schemas.openxmlformats.org/officeDocument/2006/math">
                    <m:r>
                      <a:rPr lang="zh-TW" altLang="en-US" sz="2400" i="1">
                        <a:latin typeface="Cambria Math" panose="02040503050406030204" pitchFamily="18" charset="0"/>
                      </a:rPr>
                      <m:t>𝛻</m:t>
                    </m:r>
                    <m:r>
                      <a:rPr lang="en-US" altLang="zh-TW" sz="2400" i="1">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1</m:t>
                            </m:r>
                          </m:sup>
                        </m:sSup>
                      </m:e>
                    </m:d>
                  </m:oMath>
                </a14:m>
                <a:endParaRPr lang="zh-TW" altLang="en-US" sz="2400" baseline="-25000" dirty="0"/>
              </a:p>
            </p:txBody>
          </p:sp>
        </mc:Choice>
        <mc:Fallback xmlns="">
          <p:sp>
            <p:nvSpPr>
              <p:cNvPr id="20" name="文字方塊 19"/>
              <p:cNvSpPr txBox="1">
                <a:spLocks noRot="1" noChangeAspect="1" noMove="1" noResize="1" noEditPoints="1" noAdjustHandles="1" noChangeArrowheads="1" noChangeShapeType="1" noTextEdit="1"/>
              </p:cNvSpPr>
              <p:nvPr/>
            </p:nvSpPr>
            <p:spPr>
              <a:xfrm>
                <a:off x="6975257" y="4866815"/>
                <a:ext cx="4169019" cy="461665"/>
              </a:xfrm>
              <a:prstGeom prst="rect">
                <a:avLst/>
              </a:prstGeom>
              <a:blipFill>
                <a:blip r:embed="rId7"/>
                <a:stretch>
                  <a:fillRect l="-2193" t="-11842" b="-28947"/>
                </a:stretch>
              </a:blipFill>
            </p:spPr>
            <p:txBody>
              <a:bodyPr/>
              <a:lstStyle/>
              <a:p>
                <a:r>
                  <a:rPr lang="en-IN">
                    <a:noFill/>
                  </a:rPr>
                  <a:t> </a:t>
                </a:r>
              </a:p>
            </p:txBody>
          </p:sp>
        </mc:Fallback>
      </mc:AlternateContent>
      <p:cxnSp>
        <p:nvCxnSpPr>
          <p:cNvPr id="34" name="直線單箭頭接點 33"/>
          <p:cNvCxnSpPr/>
          <p:nvPr/>
        </p:nvCxnSpPr>
        <p:spPr>
          <a:xfrm flipH="1" flipV="1">
            <a:off x="4312812" y="2857005"/>
            <a:ext cx="500337" cy="349676"/>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5670291" y="3327605"/>
            <a:ext cx="18498" cy="536038"/>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V="1">
            <a:off x="5647487" y="4092124"/>
            <a:ext cx="560875" cy="77015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文字方塊 37"/>
          <p:cNvSpPr txBox="1"/>
          <p:nvPr/>
        </p:nvSpPr>
        <p:spPr>
          <a:xfrm>
            <a:off x="3212839" y="4458503"/>
            <a:ext cx="1923316" cy="461665"/>
          </a:xfrm>
          <a:prstGeom prst="rect">
            <a:avLst/>
          </a:prstGeom>
          <a:noFill/>
        </p:spPr>
        <p:txBody>
          <a:bodyPr wrap="square" rtlCol="0">
            <a:spAutoFit/>
          </a:bodyPr>
          <a:lstStyle/>
          <a:p>
            <a:r>
              <a:rPr lang="en-US" altLang="zh-TW" sz="2400" dirty="0"/>
              <a:t>Movement</a:t>
            </a:r>
            <a:endParaRPr lang="zh-TW" altLang="en-US" sz="2400" dirty="0"/>
          </a:p>
        </p:txBody>
      </p:sp>
      <p:sp>
        <p:nvSpPr>
          <p:cNvPr id="39" name="文字方塊 38"/>
          <p:cNvSpPr txBox="1"/>
          <p:nvPr/>
        </p:nvSpPr>
        <p:spPr>
          <a:xfrm>
            <a:off x="3221822" y="3992094"/>
            <a:ext cx="1923316" cy="461665"/>
          </a:xfrm>
          <a:prstGeom prst="rect">
            <a:avLst/>
          </a:prstGeom>
          <a:noFill/>
        </p:spPr>
        <p:txBody>
          <a:bodyPr wrap="square" rtlCol="0">
            <a:spAutoFit/>
          </a:bodyPr>
          <a:lstStyle/>
          <a:p>
            <a:r>
              <a:rPr lang="en-US" altLang="zh-TW" sz="2400" dirty="0"/>
              <a:t>Gradient</a:t>
            </a:r>
            <a:endParaRPr lang="zh-TW" altLang="en-US" sz="2400" dirty="0"/>
          </a:p>
        </p:txBody>
      </p:sp>
      <p:sp>
        <p:nvSpPr>
          <p:cNvPr id="40" name="文字方塊 39"/>
          <p:cNvSpPr txBox="1"/>
          <p:nvPr/>
        </p:nvSpPr>
        <p:spPr>
          <a:xfrm rot="5400000">
            <a:off x="8316530" y="5373557"/>
            <a:ext cx="775882" cy="954107"/>
          </a:xfrm>
          <a:prstGeom prst="rect">
            <a:avLst/>
          </a:prstGeom>
          <a:noFill/>
        </p:spPr>
        <p:txBody>
          <a:bodyPr wrap="square" rtlCol="0">
            <a:spAutoFit/>
          </a:bodyPr>
          <a:lstStyle/>
          <a:p>
            <a:r>
              <a:rPr lang="en-US" altLang="zh-TW" sz="2800" dirty="0"/>
              <a:t>……</a:t>
            </a:r>
            <a:endParaRPr lang="zh-TW" altLang="en-US" sz="2800" dirty="0"/>
          </a:p>
        </p:txBody>
      </p:sp>
      <mc:AlternateContent xmlns:mc="http://schemas.openxmlformats.org/markup-compatibility/2006" xmlns:a14="http://schemas.microsoft.com/office/drawing/2010/main">
        <mc:Choice Requires="a14">
          <p:sp>
            <p:nvSpPr>
              <p:cNvPr id="41" name="文字方塊 40"/>
              <p:cNvSpPr txBox="1"/>
              <p:nvPr/>
            </p:nvSpPr>
            <p:spPr>
              <a:xfrm>
                <a:off x="2749951" y="2674190"/>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m:oMathPara>
                </a14:m>
                <a:endParaRPr lang="zh-TW" altLang="en-US" sz="2400" baseline="-25000"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2749951" y="2674190"/>
                <a:ext cx="689088" cy="46057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4291261" y="3216032"/>
                <a:ext cx="689088" cy="4598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1</m:t>
                          </m:r>
                        </m:sup>
                      </m:sSup>
                    </m:oMath>
                  </m:oMathPara>
                </a14:m>
                <a:endParaRPr lang="zh-TW" altLang="en-US" sz="2400" baseline="-250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4291261" y="3216032"/>
                <a:ext cx="689088" cy="459806"/>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5065079" y="3843900"/>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2</m:t>
                          </m:r>
                        </m:sup>
                      </m:sSup>
                    </m:oMath>
                  </m:oMathPara>
                </a14:m>
                <a:endParaRPr lang="zh-TW" altLang="en-US" sz="2400" baseline="-250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5065079" y="3843900"/>
                <a:ext cx="689088" cy="46057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文字方塊 43"/>
              <p:cNvSpPr txBox="1"/>
              <p:nvPr/>
            </p:nvSpPr>
            <p:spPr>
              <a:xfrm>
                <a:off x="4988876" y="4682240"/>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3</m:t>
                          </m:r>
                        </m:sup>
                      </m:sSup>
                    </m:oMath>
                  </m:oMathPara>
                </a14:m>
                <a:endParaRPr lang="zh-TW" altLang="en-US" sz="2400" baseline="-250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4988876" y="4682240"/>
                <a:ext cx="689088" cy="460575"/>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2562888" y="2020900"/>
                <a:ext cx="1110652"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a:latin typeface="Cambria Math" panose="02040503050406030204" pitchFamily="18" charset="0"/>
                        </a:rPr>
                        <m:t>𝛻</m:t>
                      </m:r>
                      <m:r>
                        <a:rPr lang="en-US" altLang="zh-TW" sz="2400" i="1">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e>
                      </m:d>
                    </m:oMath>
                  </m:oMathPara>
                </a14:m>
                <a:endParaRPr lang="zh-TW" altLang="en-US" sz="2400" baseline="-250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2562888" y="2020900"/>
                <a:ext cx="1110652" cy="460575"/>
              </a:xfrm>
              <a:prstGeom prst="rect">
                <a:avLst/>
              </a:prstGeom>
              <a:blipFill>
                <a:blip r:embed="rId12"/>
                <a:stretch>
                  <a:fillRect l="-10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文字方塊 48"/>
              <p:cNvSpPr txBox="1"/>
              <p:nvPr/>
            </p:nvSpPr>
            <p:spPr>
              <a:xfrm>
                <a:off x="4521937" y="2560268"/>
                <a:ext cx="689088" cy="4598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a:latin typeface="Cambria Math" panose="02040503050406030204" pitchFamily="18" charset="0"/>
                        </a:rPr>
                        <m:t>𝛻</m:t>
                      </m:r>
                      <m:r>
                        <a:rPr lang="en-US" altLang="zh-TW" sz="2400" i="1">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1</m:t>
                              </m:r>
                            </m:sup>
                          </m:sSup>
                        </m:e>
                      </m:d>
                    </m:oMath>
                  </m:oMathPara>
                </a14:m>
                <a:endParaRPr lang="zh-TW" altLang="en-US" sz="2400" baseline="-25000" dirty="0"/>
              </a:p>
            </p:txBody>
          </p:sp>
        </mc:Choice>
        <mc:Fallback xmlns="">
          <p:sp>
            <p:nvSpPr>
              <p:cNvPr id="49" name="文字方塊 48"/>
              <p:cNvSpPr txBox="1">
                <a:spLocks noRot="1" noChangeAspect="1" noMove="1" noResize="1" noEditPoints="1" noAdjustHandles="1" noChangeArrowheads="1" noChangeShapeType="1" noTextEdit="1"/>
              </p:cNvSpPr>
              <p:nvPr/>
            </p:nvSpPr>
            <p:spPr>
              <a:xfrm>
                <a:off x="4521937" y="2560268"/>
                <a:ext cx="689088" cy="459806"/>
              </a:xfrm>
              <a:prstGeom prst="rect">
                <a:avLst/>
              </a:prstGeom>
              <a:blipFill>
                <a:blip r:embed="rId13"/>
                <a:stretch>
                  <a:fillRect l="-2655" r="-451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文字方塊 49"/>
              <p:cNvSpPr txBox="1"/>
              <p:nvPr/>
            </p:nvSpPr>
            <p:spPr>
              <a:xfrm>
                <a:off x="5727120" y="3344064"/>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a:latin typeface="Cambria Math" panose="02040503050406030204" pitchFamily="18" charset="0"/>
                        </a:rPr>
                        <m:t>𝛻</m:t>
                      </m:r>
                      <m:r>
                        <a:rPr lang="en-US" altLang="zh-TW" sz="2400" i="1">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2</m:t>
                              </m:r>
                            </m:sup>
                          </m:sSup>
                        </m:e>
                      </m:d>
                    </m:oMath>
                  </m:oMathPara>
                </a14:m>
                <a:endParaRPr lang="zh-TW" altLang="en-US" sz="2400" baseline="-25000" dirty="0"/>
              </a:p>
            </p:txBody>
          </p:sp>
        </mc:Choice>
        <mc:Fallback xmlns="">
          <p:sp>
            <p:nvSpPr>
              <p:cNvPr id="50" name="文字方塊 49"/>
              <p:cNvSpPr txBox="1">
                <a:spLocks noRot="1" noChangeAspect="1" noMove="1" noResize="1" noEditPoints="1" noAdjustHandles="1" noChangeArrowheads="1" noChangeShapeType="1" noTextEdit="1"/>
              </p:cNvSpPr>
              <p:nvPr/>
            </p:nvSpPr>
            <p:spPr>
              <a:xfrm>
                <a:off x="5727120" y="3344064"/>
                <a:ext cx="689088" cy="460575"/>
              </a:xfrm>
              <a:prstGeom prst="rect">
                <a:avLst/>
              </a:prstGeom>
              <a:blipFill>
                <a:blip r:embed="rId14"/>
                <a:stretch>
                  <a:fillRect l="-1754" r="-447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文字方塊 50"/>
              <p:cNvSpPr txBox="1"/>
              <p:nvPr/>
            </p:nvSpPr>
            <p:spPr>
              <a:xfrm>
                <a:off x="5826526" y="4400614"/>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a:latin typeface="Cambria Math" panose="02040503050406030204" pitchFamily="18" charset="0"/>
                        </a:rPr>
                        <m:t>𝛻</m:t>
                      </m:r>
                      <m:r>
                        <a:rPr lang="en-US" altLang="zh-TW" sz="2400" i="1">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3</m:t>
                              </m:r>
                            </m:sup>
                          </m:sSup>
                        </m:e>
                      </m:d>
                    </m:oMath>
                  </m:oMathPara>
                </a14:m>
                <a:endParaRPr lang="zh-TW" altLang="en-US" sz="2400" baseline="-25000"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5826526" y="4400614"/>
                <a:ext cx="689088" cy="460575"/>
              </a:xfrm>
              <a:prstGeom prst="rect">
                <a:avLst/>
              </a:prstGeom>
              <a:blipFill>
                <a:blip r:embed="rId15"/>
                <a:stretch>
                  <a:fillRect l="-2655" r="-46018"/>
                </a:stretch>
              </a:blipFill>
            </p:spPr>
            <p:txBody>
              <a:bodyPr/>
              <a:lstStyle/>
              <a:p>
                <a:r>
                  <a:rPr lang="en-IN">
                    <a:noFill/>
                  </a:rPr>
                  <a:t> </a:t>
                </a:r>
              </a:p>
            </p:txBody>
          </p:sp>
        </mc:Fallback>
      </mc:AlternateContent>
      <p:sp>
        <p:nvSpPr>
          <p:cNvPr id="52" name="橢圓 51"/>
          <p:cNvSpPr/>
          <p:nvPr/>
        </p:nvSpPr>
        <p:spPr>
          <a:xfrm>
            <a:off x="2973821" y="2505737"/>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 name="直線單箭頭接點 3"/>
          <p:cNvCxnSpPr/>
          <p:nvPr/>
        </p:nvCxnSpPr>
        <p:spPr>
          <a:xfrm>
            <a:off x="2134500" y="5898096"/>
            <a:ext cx="438111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flipV="1">
            <a:off x="2341533" y="1690690"/>
            <a:ext cx="0" cy="44819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字方塊 36"/>
              <p:cNvSpPr txBox="1"/>
              <p:nvPr/>
            </p:nvSpPr>
            <p:spPr>
              <a:xfrm>
                <a:off x="6044375" y="5946088"/>
                <a:ext cx="689088" cy="4531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Sub>
                    </m:oMath>
                  </m:oMathPara>
                </a14:m>
                <a:endParaRPr lang="zh-TW" altLang="en-US" sz="2400" baseline="-25000"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6044375" y="5946088"/>
                <a:ext cx="689088" cy="453137"/>
              </a:xfrm>
              <a:prstGeom prst="rect">
                <a:avLst/>
              </a:prstGeom>
              <a:blipFill>
                <a:blip r:embed="rId16"/>
                <a:stretch>
                  <a:fillRect b="-4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文字方塊 44"/>
              <p:cNvSpPr txBox="1"/>
              <p:nvPr/>
            </p:nvSpPr>
            <p:spPr>
              <a:xfrm>
                <a:off x="1700721" y="1600205"/>
                <a:ext cx="689088" cy="4531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i="1">
                              <a:latin typeface="Cambria Math" panose="02040503050406030204" pitchFamily="18" charset="0"/>
                            </a:rPr>
                            <m:t>2</m:t>
                          </m:r>
                        </m:sub>
                      </m:sSub>
                    </m:oMath>
                  </m:oMathPara>
                </a14:m>
                <a:endParaRPr lang="zh-TW" altLang="en-US" sz="2400" baseline="-25000"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1700721" y="1600205"/>
                <a:ext cx="689088" cy="453137"/>
              </a:xfrm>
              <a:prstGeom prst="rect">
                <a:avLst/>
              </a:prstGeom>
              <a:blipFill>
                <a:blip r:embed="rId17"/>
                <a:stretch>
                  <a:fillRect b="-4054"/>
                </a:stretch>
              </a:blipFill>
            </p:spPr>
            <p:txBody>
              <a:bodyPr/>
              <a:lstStyle/>
              <a:p>
                <a:r>
                  <a:rPr lang="en-IN">
                    <a:noFill/>
                  </a:rPr>
                  <a:t> </a:t>
                </a:r>
              </a:p>
            </p:txBody>
          </p:sp>
        </mc:Fallback>
      </mc:AlternateContent>
      <p:sp>
        <p:nvSpPr>
          <p:cNvPr id="46" name="文字方塊 45"/>
          <p:cNvSpPr txBox="1"/>
          <p:nvPr/>
        </p:nvSpPr>
        <p:spPr>
          <a:xfrm>
            <a:off x="4174496" y="1341148"/>
            <a:ext cx="6251964" cy="830997"/>
          </a:xfrm>
          <a:prstGeom prst="rect">
            <a:avLst/>
          </a:prstGeom>
          <a:noFill/>
        </p:spPr>
        <p:txBody>
          <a:bodyPr wrap="square" rtlCol="0">
            <a:spAutoFit/>
          </a:bodyPr>
          <a:lstStyle/>
          <a:p>
            <a:r>
              <a:rPr lang="en-US" altLang="zh-TW" sz="2400" dirty="0"/>
              <a:t>Gradient: Derivative of the Loss function</a:t>
            </a:r>
          </a:p>
          <a:p>
            <a:r>
              <a:rPr lang="en-US" altLang="zh-TW" sz="2400" dirty="0"/>
              <a:t>Gradient descent: direction of negative gradient </a:t>
            </a:r>
            <a:endParaRPr lang="zh-TW" altLang="en-US" sz="2400" dirty="0"/>
          </a:p>
        </p:txBody>
      </p:sp>
      <p:sp>
        <p:nvSpPr>
          <p:cNvPr id="3" name="Footer Placeholder 2">
            <a:extLst>
              <a:ext uri="{FF2B5EF4-FFF2-40B4-BE49-F238E27FC236}">
                <a16:creationId xmlns:a16="http://schemas.microsoft.com/office/drawing/2014/main" id="{E28C7A7E-0514-4BFE-92E4-2414D55BF57A}"/>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033FD4D0-215F-4A94-84A5-294A917F386B}"/>
              </a:ext>
            </a:extLst>
          </p:cNvPr>
          <p:cNvSpPr>
            <a:spLocks noGrp="1"/>
          </p:cNvSpPr>
          <p:nvPr>
            <p:ph type="sldNum" sz="quarter" idx="12"/>
          </p:nvPr>
        </p:nvSpPr>
        <p:spPr/>
        <p:txBody>
          <a:bodyPr/>
          <a:lstStyle/>
          <a:p>
            <a:fld id="{9370333F-211E-480A-A48D-622F2EB68390}" type="slidenum">
              <a:rPr lang="es-ES" altLang="en-US" smtClean="0"/>
              <a:pPr/>
              <a:t>9</a:t>
            </a:fld>
            <a:endParaRPr lang="es-ES" altLang="en-US"/>
          </a:p>
        </p:txBody>
      </p:sp>
    </p:spTree>
    <p:extLst>
      <p:ext uri="{BB962C8B-B14F-4D97-AF65-F5344CB8AC3E}">
        <p14:creationId xmlns:p14="http://schemas.microsoft.com/office/powerpoint/2010/main" val="373655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28" grpId="0"/>
      <p:bldP spid="29" grpId="0"/>
      <p:bldP spid="20" grpId="0"/>
      <p:bldP spid="38" grpId="0"/>
      <p:bldP spid="39" grpId="0"/>
      <p:bldP spid="40" grpId="0"/>
      <p:bldP spid="41" grpId="0"/>
      <p:bldP spid="42" grpId="0"/>
      <p:bldP spid="43" grpId="0"/>
      <p:bldP spid="44" grpId="0"/>
      <p:bldP spid="48" grpId="0"/>
      <p:bldP spid="49" grpId="0"/>
      <p:bldP spid="50" grpId="0"/>
      <p:bldP spid="51" grpId="0"/>
      <p:bldP spid="52" grpId="0" animBg="1"/>
      <p:bldP spid="4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CDD7F-2701-45AC-BC43-9337B0069DE0}"/>
              </a:ext>
            </a:extLst>
          </p:cNvPr>
          <p:cNvSpPr>
            <a:spLocks noGrp="1"/>
          </p:cNvSpPr>
          <p:nvPr>
            <p:ph type="title"/>
          </p:nvPr>
        </p:nvSpPr>
        <p:spPr/>
        <p:txBody>
          <a:bodyPr/>
          <a:lstStyle/>
          <a:p>
            <a:r>
              <a:rPr lang="en-US" dirty="0"/>
              <a:t>Gradient descent</a:t>
            </a:r>
            <a:endParaRPr lang="en-IN" dirty="0"/>
          </a:p>
        </p:txBody>
      </p:sp>
      <p:sp>
        <p:nvSpPr>
          <p:cNvPr id="3" name="Content Placeholder 2">
            <a:extLst>
              <a:ext uri="{FF2B5EF4-FFF2-40B4-BE49-F238E27FC236}">
                <a16:creationId xmlns:a16="http://schemas.microsoft.com/office/drawing/2014/main" id="{9D2AC776-9479-43E6-8006-229313D0CE25}"/>
              </a:ext>
            </a:extLst>
          </p:cNvPr>
          <p:cNvSpPr>
            <a:spLocks noGrp="1"/>
          </p:cNvSpPr>
          <p:nvPr>
            <p:ph idx="1"/>
          </p:nvPr>
        </p:nvSpPr>
        <p:spPr>
          <a:xfrm>
            <a:off x="2231136" y="2638044"/>
            <a:ext cx="7729728" cy="3626832"/>
          </a:xfrm>
        </p:spPr>
        <p:txBody>
          <a:bodyPr>
            <a:normAutofit/>
          </a:bodyPr>
          <a:lstStyle/>
          <a:p>
            <a:r>
              <a:rPr lang="en-US" sz="2000" dirty="0"/>
              <a:t>Gradient descent can miss obvious answers – And this may be a good thing</a:t>
            </a:r>
          </a:p>
          <a:p>
            <a:r>
              <a:rPr lang="en-US" sz="2000" dirty="0"/>
              <a:t>Convergence issues abound – The error surface has many saddle points </a:t>
            </a:r>
          </a:p>
          <a:p>
            <a:r>
              <a:rPr lang="en-US" sz="2000" dirty="0"/>
              <a:t>Although, perhaps, not so many bad local minima </a:t>
            </a:r>
          </a:p>
          <a:p>
            <a:r>
              <a:rPr lang="en-US" sz="2000" dirty="0"/>
              <a:t>Gradient descent can stagnate on saddle points – Vanilla gradient descent may not converge, or may converge </a:t>
            </a:r>
            <a:r>
              <a:rPr lang="en-US" sz="2000" dirty="0" err="1"/>
              <a:t>toooooo</a:t>
            </a:r>
            <a:r>
              <a:rPr lang="en-US" sz="2000" dirty="0"/>
              <a:t> slowly</a:t>
            </a:r>
          </a:p>
          <a:p>
            <a:r>
              <a:rPr lang="en-US" sz="2000" dirty="0"/>
              <a:t>The optimal learning rate for one component may be too high or too low for others</a:t>
            </a:r>
            <a:endParaRPr lang="en-IN" sz="2000" dirty="0"/>
          </a:p>
        </p:txBody>
      </p:sp>
      <p:sp>
        <p:nvSpPr>
          <p:cNvPr id="4" name="Footer Placeholder 3">
            <a:extLst>
              <a:ext uri="{FF2B5EF4-FFF2-40B4-BE49-F238E27FC236}">
                <a16:creationId xmlns:a16="http://schemas.microsoft.com/office/drawing/2014/main" id="{5448F637-E298-4AA5-AACE-32F7AB729024}"/>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5E215FB9-0D16-475F-ADE7-4ED6F2C4DFA1}"/>
              </a:ext>
            </a:extLst>
          </p:cNvPr>
          <p:cNvSpPr>
            <a:spLocks noGrp="1"/>
          </p:cNvSpPr>
          <p:nvPr>
            <p:ph type="sldNum" sz="quarter" idx="12"/>
          </p:nvPr>
        </p:nvSpPr>
        <p:spPr/>
        <p:txBody>
          <a:bodyPr/>
          <a:lstStyle/>
          <a:p>
            <a:fld id="{9370333F-211E-480A-A48D-622F2EB68390}" type="slidenum">
              <a:rPr lang="es-ES" altLang="en-US" smtClean="0"/>
              <a:pPr/>
              <a:t>10</a:t>
            </a:fld>
            <a:endParaRPr lang="es-ES" altLang="en-US"/>
          </a:p>
        </p:txBody>
      </p:sp>
    </p:spTree>
    <p:extLst>
      <p:ext uri="{BB962C8B-B14F-4D97-AF65-F5344CB8AC3E}">
        <p14:creationId xmlns:p14="http://schemas.microsoft.com/office/powerpoint/2010/main" val="549734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742A-4DEB-CE1A-22B2-BB0F0CA485E8}"/>
              </a:ext>
            </a:extLst>
          </p:cNvPr>
          <p:cNvSpPr>
            <a:spLocks noGrp="1"/>
          </p:cNvSpPr>
          <p:nvPr>
            <p:ph type="title"/>
          </p:nvPr>
        </p:nvSpPr>
        <p:spPr/>
        <p:txBody>
          <a:bodyPr/>
          <a:lstStyle/>
          <a:p>
            <a:r>
              <a:rPr lang="en-IN" dirty="0"/>
              <a:t>Gradient descent</a:t>
            </a:r>
          </a:p>
        </p:txBody>
      </p:sp>
      <p:sp>
        <p:nvSpPr>
          <p:cNvPr id="4" name="Footer Placeholder 3">
            <a:extLst>
              <a:ext uri="{FF2B5EF4-FFF2-40B4-BE49-F238E27FC236}">
                <a16:creationId xmlns:a16="http://schemas.microsoft.com/office/drawing/2014/main" id="{A0F9EC01-8893-E57F-9499-DD2703892244}"/>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FB32D281-B9DF-86AB-CF80-F2202FB308F8}"/>
              </a:ext>
            </a:extLst>
          </p:cNvPr>
          <p:cNvSpPr>
            <a:spLocks noGrp="1"/>
          </p:cNvSpPr>
          <p:nvPr>
            <p:ph type="sldNum" sz="quarter" idx="12"/>
          </p:nvPr>
        </p:nvSpPr>
        <p:spPr/>
        <p:txBody>
          <a:bodyPr/>
          <a:lstStyle/>
          <a:p>
            <a:fld id="{9370333F-211E-480A-A48D-622F2EB68390}" type="slidenum">
              <a:rPr lang="es-ES" altLang="en-US" smtClean="0"/>
              <a:pPr/>
              <a:t>11</a:t>
            </a:fld>
            <a:endParaRPr lang="es-ES" altLang="en-US"/>
          </a:p>
        </p:txBody>
      </p:sp>
      <p:pic>
        <p:nvPicPr>
          <p:cNvPr id="6" name="Online Media 5" title="Gradient Descent in 3 minutes">
            <a:hlinkClick r:id="" action="ppaction://media"/>
            <a:extLst>
              <a:ext uri="{FF2B5EF4-FFF2-40B4-BE49-F238E27FC236}">
                <a16:creationId xmlns:a16="http://schemas.microsoft.com/office/drawing/2014/main" id="{327FF7C4-5806-458B-323F-5066FA7C28E9}"/>
              </a:ext>
            </a:extLst>
          </p:cNvPr>
          <p:cNvPicPr>
            <a:picLocks noGrp="1" noRot="1" noChangeAspect="1"/>
          </p:cNvPicPr>
          <p:nvPr>
            <p:ph idx="1"/>
            <a:videoFile r:link="rId1"/>
          </p:nvPr>
        </p:nvPicPr>
        <p:blipFill>
          <a:blip r:embed="rId3"/>
          <a:stretch>
            <a:fillRect/>
          </a:stretch>
        </p:blipFill>
        <p:spPr>
          <a:xfrm>
            <a:off x="2331480" y="2301840"/>
            <a:ext cx="7529040" cy="4254408"/>
          </a:xfrm>
          <a:prstGeom prst="rect">
            <a:avLst/>
          </a:prstGeom>
        </p:spPr>
      </p:pic>
    </p:spTree>
    <p:extLst>
      <p:ext uri="{BB962C8B-B14F-4D97-AF65-F5344CB8AC3E}">
        <p14:creationId xmlns:p14="http://schemas.microsoft.com/office/powerpoint/2010/main" val="264940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4672" y="964692"/>
            <a:ext cx="5894832" cy="1188720"/>
          </a:xfrm>
        </p:spPr>
        <p:txBody>
          <a:bodyPr>
            <a:normAutofit/>
          </a:bodyPr>
          <a:lstStyle/>
          <a:p>
            <a:r>
              <a:rPr lang="en-US" dirty="0"/>
              <a:t>Gradient descent</a:t>
            </a:r>
          </a:p>
        </p:txBody>
      </p:sp>
      <p:sp>
        <p:nvSpPr>
          <p:cNvPr id="3" name="Content Placeholder 2"/>
          <p:cNvSpPr>
            <a:spLocks noGrp="1"/>
          </p:cNvSpPr>
          <p:nvPr>
            <p:ph idx="1"/>
          </p:nvPr>
        </p:nvSpPr>
        <p:spPr>
          <a:xfrm>
            <a:off x="803243" y="2638044"/>
            <a:ext cx="5963317" cy="3263206"/>
          </a:xfrm>
        </p:spPr>
        <p:txBody>
          <a:bodyPr>
            <a:normAutofit/>
          </a:bodyPr>
          <a:lstStyle/>
          <a:p>
            <a:r>
              <a:rPr lang="en-US"/>
              <a:t>So we run gradient descent until convergence, then what is the problem?</a:t>
            </a:r>
          </a:p>
          <a:p>
            <a:r>
              <a:rPr lang="en-US"/>
              <a:t>May converge on a local minima and require random restarts</a:t>
            </a:r>
          </a:p>
          <a:p>
            <a:r>
              <a:rPr lang="en-US" err="1"/>
              <a:t>Overfitting</a:t>
            </a:r>
            <a:r>
              <a:rPr lang="en-US"/>
              <a:t>: a big problem for many years</a:t>
            </a:r>
          </a:p>
          <a:p>
            <a:r>
              <a:rPr lang="en-US"/>
              <a:t>How can we prevent </a:t>
            </a:r>
            <a:r>
              <a:rPr lang="en-US" err="1"/>
              <a:t>overfitting</a:t>
            </a:r>
            <a:r>
              <a:rPr lang="en-US"/>
              <a:t>?</a:t>
            </a:r>
          </a:p>
          <a:p>
            <a:r>
              <a:rPr lang="en-US"/>
              <a:t>How can we explore the search space better without getting stuck in local minima?</a:t>
            </a:r>
          </a:p>
        </p:txBody>
      </p:sp>
      <p:sp>
        <p:nvSpPr>
          <p:cNvPr id="7175" name="Rectangle 7174">
            <a:extLst>
              <a:ext uri="{FF2B5EF4-FFF2-40B4-BE49-F238E27FC236}">
                <a16:creationId xmlns:a16="http://schemas.microsoft.com/office/drawing/2014/main" id="{879398A9-0D0D-4901-BDDF-B3D93CECA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6706" y="964692"/>
            <a:ext cx="398678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7" name="Rectangle 7176">
            <a:extLst>
              <a:ext uri="{FF2B5EF4-FFF2-40B4-BE49-F238E27FC236}">
                <a16:creationId xmlns:a16="http://schemas.microsoft.com/office/drawing/2014/main" id="{011FEC3B-E514-4E21-B2CB-7903A7356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1298" y="1128683"/>
            <a:ext cx="3657600"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Overfitting - Wikipedia">
            <a:extLst>
              <a:ext uri="{FF2B5EF4-FFF2-40B4-BE49-F238E27FC236}">
                <a16:creationId xmlns:a16="http://schemas.microsoft.com/office/drawing/2014/main" id="{C15BAD26-4F5F-4FED-8E7D-EB398979F87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15890" y="2301065"/>
            <a:ext cx="3328416" cy="2263812"/>
          </a:xfrm>
          <a:prstGeom prst="rect">
            <a:avLst/>
          </a:prstGeom>
          <a:solidFill>
            <a:srgbClr val="FFFFFF">
              <a:shade val="85000"/>
            </a:srgbClr>
          </a:solidFill>
          <a:scene3d>
            <a:camera prst="orthographicFront"/>
            <a:lightRig rig="twoPt" dir="t">
              <a:rot lat="0" lon="0" rev="7800000"/>
            </a:lightRig>
          </a:scene3d>
          <a:sp3d contourW="6350">
            <a:bevelT w="50800" h="16510"/>
            <a:contourClr>
              <a:srgbClr val="C0C0C0"/>
            </a:contourClr>
          </a:sp3d>
        </p:spPr>
      </p:pic>
      <p:sp>
        <p:nvSpPr>
          <p:cNvPr id="4" name="Footer Placeholder 3">
            <a:extLst>
              <a:ext uri="{FF2B5EF4-FFF2-40B4-BE49-F238E27FC236}">
                <a16:creationId xmlns:a16="http://schemas.microsoft.com/office/drawing/2014/main" id="{5E29CB8F-CB3F-4120-BA50-37F224D8571B}"/>
              </a:ext>
            </a:extLst>
          </p:cNvPr>
          <p:cNvSpPr>
            <a:spLocks noGrp="1"/>
          </p:cNvSpPr>
          <p:nvPr>
            <p:ph type="ftr" sz="quarter" idx="11"/>
          </p:nvPr>
        </p:nvSpPr>
        <p:spPr>
          <a:xfrm>
            <a:off x="798315" y="6236208"/>
            <a:ext cx="5901189" cy="320040"/>
          </a:xfrm>
        </p:spPr>
        <p:txBody>
          <a:bodyPr>
            <a:normAutofit/>
          </a:bodyPr>
          <a:lstStyle/>
          <a:p>
            <a:pPr>
              <a:spcAft>
                <a:spcPts val="600"/>
              </a:spcAft>
              <a:defRPr/>
            </a:pPr>
            <a:r>
              <a:rPr lang="es-ES"/>
              <a:t>Dr. Deepali Vora</a:t>
            </a:r>
          </a:p>
        </p:txBody>
      </p:sp>
      <p:sp>
        <p:nvSpPr>
          <p:cNvPr id="5" name="Slide Number Placeholder 4">
            <a:extLst>
              <a:ext uri="{FF2B5EF4-FFF2-40B4-BE49-F238E27FC236}">
                <a16:creationId xmlns:a16="http://schemas.microsoft.com/office/drawing/2014/main" id="{675E648E-5FE0-4A54-A8C3-949650FA6E71}"/>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9370333F-211E-480A-A48D-622F2EB68390}" type="slidenum">
              <a:rPr lang="es-ES" altLang="en-US" smtClean="0"/>
              <a:pPr>
                <a:lnSpc>
                  <a:spcPct val="90000"/>
                </a:lnSpc>
                <a:spcAft>
                  <a:spcPts val="600"/>
                </a:spcAft>
              </a:pPr>
              <a:t>12</a:t>
            </a:fld>
            <a:endParaRPr lang="es-ES" altLang="en-US"/>
          </a:p>
        </p:txBody>
      </p:sp>
    </p:spTree>
    <p:extLst>
      <p:ext uri="{BB962C8B-B14F-4D97-AF65-F5344CB8AC3E}">
        <p14:creationId xmlns:p14="http://schemas.microsoft.com/office/powerpoint/2010/main" val="4201252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normAutofit fontScale="90000"/>
          </a:bodyPr>
          <a:lstStyle/>
          <a:p>
            <a:r>
              <a:rPr lang="en-US" dirty="0"/>
              <a:t>Convergence speed of full batch learning when the error surface is a quadratic bowl</a:t>
            </a:r>
          </a:p>
        </p:txBody>
      </p:sp>
      <p:sp>
        <p:nvSpPr>
          <p:cNvPr id="179203" name="Rectangle 3"/>
          <p:cNvSpPr>
            <a:spLocks noGrp="1" noChangeArrowheads="1"/>
          </p:cNvSpPr>
          <p:nvPr>
            <p:ph type="body" sz="half" idx="1"/>
          </p:nvPr>
        </p:nvSpPr>
        <p:spPr>
          <a:xfrm>
            <a:off x="609601" y="2496065"/>
            <a:ext cx="6863644" cy="3909266"/>
          </a:xfrm>
        </p:spPr>
        <p:txBody>
          <a:bodyPr/>
          <a:lstStyle/>
          <a:p>
            <a:r>
              <a:rPr lang="en-US" sz="2667" dirty="0"/>
              <a:t>Going downhill reduces the error, but the direction of steepest descent does not point at the minimum unless the ellipse is a circle.</a:t>
            </a:r>
          </a:p>
          <a:p>
            <a:pPr lvl="1"/>
            <a:r>
              <a:rPr lang="en-US" sz="2667" dirty="0">
                <a:solidFill>
                  <a:srgbClr val="00B050"/>
                </a:solidFill>
              </a:rPr>
              <a:t>The gradient is big in the direction in which we only want to travel a small distance. </a:t>
            </a:r>
          </a:p>
          <a:p>
            <a:pPr lvl="1"/>
            <a:r>
              <a:rPr lang="en-US" sz="2667" dirty="0">
                <a:solidFill>
                  <a:srgbClr val="00B050"/>
                </a:solidFill>
              </a:rPr>
              <a:t>The gradient is small in the direction in which we want to travel a large distance.</a:t>
            </a:r>
          </a:p>
          <a:p>
            <a:pPr lvl="1"/>
            <a:endParaRPr lang="en-US" dirty="0"/>
          </a:p>
        </p:txBody>
      </p:sp>
      <p:sp>
        <p:nvSpPr>
          <p:cNvPr id="179207" name="Rectangle 7"/>
          <p:cNvSpPr>
            <a:spLocks noGrp="1" noChangeArrowheads="1"/>
          </p:cNvSpPr>
          <p:nvPr>
            <p:ph type="body" sz="half" idx="2"/>
          </p:nvPr>
        </p:nvSpPr>
        <p:spPr>
          <a:xfrm>
            <a:off x="6197600" y="1452563"/>
            <a:ext cx="5994400" cy="5405437"/>
          </a:xfrm>
        </p:spPr>
        <p:txBody>
          <a:bodyPr/>
          <a:lstStyle/>
          <a:p>
            <a:pPr lvl="1"/>
            <a:endParaRPr lang="en-US" dirty="0"/>
          </a:p>
          <a:p>
            <a:pPr lvl="1"/>
            <a:endParaRPr lang="en-US" dirty="0"/>
          </a:p>
          <a:p>
            <a:pPr lvl="1"/>
            <a:endParaRPr lang="en-US" sz="2667" dirty="0"/>
          </a:p>
          <a:p>
            <a:pPr>
              <a:buFontTx/>
              <a:buNone/>
            </a:pPr>
            <a:r>
              <a:rPr lang="en-US" sz="3200" dirty="0"/>
              <a:t>   </a:t>
            </a:r>
          </a:p>
        </p:txBody>
      </p:sp>
      <p:grpSp>
        <p:nvGrpSpPr>
          <p:cNvPr id="5" name="Group 4">
            <a:extLst>
              <a:ext uri="{FF2B5EF4-FFF2-40B4-BE49-F238E27FC236}">
                <a16:creationId xmlns:a16="http://schemas.microsoft.com/office/drawing/2014/main" id="{782FFFEB-5F90-43C7-9B2F-253585740774}"/>
              </a:ext>
            </a:extLst>
          </p:cNvPr>
          <p:cNvGrpSpPr/>
          <p:nvPr/>
        </p:nvGrpSpPr>
        <p:grpSpPr>
          <a:xfrm>
            <a:off x="7654277" y="2574221"/>
            <a:ext cx="4944533" cy="1187753"/>
            <a:chOff x="9198871" y="1521167"/>
            <a:chExt cx="4944533" cy="1187753"/>
          </a:xfrm>
        </p:grpSpPr>
        <p:sp>
          <p:nvSpPr>
            <p:cNvPr id="179210" name="Oval 10"/>
            <p:cNvSpPr>
              <a:spLocks noChangeArrowheads="1"/>
            </p:cNvSpPr>
            <p:nvPr/>
          </p:nvSpPr>
          <p:spPr bwMode="auto">
            <a:xfrm rot="19764402">
              <a:off x="9198871" y="1521167"/>
              <a:ext cx="4944533" cy="503237"/>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179212" name="Line 12"/>
            <p:cNvSpPr>
              <a:spLocks noChangeShapeType="1"/>
            </p:cNvSpPr>
            <p:nvPr/>
          </p:nvSpPr>
          <p:spPr bwMode="auto">
            <a:xfrm>
              <a:off x="9958648" y="2312536"/>
              <a:ext cx="313817" cy="396384"/>
            </a:xfrm>
            <a:prstGeom prst="line">
              <a:avLst/>
            </a:prstGeom>
            <a:noFill/>
            <a:ln w="28575">
              <a:solidFill>
                <a:schemeClr val="tx1"/>
              </a:solidFill>
              <a:round/>
              <a:headEnd/>
              <a:tailEnd type="triangle" w="lg" len="lg"/>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79213" name="Oval 13"/>
            <p:cNvSpPr>
              <a:spLocks noChangeArrowheads="1"/>
            </p:cNvSpPr>
            <p:nvPr/>
          </p:nvSpPr>
          <p:spPr bwMode="auto">
            <a:xfrm>
              <a:off x="9863396" y="2239511"/>
              <a:ext cx="143933" cy="107951"/>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179214" name="Oval 14"/>
            <p:cNvSpPr>
              <a:spLocks noChangeArrowheads="1"/>
            </p:cNvSpPr>
            <p:nvPr/>
          </p:nvSpPr>
          <p:spPr bwMode="auto">
            <a:xfrm>
              <a:off x="11495346" y="1772786"/>
              <a:ext cx="143933" cy="107951"/>
            </a:xfrm>
            <a:prstGeom prst="ellipse">
              <a:avLst/>
            </a:prstGeom>
            <a:solidFill>
              <a:srgbClr val="0099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sz="2400"/>
            </a:p>
          </p:txBody>
        </p:sp>
      </p:grpSp>
      <p:sp>
        <p:nvSpPr>
          <p:cNvPr id="2" name="TextBox 1"/>
          <p:cNvSpPr txBox="1"/>
          <p:nvPr/>
        </p:nvSpPr>
        <p:spPr>
          <a:xfrm>
            <a:off x="7405281" y="4070285"/>
            <a:ext cx="3839367" cy="2144498"/>
          </a:xfrm>
          <a:prstGeom prst="rect">
            <a:avLst/>
          </a:prstGeom>
          <a:noFill/>
        </p:spPr>
        <p:txBody>
          <a:bodyPr wrap="square" rtlCol="0">
            <a:spAutoFit/>
          </a:bodyPr>
          <a:lstStyle/>
          <a:p>
            <a:r>
              <a:rPr lang="en-US" sz="2667" dirty="0">
                <a:solidFill>
                  <a:srgbClr val="0000FF"/>
                </a:solidFill>
              </a:rPr>
              <a:t>Even for non-linear  multi-layer nets, the error         surface is locally quadratic, so the same speed issues apply.</a:t>
            </a:r>
          </a:p>
        </p:txBody>
      </p:sp>
      <p:sp>
        <p:nvSpPr>
          <p:cNvPr id="6" name="Footer Placeholder 5">
            <a:extLst>
              <a:ext uri="{FF2B5EF4-FFF2-40B4-BE49-F238E27FC236}">
                <a16:creationId xmlns:a16="http://schemas.microsoft.com/office/drawing/2014/main" id="{519C4B9C-C432-406E-BC50-26D39A826D7E}"/>
              </a:ext>
            </a:extLst>
          </p:cNvPr>
          <p:cNvSpPr>
            <a:spLocks noGrp="1"/>
          </p:cNvSpPr>
          <p:nvPr>
            <p:ph type="ftr" sz="quarter" idx="11"/>
          </p:nvPr>
        </p:nvSpPr>
        <p:spPr/>
        <p:txBody>
          <a:bodyPr/>
          <a:lstStyle/>
          <a:p>
            <a:pPr>
              <a:defRPr/>
            </a:pPr>
            <a:r>
              <a:rPr lang="es-ES"/>
              <a:t>Dr. Deepali Vora</a:t>
            </a:r>
          </a:p>
        </p:txBody>
      </p:sp>
      <p:sp>
        <p:nvSpPr>
          <p:cNvPr id="7" name="Slide Number Placeholder 6">
            <a:extLst>
              <a:ext uri="{FF2B5EF4-FFF2-40B4-BE49-F238E27FC236}">
                <a16:creationId xmlns:a16="http://schemas.microsoft.com/office/drawing/2014/main" id="{6F40F760-7E19-4C61-84B1-1BC978DE29C7}"/>
              </a:ext>
            </a:extLst>
          </p:cNvPr>
          <p:cNvSpPr>
            <a:spLocks noGrp="1"/>
          </p:cNvSpPr>
          <p:nvPr>
            <p:ph type="sldNum" sz="quarter" idx="12"/>
          </p:nvPr>
        </p:nvSpPr>
        <p:spPr/>
        <p:txBody>
          <a:bodyPr/>
          <a:lstStyle/>
          <a:p>
            <a:fld id="{9370333F-211E-480A-A48D-622F2EB68390}" type="slidenum">
              <a:rPr lang="es-ES" altLang="en-US" smtClean="0"/>
              <a:pPr/>
              <a:t>13</a:t>
            </a:fld>
            <a:endParaRPr lang="es-ES" altLang="en-US"/>
          </a:p>
        </p:txBody>
      </p:sp>
    </p:spTree>
    <p:extLst>
      <p:ext uri="{BB962C8B-B14F-4D97-AF65-F5344CB8AC3E}">
        <p14:creationId xmlns:p14="http://schemas.microsoft.com/office/powerpoint/2010/main" val="1250636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3"/>
          <p:cNvSpPr>
            <a:spLocks noGrp="1" noChangeArrowheads="1"/>
          </p:cNvSpPr>
          <p:nvPr>
            <p:ph type="body" sz="half" idx="1"/>
          </p:nvPr>
        </p:nvSpPr>
        <p:spPr>
          <a:xfrm>
            <a:off x="609601" y="2496065"/>
            <a:ext cx="6863644" cy="3909266"/>
          </a:xfrm>
        </p:spPr>
        <p:txBody>
          <a:bodyPr/>
          <a:lstStyle/>
          <a:p>
            <a:r>
              <a:rPr lang="en-US" sz="2667" dirty="0"/>
              <a:t>Going downhill reduces the error, but the direction of steepest descent does not point at the minimum unless the ellipse is a circle.</a:t>
            </a:r>
          </a:p>
          <a:p>
            <a:pPr lvl="1"/>
            <a:r>
              <a:rPr lang="en-US" sz="2667" dirty="0">
                <a:solidFill>
                  <a:srgbClr val="00B050"/>
                </a:solidFill>
              </a:rPr>
              <a:t>The gradient is big in the direction in which we only want to travel a small distance. </a:t>
            </a:r>
          </a:p>
          <a:p>
            <a:pPr lvl="1"/>
            <a:r>
              <a:rPr lang="en-US" sz="2667" dirty="0">
                <a:solidFill>
                  <a:srgbClr val="00B050"/>
                </a:solidFill>
              </a:rPr>
              <a:t>The gradient is small in the direction in which we want to travel a large distance.</a:t>
            </a:r>
          </a:p>
          <a:p>
            <a:pPr lvl="1"/>
            <a:endParaRPr lang="en-US" dirty="0"/>
          </a:p>
        </p:txBody>
      </p:sp>
      <p:sp>
        <p:nvSpPr>
          <p:cNvPr id="179207" name="Rectangle 7"/>
          <p:cNvSpPr>
            <a:spLocks noGrp="1" noChangeArrowheads="1"/>
          </p:cNvSpPr>
          <p:nvPr>
            <p:ph type="body" sz="half" idx="2"/>
          </p:nvPr>
        </p:nvSpPr>
        <p:spPr>
          <a:xfrm>
            <a:off x="6197600" y="1452563"/>
            <a:ext cx="5994400" cy="5405437"/>
          </a:xfrm>
        </p:spPr>
        <p:txBody>
          <a:bodyPr/>
          <a:lstStyle/>
          <a:p>
            <a:pPr lvl="1"/>
            <a:endParaRPr lang="en-US" dirty="0"/>
          </a:p>
          <a:p>
            <a:pPr lvl="1"/>
            <a:endParaRPr lang="en-US" dirty="0"/>
          </a:p>
          <a:p>
            <a:pPr lvl="1"/>
            <a:endParaRPr lang="en-US" sz="2667" dirty="0"/>
          </a:p>
          <a:p>
            <a:pPr>
              <a:buFontTx/>
              <a:buNone/>
            </a:pPr>
            <a:r>
              <a:rPr lang="en-US" sz="3200" dirty="0"/>
              <a:t>   </a:t>
            </a:r>
          </a:p>
        </p:txBody>
      </p:sp>
      <p:sp>
        <p:nvSpPr>
          <p:cNvPr id="2" name="TextBox 1"/>
          <p:cNvSpPr txBox="1"/>
          <p:nvPr/>
        </p:nvSpPr>
        <p:spPr>
          <a:xfrm>
            <a:off x="7172594" y="4897602"/>
            <a:ext cx="4716696" cy="1734064"/>
          </a:xfrm>
          <a:prstGeom prst="rect">
            <a:avLst/>
          </a:prstGeom>
          <a:noFill/>
        </p:spPr>
        <p:txBody>
          <a:bodyPr wrap="square" rtlCol="0">
            <a:spAutoFit/>
          </a:bodyPr>
          <a:lstStyle/>
          <a:p>
            <a:r>
              <a:rPr lang="en-US" sz="2667" dirty="0">
                <a:solidFill>
                  <a:srgbClr val="0000FF"/>
                </a:solidFill>
              </a:rPr>
              <a:t>Even for non-linear multi-layer   nets, the error surface is locally quadratic, so the same speed      issues apply.</a:t>
            </a:r>
          </a:p>
        </p:txBody>
      </p:sp>
      <p:pic>
        <p:nvPicPr>
          <p:cNvPr id="11" name="Picture 10">
            <a:extLst>
              <a:ext uri="{FF2B5EF4-FFF2-40B4-BE49-F238E27FC236}">
                <a16:creationId xmlns:a16="http://schemas.microsoft.com/office/drawing/2014/main" id="{2D81E487-B822-4A9D-8E5F-0B612185A303}"/>
              </a:ext>
            </a:extLst>
          </p:cNvPr>
          <p:cNvPicPr>
            <a:picLocks noChangeAspect="1"/>
          </p:cNvPicPr>
          <p:nvPr/>
        </p:nvPicPr>
        <p:blipFill>
          <a:blip r:embed="rId2"/>
          <a:stretch>
            <a:fillRect/>
          </a:stretch>
        </p:blipFill>
        <p:spPr>
          <a:xfrm>
            <a:off x="8335148" y="422539"/>
            <a:ext cx="3856852" cy="4147052"/>
          </a:xfrm>
          <a:prstGeom prst="rect">
            <a:avLst/>
          </a:prstGeom>
        </p:spPr>
      </p:pic>
      <p:sp>
        <p:nvSpPr>
          <p:cNvPr id="179202" name="Rectangle 2"/>
          <p:cNvSpPr>
            <a:spLocks noGrp="1" noChangeArrowheads="1"/>
          </p:cNvSpPr>
          <p:nvPr>
            <p:ph type="title"/>
          </p:nvPr>
        </p:nvSpPr>
        <p:spPr>
          <a:xfrm>
            <a:off x="1172029" y="539033"/>
            <a:ext cx="7729728" cy="1188720"/>
          </a:xfrm>
        </p:spPr>
        <p:txBody>
          <a:bodyPr>
            <a:normAutofit fontScale="90000"/>
          </a:bodyPr>
          <a:lstStyle/>
          <a:p>
            <a:r>
              <a:rPr lang="en-US" dirty="0"/>
              <a:t>Convergence speed of full batch learning when the error surface is a quadratic bowl</a:t>
            </a:r>
          </a:p>
        </p:txBody>
      </p:sp>
      <p:sp>
        <p:nvSpPr>
          <p:cNvPr id="3" name="Footer Placeholder 2">
            <a:extLst>
              <a:ext uri="{FF2B5EF4-FFF2-40B4-BE49-F238E27FC236}">
                <a16:creationId xmlns:a16="http://schemas.microsoft.com/office/drawing/2014/main" id="{BCD67B1F-1091-4BCD-A30B-28D7F1A178EC}"/>
              </a:ext>
            </a:extLst>
          </p:cNvPr>
          <p:cNvSpPr>
            <a:spLocks noGrp="1"/>
          </p:cNvSpPr>
          <p:nvPr>
            <p:ph type="ftr" sz="quarter" idx="11"/>
          </p:nvPr>
        </p:nvSpPr>
        <p:spPr/>
        <p:txBody>
          <a:bodyPr/>
          <a:lstStyle/>
          <a:p>
            <a:pPr>
              <a:defRPr/>
            </a:pPr>
            <a:r>
              <a:rPr lang="es-ES"/>
              <a:t>Dr. Deepali Vora</a:t>
            </a:r>
          </a:p>
        </p:txBody>
      </p:sp>
      <p:sp>
        <p:nvSpPr>
          <p:cNvPr id="4" name="Slide Number Placeholder 3">
            <a:extLst>
              <a:ext uri="{FF2B5EF4-FFF2-40B4-BE49-F238E27FC236}">
                <a16:creationId xmlns:a16="http://schemas.microsoft.com/office/drawing/2014/main" id="{3C0C3981-5A94-4FA3-82D0-6771A0F5F1C9}"/>
              </a:ext>
            </a:extLst>
          </p:cNvPr>
          <p:cNvSpPr>
            <a:spLocks noGrp="1"/>
          </p:cNvSpPr>
          <p:nvPr>
            <p:ph type="sldNum" sz="quarter" idx="12"/>
          </p:nvPr>
        </p:nvSpPr>
        <p:spPr/>
        <p:txBody>
          <a:bodyPr/>
          <a:lstStyle/>
          <a:p>
            <a:fld id="{9370333F-211E-480A-A48D-622F2EB68390}" type="slidenum">
              <a:rPr lang="es-ES" altLang="en-US" smtClean="0"/>
              <a:pPr/>
              <a:t>14</a:t>
            </a:fld>
            <a:endParaRPr lang="es-ES" altLang="en-US"/>
          </a:p>
        </p:txBody>
      </p:sp>
    </p:spTree>
    <p:extLst>
      <p:ext uri="{BB962C8B-B14F-4D97-AF65-F5344CB8AC3E}">
        <p14:creationId xmlns:p14="http://schemas.microsoft.com/office/powerpoint/2010/main" val="2852993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r>
              <a:rPr lang="en-US" dirty="0"/>
              <a:t>How the learning goes wrong</a:t>
            </a:r>
          </a:p>
        </p:txBody>
      </p:sp>
      <p:sp>
        <p:nvSpPr>
          <p:cNvPr id="184323" name="Rectangle 3"/>
          <p:cNvSpPr>
            <a:spLocks noGrp="1" noChangeArrowheads="1"/>
          </p:cNvSpPr>
          <p:nvPr>
            <p:ph type="body" sz="half" idx="1"/>
          </p:nvPr>
        </p:nvSpPr>
        <p:spPr>
          <a:xfrm>
            <a:off x="609600" y="2656703"/>
            <a:ext cx="6974565" cy="3300128"/>
          </a:xfrm>
        </p:spPr>
        <p:txBody>
          <a:bodyPr>
            <a:normAutofit/>
          </a:bodyPr>
          <a:lstStyle/>
          <a:p>
            <a:r>
              <a:rPr lang="en-US" sz="2400" dirty="0"/>
              <a:t>If the learning rate is big, the weights slosh to and fro across the ravine. </a:t>
            </a:r>
          </a:p>
          <a:p>
            <a:pPr lvl="1"/>
            <a:r>
              <a:rPr lang="en-US" sz="2000" dirty="0">
                <a:solidFill>
                  <a:srgbClr val="00B050"/>
                </a:solidFill>
              </a:rPr>
              <a:t>If the learning rate is too big, this oscillation diverges.</a:t>
            </a:r>
          </a:p>
          <a:p>
            <a:r>
              <a:rPr lang="en-US" sz="2400" dirty="0"/>
              <a:t>What we would like to achieve:</a:t>
            </a:r>
          </a:p>
          <a:p>
            <a:pPr lvl="1"/>
            <a:r>
              <a:rPr lang="en-US" sz="2000" dirty="0">
                <a:solidFill>
                  <a:srgbClr val="00B050"/>
                </a:solidFill>
              </a:rPr>
              <a:t>Move quickly in directions with small but consistent gradients.</a:t>
            </a:r>
          </a:p>
          <a:p>
            <a:pPr lvl="1"/>
            <a:r>
              <a:rPr lang="en-US" sz="2000" dirty="0">
                <a:solidFill>
                  <a:srgbClr val="00B050"/>
                </a:solidFill>
              </a:rPr>
              <a:t>Move slowly in directions with big but inconsistent gradients.</a:t>
            </a:r>
          </a:p>
        </p:txBody>
      </p:sp>
      <p:sp>
        <p:nvSpPr>
          <p:cNvPr id="184325" name="Rectangle 5"/>
          <p:cNvSpPr>
            <a:spLocks noChangeArrowheads="1"/>
          </p:cNvSpPr>
          <p:nvPr/>
        </p:nvSpPr>
        <p:spPr bwMode="auto">
          <a:xfrm>
            <a:off x="8304112" y="2877957"/>
            <a:ext cx="3456517" cy="1800225"/>
          </a:xfrm>
          <a:prstGeom prst="rect">
            <a:avLst/>
          </a:prstGeom>
          <a:solidFill>
            <a:srgbClr val="EEECE1"/>
          </a:solidFill>
          <a:ln w="9525">
            <a:solidFill>
              <a:schemeClr val="tx1"/>
            </a:solidFill>
            <a:miter lim="800000"/>
            <a:headEnd/>
            <a:tailEnd/>
          </a:ln>
          <a:effectLst/>
        </p:spPr>
        <p:txBody>
          <a:bodyPr wrap="none" anchor="ctr"/>
          <a:lstStyle/>
          <a:p>
            <a:endParaRPr lang="en-US" sz="2400"/>
          </a:p>
        </p:txBody>
      </p:sp>
      <p:sp>
        <p:nvSpPr>
          <p:cNvPr id="184326" name="Freeform 6"/>
          <p:cNvSpPr>
            <a:spLocks/>
          </p:cNvSpPr>
          <p:nvPr/>
        </p:nvSpPr>
        <p:spPr bwMode="auto">
          <a:xfrm>
            <a:off x="8591979" y="2804931"/>
            <a:ext cx="1441451" cy="1751012"/>
          </a:xfrm>
          <a:custGeom>
            <a:avLst/>
            <a:gdLst>
              <a:gd name="T0" fmla="*/ 0 w 681"/>
              <a:gd name="T1" fmla="*/ 0 h 1103"/>
              <a:gd name="T2" fmla="*/ 46 w 681"/>
              <a:gd name="T3" fmla="*/ 272 h 1103"/>
              <a:gd name="T4" fmla="*/ 182 w 681"/>
              <a:gd name="T5" fmla="*/ 680 h 1103"/>
              <a:gd name="T6" fmla="*/ 408 w 681"/>
              <a:gd name="T7" fmla="*/ 997 h 1103"/>
              <a:gd name="T8" fmla="*/ 590 w 681"/>
              <a:gd name="T9" fmla="*/ 1088 h 1103"/>
              <a:gd name="T10" fmla="*/ 681 w 681"/>
              <a:gd name="T11" fmla="*/ 1088 h 1103"/>
            </a:gdLst>
            <a:ahLst/>
            <a:cxnLst>
              <a:cxn ang="0">
                <a:pos x="T0" y="T1"/>
              </a:cxn>
              <a:cxn ang="0">
                <a:pos x="T2" y="T3"/>
              </a:cxn>
              <a:cxn ang="0">
                <a:pos x="T4" y="T5"/>
              </a:cxn>
              <a:cxn ang="0">
                <a:pos x="T6" y="T7"/>
              </a:cxn>
              <a:cxn ang="0">
                <a:pos x="T8" y="T9"/>
              </a:cxn>
              <a:cxn ang="0">
                <a:pos x="T10" y="T11"/>
              </a:cxn>
            </a:cxnLst>
            <a:rect l="0" t="0" r="r" b="b"/>
            <a:pathLst>
              <a:path w="681" h="1103">
                <a:moveTo>
                  <a:pt x="0" y="0"/>
                </a:moveTo>
                <a:cubicBezTo>
                  <a:pt x="8" y="79"/>
                  <a:pt x="16" y="159"/>
                  <a:pt x="46" y="272"/>
                </a:cubicBezTo>
                <a:cubicBezTo>
                  <a:pt x="76" y="385"/>
                  <a:pt x="122" y="559"/>
                  <a:pt x="182" y="680"/>
                </a:cubicBezTo>
                <a:cubicBezTo>
                  <a:pt x="242" y="801"/>
                  <a:pt x="340" y="929"/>
                  <a:pt x="408" y="997"/>
                </a:cubicBezTo>
                <a:cubicBezTo>
                  <a:pt x="476" y="1065"/>
                  <a:pt x="545" y="1073"/>
                  <a:pt x="590" y="1088"/>
                </a:cubicBezTo>
                <a:cubicBezTo>
                  <a:pt x="635" y="1103"/>
                  <a:pt x="666" y="1088"/>
                  <a:pt x="681" y="1088"/>
                </a:cubicBezTo>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84327" name="Freeform 7"/>
          <p:cNvSpPr>
            <a:spLocks/>
          </p:cNvSpPr>
          <p:nvPr/>
        </p:nvSpPr>
        <p:spPr bwMode="auto">
          <a:xfrm flipH="1">
            <a:off x="10031314" y="2804931"/>
            <a:ext cx="1631951" cy="1751012"/>
          </a:xfrm>
          <a:custGeom>
            <a:avLst/>
            <a:gdLst>
              <a:gd name="T0" fmla="*/ 0 w 681"/>
              <a:gd name="T1" fmla="*/ 0 h 1103"/>
              <a:gd name="T2" fmla="*/ 46 w 681"/>
              <a:gd name="T3" fmla="*/ 272 h 1103"/>
              <a:gd name="T4" fmla="*/ 182 w 681"/>
              <a:gd name="T5" fmla="*/ 680 h 1103"/>
              <a:gd name="T6" fmla="*/ 408 w 681"/>
              <a:gd name="T7" fmla="*/ 997 h 1103"/>
              <a:gd name="T8" fmla="*/ 590 w 681"/>
              <a:gd name="T9" fmla="*/ 1088 h 1103"/>
              <a:gd name="T10" fmla="*/ 681 w 681"/>
              <a:gd name="T11" fmla="*/ 1088 h 1103"/>
            </a:gdLst>
            <a:ahLst/>
            <a:cxnLst>
              <a:cxn ang="0">
                <a:pos x="T0" y="T1"/>
              </a:cxn>
              <a:cxn ang="0">
                <a:pos x="T2" y="T3"/>
              </a:cxn>
              <a:cxn ang="0">
                <a:pos x="T4" y="T5"/>
              </a:cxn>
              <a:cxn ang="0">
                <a:pos x="T6" y="T7"/>
              </a:cxn>
              <a:cxn ang="0">
                <a:pos x="T8" y="T9"/>
              </a:cxn>
              <a:cxn ang="0">
                <a:pos x="T10" y="T11"/>
              </a:cxn>
            </a:cxnLst>
            <a:rect l="0" t="0" r="r" b="b"/>
            <a:pathLst>
              <a:path w="681" h="1103">
                <a:moveTo>
                  <a:pt x="0" y="0"/>
                </a:moveTo>
                <a:cubicBezTo>
                  <a:pt x="8" y="79"/>
                  <a:pt x="16" y="159"/>
                  <a:pt x="46" y="272"/>
                </a:cubicBezTo>
                <a:cubicBezTo>
                  <a:pt x="76" y="385"/>
                  <a:pt x="122" y="559"/>
                  <a:pt x="182" y="680"/>
                </a:cubicBezTo>
                <a:cubicBezTo>
                  <a:pt x="242" y="801"/>
                  <a:pt x="340" y="929"/>
                  <a:pt x="408" y="997"/>
                </a:cubicBezTo>
                <a:cubicBezTo>
                  <a:pt x="476" y="1065"/>
                  <a:pt x="545" y="1073"/>
                  <a:pt x="590" y="1088"/>
                </a:cubicBezTo>
                <a:cubicBezTo>
                  <a:pt x="635" y="1103"/>
                  <a:pt x="666" y="1088"/>
                  <a:pt x="681" y="1088"/>
                </a:cubicBezTo>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84328" name="Text Box 8"/>
          <p:cNvSpPr txBox="1">
            <a:spLocks noChangeArrowheads="1"/>
          </p:cNvSpPr>
          <p:nvPr/>
        </p:nvSpPr>
        <p:spPr bwMode="auto">
          <a:xfrm>
            <a:off x="7605612" y="3473269"/>
            <a:ext cx="38985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3200"/>
              <a:t>E</a:t>
            </a:r>
          </a:p>
        </p:txBody>
      </p:sp>
      <p:sp>
        <p:nvSpPr>
          <p:cNvPr id="184329" name="Line 9"/>
          <p:cNvSpPr>
            <a:spLocks noChangeShapeType="1"/>
          </p:cNvSpPr>
          <p:nvPr/>
        </p:nvSpPr>
        <p:spPr bwMode="auto">
          <a:xfrm flipV="1">
            <a:off x="7823629" y="3166882"/>
            <a:ext cx="0" cy="287337"/>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84330" name="Text Box 10"/>
          <p:cNvSpPr txBox="1">
            <a:spLocks noChangeArrowheads="1"/>
          </p:cNvSpPr>
          <p:nvPr/>
        </p:nvSpPr>
        <p:spPr bwMode="auto">
          <a:xfrm>
            <a:off x="9838698" y="4749619"/>
            <a:ext cx="673100" cy="5027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667"/>
              <a:t>w</a:t>
            </a:r>
          </a:p>
        </p:txBody>
      </p:sp>
      <p:sp>
        <p:nvSpPr>
          <p:cNvPr id="184331" name="Line 11"/>
          <p:cNvSpPr>
            <a:spLocks noChangeShapeType="1"/>
          </p:cNvSpPr>
          <p:nvPr/>
        </p:nvSpPr>
        <p:spPr bwMode="auto">
          <a:xfrm>
            <a:off x="10416546" y="5002031"/>
            <a:ext cx="575733" cy="0"/>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84332" name="Oval 12"/>
          <p:cNvSpPr>
            <a:spLocks noChangeArrowheads="1"/>
          </p:cNvSpPr>
          <p:nvPr/>
        </p:nvSpPr>
        <p:spPr bwMode="auto">
          <a:xfrm>
            <a:off x="9792132" y="4460694"/>
            <a:ext cx="95249" cy="73025"/>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184333" name="Oval 13"/>
          <p:cNvSpPr>
            <a:spLocks noChangeArrowheads="1"/>
          </p:cNvSpPr>
          <p:nvPr/>
        </p:nvSpPr>
        <p:spPr bwMode="auto">
          <a:xfrm>
            <a:off x="10463112" y="4424182"/>
            <a:ext cx="95251" cy="73025"/>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184334" name="Oval 14"/>
          <p:cNvSpPr>
            <a:spLocks noChangeArrowheads="1"/>
          </p:cNvSpPr>
          <p:nvPr/>
        </p:nvSpPr>
        <p:spPr bwMode="auto">
          <a:xfrm>
            <a:off x="9406898" y="4317820"/>
            <a:ext cx="95249" cy="73025"/>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184335" name="Oval 15"/>
          <p:cNvSpPr>
            <a:spLocks noChangeArrowheads="1"/>
          </p:cNvSpPr>
          <p:nvPr/>
        </p:nvSpPr>
        <p:spPr bwMode="auto">
          <a:xfrm>
            <a:off x="10848345" y="4136845"/>
            <a:ext cx="95251" cy="73025"/>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184336" name="Oval 16"/>
          <p:cNvSpPr>
            <a:spLocks noChangeArrowheads="1"/>
          </p:cNvSpPr>
          <p:nvPr/>
        </p:nvSpPr>
        <p:spPr bwMode="auto">
          <a:xfrm>
            <a:off x="8977212" y="3886020"/>
            <a:ext cx="95251" cy="73025"/>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184337" name="Line 17"/>
          <p:cNvSpPr>
            <a:spLocks noChangeShapeType="1"/>
          </p:cNvSpPr>
          <p:nvPr/>
        </p:nvSpPr>
        <p:spPr bwMode="auto">
          <a:xfrm flipV="1">
            <a:off x="9887379" y="4462282"/>
            <a:ext cx="575733" cy="3492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84338" name="Line 18"/>
          <p:cNvSpPr>
            <a:spLocks noChangeShapeType="1"/>
          </p:cNvSpPr>
          <p:nvPr/>
        </p:nvSpPr>
        <p:spPr bwMode="auto">
          <a:xfrm flipH="1" flipV="1">
            <a:off x="9504265" y="4354331"/>
            <a:ext cx="958849" cy="10795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84339" name="Line 19"/>
          <p:cNvSpPr>
            <a:spLocks noChangeShapeType="1"/>
          </p:cNvSpPr>
          <p:nvPr/>
        </p:nvSpPr>
        <p:spPr bwMode="auto">
          <a:xfrm flipV="1">
            <a:off x="9550832" y="4173357"/>
            <a:ext cx="1248833" cy="14446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84340" name="Line 20"/>
          <p:cNvSpPr>
            <a:spLocks noChangeShapeType="1"/>
          </p:cNvSpPr>
          <p:nvPr/>
        </p:nvSpPr>
        <p:spPr bwMode="auto">
          <a:xfrm flipH="1" flipV="1">
            <a:off x="9119031" y="3920943"/>
            <a:ext cx="1585383" cy="2159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2" name="Footer Placeholder 1">
            <a:extLst>
              <a:ext uri="{FF2B5EF4-FFF2-40B4-BE49-F238E27FC236}">
                <a16:creationId xmlns:a16="http://schemas.microsoft.com/office/drawing/2014/main" id="{8A7AD276-3969-4D9A-8DE5-B15586FAC38C}"/>
              </a:ext>
            </a:extLst>
          </p:cNvPr>
          <p:cNvSpPr>
            <a:spLocks noGrp="1"/>
          </p:cNvSpPr>
          <p:nvPr>
            <p:ph type="ftr" sz="quarter" idx="11"/>
          </p:nvPr>
        </p:nvSpPr>
        <p:spPr/>
        <p:txBody>
          <a:bodyPr/>
          <a:lstStyle/>
          <a:p>
            <a:pPr>
              <a:defRPr/>
            </a:pPr>
            <a:r>
              <a:rPr lang="es-ES"/>
              <a:t>Dr. Deepali Vora</a:t>
            </a:r>
          </a:p>
        </p:txBody>
      </p:sp>
      <p:sp>
        <p:nvSpPr>
          <p:cNvPr id="3" name="Slide Number Placeholder 2">
            <a:extLst>
              <a:ext uri="{FF2B5EF4-FFF2-40B4-BE49-F238E27FC236}">
                <a16:creationId xmlns:a16="http://schemas.microsoft.com/office/drawing/2014/main" id="{1270F9B0-D01A-4388-9A64-95D34C4D9480}"/>
              </a:ext>
            </a:extLst>
          </p:cNvPr>
          <p:cNvSpPr>
            <a:spLocks noGrp="1"/>
          </p:cNvSpPr>
          <p:nvPr>
            <p:ph type="sldNum" sz="quarter" idx="12"/>
          </p:nvPr>
        </p:nvSpPr>
        <p:spPr/>
        <p:txBody>
          <a:bodyPr/>
          <a:lstStyle/>
          <a:p>
            <a:fld id="{9370333F-211E-480A-A48D-622F2EB68390}" type="slidenum">
              <a:rPr lang="es-ES" altLang="en-US" smtClean="0"/>
              <a:pPr/>
              <a:t>15</a:t>
            </a:fld>
            <a:endParaRPr lang="es-ES" altLang="en-US"/>
          </a:p>
        </p:txBody>
      </p:sp>
    </p:spTree>
    <p:extLst>
      <p:ext uri="{BB962C8B-B14F-4D97-AF65-F5344CB8AC3E}">
        <p14:creationId xmlns:p14="http://schemas.microsoft.com/office/powerpoint/2010/main" val="1544908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gradient descent</a:t>
            </a:r>
          </a:p>
        </p:txBody>
      </p:sp>
      <p:sp>
        <p:nvSpPr>
          <p:cNvPr id="3" name="Content Placeholder 2"/>
          <p:cNvSpPr>
            <a:spLocks noGrp="1"/>
          </p:cNvSpPr>
          <p:nvPr>
            <p:ph idx="1"/>
          </p:nvPr>
        </p:nvSpPr>
        <p:spPr>
          <a:xfrm>
            <a:off x="1918757" y="2526834"/>
            <a:ext cx="8354486" cy="4121102"/>
          </a:xfrm>
        </p:spPr>
        <p:txBody>
          <a:bodyPr>
            <a:normAutofit/>
          </a:bodyPr>
          <a:lstStyle/>
          <a:p>
            <a:r>
              <a:rPr lang="en-US" sz="2000" dirty="0"/>
              <a:t>A simple but beautifully powerful idea introduced by Leon </a:t>
            </a:r>
            <a:r>
              <a:rPr lang="en-US" sz="2000" dirty="0" err="1"/>
              <a:t>Bottou</a:t>
            </a:r>
            <a:r>
              <a:rPr lang="en-US" sz="2000" dirty="0"/>
              <a:t> in 2000</a:t>
            </a:r>
          </a:p>
          <a:p>
            <a:r>
              <a:rPr lang="en-US" sz="2000" dirty="0"/>
              <a:t>Original SGD:</a:t>
            </a:r>
          </a:p>
          <a:p>
            <a:pPr lvl="1"/>
            <a:r>
              <a:rPr lang="en-US" sz="1800" dirty="0">
                <a:solidFill>
                  <a:srgbClr val="00B0F0"/>
                </a:solidFill>
              </a:rPr>
              <a:t>While not converged:</a:t>
            </a:r>
          </a:p>
          <a:p>
            <a:pPr lvl="2"/>
            <a:r>
              <a:rPr lang="en-US" sz="1800" dirty="0">
                <a:solidFill>
                  <a:srgbClr val="00B050"/>
                </a:solidFill>
              </a:rPr>
              <a:t>Select a single </a:t>
            </a:r>
            <a:r>
              <a:rPr lang="en-US" sz="1800" dirty="0" err="1">
                <a:solidFill>
                  <a:srgbClr val="00B050"/>
                </a:solidFill>
              </a:rPr>
              <a:t>datapoint</a:t>
            </a:r>
            <a:r>
              <a:rPr lang="en-US" sz="1800" dirty="0">
                <a:solidFill>
                  <a:srgbClr val="00B050"/>
                </a:solidFill>
              </a:rPr>
              <a:t> in order from the data</a:t>
            </a:r>
          </a:p>
          <a:p>
            <a:pPr lvl="2"/>
            <a:r>
              <a:rPr lang="en-US" sz="1800" dirty="0">
                <a:solidFill>
                  <a:srgbClr val="00B050"/>
                </a:solidFill>
              </a:rPr>
              <a:t>Compute gradient with just one point</a:t>
            </a:r>
          </a:p>
          <a:p>
            <a:pPr lvl="2"/>
            <a:r>
              <a:rPr lang="en-US" sz="1800" dirty="0">
                <a:solidFill>
                  <a:srgbClr val="00B050"/>
                </a:solidFill>
              </a:rPr>
              <a:t>Update parameters</a:t>
            </a:r>
          </a:p>
          <a:p>
            <a:r>
              <a:rPr lang="en-US" sz="2000" dirty="0"/>
              <a:t>Pros: broader search</a:t>
            </a:r>
          </a:p>
          <a:p>
            <a:r>
              <a:rPr lang="en-US" sz="2000" dirty="0"/>
              <a:t>Cons: final solution may be poor, may be hard to converge</a:t>
            </a:r>
          </a:p>
          <a:p>
            <a:endParaRPr lang="en-US" dirty="0"/>
          </a:p>
        </p:txBody>
      </p:sp>
      <p:sp>
        <p:nvSpPr>
          <p:cNvPr id="4" name="Footer Placeholder 3">
            <a:extLst>
              <a:ext uri="{FF2B5EF4-FFF2-40B4-BE49-F238E27FC236}">
                <a16:creationId xmlns:a16="http://schemas.microsoft.com/office/drawing/2014/main" id="{6B09C777-00E2-434D-A6C8-45F894518D5B}"/>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F70A6129-8952-4D03-B96C-6E4FC47ABA67}"/>
              </a:ext>
            </a:extLst>
          </p:cNvPr>
          <p:cNvSpPr>
            <a:spLocks noGrp="1"/>
          </p:cNvSpPr>
          <p:nvPr>
            <p:ph type="sldNum" sz="quarter" idx="12"/>
          </p:nvPr>
        </p:nvSpPr>
        <p:spPr/>
        <p:txBody>
          <a:bodyPr/>
          <a:lstStyle/>
          <a:p>
            <a:fld id="{9370333F-211E-480A-A48D-622F2EB68390}" type="slidenum">
              <a:rPr lang="es-ES" altLang="en-US" smtClean="0"/>
              <a:pPr/>
              <a:t>16</a:t>
            </a:fld>
            <a:endParaRPr lang="es-ES" altLang="en-US"/>
          </a:p>
        </p:txBody>
      </p:sp>
    </p:spTree>
    <p:extLst>
      <p:ext uri="{BB962C8B-B14F-4D97-AF65-F5344CB8AC3E}">
        <p14:creationId xmlns:p14="http://schemas.microsoft.com/office/powerpoint/2010/main" val="3978570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r>
              <a:rPr lang="en-US" dirty="0"/>
              <a:t>Stochastic gradient descent</a:t>
            </a:r>
          </a:p>
        </p:txBody>
      </p:sp>
      <p:sp>
        <p:nvSpPr>
          <p:cNvPr id="217091" name="Rectangle 3"/>
          <p:cNvSpPr>
            <a:spLocks noGrp="1" noChangeArrowheads="1"/>
          </p:cNvSpPr>
          <p:nvPr>
            <p:ph sz="half" idx="1"/>
          </p:nvPr>
        </p:nvSpPr>
        <p:spPr>
          <a:xfrm>
            <a:off x="815546" y="2153412"/>
            <a:ext cx="5038137" cy="4704587"/>
          </a:xfrm>
        </p:spPr>
        <p:txBody>
          <a:bodyPr>
            <a:normAutofit fontScale="77500" lnSpcReduction="20000"/>
          </a:bodyPr>
          <a:lstStyle/>
          <a:p>
            <a:pPr>
              <a:lnSpc>
                <a:spcPct val="134000"/>
              </a:lnSpc>
            </a:pPr>
            <a:r>
              <a:rPr lang="en-US" sz="2667" dirty="0"/>
              <a:t>If the dataset is highly redundant, the gradient on the first half is almost identical to the gradient on the second half. </a:t>
            </a:r>
          </a:p>
          <a:p>
            <a:pPr lvl="1">
              <a:lnSpc>
                <a:spcPct val="134000"/>
              </a:lnSpc>
            </a:pPr>
            <a:r>
              <a:rPr lang="en-US" sz="2667" dirty="0">
                <a:solidFill>
                  <a:srgbClr val="0070C0"/>
                </a:solidFill>
              </a:rPr>
              <a:t>So instead of computing the full gradient, update the weights using the gradient on the first half and then get a gradient for the new weights on the second half.</a:t>
            </a:r>
          </a:p>
          <a:p>
            <a:pPr lvl="1">
              <a:lnSpc>
                <a:spcPct val="134000"/>
              </a:lnSpc>
            </a:pPr>
            <a:r>
              <a:rPr lang="en-US" sz="2667" dirty="0">
                <a:solidFill>
                  <a:srgbClr val="0070C0"/>
                </a:solidFill>
              </a:rPr>
              <a:t>The extreme  version of this approach updates weights after each case. Its called </a:t>
            </a:r>
            <a:r>
              <a:rPr lang="en-US" sz="2667" dirty="0">
                <a:solidFill>
                  <a:schemeClr val="tx1"/>
                </a:solidFill>
              </a:rPr>
              <a:t>“online”.</a:t>
            </a:r>
          </a:p>
        </p:txBody>
      </p:sp>
      <p:sp>
        <p:nvSpPr>
          <p:cNvPr id="2" name="Content Placeholder 1"/>
          <p:cNvSpPr>
            <a:spLocks noGrp="1"/>
          </p:cNvSpPr>
          <p:nvPr>
            <p:ph sz="half" idx="2"/>
          </p:nvPr>
        </p:nvSpPr>
        <p:spPr>
          <a:xfrm>
            <a:off x="6338315" y="2360141"/>
            <a:ext cx="4815715" cy="4164227"/>
          </a:xfrm>
        </p:spPr>
        <p:txBody>
          <a:bodyPr>
            <a:normAutofit fontScale="77500" lnSpcReduction="20000"/>
          </a:bodyPr>
          <a:lstStyle/>
          <a:p>
            <a:pPr>
              <a:lnSpc>
                <a:spcPct val="134000"/>
              </a:lnSpc>
            </a:pPr>
            <a:r>
              <a:rPr lang="en-US" sz="2700" dirty="0"/>
              <a:t>Mini-batches are usually better than online.</a:t>
            </a:r>
          </a:p>
          <a:p>
            <a:pPr lvl="1">
              <a:lnSpc>
                <a:spcPct val="134000"/>
              </a:lnSpc>
            </a:pPr>
            <a:r>
              <a:rPr lang="en-US" sz="2700" dirty="0">
                <a:solidFill>
                  <a:srgbClr val="0070C0"/>
                </a:solidFill>
              </a:rPr>
              <a:t>Less computation is used updating the weights.</a:t>
            </a:r>
          </a:p>
          <a:p>
            <a:pPr lvl="1">
              <a:lnSpc>
                <a:spcPct val="134000"/>
              </a:lnSpc>
            </a:pPr>
            <a:r>
              <a:rPr lang="en-US" sz="2700" dirty="0">
                <a:solidFill>
                  <a:srgbClr val="0070C0"/>
                </a:solidFill>
              </a:rPr>
              <a:t>Computing the gradient for many cases simultaneously uses matrix-matrix multiplies which are very efficient, especially on GPUs</a:t>
            </a:r>
          </a:p>
          <a:p>
            <a:pPr>
              <a:lnSpc>
                <a:spcPct val="134000"/>
              </a:lnSpc>
            </a:pPr>
            <a:r>
              <a:rPr lang="en-US" sz="2700" dirty="0"/>
              <a:t>Mini-batches need to be balanced for classes</a:t>
            </a:r>
          </a:p>
          <a:p>
            <a:pPr marL="0" indent="0">
              <a:buNone/>
            </a:pPr>
            <a:endParaRPr lang="en-US" dirty="0"/>
          </a:p>
        </p:txBody>
      </p:sp>
      <p:sp>
        <p:nvSpPr>
          <p:cNvPr id="3" name="Footer Placeholder 2">
            <a:extLst>
              <a:ext uri="{FF2B5EF4-FFF2-40B4-BE49-F238E27FC236}">
                <a16:creationId xmlns:a16="http://schemas.microsoft.com/office/drawing/2014/main" id="{5006D702-BDB0-43CB-BF0B-88CCA96E795C}"/>
              </a:ext>
            </a:extLst>
          </p:cNvPr>
          <p:cNvSpPr>
            <a:spLocks noGrp="1"/>
          </p:cNvSpPr>
          <p:nvPr>
            <p:ph type="ftr" sz="quarter" idx="11"/>
          </p:nvPr>
        </p:nvSpPr>
        <p:spPr/>
        <p:txBody>
          <a:bodyPr/>
          <a:lstStyle/>
          <a:p>
            <a:pPr>
              <a:defRPr/>
            </a:pPr>
            <a:r>
              <a:rPr lang="es-ES"/>
              <a:t>Dr. Deepali Vora</a:t>
            </a:r>
          </a:p>
        </p:txBody>
      </p:sp>
      <p:sp>
        <p:nvSpPr>
          <p:cNvPr id="4" name="Slide Number Placeholder 3">
            <a:extLst>
              <a:ext uri="{FF2B5EF4-FFF2-40B4-BE49-F238E27FC236}">
                <a16:creationId xmlns:a16="http://schemas.microsoft.com/office/drawing/2014/main" id="{4AE71822-F67D-496E-9ACA-AE128D437FD0}"/>
              </a:ext>
            </a:extLst>
          </p:cNvPr>
          <p:cNvSpPr>
            <a:spLocks noGrp="1"/>
          </p:cNvSpPr>
          <p:nvPr>
            <p:ph type="sldNum" sz="quarter" idx="12"/>
          </p:nvPr>
        </p:nvSpPr>
        <p:spPr/>
        <p:txBody>
          <a:bodyPr/>
          <a:lstStyle/>
          <a:p>
            <a:fld id="{9370333F-211E-480A-A48D-622F2EB68390}" type="slidenum">
              <a:rPr lang="es-ES" altLang="en-US" smtClean="0"/>
              <a:pPr/>
              <a:t>17</a:t>
            </a:fld>
            <a:endParaRPr lang="es-ES" altLang="en-US"/>
          </a:p>
        </p:txBody>
      </p:sp>
    </p:spTree>
    <p:extLst>
      <p:ext uri="{BB962C8B-B14F-4D97-AF65-F5344CB8AC3E}">
        <p14:creationId xmlns:p14="http://schemas.microsoft.com/office/powerpoint/2010/main" val="2479577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Two types of learning algorithm</a:t>
            </a:r>
          </a:p>
        </p:txBody>
      </p:sp>
      <p:sp>
        <p:nvSpPr>
          <p:cNvPr id="6" name="Content Placeholder 5"/>
          <p:cNvSpPr>
            <a:spLocks noGrp="1"/>
          </p:cNvSpPr>
          <p:nvPr>
            <p:ph sz="half" idx="1"/>
          </p:nvPr>
        </p:nvSpPr>
        <p:spPr>
          <a:xfrm>
            <a:off x="729050" y="2638043"/>
            <a:ext cx="5124634" cy="4046961"/>
          </a:xfrm>
        </p:spPr>
        <p:txBody>
          <a:bodyPr>
            <a:normAutofit fontScale="92500" lnSpcReduction="20000"/>
          </a:bodyPr>
          <a:lstStyle/>
          <a:p>
            <a:pPr marL="0" indent="0">
              <a:buNone/>
            </a:pPr>
            <a:r>
              <a:rPr lang="en-US" sz="2667" dirty="0"/>
              <a:t>If we use the full gradient computed from all the training cases, there are many clever ways to speed up learning</a:t>
            </a:r>
            <a:endParaRPr lang="en-US" sz="2400" dirty="0">
              <a:solidFill>
                <a:srgbClr val="000090"/>
              </a:solidFill>
            </a:endParaRPr>
          </a:p>
          <a:p>
            <a:pPr lvl="1"/>
            <a:r>
              <a:rPr lang="en-US" sz="2667" dirty="0">
                <a:solidFill>
                  <a:srgbClr val="00B050"/>
                </a:solidFill>
              </a:rPr>
              <a:t>The optimization community has studied the general problem of optimizing smooth non-linear functions for many years.</a:t>
            </a:r>
          </a:p>
          <a:p>
            <a:pPr lvl="1"/>
            <a:r>
              <a:rPr lang="en-US" sz="2600" dirty="0">
                <a:solidFill>
                  <a:srgbClr val="00B050"/>
                </a:solidFill>
              </a:rPr>
              <a:t>Multilayer neural nets are not typical of the problems they study so their methods may need a lot of adaptation.</a:t>
            </a:r>
          </a:p>
        </p:txBody>
      </p:sp>
      <p:sp>
        <p:nvSpPr>
          <p:cNvPr id="7" name="Content Placeholder 6"/>
          <p:cNvSpPr>
            <a:spLocks noGrp="1"/>
          </p:cNvSpPr>
          <p:nvPr>
            <p:ph sz="half" idx="2"/>
          </p:nvPr>
        </p:nvSpPr>
        <p:spPr>
          <a:xfrm>
            <a:off x="6338315" y="2638044"/>
            <a:ext cx="5124634" cy="4046960"/>
          </a:xfrm>
        </p:spPr>
        <p:txBody>
          <a:bodyPr>
            <a:normAutofit fontScale="92500" lnSpcReduction="20000"/>
          </a:bodyPr>
          <a:lstStyle/>
          <a:p>
            <a:pPr marL="0" indent="0">
              <a:buNone/>
            </a:pPr>
            <a:r>
              <a:rPr lang="en-US" sz="2667" dirty="0"/>
              <a:t>For large neural networks with very large and highly redundant training sets, it is nearly always best to use mini-batch learning.</a:t>
            </a:r>
          </a:p>
          <a:p>
            <a:pPr lvl="1"/>
            <a:r>
              <a:rPr lang="en-US" sz="2667" dirty="0">
                <a:solidFill>
                  <a:srgbClr val="00B050"/>
                </a:solidFill>
              </a:rPr>
              <a:t>The mini-batches may need to be quite big when adapting fancy methods.</a:t>
            </a:r>
          </a:p>
          <a:p>
            <a:pPr lvl="1"/>
            <a:r>
              <a:rPr lang="en-US" sz="2600" dirty="0">
                <a:solidFill>
                  <a:srgbClr val="00B050"/>
                </a:solidFill>
              </a:rPr>
              <a:t>Big mini-batches are more computationally efficient.  </a:t>
            </a:r>
          </a:p>
        </p:txBody>
      </p:sp>
      <p:sp>
        <p:nvSpPr>
          <p:cNvPr id="2" name="Footer Placeholder 1">
            <a:extLst>
              <a:ext uri="{FF2B5EF4-FFF2-40B4-BE49-F238E27FC236}">
                <a16:creationId xmlns:a16="http://schemas.microsoft.com/office/drawing/2014/main" id="{32538623-845E-4A77-AE8C-64258A2D0DCD}"/>
              </a:ext>
            </a:extLst>
          </p:cNvPr>
          <p:cNvSpPr>
            <a:spLocks noGrp="1"/>
          </p:cNvSpPr>
          <p:nvPr>
            <p:ph type="ftr" sz="quarter" idx="11"/>
          </p:nvPr>
        </p:nvSpPr>
        <p:spPr/>
        <p:txBody>
          <a:bodyPr/>
          <a:lstStyle/>
          <a:p>
            <a:pPr>
              <a:defRPr/>
            </a:pPr>
            <a:r>
              <a:rPr lang="es-ES"/>
              <a:t>Dr. Deepali Vora</a:t>
            </a:r>
          </a:p>
        </p:txBody>
      </p:sp>
      <p:sp>
        <p:nvSpPr>
          <p:cNvPr id="3" name="Slide Number Placeholder 2">
            <a:extLst>
              <a:ext uri="{FF2B5EF4-FFF2-40B4-BE49-F238E27FC236}">
                <a16:creationId xmlns:a16="http://schemas.microsoft.com/office/drawing/2014/main" id="{A7F33E4D-C1F6-4539-ABE9-7CBCBAEBB7C2}"/>
              </a:ext>
            </a:extLst>
          </p:cNvPr>
          <p:cNvSpPr>
            <a:spLocks noGrp="1"/>
          </p:cNvSpPr>
          <p:nvPr>
            <p:ph type="sldNum" sz="quarter" idx="12"/>
          </p:nvPr>
        </p:nvSpPr>
        <p:spPr/>
        <p:txBody>
          <a:bodyPr/>
          <a:lstStyle/>
          <a:p>
            <a:fld id="{9370333F-211E-480A-A48D-622F2EB68390}" type="slidenum">
              <a:rPr lang="es-ES" altLang="en-US" smtClean="0"/>
              <a:pPr/>
              <a:t>18</a:t>
            </a:fld>
            <a:endParaRPr lang="es-ES" altLang="en-US"/>
          </a:p>
        </p:txBody>
      </p:sp>
    </p:spTree>
    <p:extLst>
      <p:ext uri="{BB962C8B-B14F-4D97-AF65-F5344CB8AC3E}">
        <p14:creationId xmlns:p14="http://schemas.microsoft.com/office/powerpoint/2010/main" val="4171853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basic mini-batch gradient descent algorithm </a:t>
            </a:r>
          </a:p>
        </p:txBody>
      </p:sp>
      <p:sp>
        <p:nvSpPr>
          <p:cNvPr id="4" name="Content Placeholder 3"/>
          <p:cNvSpPr>
            <a:spLocks noGrp="1"/>
          </p:cNvSpPr>
          <p:nvPr>
            <p:ph type="body" sz="half" idx="1"/>
          </p:nvPr>
        </p:nvSpPr>
        <p:spPr>
          <a:xfrm>
            <a:off x="6355549" y="1737361"/>
            <a:ext cx="5384800" cy="4525963"/>
          </a:xfrm>
        </p:spPr>
        <p:txBody>
          <a:bodyPr>
            <a:normAutofit lnSpcReduction="10000"/>
          </a:bodyPr>
          <a:lstStyle/>
          <a:p>
            <a:r>
              <a:rPr lang="en-US" sz="2667" dirty="0"/>
              <a:t>Towards the end of mini-batch learning it nearly always helps to turn down the learning rate.</a:t>
            </a:r>
          </a:p>
          <a:p>
            <a:pPr lvl="1"/>
            <a:r>
              <a:rPr lang="en-US" sz="2667" dirty="0">
                <a:solidFill>
                  <a:srgbClr val="00B050"/>
                </a:solidFill>
              </a:rPr>
              <a:t>This removes fluctuations in the final weights caused by the variations between mini-batches. </a:t>
            </a:r>
          </a:p>
          <a:p>
            <a:r>
              <a:rPr lang="en-US" sz="2667" dirty="0"/>
              <a:t>Turn down the learning rate when the error stops decreasing. </a:t>
            </a:r>
          </a:p>
          <a:p>
            <a:pPr lvl="1"/>
            <a:r>
              <a:rPr lang="en-US" sz="2667" dirty="0">
                <a:solidFill>
                  <a:srgbClr val="00B050"/>
                </a:solidFill>
              </a:rPr>
              <a:t>Use the error on a separate validation set</a:t>
            </a:r>
          </a:p>
        </p:txBody>
      </p:sp>
      <p:sp>
        <p:nvSpPr>
          <p:cNvPr id="3" name="Content Placeholder 2"/>
          <p:cNvSpPr>
            <a:spLocks noGrp="1"/>
          </p:cNvSpPr>
          <p:nvPr>
            <p:ph sz="half" idx="2"/>
          </p:nvPr>
        </p:nvSpPr>
        <p:spPr>
          <a:xfrm>
            <a:off x="609600" y="1819657"/>
            <a:ext cx="5384800" cy="4525963"/>
          </a:xfrm>
        </p:spPr>
        <p:txBody>
          <a:bodyPr>
            <a:normAutofit/>
          </a:bodyPr>
          <a:lstStyle/>
          <a:p>
            <a:r>
              <a:rPr lang="en-US" sz="2667" dirty="0"/>
              <a:t>Guess an initial learning rate.</a:t>
            </a:r>
          </a:p>
          <a:p>
            <a:pPr lvl="1"/>
            <a:r>
              <a:rPr lang="en-US" sz="2667" dirty="0">
                <a:solidFill>
                  <a:srgbClr val="00B050"/>
                </a:solidFill>
              </a:rPr>
              <a:t>If the error keeps getting worse or oscillates wildly, reduce the learning rate.</a:t>
            </a:r>
          </a:p>
          <a:p>
            <a:pPr lvl="1"/>
            <a:r>
              <a:rPr lang="en-US" sz="2667" dirty="0">
                <a:solidFill>
                  <a:srgbClr val="00B050"/>
                </a:solidFill>
              </a:rPr>
              <a:t>If the error is falling fairly consistently but slowly, increase the learning rate. </a:t>
            </a:r>
          </a:p>
          <a:p>
            <a:r>
              <a:rPr lang="en-US" sz="2400" dirty="0"/>
              <a:t>Write a simple program to automate this way of adjusting the learning rate.</a:t>
            </a:r>
          </a:p>
        </p:txBody>
      </p:sp>
    </p:spTree>
    <p:extLst>
      <p:ext uri="{BB962C8B-B14F-4D97-AF65-F5344CB8AC3E}">
        <p14:creationId xmlns:p14="http://schemas.microsoft.com/office/powerpoint/2010/main" val="1760943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 careful about turning down the learning rate</a:t>
            </a:r>
          </a:p>
        </p:txBody>
      </p:sp>
      <p:sp>
        <p:nvSpPr>
          <p:cNvPr id="3" name="Content Placeholder 2"/>
          <p:cNvSpPr>
            <a:spLocks noGrp="1"/>
          </p:cNvSpPr>
          <p:nvPr>
            <p:ph sz="half" idx="1"/>
          </p:nvPr>
        </p:nvSpPr>
        <p:spPr>
          <a:xfrm>
            <a:off x="609600" y="2471351"/>
            <a:ext cx="4673601" cy="3654813"/>
          </a:xfrm>
        </p:spPr>
        <p:txBody>
          <a:bodyPr>
            <a:normAutofit/>
          </a:bodyPr>
          <a:lstStyle/>
          <a:p>
            <a:r>
              <a:rPr lang="en-US" sz="2400" dirty="0">
                <a:solidFill>
                  <a:srgbClr val="00B050"/>
                </a:solidFill>
              </a:rPr>
              <a:t>Turning down the learning rate reduces the random fluctuations in the error due to the different gradients on different mini-batches.</a:t>
            </a:r>
          </a:p>
          <a:p>
            <a:pPr lvl="1"/>
            <a:r>
              <a:rPr lang="en-US" sz="2000" dirty="0"/>
              <a:t>So we get a quick win.</a:t>
            </a:r>
          </a:p>
          <a:p>
            <a:pPr lvl="1"/>
            <a:r>
              <a:rPr lang="en-US" sz="2000" dirty="0"/>
              <a:t>But then we get slower learning.</a:t>
            </a:r>
          </a:p>
          <a:p>
            <a:r>
              <a:rPr lang="en-US" sz="2400" dirty="0">
                <a:solidFill>
                  <a:srgbClr val="00B050"/>
                </a:solidFill>
              </a:rPr>
              <a:t>Don</a:t>
            </a:r>
            <a:r>
              <a:rPr lang="fr-FR" sz="2400" dirty="0">
                <a:solidFill>
                  <a:srgbClr val="00B050"/>
                </a:solidFill>
              </a:rPr>
              <a:t>’</a:t>
            </a:r>
            <a:r>
              <a:rPr lang="en-US" sz="2400" dirty="0">
                <a:solidFill>
                  <a:srgbClr val="00B050"/>
                </a:solidFill>
              </a:rPr>
              <a:t>t turn down the learning rate too soon!</a:t>
            </a:r>
          </a:p>
          <a:p>
            <a:endParaRPr lang="en-US" dirty="0"/>
          </a:p>
        </p:txBody>
      </p:sp>
      <p:grpSp>
        <p:nvGrpSpPr>
          <p:cNvPr id="4" name="Group 3">
            <a:extLst>
              <a:ext uri="{FF2B5EF4-FFF2-40B4-BE49-F238E27FC236}">
                <a16:creationId xmlns:a16="http://schemas.microsoft.com/office/drawing/2014/main" id="{40FF9C86-F287-484E-B773-5EE8610374E1}"/>
              </a:ext>
            </a:extLst>
          </p:cNvPr>
          <p:cNvGrpSpPr/>
          <p:nvPr/>
        </p:nvGrpSpPr>
        <p:grpSpPr>
          <a:xfrm>
            <a:off x="5870395" y="2067780"/>
            <a:ext cx="6123897" cy="4531803"/>
            <a:chOff x="6068104" y="1148880"/>
            <a:chExt cx="6123897" cy="4531803"/>
          </a:xfrm>
        </p:grpSpPr>
        <p:sp>
          <p:nvSpPr>
            <p:cNvPr id="5" name="Freeform 4"/>
            <p:cNvSpPr/>
            <p:nvPr/>
          </p:nvSpPr>
          <p:spPr>
            <a:xfrm rot="21273512">
              <a:off x="6850683" y="1148880"/>
              <a:ext cx="4899379" cy="3887025"/>
            </a:xfrm>
            <a:custGeom>
              <a:avLst/>
              <a:gdLst>
                <a:gd name="connsiteX0" fmla="*/ 0 w 3302000"/>
                <a:gd name="connsiteY0" fmla="*/ 0 h 1070058"/>
                <a:gd name="connsiteX1" fmla="*/ 304800 w 3302000"/>
                <a:gd name="connsiteY1" fmla="*/ 203200 h 1070058"/>
                <a:gd name="connsiteX2" fmla="*/ 558800 w 3302000"/>
                <a:gd name="connsiteY2" fmla="*/ 287867 h 1070058"/>
                <a:gd name="connsiteX3" fmla="*/ 812800 w 3302000"/>
                <a:gd name="connsiteY3" fmla="*/ 508000 h 1070058"/>
                <a:gd name="connsiteX4" fmla="*/ 1134534 w 3302000"/>
                <a:gd name="connsiteY4" fmla="*/ 575734 h 1070058"/>
                <a:gd name="connsiteX5" fmla="*/ 1388534 w 3302000"/>
                <a:gd name="connsiteY5" fmla="*/ 677334 h 1070058"/>
                <a:gd name="connsiteX6" fmla="*/ 1608667 w 3302000"/>
                <a:gd name="connsiteY6" fmla="*/ 745067 h 1070058"/>
                <a:gd name="connsiteX7" fmla="*/ 1608667 w 3302000"/>
                <a:gd name="connsiteY7" fmla="*/ 846667 h 1070058"/>
                <a:gd name="connsiteX8" fmla="*/ 1608667 w 3302000"/>
                <a:gd name="connsiteY8" fmla="*/ 914400 h 1070058"/>
                <a:gd name="connsiteX9" fmla="*/ 1744134 w 3302000"/>
                <a:gd name="connsiteY9" fmla="*/ 965200 h 1070058"/>
                <a:gd name="connsiteX10" fmla="*/ 1913467 w 3302000"/>
                <a:gd name="connsiteY10" fmla="*/ 982134 h 1070058"/>
                <a:gd name="connsiteX11" fmla="*/ 2218267 w 3302000"/>
                <a:gd name="connsiteY11" fmla="*/ 1016000 h 1070058"/>
                <a:gd name="connsiteX12" fmla="*/ 2438400 w 3302000"/>
                <a:gd name="connsiteY12" fmla="*/ 1016000 h 1070058"/>
                <a:gd name="connsiteX13" fmla="*/ 2675467 w 3302000"/>
                <a:gd name="connsiteY13" fmla="*/ 1016000 h 1070058"/>
                <a:gd name="connsiteX14" fmla="*/ 2963334 w 3302000"/>
                <a:gd name="connsiteY14" fmla="*/ 1032934 h 1070058"/>
                <a:gd name="connsiteX15" fmla="*/ 3132667 w 3302000"/>
                <a:gd name="connsiteY15" fmla="*/ 1066800 h 1070058"/>
                <a:gd name="connsiteX16" fmla="*/ 3302000 w 3302000"/>
                <a:gd name="connsiteY16" fmla="*/ 1066800 h 107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02000" h="1070058">
                  <a:moveTo>
                    <a:pt x="0" y="0"/>
                  </a:moveTo>
                  <a:cubicBezTo>
                    <a:pt x="105833" y="77611"/>
                    <a:pt x="211667" y="155222"/>
                    <a:pt x="304800" y="203200"/>
                  </a:cubicBezTo>
                  <a:cubicBezTo>
                    <a:pt x="397933" y="251178"/>
                    <a:pt x="474133" y="237067"/>
                    <a:pt x="558800" y="287867"/>
                  </a:cubicBezTo>
                  <a:cubicBezTo>
                    <a:pt x="643467" y="338667"/>
                    <a:pt x="716845" y="460022"/>
                    <a:pt x="812800" y="508000"/>
                  </a:cubicBezTo>
                  <a:cubicBezTo>
                    <a:pt x="908755" y="555978"/>
                    <a:pt x="1038578" y="547512"/>
                    <a:pt x="1134534" y="575734"/>
                  </a:cubicBezTo>
                  <a:cubicBezTo>
                    <a:pt x="1230490" y="603956"/>
                    <a:pt x="1309512" y="649112"/>
                    <a:pt x="1388534" y="677334"/>
                  </a:cubicBezTo>
                  <a:cubicBezTo>
                    <a:pt x="1467556" y="705556"/>
                    <a:pt x="1571978" y="716845"/>
                    <a:pt x="1608667" y="745067"/>
                  </a:cubicBezTo>
                  <a:cubicBezTo>
                    <a:pt x="1645356" y="773289"/>
                    <a:pt x="1608667" y="846667"/>
                    <a:pt x="1608667" y="846667"/>
                  </a:cubicBezTo>
                  <a:cubicBezTo>
                    <a:pt x="1608667" y="874889"/>
                    <a:pt x="1586089" y="894644"/>
                    <a:pt x="1608667" y="914400"/>
                  </a:cubicBezTo>
                  <a:cubicBezTo>
                    <a:pt x="1631245" y="934156"/>
                    <a:pt x="1693334" y="953911"/>
                    <a:pt x="1744134" y="965200"/>
                  </a:cubicBezTo>
                  <a:cubicBezTo>
                    <a:pt x="1794934" y="976489"/>
                    <a:pt x="1913467" y="982134"/>
                    <a:pt x="1913467" y="982134"/>
                  </a:cubicBezTo>
                  <a:cubicBezTo>
                    <a:pt x="1992489" y="990601"/>
                    <a:pt x="2130778" y="1010356"/>
                    <a:pt x="2218267" y="1016000"/>
                  </a:cubicBezTo>
                  <a:cubicBezTo>
                    <a:pt x="2305756" y="1021644"/>
                    <a:pt x="2438400" y="1016000"/>
                    <a:pt x="2438400" y="1016000"/>
                  </a:cubicBezTo>
                  <a:cubicBezTo>
                    <a:pt x="2514600" y="1016000"/>
                    <a:pt x="2587978" y="1013178"/>
                    <a:pt x="2675467" y="1016000"/>
                  </a:cubicBezTo>
                  <a:cubicBezTo>
                    <a:pt x="2762956" y="1018822"/>
                    <a:pt x="2887134" y="1024467"/>
                    <a:pt x="2963334" y="1032934"/>
                  </a:cubicBezTo>
                  <a:cubicBezTo>
                    <a:pt x="3039534" y="1041401"/>
                    <a:pt x="3076223" y="1061156"/>
                    <a:pt x="3132667" y="1066800"/>
                  </a:cubicBezTo>
                  <a:cubicBezTo>
                    <a:pt x="3189111" y="1072444"/>
                    <a:pt x="3245555" y="1069622"/>
                    <a:pt x="3302000" y="1066800"/>
                  </a:cubicBezTo>
                </a:path>
              </a:pathLst>
            </a:cu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7" name="Freeform 6"/>
            <p:cNvSpPr/>
            <p:nvPr/>
          </p:nvSpPr>
          <p:spPr>
            <a:xfrm rot="21273512">
              <a:off x="9392351" y="3725318"/>
              <a:ext cx="2506133" cy="1399823"/>
            </a:xfrm>
            <a:custGeom>
              <a:avLst/>
              <a:gdLst>
                <a:gd name="connsiteX0" fmla="*/ 0 w 1879600"/>
                <a:gd name="connsiteY0" fmla="*/ 0 h 525422"/>
                <a:gd name="connsiteX1" fmla="*/ 237067 w 1879600"/>
                <a:gd name="connsiteY1" fmla="*/ 84667 h 525422"/>
                <a:gd name="connsiteX2" fmla="*/ 711200 w 1879600"/>
                <a:gd name="connsiteY2" fmla="*/ 237067 h 525422"/>
                <a:gd name="connsiteX3" fmla="*/ 965200 w 1879600"/>
                <a:gd name="connsiteY3" fmla="*/ 270933 h 525422"/>
                <a:gd name="connsiteX4" fmla="*/ 1185334 w 1879600"/>
                <a:gd name="connsiteY4" fmla="*/ 372533 h 525422"/>
                <a:gd name="connsiteX5" fmla="*/ 1405467 w 1879600"/>
                <a:gd name="connsiteY5" fmla="*/ 423333 h 525422"/>
                <a:gd name="connsiteX6" fmla="*/ 1591734 w 1879600"/>
                <a:gd name="connsiteY6" fmla="*/ 491067 h 525422"/>
                <a:gd name="connsiteX7" fmla="*/ 1778000 w 1879600"/>
                <a:gd name="connsiteY7" fmla="*/ 491067 h 525422"/>
                <a:gd name="connsiteX8" fmla="*/ 1862667 w 1879600"/>
                <a:gd name="connsiteY8" fmla="*/ 524933 h 525422"/>
                <a:gd name="connsiteX9" fmla="*/ 1879600 w 1879600"/>
                <a:gd name="connsiteY9" fmla="*/ 508000 h 52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9600" h="525422">
                  <a:moveTo>
                    <a:pt x="0" y="0"/>
                  </a:moveTo>
                  <a:cubicBezTo>
                    <a:pt x="59267" y="22578"/>
                    <a:pt x="118534" y="45156"/>
                    <a:pt x="237067" y="84667"/>
                  </a:cubicBezTo>
                  <a:cubicBezTo>
                    <a:pt x="355600" y="124178"/>
                    <a:pt x="589844" y="206023"/>
                    <a:pt x="711200" y="237067"/>
                  </a:cubicBezTo>
                  <a:cubicBezTo>
                    <a:pt x="832556" y="268111"/>
                    <a:pt x="886178" y="248355"/>
                    <a:pt x="965200" y="270933"/>
                  </a:cubicBezTo>
                  <a:cubicBezTo>
                    <a:pt x="1044222" y="293511"/>
                    <a:pt x="1111956" y="347133"/>
                    <a:pt x="1185334" y="372533"/>
                  </a:cubicBezTo>
                  <a:cubicBezTo>
                    <a:pt x="1258712" y="397933"/>
                    <a:pt x="1337734" y="403577"/>
                    <a:pt x="1405467" y="423333"/>
                  </a:cubicBezTo>
                  <a:cubicBezTo>
                    <a:pt x="1473200" y="443089"/>
                    <a:pt x="1529645" y="479778"/>
                    <a:pt x="1591734" y="491067"/>
                  </a:cubicBezTo>
                  <a:cubicBezTo>
                    <a:pt x="1653823" y="502356"/>
                    <a:pt x="1732845" y="485423"/>
                    <a:pt x="1778000" y="491067"/>
                  </a:cubicBezTo>
                  <a:cubicBezTo>
                    <a:pt x="1823156" y="496711"/>
                    <a:pt x="1845734" y="522111"/>
                    <a:pt x="1862667" y="524933"/>
                  </a:cubicBezTo>
                  <a:cubicBezTo>
                    <a:pt x="1879600" y="527755"/>
                    <a:pt x="1879600" y="517877"/>
                    <a:pt x="1879600" y="508000"/>
                  </a:cubicBezTo>
                </a:path>
              </a:pathLst>
            </a:custGeom>
            <a:ln>
              <a:solidFill>
                <a:srgbClr val="008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8" name="Rectangle 7"/>
            <p:cNvSpPr/>
            <p:nvPr/>
          </p:nvSpPr>
          <p:spPr>
            <a:xfrm>
              <a:off x="6677421" y="1444989"/>
              <a:ext cx="5514580" cy="3769305"/>
            </a:xfrm>
            <a:prstGeom prst="rect">
              <a:avLst/>
            </a:prstGeom>
            <a:gradFill flip="none" rotWithShape="1">
              <a:gsLst>
                <a:gs pos="0">
                  <a:schemeClr val="accent1">
                    <a:tint val="100000"/>
                    <a:shade val="100000"/>
                    <a:satMod val="130000"/>
                    <a:alpha val="9000"/>
                  </a:schemeClr>
                </a:gs>
                <a:gs pos="100000">
                  <a:schemeClr val="accent1">
                    <a:tint val="50000"/>
                    <a:shade val="100000"/>
                    <a:satMod val="350000"/>
                    <a:alpha val="9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 name="TextBox 8"/>
            <p:cNvSpPr txBox="1"/>
            <p:nvPr/>
          </p:nvSpPr>
          <p:spPr>
            <a:xfrm rot="16200000">
              <a:off x="5710043" y="2812947"/>
              <a:ext cx="1218888" cy="502766"/>
            </a:xfrm>
            <a:prstGeom prst="rect">
              <a:avLst/>
            </a:prstGeom>
            <a:noFill/>
          </p:spPr>
          <p:txBody>
            <a:bodyPr wrap="square" rtlCol="0">
              <a:spAutoFit/>
            </a:bodyPr>
            <a:lstStyle/>
            <a:p>
              <a:r>
                <a:rPr lang="en-US" sz="2667" dirty="0">
                  <a:solidFill>
                    <a:srgbClr val="0000FF"/>
                  </a:solidFill>
                </a:rPr>
                <a:t>error</a:t>
              </a:r>
            </a:p>
          </p:txBody>
        </p:sp>
        <p:sp>
          <p:nvSpPr>
            <p:cNvPr id="10" name="TextBox 9"/>
            <p:cNvSpPr txBox="1"/>
            <p:nvPr/>
          </p:nvSpPr>
          <p:spPr>
            <a:xfrm>
              <a:off x="8938665" y="5177917"/>
              <a:ext cx="1218888" cy="502766"/>
            </a:xfrm>
            <a:prstGeom prst="rect">
              <a:avLst/>
            </a:prstGeom>
            <a:noFill/>
          </p:spPr>
          <p:txBody>
            <a:bodyPr wrap="square" rtlCol="0">
              <a:spAutoFit/>
            </a:bodyPr>
            <a:lstStyle/>
            <a:p>
              <a:r>
                <a:rPr lang="en-US" sz="2667" dirty="0">
                  <a:solidFill>
                    <a:srgbClr val="0000FF"/>
                  </a:solidFill>
                </a:rPr>
                <a:t>epoch</a:t>
              </a:r>
            </a:p>
          </p:txBody>
        </p:sp>
        <p:sp>
          <p:nvSpPr>
            <p:cNvPr id="11" name="TextBox 10"/>
            <p:cNvSpPr txBox="1"/>
            <p:nvPr/>
          </p:nvSpPr>
          <p:spPr>
            <a:xfrm>
              <a:off x="8692444" y="1986847"/>
              <a:ext cx="1919112" cy="830997"/>
            </a:xfrm>
            <a:prstGeom prst="rect">
              <a:avLst/>
            </a:prstGeom>
            <a:noFill/>
          </p:spPr>
          <p:txBody>
            <a:bodyPr wrap="square" rtlCol="0">
              <a:spAutoFit/>
            </a:bodyPr>
            <a:lstStyle/>
            <a:p>
              <a:r>
                <a:rPr lang="en-US" sz="2400" dirty="0"/>
                <a:t>reduce learning rate</a:t>
              </a:r>
            </a:p>
          </p:txBody>
        </p:sp>
        <p:cxnSp>
          <p:nvCxnSpPr>
            <p:cNvPr id="13" name="Straight Arrow Connector 12"/>
            <p:cNvCxnSpPr/>
            <p:nvPr/>
          </p:nvCxnSpPr>
          <p:spPr>
            <a:xfrm>
              <a:off x="9331625" y="2848622"/>
              <a:ext cx="0" cy="76102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12" name="Footer Placeholder 11">
            <a:extLst>
              <a:ext uri="{FF2B5EF4-FFF2-40B4-BE49-F238E27FC236}">
                <a16:creationId xmlns:a16="http://schemas.microsoft.com/office/drawing/2014/main" id="{3B33F216-2FF0-441D-B1B0-E7BB72F8442B}"/>
              </a:ext>
            </a:extLst>
          </p:cNvPr>
          <p:cNvSpPr>
            <a:spLocks noGrp="1"/>
          </p:cNvSpPr>
          <p:nvPr>
            <p:ph type="ftr" sz="quarter" idx="11"/>
          </p:nvPr>
        </p:nvSpPr>
        <p:spPr/>
        <p:txBody>
          <a:bodyPr/>
          <a:lstStyle/>
          <a:p>
            <a:pPr>
              <a:defRPr/>
            </a:pPr>
            <a:r>
              <a:rPr lang="es-ES"/>
              <a:t>Dr. Deepali Vora</a:t>
            </a:r>
          </a:p>
        </p:txBody>
      </p:sp>
      <p:sp>
        <p:nvSpPr>
          <p:cNvPr id="15" name="Slide Number Placeholder 14">
            <a:extLst>
              <a:ext uri="{FF2B5EF4-FFF2-40B4-BE49-F238E27FC236}">
                <a16:creationId xmlns:a16="http://schemas.microsoft.com/office/drawing/2014/main" id="{155A22D7-A310-4457-96EE-F3B8115CB8D9}"/>
              </a:ext>
            </a:extLst>
          </p:cNvPr>
          <p:cNvSpPr>
            <a:spLocks noGrp="1"/>
          </p:cNvSpPr>
          <p:nvPr>
            <p:ph type="sldNum" sz="quarter" idx="12"/>
          </p:nvPr>
        </p:nvSpPr>
        <p:spPr/>
        <p:txBody>
          <a:bodyPr/>
          <a:lstStyle/>
          <a:p>
            <a:fld id="{9370333F-211E-480A-A48D-622F2EB68390}" type="slidenum">
              <a:rPr lang="es-ES" altLang="en-US" smtClean="0"/>
              <a:pPr/>
              <a:t>20</a:t>
            </a:fld>
            <a:endParaRPr lang="es-ES" altLang="en-US"/>
          </a:p>
        </p:txBody>
      </p:sp>
    </p:spTree>
    <p:extLst>
      <p:ext uri="{BB962C8B-B14F-4D97-AF65-F5344CB8AC3E}">
        <p14:creationId xmlns:p14="http://schemas.microsoft.com/office/powerpoint/2010/main" val="4143467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DB88171-E035-4B97-8B85-5A3C29DADD99}"/>
              </a:ext>
            </a:extLst>
          </p:cNvPr>
          <p:cNvSpPr>
            <a:spLocks noGrp="1"/>
          </p:cNvSpPr>
          <p:nvPr>
            <p:ph type="title"/>
          </p:nvPr>
        </p:nvSpPr>
        <p:spPr/>
        <p:txBody>
          <a:bodyPr/>
          <a:lstStyle/>
          <a:p>
            <a:r>
              <a:rPr lang="en-US" dirty="0"/>
              <a:t>Learning Rate</a:t>
            </a:r>
            <a:endParaRPr lang="en-IN" dirty="0"/>
          </a:p>
        </p:txBody>
      </p:sp>
      <p:sp>
        <p:nvSpPr>
          <p:cNvPr id="6" name="Content Placeholder 5">
            <a:extLst>
              <a:ext uri="{FF2B5EF4-FFF2-40B4-BE49-F238E27FC236}">
                <a16:creationId xmlns:a16="http://schemas.microsoft.com/office/drawing/2014/main" id="{1E6B210E-1B69-4DE7-BCD8-3A7B9FF03AB3}"/>
              </a:ext>
            </a:extLst>
          </p:cNvPr>
          <p:cNvSpPr>
            <a:spLocks noGrp="1"/>
          </p:cNvSpPr>
          <p:nvPr>
            <p:ph idx="1"/>
          </p:nvPr>
        </p:nvSpPr>
        <p:spPr/>
        <p:txBody>
          <a:bodyPr>
            <a:normAutofit/>
          </a:bodyPr>
          <a:lstStyle/>
          <a:p>
            <a:r>
              <a:rPr lang="en-US" sz="2400" dirty="0"/>
              <a:t>Divergence-causing learning rates may not be a bad thing – Particularly for ugly loss functions</a:t>
            </a:r>
          </a:p>
          <a:p>
            <a:r>
              <a:rPr lang="en-US" sz="2400" dirty="0"/>
              <a:t>Decaying learning rates provide good compromise between escaping poor local minima and convergence </a:t>
            </a:r>
          </a:p>
          <a:p>
            <a:r>
              <a:rPr lang="en-US" sz="2400" dirty="0"/>
              <a:t>Many of the convergence issues arise because we force the same learning rate on all parameters</a:t>
            </a:r>
            <a:endParaRPr lang="en-IN" sz="2400" dirty="0"/>
          </a:p>
        </p:txBody>
      </p:sp>
      <p:sp>
        <p:nvSpPr>
          <p:cNvPr id="7" name="Footer Placeholder 6">
            <a:extLst>
              <a:ext uri="{FF2B5EF4-FFF2-40B4-BE49-F238E27FC236}">
                <a16:creationId xmlns:a16="http://schemas.microsoft.com/office/drawing/2014/main" id="{CC011B08-E749-4E12-8F2F-006B9BCAE5C7}"/>
              </a:ext>
            </a:extLst>
          </p:cNvPr>
          <p:cNvSpPr>
            <a:spLocks noGrp="1"/>
          </p:cNvSpPr>
          <p:nvPr>
            <p:ph type="ftr" sz="quarter" idx="11"/>
          </p:nvPr>
        </p:nvSpPr>
        <p:spPr/>
        <p:txBody>
          <a:bodyPr/>
          <a:lstStyle/>
          <a:p>
            <a:pPr>
              <a:defRPr/>
            </a:pPr>
            <a:r>
              <a:rPr lang="es-ES"/>
              <a:t>Dr. Deepali Vora</a:t>
            </a:r>
          </a:p>
        </p:txBody>
      </p:sp>
      <p:sp>
        <p:nvSpPr>
          <p:cNvPr id="8" name="Slide Number Placeholder 7">
            <a:extLst>
              <a:ext uri="{FF2B5EF4-FFF2-40B4-BE49-F238E27FC236}">
                <a16:creationId xmlns:a16="http://schemas.microsoft.com/office/drawing/2014/main" id="{959DF5A8-C772-45B5-98ED-2475A69BD0FF}"/>
              </a:ext>
            </a:extLst>
          </p:cNvPr>
          <p:cNvSpPr>
            <a:spLocks noGrp="1"/>
          </p:cNvSpPr>
          <p:nvPr>
            <p:ph type="sldNum" sz="quarter" idx="12"/>
          </p:nvPr>
        </p:nvSpPr>
        <p:spPr/>
        <p:txBody>
          <a:bodyPr/>
          <a:lstStyle/>
          <a:p>
            <a:fld id="{9370333F-211E-480A-A48D-622F2EB68390}" type="slidenum">
              <a:rPr lang="es-ES" altLang="en-US" smtClean="0"/>
              <a:pPr/>
              <a:t>21</a:t>
            </a:fld>
            <a:endParaRPr lang="es-ES" altLang="en-US"/>
          </a:p>
        </p:txBody>
      </p:sp>
    </p:spTree>
    <p:extLst>
      <p:ext uri="{BB962C8B-B14F-4D97-AF65-F5344CB8AC3E}">
        <p14:creationId xmlns:p14="http://schemas.microsoft.com/office/powerpoint/2010/main" val="3418252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Initializing the weights</a:t>
            </a:r>
          </a:p>
        </p:txBody>
      </p:sp>
      <p:sp>
        <p:nvSpPr>
          <p:cNvPr id="3" name="Content Placeholder 2"/>
          <p:cNvSpPr>
            <a:spLocks noGrp="1"/>
          </p:cNvSpPr>
          <p:nvPr>
            <p:ph sz="half" idx="1"/>
          </p:nvPr>
        </p:nvSpPr>
        <p:spPr>
          <a:xfrm>
            <a:off x="1037968" y="2638044"/>
            <a:ext cx="4815715" cy="3923394"/>
          </a:xfrm>
        </p:spPr>
        <p:txBody>
          <a:bodyPr>
            <a:normAutofit/>
          </a:bodyPr>
          <a:lstStyle/>
          <a:p>
            <a:r>
              <a:rPr lang="en-US" sz="2400" dirty="0"/>
              <a:t>If two hidden units have exactly the same bias and exactly the same incoming and outgoing weights, they will always get exactly the same gradient. </a:t>
            </a:r>
          </a:p>
          <a:p>
            <a:pPr lvl="1"/>
            <a:r>
              <a:rPr lang="en-US" sz="2000" dirty="0">
                <a:solidFill>
                  <a:srgbClr val="0070C0"/>
                </a:solidFill>
              </a:rPr>
              <a:t>So they can never learn to be different features.</a:t>
            </a:r>
          </a:p>
          <a:p>
            <a:pPr lvl="1"/>
            <a:r>
              <a:rPr lang="en-US" sz="2000" dirty="0">
                <a:solidFill>
                  <a:srgbClr val="0070C0"/>
                </a:solidFill>
              </a:rPr>
              <a:t>We break symmetry by initializing the weights to have small random values.</a:t>
            </a:r>
          </a:p>
          <a:p>
            <a:endParaRPr lang="en-US" sz="2400" dirty="0"/>
          </a:p>
          <a:p>
            <a:pPr marL="0" indent="0">
              <a:buNone/>
            </a:pPr>
            <a:endParaRPr lang="en-US" dirty="0"/>
          </a:p>
        </p:txBody>
      </p:sp>
      <p:sp>
        <p:nvSpPr>
          <p:cNvPr id="4" name="Content Placeholder 3"/>
          <p:cNvSpPr>
            <a:spLocks noGrp="1"/>
          </p:cNvSpPr>
          <p:nvPr>
            <p:ph sz="half" idx="2"/>
          </p:nvPr>
        </p:nvSpPr>
        <p:spPr>
          <a:xfrm>
            <a:off x="6338315" y="2638044"/>
            <a:ext cx="4815715" cy="3923394"/>
          </a:xfrm>
        </p:spPr>
        <p:txBody>
          <a:bodyPr>
            <a:normAutofit/>
          </a:bodyPr>
          <a:lstStyle/>
          <a:p>
            <a:r>
              <a:rPr lang="en-US" sz="2400" dirty="0"/>
              <a:t>If a hidden unit has a big fan-in, small changes on many of its incoming weights can cause the learning to overshoot.</a:t>
            </a:r>
          </a:p>
          <a:p>
            <a:pPr lvl="1"/>
            <a:r>
              <a:rPr lang="en-US" sz="2000" dirty="0">
                <a:solidFill>
                  <a:srgbClr val="0070C0"/>
                </a:solidFill>
              </a:rPr>
              <a:t>We generally want smaller incoming weights when the fan-in is big, so initialize the weights to be proportional to </a:t>
            </a:r>
            <a:r>
              <a:rPr lang="en-US" sz="2000" dirty="0" err="1">
                <a:solidFill>
                  <a:srgbClr val="0070C0"/>
                </a:solidFill>
              </a:rPr>
              <a:t>sqrt</a:t>
            </a:r>
            <a:r>
              <a:rPr lang="en-US" sz="2000" dirty="0">
                <a:solidFill>
                  <a:srgbClr val="0070C0"/>
                </a:solidFill>
              </a:rPr>
              <a:t>(fan-in).</a:t>
            </a:r>
          </a:p>
          <a:p>
            <a:r>
              <a:rPr lang="en-US" sz="2400" dirty="0"/>
              <a:t>We can also scale the learning rate the same way.</a:t>
            </a:r>
          </a:p>
        </p:txBody>
      </p:sp>
      <p:sp>
        <p:nvSpPr>
          <p:cNvPr id="5" name="Footer Placeholder 4">
            <a:extLst>
              <a:ext uri="{FF2B5EF4-FFF2-40B4-BE49-F238E27FC236}">
                <a16:creationId xmlns:a16="http://schemas.microsoft.com/office/drawing/2014/main" id="{B3C889D1-541E-41F9-BAF3-1873702ACE58}"/>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8BC00A52-686C-4F29-8C0F-38858BE8C3C2}"/>
              </a:ext>
            </a:extLst>
          </p:cNvPr>
          <p:cNvSpPr>
            <a:spLocks noGrp="1"/>
          </p:cNvSpPr>
          <p:nvPr>
            <p:ph type="sldNum" sz="quarter" idx="12"/>
          </p:nvPr>
        </p:nvSpPr>
        <p:spPr/>
        <p:txBody>
          <a:bodyPr/>
          <a:lstStyle/>
          <a:p>
            <a:fld id="{9370333F-211E-480A-A48D-622F2EB68390}" type="slidenum">
              <a:rPr lang="es-ES" altLang="en-US" smtClean="0"/>
              <a:pPr/>
              <a:t>22</a:t>
            </a:fld>
            <a:endParaRPr lang="es-ES" altLang="en-US"/>
          </a:p>
        </p:txBody>
      </p:sp>
    </p:spTree>
    <p:extLst>
      <p:ext uri="{BB962C8B-B14F-4D97-AF65-F5344CB8AC3E}">
        <p14:creationId xmlns:p14="http://schemas.microsoft.com/office/powerpoint/2010/main" val="467791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70938" y="274639"/>
            <a:ext cx="5779911" cy="1143000"/>
          </a:xfrm>
        </p:spPr>
        <p:txBody>
          <a:bodyPr>
            <a:normAutofit/>
          </a:bodyPr>
          <a:lstStyle/>
          <a:p>
            <a:r>
              <a:rPr lang="en-US" dirty="0"/>
              <a:t>Shifting the inputs</a:t>
            </a:r>
          </a:p>
        </p:txBody>
      </p:sp>
      <p:sp>
        <p:nvSpPr>
          <p:cNvPr id="3" name="Content Placeholder 2"/>
          <p:cNvSpPr>
            <a:spLocks noGrp="1"/>
          </p:cNvSpPr>
          <p:nvPr>
            <p:ph sz="half" idx="1"/>
          </p:nvPr>
        </p:nvSpPr>
        <p:spPr>
          <a:xfrm>
            <a:off x="270938" y="1600201"/>
            <a:ext cx="5531628" cy="4525963"/>
          </a:xfrm>
        </p:spPr>
        <p:txBody>
          <a:bodyPr>
            <a:normAutofit/>
          </a:bodyPr>
          <a:lstStyle/>
          <a:p>
            <a:r>
              <a:rPr lang="en-US" dirty="0"/>
              <a:t>When using steepest descent, shifting  the input values makes a big difference.</a:t>
            </a:r>
          </a:p>
          <a:p>
            <a:pPr lvl="1"/>
            <a:r>
              <a:rPr lang="en-US" dirty="0"/>
              <a:t>It usually helps to transform each component of the input vector so that it has zero mean over the whole training set. </a:t>
            </a:r>
          </a:p>
          <a:p>
            <a:r>
              <a:rPr lang="en-US" dirty="0"/>
              <a:t>The </a:t>
            </a:r>
            <a:r>
              <a:rPr lang="en-US" dirty="0" err="1"/>
              <a:t>hypberbolic</a:t>
            </a:r>
            <a:r>
              <a:rPr lang="en-US" dirty="0"/>
              <a:t> tangent (which is 2*logistic -1) produces hidden activations that are roughly zero mean. </a:t>
            </a:r>
          </a:p>
          <a:p>
            <a:pPr lvl="1"/>
            <a:r>
              <a:rPr lang="en-US" dirty="0"/>
              <a:t>In this respect its better than the logistic. </a:t>
            </a:r>
          </a:p>
        </p:txBody>
      </p:sp>
      <p:graphicFrame>
        <p:nvGraphicFramePr>
          <p:cNvPr id="5" name="Object 13"/>
          <p:cNvGraphicFramePr>
            <a:graphicFrameLocks noChangeAspect="1"/>
          </p:cNvGraphicFramePr>
          <p:nvPr/>
        </p:nvGraphicFramePr>
        <p:xfrm>
          <a:off x="6899107" y="1389366"/>
          <a:ext cx="1816020" cy="539268"/>
        </p:xfrm>
        <a:graphic>
          <a:graphicData uri="http://schemas.openxmlformats.org/presentationml/2006/ole">
            <mc:AlternateContent xmlns:mc="http://schemas.openxmlformats.org/markup-compatibility/2006">
              <mc:Choice xmlns:v="urn:schemas-microsoft-com:vml" Requires="v">
                <p:oleObj name="Equation" r:id="rId2" imgW="594000" imgH="228240" progId="Equation.3">
                  <p:embed/>
                </p:oleObj>
              </mc:Choice>
              <mc:Fallback>
                <p:oleObj name="Equation" r:id="rId2" imgW="594000" imgH="228240" progId="Equation.3">
                  <p:embed/>
                  <p:pic>
                    <p:nvPicPr>
                      <p:cNvPr id="5"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9107" y="1389366"/>
                        <a:ext cx="1816020" cy="53926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 name="Oval 7"/>
          <p:cNvSpPr>
            <a:spLocks noChangeArrowheads="1"/>
          </p:cNvSpPr>
          <p:nvPr/>
        </p:nvSpPr>
        <p:spPr bwMode="auto">
          <a:xfrm>
            <a:off x="6997321" y="804784"/>
            <a:ext cx="757700" cy="492192"/>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8" name="Line 9"/>
          <p:cNvSpPr>
            <a:spLocks noChangeShapeType="1"/>
          </p:cNvSpPr>
          <p:nvPr/>
        </p:nvSpPr>
        <p:spPr bwMode="auto">
          <a:xfrm flipV="1">
            <a:off x="6502426" y="1217085"/>
            <a:ext cx="607780" cy="711547"/>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9" name="Line 10"/>
          <p:cNvSpPr>
            <a:spLocks noChangeShapeType="1"/>
          </p:cNvSpPr>
          <p:nvPr/>
        </p:nvSpPr>
        <p:spPr bwMode="auto">
          <a:xfrm flipH="1" flipV="1">
            <a:off x="7659009" y="1239666"/>
            <a:ext cx="557288" cy="688967"/>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2" name="Oval 7"/>
          <p:cNvSpPr>
            <a:spLocks noChangeArrowheads="1"/>
          </p:cNvSpPr>
          <p:nvPr/>
        </p:nvSpPr>
        <p:spPr bwMode="auto">
          <a:xfrm>
            <a:off x="6161963" y="1865923"/>
            <a:ext cx="757700" cy="492192"/>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13" name="Oval 7"/>
          <p:cNvSpPr>
            <a:spLocks noChangeArrowheads="1"/>
          </p:cNvSpPr>
          <p:nvPr/>
        </p:nvSpPr>
        <p:spPr bwMode="auto">
          <a:xfrm>
            <a:off x="7787531" y="1865923"/>
            <a:ext cx="757700" cy="492192"/>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15" name="TextBox 14"/>
          <p:cNvSpPr txBox="1"/>
          <p:nvPr/>
        </p:nvSpPr>
        <p:spPr>
          <a:xfrm>
            <a:off x="5983185" y="3107677"/>
            <a:ext cx="2157385" cy="913199"/>
          </a:xfrm>
          <a:prstGeom prst="rect">
            <a:avLst/>
          </a:prstGeom>
          <a:noFill/>
        </p:spPr>
        <p:txBody>
          <a:bodyPr wrap="none" rtlCol="0">
            <a:spAutoFit/>
          </a:bodyPr>
          <a:lstStyle/>
          <a:p>
            <a:r>
              <a:rPr lang="en-US" sz="2667" dirty="0">
                <a:solidFill>
                  <a:srgbClr val="008000"/>
                </a:solidFill>
              </a:rPr>
              <a:t>101, 101 </a:t>
            </a:r>
            <a:r>
              <a:rPr lang="en-US" sz="2667" dirty="0">
                <a:solidFill>
                  <a:srgbClr val="008000"/>
                </a:solidFill>
                <a:sym typeface="Wingdings"/>
              </a:rPr>
              <a:t>  2</a:t>
            </a:r>
          </a:p>
          <a:p>
            <a:r>
              <a:rPr lang="en-US" sz="2667" dirty="0">
                <a:solidFill>
                  <a:srgbClr val="FF0000"/>
                </a:solidFill>
                <a:sym typeface="Wingdings"/>
              </a:rPr>
              <a:t>101,   99   0</a:t>
            </a:r>
            <a:endParaRPr lang="en-US" sz="2667" dirty="0">
              <a:solidFill>
                <a:srgbClr val="FF0000"/>
              </a:solidFill>
            </a:endParaRPr>
          </a:p>
        </p:txBody>
      </p:sp>
      <p:sp>
        <p:nvSpPr>
          <p:cNvPr id="20" name="Line 9"/>
          <p:cNvSpPr>
            <a:spLocks noChangeShapeType="1"/>
          </p:cNvSpPr>
          <p:nvPr/>
        </p:nvSpPr>
        <p:spPr bwMode="auto">
          <a:xfrm flipV="1">
            <a:off x="7358560" y="381728"/>
            <a:ext cx="0" cy="423056"/>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cxnSp>
        <p:nvCxnSpPr>
          <p:cNvPr id="22" name="Straight Connector 21"/>
          <p:cNvCxnSpPr/>
          <p:nvPr/>
        </p:nvCxnSpPr>
        <p:spPr>
          <a:xfrm>
            <a:off x="9638670" y="2235234"/>
            <a:ext cx="1943700" cy="2230613"/>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9866571" y="2235233"/>
            <a:ext cx="1608595" cy="24384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rot="19376158">
            <a:off x="10498273" y="2311169"/>
            <a:ext cx="347367" cy="228035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5" name="TextBox 44"/>
          <p:cNvSpPr txBox="1"/>
          <p:nvPr/>
        </p:nvSpPr>
        <p:spPr>
          <a:xfrm>
            <a:off x="8511886" y="3068696"/>
            <a:ext cx="1715833" cy="913199"/>
          </a:xfrm>
          <a:prstGeom prst="rect">
            <a:avLst/>
          </a:prstGeom>
          <a:noFill/>
        </p:spPr>
        <p:txBody>
          <a:bodyPr wrap="square" rtlCol="0">
            <a:spAutoFit/>
          </a:bodyPr>
          <a:lstStyle/>
          <a:p>
            <a:r>
              <a:rPr lang="en-US" sz="2667" dirty="0">
                <a:solidFill>
                  <a:srgbClr val="0000FF"/>
                </a:solidFill>
              </a:rPr>
              <a:t>gives error surface</a:t>
            </a:r>
          </a:p>
        </p:txBody>
      </p:sp>
      <p:sp>
        <p:nvSpPr>
          <p:cNvPr id="23" name="TextBox 22"/>
          <p:cNvSpPr txBox="1"/>
          <p:nvPr/>
        </p:nvSpPr>
        <p:spPr>
          <a:xfrm>
            <a:off x="6271337" y="4646462"/>
            <a:ext cx="1658852" cy="1282531"/>
          </a:xfrm>
          <a:prstGeom prst="rect">
            <a:avLst/>
          </a:prstGeom>
          <a:noFill/>
        </p:spPr>
        <p:txBody>
          <a:bodyPr wrap="none" rtlCol="0">
            <a:spAutoFit/>
          </a:bodyPr>
          <a:lstStyle/>
          <a:p>
            <a:r>
              <a:rPr lang="en-US" sz="2667" dirty="0">
                <a:solidFill>
                  <a:srgbClr val="008000"/>
                </a:solidFill>
                <a:sym typeface="Wingdings"/>
              </a:rPr>
              <a:t>1,   1   2</a:t>
            </a:r>
          </a:p>
          <a:p>
            <a:r>
              <a:rPr lang="en-US" sz="2667" dirty="0">
                <a:solidFill>
                  <a:srgbClr val="FF0000"/>
                </a:solidFill>
              </a:rPr>
              <a:t>1,  -1 </a:t>
            </a:r>
            <a:r>
              <a:rPr lang="en-US" sz="2667" dirty="0">
                <a:solidFill>
                  <a:srgbClr val="FF0000"/>
                </a:solidFill>
                <a:sym typeface="Wingdings"/>
              </a:rPr>
              <a:t>  0</a:t>
            </a:r>
          </a:p>
          <a:p>
            <a:endParaRPr lang="en-US" sz="2400" dirty="0"/>
          </a:p>
        </p:txBody>
      </p:sp>
      <p:cxnSp>
        <p:nvCxnSpPr>
          <p:cNvPr id="25" name="Straight Connector 24"/>
          <p:cNvCxnSpPr/>
          <p:nvPr/>
        </p:nvCxnSpPr>
        <p:spPr>
          <a:xfrm>
            <a:off x="10109480" y="4691617"/>
            <a:ext cx="790221" cy="861775"/>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flipH="1">
            <a:off x="10109480" y="4691617"/>
            <a:ext cx="790221" cy="86177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0041842" y="4646463"/>
            <a:ext cx="903015" cy="906928"/>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9" name="TextBox 28"/>
          <p:cNvSpPr txBox="1"/>
          <p:nvPr/>
        </p:nvSpPr>
        <p:spPr>
          <a:xfrm>
            <a:off x="8145297" y="4607481"/>
            <a:ext cx="1715833" cy="913199"/>
          </a:xfrm>
          <a:prstGeom prst="rect">
            <a:avLst/>
          </a:prstGeom>
          <a:noFill/>
        </p:spPr>
        <p:txBody>
          <a:bodyPr wrap="square" rtlCol="0">
            <a:spAutoFit/>
          </a:bodyPr>
          <a:lstStyle/>
          <a:p>
            <a:r>
              <a:rPr lang="en-US" sz="2667" dirty="0">
                <a:solidFill>
                  <a:srgbClr val="0000FF"/>
                </a:solidFill>
              </a:rPr>
              <a:t>gives error surface</a:t>
            </a:r>
          </a:p>
        </p:txBody>
      </p:sp>
      <p:sp>
        <p:nvSpPr>
          <p:cNvPr id="30" name="TextBox 29"/>
          <p:cNvSpPr txBox="1"/>
          <p:nvPr/>
        </p:nvSpPr>
        <p:spPr>
          <a:xfrm>
            <a:off x="9324620" y="714475"/>
            <a:ext cx="2370667" cy="830997"/>
          </a:xfrm>
          <a:prstGeom prst="rect">
            <a:avLst/>
          </a:prstGeom>
          <a:noFill/>
        </p:spPr>
        <p:txBody>
          <a:bodyPr wrap="square" rtlCol="0">
            <a:spAutoFit/>
          </a:bodyPr>
          <a:lstStyle/>
          <a:p>
            <a:r>
              <a:rPr lang="en-US" sz="2400" dirty="0">
                <a:solidFill>
                  <a:srgbClr val="008000"/>
                </a:solidFill>
              </a:rPr>
              <a:t>co</a:t>
            </a:r>
            <a:r>
              <a:rPr lang="en-US" sz="2400" dirty="0">
                <a:solidFill>
                  <a:srgbClr val="FF0000"/>
                </a:solidFill>
              </a:rPr>
              <a:t>lor</a:t>
            </a:r>
            <a:r>
              <a:rPr lang="en-US" sz="2400" dirty="0"/>
              <a:t> indicates training case</a:t>
            </a:r>
          </a:p>
        </p:txBody>
      </p:sp>
      <p:sp>
        <p:nvSpPr>
          <p:cNvPr id="4" name="Footer Placeholder 3">
            <a:extLst>
              <a:ext uri="{FF2B5EF4-FFF2-40B4-BE49-F238E27FC236}">
                <a16:creationId xmlns:a16="http://schemas.microsoft.com/office/drawing/2014/main" id="{17A5A7B5-D5C7-4A60-A07E-191FF53F81C6}"/>
              </a:ext>
            </a:extLst>
          </p:cNvPr>
          <p:cNvSpPr>
            <a:spLocks noGrp="1"/>
          </p:cNvSpPr>
          <p:nvPr>
            <p:ph type="ftr" sz="quarter" idx="11"/>
          </p:nvPr>
        </p:nvSpPr>
        <p:spPr/>
        <p:txBody>
          <a:bodyPr/>
          <a:lstStyle/>
          <a:p>
            <a:pPr>
              <a:defRPr/>
            </a:pPr>
            <a:r>
              <a:rPr lang="es-ES"/>
              <a:t>Dr. Deepali Vora</a:t>
            </a:r>
          </a:p>
        </p:txBody>
      </p:sp>
      <p:sp>
        <p:nvSpPr>
          <p:cNvPr id="7" name="Slide Number Placeholder 6">
            <a:extLst>
              <a:ext uri="{FF2B5EF4-FFF2-40B4-BE49-F238E27FC236}">
                <a16:creationId xmlns:a16="http://schemas.microsoft.com/office/drawing/2014/main" id="{BB9D5D2D-11AF-453F-ACAA-BC2873B2A0F4}"/>
              </a:ext>
            </a:extLst>
          </p:cNvPr>
          <p:cNvSpPr>
            <a:spLocks noGrp="1"/>
          </p:cNvSpPr>
          <p:nvPr>
            <p:ph type="sldNum" sz="quarter" idx="12"/>
          </p:nvPr>
        </p:nvSpPr>
        <p:spPr/>
        <p:txBody>
          <a:bodyPr/>
          <a:lstStyle/>
          <a:p>
            <a:fld id="{9370333F-211E-480A-A48D-622F2EB68390}" type="slidenum">
              <a:rPr lang="es-ES" altLang="en-US" smtClean="0"/>
              <a:pPr/>
              <a:t>23</a:t>
            </a:fld>
            <a:endParaRPr lang="es-ES" altLang="en-US"/>
          </a:p>
        </p:txBody>
      </p:sp>
    </p:spTree>
    <p:extLst>
      <p:ext uri="{BB962C8B-B14F-4D97-AF65-F5344CB8AC3E}">
        <p14:creationId xmlns:p14="http://schemas.microsoft.com/office/powerpoint/2010/main" val="187015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2" grpId="0" animBg="1"/>
      <p:bldP spid="13" grpId="0" animBg="1"/>
      <p:bldP spid="15" grpId="0"/>
      <p:bldP spid="20" grpId="0" animBg="1"/>
      <p:bldP spid="27" grpId="0" animBg="1"/>
      <p:bldP spid="45" grpId="0"/>
      <p:bldP spid="23" grpId="0"/>
      <p:bldP spid="28" grpId="0" animBg="1"/>
      <p:bldP spid="29" grpId="0"/>
      <p:bldP spid="30"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48363" y="274639"/>
            <a:ext cx="5779911" cy="1143000"/>
          </a:xfrm>
        </p:spPr>
        <p:txBody>
          <a:bodyPr>
            <a:normAutofit/>
          </a:bodyPr>
          <a:lstStyle/>
          <a:p>
            <a:r>
              <a:rPr lang="en-US" dirty="0"/>
              <a:t>Scaling the inputs</a:t>
            </a:r>
          </a:p>
        </p:txBody>
      </p:sp>
      <p:sp>
        <p:nvSpPr>
          <p:cNvPr id="3" name="Content Placeholder 2"/>
          <p:cNvSpPr>
            <a:spLocks noGrp="1"/>
          </p:cNvSpPr>
          <p:nvPr>
            <p:ph sz="half" idx="1"/>
          </p:nvPr>
        </p:nvSpPr>
        <p:spPr>
          <a:xfrm>
            <a:off x="451557" y="1622779"/>
            <a:ext cx="4899377" cy="4525963"/>
          </a:xfrm>
        </p:spPr>
        <p:txBody>
          <a:bodyPr>
            <a:normAutofit/>
          </a:bodyPr>
          <a:lstStyle/>
          <a:p>
            <a:r>
              <a:rPr lang="en-US" dirty="0"/>
              <a:t>When using steepest descent, scaling  the input values makes a big difference.</a:t>
            </a:r>
          </a:p>
          <a:p>
            <a:pPr lvl="1"/>
            <a:r>
              <a:rPr lang="en-US" dirty="0"/>
              <a:t>It usually helps to transform each component of the input vector so that it has unit variance over the whole training set. </a:t>
            </a:r>
          </a:p>
        </p:txBody>
      </p:sp>
      <p:graphicFrame>
        <p:nvGraphicFramePr>
          <p:cNvPr id="5" name="Object 13"/>
          <p:cNvGraphicFramePr>
            <a:graphicFrameLocks noChangeAspect="1"/>
          </p:cNvGraphicFramePr>
          <p:nvPr/>
        </p:nvGraphicFramePr>
        <p:xfrm>
          <a:off x="6899107" y="1389366"/>
          <a:ext cx="1816020" cy="539268"/>
        </p:xfrm>
        <a:graphic>
          <a:graphicData uri="http://schemas.openxmlformats.org/presentationml/2006/ole">
            <mc:AlternateContent xmlns:mc="http://schemas.openxmlformats.org/markup-compatibility/2006">
              <mc:Choice xmlns:v="urn:schemas-microsoft-com:vml" Requires="v">
                <p:oleObj name="Equation" r:id="rId2" imgW="594000" imgH="228240" progId="Equation.3">
                  <p:embed/>
                </p:oleObj>
              </mc:Choice>
              <mc:Fallback>
                <p:oleObj name="Equation" r:id="rId2" imgW="594000" imgH="228240" progId="Equation.3">
                  <p:embed/>
                  <p:pic>
                    <p:nvPicPr>
                      <p:cNvPr id="5"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9107" y="1389366"/>
                        <a:ext cx="1816020" cy="53926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 name="Oval 7"/>
          <p:cNvSpPr>
            <a:spLocks noChangeArrowheads="1"/>
          </p:cNvSpPr>
          <p:nvPr/>
        </p:nvSpPr>
        <p:spPr bwMode="auto">
          <a:xfrm>
            <a:off x="6997321" y="804784"/>
            <a:ext cx="757700" cy="492192"/>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8" name="Line 9"/>
          <p:cNvSpPr>
            <a:spLocks noChangeShapeType="1"/>
          </p:cNvSpPr>
          <p:nvPr/>
        </p:nvSpPr>
        <p:spPr bwMode="auto">
          <a:xfrm flipV="1">
            <a:off x="6502426" y="1217085"/>
            <a:ext cx="607780" cy="711547"/>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9" name="Line 10"/>
          <p:cNvSpPr>
            <a:spLocks noChangeShapeType="1"/>
          </p:cNvSpPr>
          <p:nvPr/>
        </p:nvSpPr>
        <p:spPr bwMode="auto">
          <a:xfrm flipH="1" flipV="1">
            <a:off x="7659009" y="1239666"/>
            <a:ext cx="557288" cy="688967"/>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2" name="Oval 7"/>
          <p:cNvSpPr>
            <a:spLocks noChangeArrowheads="1"/>
          </p:cNvSpPr>
          <p:nvPr/>
        </p:nvSpPr>
        <p:spPr bwMode="auto">
          <a:xfrm>
            <a:off x="6161963" y="1865923"/>
            <a:ext cx="757700" cy="492192"/>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13" name="Oval 7"/>
          <p:cNvSpPr>
            <a:spLocks noChangeArrowheads="1"/>
          </p:cNvSpPr>
          <p:nvPr/>
        </p:nvSpPr>
        <p:spPr bwMode="auto">
          <a:xfrm>
            <a:off x="7787531" y="1865923"/>
            <a:ext cx="757700" cy="492192"/>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14" name="TextBox 13"/>
          <p:cNvSpPr txBox="1"/>
          <p:nvPr/>
        </p:nvSpPr>
        <p:spPr>
          <a:xfrm>
            <a:off x="6060239" y="4860234"/>
            <a:ext cx="1658852" cy="1282531"/>
          </a:xfrm>
          <a:prstGeom prst="rect">
            <a:avLst/>
          </a:prstGeom>
          <a:noFill/>
        </p:spPr>
        <p:txBody>
          <a:bodyPr wrap="none" rtlCol="0">
            <a:spAutoFit/>
          </a:bodyPr>
          <a:lstStyle/>
          <a:p>
            <a:r>
              <a:rPr lang="en-US" sz="2667" dirty="0">
                <a:solidFill>
                  <a:srgbClr val="FF0000"/>
                </a:solidFill>
                <a:sym typeface="Wingdings"/>
              </a:rPr>
              <a:t>1,   </a:t>
            </a:r>
            <a:r>
              <a:rPr lang="en-US" sz="2667" dirty="0">
                <a:solidFill>
                  <a:srgbClr val="008000"/>
                </a:solidFill>
                <a:sym typeface="Wingdings"/>
              </a:rPr>
              <a:t>1</a:t>
            </a:r>
            <a:r>
              <a:rPr lang="en-US" sz="2667" dirty="0">
                <a:solidFill>
                  <a:srgbClr val="000000"/>
                </a:solidFill>
                <a:sym typeface="Wingdings"/>
              </a:rPr>
              <a:t>   2</a:t>
            </a:r>
          </a:p>
          <a:p>
            <a:r>
              <a:rPr lang="en-US" sz="2667" dirty="0">
                <a:solidFill>
                  <a:srgbClr val="FF0000"/>
                </a:solidFill>
              </a:rPr>
              <a:t>1,  </a:t>
            </a:r>
            <a:r>
              <a:rPr lang="en-US" sz="2667" dirty="0">
                <a:solidFill>
                  <a:srgbClr val="008000"/>
                </a:solidFill>
              </a:rPr>
              <a:t>-1 </a:t>
            </a:r>
            <a:r>
              <a:rPr lang="en-US" sz="2667" dirty="0">
                <a:solidFill>
                  <a:srgbClr val="000000"/>
                </a:solidFill>
                <a:sym typeface="Wingdings"/>
              </a:rPr>
              <a:t>  0</a:t>
            </a:r>
          </a:p>
          <a:p>
            <a:endParaRPr lang="en-US" sz="2400" dirty="0"/>
          </a:p>
        </p:txBody>
      </p:sp>
      <p:sp>
        <p:nvSpPr>
          <p:cNvPr id="15" name="TextBox 14"/>
          <p:cNvSpPr txBox="1"/>
          <p:nvPr/>
        </p:nvSpPr>
        <p:spPr>
          <a:xfrm>
            <a:off x="5825110" y="2882095"/>
            <a:ext cx="2171813" cy="913199"/>
          </a:xfrm>
          <a:prstGeom prst="rect">
            <a:avLst/>
          </a:prstGeom>
          <a:noFill/>
        </p:spPr>
        <p:txBody>
          <a:bodyPr wrap="none" rtlCol="0">
            <a:spAutoFit/>
          </a:bodyPr>
          <a:lstStyle/>
          <a:p>
            <a:r>
              <a:rPr lang="en-US" sz="2667" dirty="0">
                <a:solidFill>
                  <a:srgbClr val="FF0000"/>
                </a:solidFill>
              </a:rPr>
              <a:t>0.1,   </a:t>
            </a:r>
            <a:r>
              <a:rPr lang="en-US" sz="2667" dirty="0">
                <a:solidFill>
                  <a:srgbClr val="008000"/>
                </a:solidFill>
              </a:rPr>
              <a:t>10  </a:t>
            </a:r>
            <a:r>
              <a:rPr lang="en-US" sz="2667" dirty="0">
                <a:sym typeface="Wingdings"/>
              </a:rPr>
              <a:t>  2</a:t>
            </a:r>
          </a:p>
          <a:p>
            <a:r>
              <a:rPr lang="en-US" sz="2667" dirty="0">
                <a:solidFill>
                  <a:srgbClr val="FF0000"/>
                </a:solidFill>
                <a:sym typeface="Wingdings"/>
              </a:rPr>
              <a:t>0.1,  </a:t>
            </a:r>
            <a:r>
              <a:rPr lang="en-US" sz="2667" dirty="0">
                <a:solidFill>
                  <a:srgbClr val="008000"/>
                </a:solidFill>
                <a:sym typeface="Wingdings"/>
              </a:rPr>
              <a:t>-10  </a:t>
            </a:r>
            <a:r>
              <a:rPr lang="en-US" sz="2667" dirty="0">
                <a:solidFill>
                  <a:srgbClr val="000000"/>
                </a:solidFill>
                <a:sym typeface="Wingdings"/>
              </a:rPr>
              <a:t>  0</a:t>
            </a:r>
            <a:endParaRPr lang="en-US" sz="2667" dirty="0">
              <a:solidFill>
                <a:srgbClr val="000000"/>
              </a:solidFill>
            </a:endParaRPr>
          </a:p>
        </p:txBody>
      </p:sp>
      <p:cxnSp>
        <p:nvCxnSpPr>
          <p:cNvPr id="17" name="Straight Connector 16"/>
          <p:cNvCxnSpPr/>
          <p:nvPr/>
        </p:nvCxnSpPr>
        <p:spPr>
          <a:xfrm>
            <a:off x="9710652" y="5313303"/>
            <a:ext cx="1165680"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rot="19019314" flipH="1">
            <a:off x="9898382" y="4905389"/>
            <a:ext cx="790221" cy="86177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0" name="Line 9"/>
          <p:cNvSpPr>
            <a:spLocks noChangeShapeType="1"/>
          </p:cNvSpPr>
          <p:nvPr/>
        </p:nvSpPr>
        <p:spPr bwMode="auto">
          <a:xfrm flipV="1">
            <a:off x="7358560" y="381728"/>
            <a:ext cx="0" cy="423056"/>
          </a:xfrm>
          <a:prstGeom prst="line">
            <a:avLst/>
          </a:prstGeom>
          <a:noFill/>
          <a:ln w="381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21" name="Oval 20"/>
          <p:cNvSpPr/>
          <p:nvPr/>
        </p:nvSpPr>
        <p:spPr>
          <a:xfrm rot="19019314">
            <a:off x="9830743" y="4860235"/>
            <a:ext cx="903015" cy="906928"/>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22" name="Straight Connector 21"/>
          <p:cNvCxnSpPr/>
          <p:nvPr/>
        </p:nvCxnSpPr>
        <p:spPr>
          <a:xfrm>
            <a:off x="10476028" y="1603402"/>
            <a:ext cx="0" cy="288536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0299828" y="1965159"/>
            <a:ext cx="334275" cy="228035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2" name="TextBox 41"/>
          <p:cNvSpPr txBox="1"/>
          <p:nvPr/>
        </p:nvSpPr>
        <p:spPr>
          <a:xfrm>
            <a:off x="7934198" y="4821253"/>
            <a:ext cx="1715833" cy="913199"/>
          </a:xfrm>
          <a:prstGeom prst="rect">
            <a:avLst/>
          </a:prstGeom>
          <a:noFill/>
        </p:spPr>
        <p:txBody>
          <a:bodyPr wrap="square" rtlCol="0">
            <a:spAutoFit/>
          </a:bodyPr>
          <a:lstStyle/>
          <a:p>
            <a:r>
              <a:rPr lang="en-US" sz="2667" dirty="0">
                <a:solidFill>
                  <a:srgbClr val="0000FF"/>
                </a:solidFill>
              </a:rPr>
              <a:t>gives error surface</a:t>
            </a:r>
          </a:p>
        </p:txBody>
      </p:sp>
      <p:sp>
        <p:nvSpPr>
          <p:cNvPr id="45" name="TextBox 44"/>
          <p:cNvSpPr txBox="1"/>
          <p:nvPr/>
        </p:nvSpPr>
        <p:spPr>
          <a:xfrm>
            <a:off x="8353812" y="2843115"/>
            <a:ext cx="1715833" cy="913199"/>
          </a:xfrm>
          <a:prstGeom prst="rect">
            <a:avLst/>
          </a:prstGeom>
          <a:noFill/>
        </p:spPr>
        <p:txBody>
          <a:bodyPr wrap="square" rtlCol="0">
            <a:spAutoFit/>
          </a:bodyPr>
          <a:lstStyle/>
          <a:p>
            <a:r>
              <a:rPr lang="en-US" sz="2667" dirty="0">
                <a:solidFill>
                  <a:srgbClr val="0000FF"/>
                </a:solidFill>
              </a:rPr>
              <a:t>gives error surface</a:t>
            </a:r>
          </a:p>
        </p:txBody>
      </p:sp>
      <p:cxnSp>
        <p:nvCxnSpPr>
          <p:cNvPr id="55" name="Straight Connector 54"/>
          <p:cNvCxnSpPr/>
          <p:nvPr/>
        </p:nvCxnSpPr>
        <p:spPr>
          <a:xfrm>
            <a:off x="10117049" y="3168460"/>
            <a:ext cx="714129" cy="0"/>
          </a:xfrm>
          <a:prstGeom prst="line">
            <a:avLst/>
          </a:prstGeom>
          <a:ln>
            <a:solidFill>
              <a:srgbClr val="008000"/>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9324620" y="714475"/>
            <a:ext cx="2370667" cy="830997"/>
          </a:xfrm>
          <a:prstGeom prst="rect">
            <a:avLst/>
          </a:prstGeom>
          <a:noFill/>
        </p:spPr>
        <p:txBody>
          <a:bodyPr wrap="square" rtlCol="0">
            <a:spAutoFit/>
          </a:bodyPr>
          <a:lstStyle/>
          <a:p>
            <a:r>
              <a:rPr lang="en-US" sz="2400" dirty="0">
                <a:solidFill>
                  <a:srgbClr val="008000"/>
                </a:solidFill>
              </a:rPr>
              <a:t>co</a:t>
            </a:r>
            <a:r>
              <a:rPr lang="en-US" sz="2400" dirty="0">
                <a:solidFill>
                  <a:srgbClr val="FF0000"/>
                </a:solidFill>
              </a:rPr>
              <a:t>lor</a:t>
            </a:r>
            <a:r>
              <a:rPr lang="en-US" sz="2400" dirty="0"/>
              <a:t> indicates weight axis</a:t>
            </a:r>
          </a:p>
        </p:txBody>
      </p:sp>
      <p:sp>
        <p:nvSpPr>
          <p:cNvPr id="4" name="Footer Placeholder 3">
            <a:extLst>
              <a:ext uri="{FF2B5EF4-FFF2-40B4-BE49-F238E27FC236}">
                <a16:creationId xmlns:a16="http://schemas.microsoft.com/office/drawing/2014/main" id="{5A5332B2-2E17-4093-82CF-D8F8855B4315}"/>
              </a:ext>
            </a:extLst>
          </p:cNvPr>
          <p:cNvSpPr>
            <a:spLocks noGrp="1"/>
          </p:cNvSpPr>
          <p:nvPr>
            <p:ph type="ftr" sz="quarter" idx="11"/>
          </p:nvPr>
        </p:nvSpPr>
        <p:spPr/>
        <p:txBody>
          <a:bodyPr/>
          <a:lstStyle/>
          <a:p>
            <a:pPr>
              <a:defRPr/>
            </a:pPr>
            <a:r>
              <a:rPr lang="es-ES"/>
              <a:t>Dr. Deepali Vora</a:t>
            </a:r>
          </a:p>
        </p:txBody>
      </p:sp>
      <p:sp>
        <p:nvSpPr>
          <p:cNvPr id="7" name="Slide Number Placeholder 6">
            <a:extLst>
              <a:ext uri="{FF2B5EF4-FFF2-40B4-BE49-F238E27FC236}">
                <a16:creationId xmlns:a16="http://schemas.microsoft.com/office/drawing/2014/main" id="{D4BB97A0-EE6E-4989-9735-E561E8E012EE}"/>
              </a:ext>
            </a:extLst>
          </p:cNvPr>
          <p:cNvSpPr>
            <a:spLocks noGrp="1"/>
          </p:cNvSpPr>
          <p:nvPr>
            <p:ph type="sldNum" sz="quarter" idx="12"/>
          </p:nvPr>
        </p:nvSpPr>
        <p:spPr/>
        <p:txBody>
          <a:bodyPr/>
          <a:lstStyle/>
          <a:p>
            <a:fld id="{9370333F-211E-480A-A48D-622F2EB68390}" type="slidenum">
              <a:rPr lang="es-ES" altLang="en-US" smtClean="0"/>
              <a:pPr/>
              <a:t>24</a:t>
            </a:fld>
            <a:endParaRPr lang="es-ES" altLang="en-US"/>
          </a:p>
        </p:txBody>
      </p:sp>
    </p:spTree>
    <p:extLst>
      <p:ext uri="{BB962C8B-B14F-4D97-AF65-F5344CB8AC3E}">
        <p14:creationId xmlns:p14="http://schemas.microsoft.com/office/powerpoint/2010/main" val="312178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2" grpId="0" animBg="1"/>
      <p:bldP spid="13" grpId="0" animBg="1"/>
      <p:bldP spid="14" grpId="0"/>
      <p:bldP spid="15" grpId="0"/>
      <p:bldP spid="20" grpId="0" animBg="1"/>
      <p:bldP spid="21" grpId="0" animBg="1"/>
      <p:bldP spid="27" grpId="0" animBg="1"/>
      <p:bldP spid="42" grpId="0"/>
      <p:bldP spid="45" grpId="0"/>
      <p:bldP spid="58"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2178" y="139175"/>
            <a:ext cx="11108281" cy="1143000"/>
          </a:xfrm>
        </p:spPr>
        <p:txBody>
          <a:bodyPr>
            <a:normAutofit/>
          </a:bodyPr>
          <a:lstStyle/>
          <a:p>
            <a:r>
              <a:rPr lang="en-US" dirty="0"/>
              <a:t>A more thorough method: </a:t>
            </a:r>
            <a:r>
              <a:rPr lang="en-US" dirty="0" err="1"/>
              <a:t>Decorrelate</a:t>
            </a:r>
            <a:r>
              <a:rPr lang="en-US" dirty="0"/>
              <a:t> the input components</a:t>
            </a:r>
          </a:p>
        </p:txBody>
      </p:sp>
      <p:sp>
        <p:nvSpPr>
          <p:cNvPr id="31" name="Content Placeholder 2"/>
          <p:cNvSpPr>
            <a:spLocks noGrp="1"/>
          </p:cNvSpPr>
          <p:nvPr>
            <p:ph sz="half" idx="1"/>
          </p:nvPr>
        </p:nvSpPr>
        <p:spPr>
          <a:xfrm>
            <a:off x="248364" y="1351851"/>
            <a:ext cx="11717936" cy="4525963"/>
          </a:xfrm>
        </p:spPr>
        <p:txBody>
          <a:bodyPr>
            <a:noAutofit/>
          </a:bodyPr>
          <a:lstStyle/>
          <a:p>
            <a:r>
              <a:rPr lang="en-US" dirty="0"/>
              <a:t>For a linear  neuron, we get a big win by </a:t>
            </a:r>
            <a:r>
              <a:rPr lang="en-US" dirty="0" err="1"/>
              <a:t>decorrelating</a:t>
            </a:r>
            <a:r>
              <a:rPr lang="en-US" dirty="0"/>
              <a:t> each component of the input from the other input components.</a:t>
            </a:r>
          </a:p>
          <a:p>
            <a:r>
              <a:rPr lang="en-US" dirty="0"/>
              <a:t>There are several different ways to </a:t>
            </a:r>
            <a:r>
              <a:rPr lang="en-US" dirty="0" err="1"/>
              <a:t>decorrelate</a:t>
            </a:r>
            <a:r>
              <a:rPr lang="en-US" dirty="0"/>
              <a:t> inputs. A reasonable method is to use Principal Components Analysis.</a:t>
            </a:r>
          </a:p>
          <a:p>
            <a:pPr lvl="1"/>
            <a:r>
              <a:rPr lang="en-US" dirty="0"/>
              <a:t>Drop the principal components with the smallest eigenvalues.</a:t>
            </a:r>
          </a:p>
          <a:p>
            <a:pPr lvl="2"/>
            <a:r>
              <a:rPr lang="en-US" sz="2667" dirty="0"/>
              <a:t> This achieves some dimensionality reduction.</a:t>
            </a:r>
          </a:p>
          <a:p>
            <a:pPr lvl="1"/>
            <a:r>
              <a:rPr lang="en-US" dirty="0"/>
              <a:t>Divide the remaining principal components by the square roots of their eigenvalues. For a linear neuron,  t</a:t>
            </a:r>
            <a:r>
              <a:rPr lang="en-US" sz="2667" dirty="0"/>
              <a:t>his  converts an axis aligned elliptical error surface into a circular one.</a:t>
            </a:r>
          </a:p>
          <a:p>
            <a:r>
              <a:rPr lang="en-US" dirty="0"/>
              <a:t>For a circular error surface, the gradient points straight towards the minimum. </a:t>
            </a:r>
          </a:p>
          <a:p>
            <a:endParaRPr lang="en-US" sz="2933" dirty="0"/>
          </a:p>
        </p:txBody>
      </p:sp>
      <p:sp>
        <p:nvSpPr>
          <p:cNvPr id="3" name="Footer Placeholder 2">
            <a:extLst>
              <a:ext uri="{FF2B5EF4-FFF2-40B4-BE49-F238E27FC236}">
                <a16:creationId xmlns:a16="http://schemas.microsoft.com/office/drawing/2014/main" id="{88228C6C-746C-43FB-91D0-B769A7514FD5}"/>
              </a:ext>
            </a:extLst>
          </p:cNvPr>
          <p:cNvSpPr>
            <a:spLocks noGrp="1"/>
          </p:cNvSpPr>
          <p:nvPr>
            <p:ph type="ftr" sz="quarter" idx="11"/>
          </p:nvPr>
        </p:nvSpPr>
        <p:spPr/>
        <p:txBody>
          <a:bodyPr/>
          <a:lstStyle/>
          <a:p>
            <a:pPr>
              <a:defRPr/>
            </a:pPr>
            <a:r>
              <a:rPr lang="es-ES"/>
              <a:t>Dr. Deepali Vora</a:t>
            </a:r>
          </a:p>
        </p:txBody>
      </p:sp>
      <p:sp>
        <p:nvSpPr>
          <p:cNvPr id="4" name="Slide Number Placeholder 3">
            <a:extLst>
              <a:ext uri="{FF2B5EF4-FFF2-40B4-BE49-F238E27FC236}">
                <a16:creationId xmlns:a16="http://schemas.microsoft.com/office/drawing/2014/main" id="{68FC7C88-C098-4451-B7ED-98F6318147A2}"/>
              </a:ext>
            </a:extLst>
          </p:cNvPr>
          <p:cNvSpPr>
            <a:spLocks noGrp="1"/>
          </p:cNvSpPr>
          <p:nvPr>
            <p:ph type="sldNum" sz="quarter" idx="12"/>
          </p:nvPr>
        </p:nvSpPr>
        <p:spPr/>
        <p:txBody>
          <a:bodyPr/>
          <a:lstStyle/>
          <a:p>
            <a:fld id="{9370333F-211E-480A-A48D-622F2EB68390}" type="slidenum">
              <a:rPr lang="es-ES" altLang="en-US" smtClean="0"/>
              <a:pPr/>
              <a:t>25</a:t>
            </a:fld>
            <a:endParaRPr lang="es-ES" altLang="en-US"/>
          </a:p>
        </p:txBody>
      </p:sp>
    </p:spTree>
    <p:extLst>
      <p:ext uri="{BB962C8B-B14F-4D97-AF65-F5344CB8AC3E}">
        <p14:creationId xmlns:p14="http://schemas.microsoft.com/office/powerpoint/2010/main" val="296924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Common problems that occur in multilayer networks</a:t>
            </a:r>
          </a:p>
        </p:txBody>
      </p:sp>
      <p:sp>
        <p:nvSpPr>
          <p:cNvPr id="5" name="Content Placeholder 4"/>
          <p:cNvSpPr>
            <a:spLocks noGrp="1"/>
          </p:cNvSpPr>
          <p:nvPr>
            <p:ph sz="half" idx="1"/>
          </p:nvPr>
        </p:nvSpPr>
        <p:spPr>
          <a:xfrm>
            <a:off x="1062682" y="2471351"/>
            <a:ext cx="4791002" cy="4188941"/>
          </a:xfrm>
        </p:spPr>
        <p:txBody>
          <a:bodyPr>
            <a:normAutofit fontScale="92500" lnSpcReduction="10000"/>
          </a:bodyPr>
          <a:lstStyle/>
          <a:p>
            <a:pPr>
              <a:lnSpc>
                <a:spcPct val="124000"/>
              </a:lnSpc>
            </a:pPr>
            <a:r>
              <a:rPr lang="en-US" sz="2400" dirty="0"/>
              <a:t>If we start with a very big learning rate, the weights of each hidden unit will all become very big and positive or very big and negative.</a:t>
            </a:r>
          </a:p>
          <a:p>
            <a:pPr lvl="1">
              <a:lnSpc>
                <a:spcPct val="124000"/>
              </a:lnSpc>
            </a:pPr>
            <a:r>
              <a:rPr lang="en-US" sz="2000" dirty="0">
                <a:solidFill>
                  <a:srgbClr val="C00000"/>
                </a:solidFill>
              </a:rPr>
              <a:t> The error derivatives for the hidden units will all become tiny and the error will not decrease.</a:t>
            </a:r>
          </a:p>
          <a:p>
            <a:pPr lvl="1">
              <a:lnSpc>
                <a:spcPct val="124000"/>
              </a:lnSpc>
            </a:pPr>
            <a:r>
              <a:rPr lang="en-US" sz="2000" dirty="0">
                <a:solidFill>
                  <a:srgbClr val="C00000"/>
                </a:solidFill>
              </a:rPr>
              <a:t>This is usually a plateau, but people often mistake it for a local minimum.</a:t>
            </a:r>
          </a:p>
        </p:txBody>
      </p:sp>
      <p:sp>
        <p:nvSpPr>
          <p:cNvPr id="6" name="Content Placeholder 5"/>
          <p:cNvSpPr>
            <a:spLocks noGrp="1"/>
          </p:cNvSpPr>
          <p:nvPr>
            <p:ph sz="half" idx="2"/>
          </p:nvPr>
        </p:nvSpPr>
        <p:spPr>
          <a:xfrm>
            <a:off x="6338315" y="2471351"/>
            <a:ext cx="4791002" cy="4386649"/>
          </a:xfrm>
        </p:spPr>
        <p:txBody>
          <a:bodyPr>
            <a:normAutofit fontScale="92500" lnSpcReduction="10000"/>
          </a:bodyPr>
          <a:lstStyle/>
          <a:p>
            <a:pPr>
              <a:lnSpc>
                <a:spcPct val="124000"/>
              </a:lnSpc>
            </a:pPr>
            <a:r>
              <a:rPr lang="en-US" sz="2200" dirty="0"/>
              <a:t>In  classification networks that use a squared error or a cross-entropy error, the best guessing strategy is to make each output unit always produce an output equal to the proportion of time it should be a 1. </a:t>
            </a:r>
          </a:p>
          <a:p>
            <a:pPr lvl="1">
              <a:lnSpc>
                <a:spcPct val="124000"/>
              </a:lnSpc>
            </a:pPr>
            <a:r>
              <a:rPr lang="en-US" sz="2200" dirty="0">
                <a:solidFill>
                  <a:srgbClr val="C00000"/>
                </a:solidFill>
              </a:rPr>
              <a:t>The network finds this strategy quickly and may take a long time to improve on it by making use of the input. </a:t>
            </a:r>
          </a:p>
          <a:p>
            <a:pPr lvl="1">
              <a:lnSpc>
                <a:spcPct val="124000"/>
              </a:lnSpc>
            </a:pPr>
            <a:r>
              <a:rPr lang="en-US" sz="2200" dirty="0">
                <a:solidFill>
                  <a:srgbClr val="C00000"/>
                </a:solidFill>
              </a:rPr>
              <a:t>This is another plateau that looks like a local minimum. </a:t>
            </a:r>
          </a:p>
        </p:txBody>
      </p:sp>
      <p:sp>
        <p:nvSpPr>
          <p:cNvPr id="2" name="Footer Placeholder 1">
            <a:extLst>
              <a:ext uri="{FF2B5EF4-FFF2-40B4-BE49-F238E27FC236}">
                <a16:creationId xmlns:a16="http://schemas.microsoft.com/office/drawing/2014/main" id="{09761CF8-FC9C-445E-8233-63EAEADCD086}"/>
              </a:ext>
            </a:extLst>
          </p:cNvPr>
          <p:cNvSpPr>
            <a:spLocks noGrp="1"/>
          </p:cNvSpPr>
          <p:nvPr>
            <p:ph type="ftr" sz="quarter" idx="11"/>
          </p:nvPr>
        </p:nvSpPr>
        <p:spPr/>
        <p:txBody>
          <a:bodyPr/>
          <a:lstStyle/>
          <a:p>
            <a:pPr>
              <a:defRPr/>
            </a:pPr>
            <a:r>
              <a:rPr lang="es-ES"/>
              <a:t>Dr. Deepali Vora</a:t>
            </a:r>
          </a:p>
        </p:txBody>
      </p:sp>
      <p:sp>
        <p:nvSpPr>
          <p:cNvPr id="3" name="Slide Number Placeholder 2">
            <a:extLst>
              <a:ext uri="{FF2B5EF4-FFF2-40B4-BE49-F238E27FC236}">
                <a16:creationId xmlns:a16="http://schemas.microsoft.com/office/drawing/2014/main" id="{5C84BA4B-B63D-438B-92D0-9464B95CAEC3}"/>
              </a:ext>
            </a:extLst>
          </p:cNvPr>
          <p:cNvSpPr>
            <a:spLocks noGrp="1"/>
          </p:cNvSpPr>
          <p:nvPr>
            <p:ph type="sldNum" sz="quarter" idx="12"/>
          </p:nvPr>
        </p:nvSpPr>
        <p:spPr/>
        <p:txBody>
          <a:bodyPr/>
          <a:lstStyle/>
          <a:p>
            <a:fld id="{9370333F-211E-480A-A48D-622F2EB68390}" type="slidenum">
              <a:rPr lang="es-ES" altLang="en-US" smtClean="0"/>
              <a:pPr/>
              <a:t>26</a:t>
            </a:fld>
            <a:endParaRPr lang="es-ES" altLang="en-US"/>
          </a:p>
        </p:txBody>
      </p:sp>
    </p:spTree>
    <p:extLst>
      <p:ext uri="{BB962C8B-B14F-4D97-AF65-F5344CB8AC3E}">
        <p14:creationId xmlns:p14="http://schemas.microsoft.com/office/powerpoint/2010/main" val="1999044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5EF39-B50F-5F2C-229A-17BCDEE79FF5}"/>
              </a:ext>
            </a:extLst>
          </p:cNvPr>
          <p:cNvSpPr>
            <a:spLocks noGrp="1"/>
          </p:cNvSpPr>
          <p:nvPr>
            <p:ph type="title"/>
          </p:nvPr>
        </p:nvSpPr>
        <p:spPr/>
        <p:txBody>
          <a:bodyPr/>
          <a:lstStyle/>
          <a:p>
            <a:r>
              <a:rPr lang="en-IN" dirty="0"/>
              <a:t>What we discussed</a:t>
            </a:r>
          </a:p>
        </p:txBody>
      </p:sp>
      <p:sp>
        <p:nvSpPr>
          <p:cNvPr id="3" name="Content Placeholder 2">
            <a:extLst>
              <a:ext uri="{FF2B5EF4-FFF2-40B4-BE49-F238E27FC236}">
                <a16:creationId xmlns:a16="http://schemas.microsoft.com/office/drawing/2014/main" id="{3403D2D4-4003-19F4-54D5-BE43F27021F3}"/>
              </a:ext>
            </a:extLst>
          </p:cNvPr>
          <p:cNvSpPr>
            <a:spLocks noGrp="1"/>
          </p:cNvSpPr>
          <p:nvPr>
            <p:ph sz="half" idx="1"/>
          </p:nvPr>
        </p:nvSpPr>
        <p:spPr/>
        <p:txBody>
          <a:bodyPr/>
          <a:lstStyle/>
          <a:p>
            <a:r>
              <a:rPr lang="en-IN" dirty="0"/>
              <a:t>Problem of local minimum</a:t>
            </a:r>
          </a:p>
          <a:p>
            <a:r>
              <a:rPr lang="en-IN" dirty="0"/>
              <a:t>Learning rate – big or small</a:t>
            </a:r>
          </a:p>
          <a:p>
            <a:r>
              <a:rPr lang="en-IN" dirty="0"/>
              <a:t>Decaying Learning rate</a:t>
            </a:r>
          </a:p>
          <a:p>
            <a:r>
              <a:rPr lang="en-IN" dirty="0"/>
              <a:t>Weight initialisation – appropriate values</a:t>
            </a:r>
          </a:p>
          <a:p>
            <a:r>
              <a:rPr lang="en-IN" dirty="0"/>
              <a:t> SGD – Mini Batch</a:t>
            </a:r>
          </a:p>
        </p:txBody>
      </p:sp>
      <p:sp>
        <p:nvSpPr>
          <p:cNvPr id="4" name="Content Placeholder 3">
            <a:extLst>
              <a:ext uri="{FF2B5EF4-FFF2-40B4-BE49-F238E27FC236}">
                <a16:creationId xmlns:a16="http://schemas.microsoft.com/office/drawing/2014/main" id="{3BD99BD6-2B87-F172-6004-EA8001946AD7}"/>
              </a:ext>
            </a:extLst>
          </p:cNvPr>
          <p:cNvSpPr>
            <a:spLocks noGrp="1"/>
          </p:cNvSpPr>
          <p:nvPr>
            <p:ph sz="half" idx="2"/>
          </p:nvPr>
        </p:nvSpPr>
        <p:spPr/>
        <p:txBody>
          <a:bodyPr/>
          <a:lstStyle/>
          <a:p>
            <a:endParaRPr lang="en-IN"/>
          </a:p>
        </p:txBody>
      </p:sp>
      <p:sp>
        <p:nvSpPr>
          <p:cNvPr id="5" name="Footer Placeholder 4">
            <a:extLst>
              <a:ext uri="{FF2B5EF4-FFF2-40B4-BE49-F238E27FC236}">
                <a16:creationId xmlns:a16="http://schemas.microsoft.com/office/drawing/2014/main" id="{D0B7A7BF-835D-F905-EBAB-3E9702414F0C}"/>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66A920F3-FD5F-42E4-137F-131A3B7DCBF4}"/>
              </a:ext>
            </a:extLst>
          </p:cNvPr>
          <p:cNvSpPr>
            <a:spLocks noGrp="1"/>
          </p:cNvSpPr>
          <p:nvPr>
            <p:ph type="sldNum" sz="quarter" idx="12"/>
          </p:nvPr>
        </p:nvSpPr>
        <p:spPr/>
        <p:txBody>
          <a:bodyPr/>
          <a:lstStyle/>
          <a:p>
            <a:fld id="{9370333F-211E-480A-A48D-622F2EB68390}" type="slidenum">
              <a:rPr lang="es-ES" altLang="en-US" smtClean="0"/>
              <a:pPr/>
              <a:t>27</a:t>
            </a:fld>
            <a:endParaRPr lang="es-ES" altLang="en-US"/>
          </a:p>
        </p:txBody>
      </p:sp>
    </p:spTree>
    <p:extLst>
      <p:ext uri="{BB962C8B-B14F-4D97-AF65-F5344CB8AC3E}">
        <p14:creationId xmlns:p14="http://schemas.microsoft.com/office/powerpoint/2010/main" val="1574668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r>
              <a:rPr lang="en-US" dirty="0"/>
              <a:t>Four ways to speed up mini-batch learning</a:t>
            </a:r>
          </a:p>
        </p:txBody>
      </p:sp>
      <p:sp>
        <p:nvSpPr>
          <p:cNvPr id="187395" name="Rectangle 3"/>
          <p:cNvSpPr>
            <a:spLocks noGrp="1" noChangeArrowheads="1"/>
          </p:cNvSpPr>
          <p:nvPr>
            <p:ph sz="half" idx="1"/>
          </p:nvPr>
        </p:nvSpPr>
        <p:spPr>
          <a:xfrm>
            <a:off x="741406" y="2310715"/>
            <a:ext cx="5112278" cy="4423718"/>
          </a:xfrm>
        </p:spPr>
        <p:txBody>
          <a:bodyPr>
            <a:normAutofit fontScale="77500" lnSpcReduction="20000"/>
          </a:bodyPr>
          <a:lstStyle/>
          <a:p>
            <a:pPr>
              <a:lnSpc>
                <a:spcPct val="124000"/>
              </a:lnSpc>
            </a:pPr>
            <a:r>
              <a:rPr lang="en-US" sz="2667" dirty="0"/>
              <a:t>Use “</a:t>
            </a:r>
            <a:r>
              <a:rPr lang="en-US" sz="2667" dirty="0">
                <a:solidFill>
                  <a:srgbClr val="0070C0"/>
                </a:solidFill>
              </a:rPr>
              <a:t>momentum</a:t>
            </a:r>
            <a:r>
              <a:rPr lang="en-US" sz="2667" dirty="0"/>
              <a:t>”</a:t>
            </a:r>
          </a:p>
          <a:p>
            <a:pPr lvl="1">
              <a:lnSpc>
                <a:spcPct val="124000"/>
              </a:lnSpc>
            </a:pPr>
            <a:r>
              <a:rPr lang="en-US" sz="2667" dirty="0"/>
              <a:t>Instead of using the gradient to change the </a:t>
            </a:r>
            <a:r>
              <a:rPr lang="en-US" sz="2667" dirty="0">
                <a:solidFill>
                  <a:srgbClr val="FF0000"/>
                </a:solidFill>
              </a:rPr>
              <a:t>position</a:t>
            </a:r>
            <a:r>
              <a:rPr lang="en-US" sz="2667" dirty="0"/>
              <a:t> of the weight </a:t>
            </a:r>
            <a:r>
              <a:rPr lang="ja-JP" altLang="en-US" sz="2667" dirty="0"/>
              <a:t>“</a:t>
            </a:r>
            <a:r>
              <a:rPr lang="en-US" sz="2667" dirty="0"/>
              <a:t>particle</a:t>
            </a:r>
            <a:r>
              <a:rPr lang="ja-JP" altLang="en-US" sz="2667" dirty="0"/>
              <a:t>”</a:t>
            </a:r>
            <a:r>
              <a:rPr lang="en-US" sz="2667" dirty="0"/>
              <a:t>, use it to change the </a:t>
            </a:r>
            <a:r>
              <a:rPr lang="en-US" sz="2667" dirty="0">
                <a:solidFill>
                  <a:srgbClr val="FF0000"/>
                </a:solidFill>
              </a:rPr>
              <a:t>velocity</a:t>
            </a:r>
            <a:r>
              <a:rPr lang="en-US" sz="2667" dirty="0"/>
              <a:t>. </a:t>
            </a:r>
          </a:p>
          <a:p>
            <a:pPr>
              <a:lnSpc>
                <a:spcPct val="124000"/>
              </a:lnSpc>
            </a:pPr>
            <a:r>
              <a:rPr lang="en-US" sz="2667" dirty="0"/>
              <a:t>Use separate </a:t>
            </a:r>
            <a:r>
              <a:rPr lang="en-US" sz="2667" dirty="0">
                <a:solidFill>
                  <a:srgbClr val="0070C0"/>
                </a:solidFill>
              </a:rPr>
              <a:t>adaptive learning rates </a:t>
            </a:r>
            <a:r>
              <a:rPr lang="en-US" sz="2667" dirty="0"/>
              <a:t>for each parameter</a:t>
            </a:r>
          </a:p>
          <a:p>
            <a:pPr lvl="1">
              <a:lnSpc>
                <a:spcPct val="124000"/>
              </a:lnSpc>
            </a:pPr>
            <a:r>
              <a:rPr lang="en-US" sz="2667" dirty="0"/>
              <a:t>Slowly adjust the rate using the consistency of the gradient for that parameter.</a:t>
            </a:r>
          </a:p>
        </p:txBody>
      </p:sp>
      <p:sp>
        <p:nvSpPr>
          <p:cNvPr id="2" name="Content Placeholder 1"/>
          <p:cNvSpPr>
            <a:spLocks noGrp="1"/>
          </p:cNvSpPr>
          <p:nvPr>
            <p:ph sz="half" idx="2"/>
          </p:nvPr>
        </p:nvSpPr>
        <p:spPr>
          <a:xfrm>
            <a:off x="6338315" y="2153411"/>
            <a:ext cx="5017544" cy="4581021"/>
          </a:xfrm>
        </p:spPr>
        <p:txBody>
          <a:bodyPr>
            <a:normAutofit fontScale="77500" lnSpcReduction="20000"/>
          </a:bodyPr>
          <a:lstStyle/>
          <a:p>
            <a:pPr marL="0" indent="0">
              <a:buNone/>
            </a:pPr>
            <a:endParaRPr lang="en-US" dirty="0"/>
          </a:p>
          <a:p>
            <a:pPr>
              <a:lnSpc>
                <a:spcPct val="124000"/>
              </a:lnSpc>
            </a:pPr>
            <a:r>
              <a:rPr lang="en-US" sz="2700" dirty="0" err="1">
                <a:solidFill>
                  <a:srgbClr val="0070C0"/>
                </a:solidFill>
              </a:rPr>
              <a:t>rmsprop</a:t>
            </a:r>
            <a:r>
              <a:rPr lang="en-US" sz="2700" dirty="0"/>
              <a:t>: Divide the learning rate for a weight by a running average of the magnitudes of recent gradients for that weight.</a:t>
            </a:r>
          </a:p>
          <a:p>
            <a:pPr lvl="1">
              <a:lnSpc>
                <a:spcPct val="124000"/>
              </a:lnSpc>
            </a:pPr>
            <a:r>
              <a:rPr lang="en-US" sz="2700" dirty="0"/>
              <a:t>This is the mini-batch version of just using the sign of the gradient. </a:t>
            </a:r>
          </a:p>
          <a:p>
            <a:pPr>
              <a:lnSpc>
                <a:spcPct val="124000"/>
              </a:lnSpc>
            </a:pPr>
            <a:r>
              <a:rPr lang="en-US" sz="2700" dirty="0"/>
              <a:t>Take a fancy method from the </a:t>
            </a:r>
            <a:r>
              <a:rPr lang="en-US" sz="2700" dirty="0">
                <a:solidFill>
                  <a:srgbClr val="0070C0"/>
                </a:solidFill>
              </a:rPr>
              <a:t>optimization</a:t>
            </a:r>
            <a:r>
              <a:rPr lang="en-US" sz="2700" dirty="0"/>
              <a:t> literature that makes use of curvature</a:t>
            </a:r>
          </a:p>
          <a:p>
            <a:pPr lvl="1">
              <a:lnSpc>
                <a:spcPct val="124000"/>
              </a:lnSpc>
            </a:pPr>
            <a:r>
              <a:rPr lang="en-US" sz="2700" dirty="0"/>
              <a:t>Adapt it to work for neural nets</a:t>
            </a:r>
          </a:p>
          <a:p>
            <a:pPr lvl="1">
              <a:lnSpc>
                <a:spcPct val="124000"/>
              </a:lnSpc>
            </a:pPr>
            <a:r>
              <a:rPr lang="en-US" sz="2700" dirty="0"/>
              <a:t>Adapt it to work for mini-batches. </a:t>
            </a:r>
          </a:p>
          <a:p>
            <a:pPr lvl="1">
              <a:lnSpc>
                <a:spcPct val="124000"/>
              </a:lnSpc>
            </a:pPr>
            <a:endParaRPr lang="en-US" sz="2700" dirty="0"/>
          </a:p>
          <a:p>
            <a:endParaRPr lang="en-US" dirty="0"/>
          </a:p>
        </p:txBody>
      </p:sp>
      <p:sp>
        <p:nvSpPr>
          <p:cNvPr id="3" name="Footer Placeholder 2">
            <a:extLst>
              <a:ext uri="{FF2B5EF4-FFF2-40B4-BE49-F238E27FC236}">
                <a16:creationId xmlns:a16="http://schemas.microsoft.com/office/drawing/2014/main" id="{7B62DF21-9625-408D-AD2D-C81D6E4887B7}"/>
              </a:ext>
            </a:extLst>
          </p:cNvPr>
          <p:cNvSpPr>
            <a:spLocks noGrp="1"/>
          </p:cNvSpPr>
          <p:nvPr>
            <p:ph type="ftr" sz="quarter" idx="11"/>
          </p:nvPr>
        </p:nvSpPr>
        <p:spPr/>
        <p:txBody>
          <a:bodyPr/>
          <a:lstStyle/>
          <a:p>
            <a:pPr>
              <a:defRPr/>
            </a:pPr>
            <a:r>
              <a:rPr lang="es-ES"/>
              <a:t>Dr. Deepali Vora</a:t>
            </a:r>
          </a:p>
        </p:txBody>
      </p:sp>
      <p:sp>
        <p:nvSpPr>
          <p:cNvPr id="4" name="Slide Number Placeholder 3">
            <a:extLst>
              <a:ext uri="{FF2B5EF4-FFF2-40B4-BE49-F238E27FC236}">
                <a16:creationId xmlns:a16="http://schemas.microsoft.com/office/drawing/2014/main" id="{7646CF3A-A5C6-42EF-A201-C7624DA3F18E}"/>
              </a:ext>
            </a:extLst>
          </p:cNvPr>
          <p:cNvSpPr>
            <a:spLocks noGrp="1"/>
          </p:cNvSpPr>
          <p:nvPr>
            <p:ph type="sldNum" sz="quarter" idx="12"/>
          </p:nvPr>
        </p:nvSpPr>
        <p:spPr/>
        <p:txBody>
          <a:bodyPr/>
          <a:lstStyle/>
          <a:p>
            <a:fld id="{9370333F-211E-480A-A48D-622F2EB68390}" type="slidenum">
              <a:rPr lang="es-ES" altLang="en-US" smtClean="0"/>
              <a:pPr/>
              <a:t>28</a:t>
            </a:fld>
            <a:endParaRPr lang="es-ES" altLang="en-US"/>
          </a:p>
        </p:txBody>
      </p:sp>
    </p:spTree>
    <p:extLst>
      <p:ext uri="{BB962C8B-B14F-4D97-AF65-F5344CB8AC3E}">
        <p14:creationId xmlns:p14="http://schemas.microsoft.com/office/powerpoint/2010/main" val="96710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39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73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739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73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54F633-A98F-41D7-A800-C68E446756B4}"/>
              </a:ext>
            </a:extLst>
          </p:cNvPr>
          <p:cNvSpPr>
            <a:spLocks noGrp="1"/>
          </p:cNvSpPr>
          <p:nvPr>
            <p:ph type="title"/>
          </p:nvPr>
        </p:nvSpPr>
        <p:spPr>
          <a:xfrm>
            <a:off x="804672" y="964692"/>
            <a:ext cx="4476806" cy="1188720"/>
          </a:xfrm>
        </p:spPr>
        <p:txBody>
          <a:bodyPr>
            <a:normAutofit/>
          </a:bodyPr>
          <a:lstStyle/>
          <a:p>
            <a:r>
              <a:rPr lang="en-US" dirty="0"/>
              <a:t>Some observations of </a:t>
            </a:r>
            <a:r>
              <a:rPr lang="en-US" dirty="0" err="1"/>
              <a:t>gd</a:t>
            </a:r>
            <a:endParaRPr lang="en-IN" dirty="0"/>
          </a:p>
        </p:txBody>
      </p:sp>
      <p:sp>
        <p:nvSpPr>
          <p:cNvPr id="8" name="Content Placeholder 7">
            <a:extLst>
              <a:ext uri="{FF2B5EF4-FFF2-40B4-BE49-F238E27FC236}">
                <a16:creationId xmlns:a16="http://schemas.microsoft.com/office/drawing/2014/main" id="{5D7A272B-1F66-4A5C-8A78-D08E0BBAF2E3}"/>
              </a:ext>
            </a:extLst>
          </p:cNvPr>
          <p:cNvSpPr>
            <a:spLocks noGrp="1"/>
          </p:cNvSpPr>
          <p:nvPr>
            <p:ph idx="1"/>
          </p:nvPr>
        </p:nvSpPr>
        <p:spPr>
          <a:xfrm>
            <a:off x="803244" y="2638044"/>
            <a:ext cx="4492932" cy="3263206"/>
          </a:xfrm>
        </p:spPr>
        <p:txBody>
          <a:bodyPr>
            <a:normAutofit/>
          </a:bodyPr>
          <a:lstStyle/>
          <a:p>
            <a:r>
              <a:rPr lang="en-US"/>
              <a:t>It takes a lot of time to navigate regions having a gentle slope</a:t>
            </a:r>
          </a:p>
          <a:p>
            <a:r>
              <a:rPr lang="en-US"/>
              <a:t>This is because the gradient in these regions is very small</a:t>
            </a:r>
          </a:p>
          <a:p>
            <a:r>
              <a:rPr lang="en-US"/>
              <a:t>Solution: Momentum</a:t>
            </a:r>
            <a:endParaRPr lang="en-IN"/>
          </a:p>
        </p:txBody>
      </p:sp>
      <p:sp>
        <p:nvSpPr>
          <p:cNvPr id="15" name="Rectangle 14">
            <a:extLst>
              <a:ext uri="{FF2B5EF4-FFF2-40B4-BE49-F238E27FC236}">
                <a16:creationId xmlns:a16="http://schemas.microsoft.com/office/drawing/2014/main" id="{56533F40-045E-4E3D-9243-864CD4E58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3605" y="964692"/>
            <a:ext cx="5440680"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0402EC6-D845-41B3-BEBE-CB34D9BFE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0699" y="1128683"/>
            <a:ext cx="5106493"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8977494-761E-44C5-BAFE-E8D00500FC15}"/>
              </a:ext>
            </a:extLst>
          </p:cNvPr>
          <p:cNvPicPr>
            <a:picLocks noChangeAspect="1"/>
          </p:cNvPicPr>
          <p:nvPr/>
        </p:nvPicPr>
        <p:blipFill>
          <a:blip r:embed="rId2"/>
          <a:stretch>
            <a:fillRect/>
          </a:stretch>
        </p:blipFill>
        <p:spPr>
          <a:xfrm>
            <a:off x="6518886" y="1293275"/>
            <a:ext cx="4290118" cy="4279392"/>
          </a:xfrm>
          <a:prstGeom prst="rect">
            <a:avLst/>
          </a:prstGeom>
        </p:spPr>
      </p:pic>
      <p:sp>
        <p:nvSpPr>
          <p:cNvPr id="5" name="Footer Placeholder 4">
            <a:extLst>
              <a:ext uri="{FF2B5EF4-FFF2-40B4-BE49-F238E27FC236}">
                <a16:creationId xmlns:a16="http://schemas.microsoft.com/office/drawing/2014/main" id="{F45D84A8-284C-4885-A01B-5ED97BC47B48}"/>
              </a:ext>
            </a:extLst>
          </p:cNvPr>
          <p:cNvSpPr>
            <a:spLocks noGrp="1"/>
          </p:cNvSpPr>
          <p:nvPr>
            <p:ph type="ftr" sz="quarter" idx="11"/>
          </p:nvPr>
        </p:nvSpPr>
        <p:spPr>
          <a:xfrm>
            <a:off x="798315" y="6236208"/>
            <a:ext cx="5901189" cy="320040"/>
          </a:xfrm>
        </p:spPr>
        <p:txBody>
          <a:bodyPr>
            <a:normAutofit/>
          </a:bodyPr>
          <a:lstStyle/>
          <a:p>
            <a:pPr>
              <a:spcAft>
                <a:spcPts val="600"/>
              </a:spcAft>
              <a:defRPr/>
            </a:pPr>
            <a:r>
              <a:rPr lang="es-ES"/>
              <a:t>Dr. Deepali Vora</a:t>
            </a:r>
          </a:p>
        </p:txBody>
      </p:sp>
      <p:sp>
        <p:nvSpPr>
          <p:cNvPr id="6" name="Slide Number Placeholder 5">
            <a:extLst>
              <a:ext uri="{FF2B5EF4-FFF2-40B4-BE49-F238E27FC236}">
                <a16:creationId xmlns:a16="http://schemas.microsoft.com/office/drawing/2014/main" id="{6D7540A8-D9F5-4F2A-850D-69DF371227E1}"/>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9370333F-211E-480A-A48D-622F2EB68390}" type="slidenum">
              <a:rPr lang="es-ES" altLang="en-US" smtClean="0"/>
              <a:pPr>
                <a:lnSpc>
                  <a:spcPct val="90000"/>
                </a:lnSpc>
                <a:spcAft>
                  <a:spcPts val="600"/>
                </a:spcAft>
              </a:pPr>
              <a:t>29</a:t>
            </a:fld>
            <a:endParaRPr lang="es-ES" altLang="en-US"/>
          </a:p>
        </p:txBody>
      </p:sp>
    </p:spTree>
    <p:extLst>
      <p:ext uri="{BB962C8B-B14F-4D97-AF65-F5344CB8AC3E}">
        <p14:creationId xmlns:p14="http://schemas.microsoft.com/office/powerpoint/2010/main" val="1415431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13C67-593D-7FB6-FCFC-5EA64C342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347F8-46DF-FD8E-6E1C-0805C05B5CE4}"/>
              </a:ext>
            </a:extLst>
          </p:cNvPr>
          <p:cNvSpPr>
            <a:spLocks noGrp="1"/>
          </p:cNvSpPr>
          <p:nvPr>
            <p:ph type="title"/>
          </p:nvPr>
        </p:nvSpPr>
        <p:spPr/>
        <p:txBody>
          <a:bodyPr/>
          <a:lstStyle/>
          <a:p>
            <a:r>
              <a:rPr lang="en-IN" dirty="0"/>
              <a:t>What we discussed</a:t>
            </a:r>
          </a:p>
        </p:txBody>
      </p:sp>
      <p:sp>
        <p:nvSpPr>
          <p:cNvPr id="3" name="Content Placeholder 2">
            <a:extLst>
              <a:ext uri="{FF2B5EF4-FFF2-40B4-BE49-F238E27FC236}">
                <a16:creationId xmlns:a16="http://schemas.microsoft.com/office/drawing/2014/main" id="{17471EF2-B30D-9F89-4619-7AABEEBC90DD}"/>
              </a:ext>
            </a:extLst>
          </p:cNvPr>
          <p:cNvSpPr>
            <a:spLocks noGrp="1"/>
          </p:cNvSpPr>
          <p:nvPr>
            <p:ph sz="half" idx="1"/>
          </p:nvPr>
        </p:nvSpPr>
        <p:spPr/>
        <p:txBody>
          <a:bodyPr/>
          <a:lstStyle/>
          <a:p>
            <a:r>
              <a:rPr lang="en-IN" dirty="0"/>
              <a:t>Problem of local minimum</a:t>
            </a:r>
          </a:p>
          <a:p>
            <a:r>
              <a:rPr lang="en-IN" dirty="0"/>
              <a:t>Learning rate – big or small</a:t>
            </a:r>
          </a:p>
          <a:p>
            <a:r>
              <a:rPr lang="en-IN" dirty="0"/>
              <a:t>Decaying Learning rate</a:t>
            </a:r>
          </a:p>
          <a:p>
            <a:r>
              <a:rPr lang="en-IN" dirty="0"/>
              <a:t>Weight initialisation – appropriate values</a:t>
            </a:r>
          </a:p>
          <a:p>
            <a:r>
              <a:rPr lang="en-IN" dirty="0"/>
              <a:t> SGD – Mini Batch</a:t>
            </a:r>
          </a:p>
          <a:p>
            <a:r>
              <a:rPr lang="en-IN" dirty="0">
                <a:solidFill>
                  <a:srgbClr val="0070C0"/>
                </a:solidFill>
              </a:rPr>
              <a:t>Started with variation in SGD - Momentum</a:t>
            </a:r>
          </a:p>
        </p:txBody>
      </p:sp>
      <p:sp>
        <p:nvSpPr>
          <p:cNvPr id="4" name="Content Placeholder 3">
            <a:extLst>
              <a:ext uri="{FF2B5EF4-FFF2-40B4-BE49-F238E27FC236}">
                <a16:creationId xmlns:a16="http://schemas.microsoft.com/office/drawing/2014/main" id="{81385EF9-E85C-1DCA-8933-FB8CEDF059A6}"/>
              </a:ext>
            </a:extLst>
          </p:cNvPr>
          <p:cNvSpPr>
            <a:spLocks noGrp="1"/>
          </p:cNvSpPr>
          <p:nvPr>
            <p:ph sz="half" idx="2"/>
          </p:nvPr>
        </p:nvSpPr>
        <p:spPr/>
        <p:txBody>
          <a:bodyPr/>
          <a:lstStyle/>
          <a:p>
            <a:endParaRPr lang="en-IN"/>
          </a:p>
        </p:txBody>
      </p:sp>
      <p:sp>
        <p:nvSpPr>
          <p:cNvPr id="5" name="Footer Placeholder 4">
            <a:extLst>
              <a:ext uri="{FF2B5EF4-FFF2-40B4-BE49-F238E27FC236}">
                <a16:creationId xmlns:a16="http://schemas.microsoft.com/office/drawing/2014/main" id="{D12E0B23-D9ED-4DEB-5C29-D5A1C049D6EA}"/>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DF6AB63A-B527-0158-9E1D-77849363A011}"/>
              </a:ext>
            </a:extLst>
          </p:cNvPr>
          <p:cNvSpPr>
            <a:spLocks noGrp="1"/>
          </p:cNvSpPr>
          <p:nvPr>
            <p:ph type="sldNum" sz="quarter" idx="12"/>
          </p:nvPr>
        </p:nvSpPr>
        <p:spPr/>
        <p:txBody>
          <a:bodyPr/>
          <a:lstStyle/>
          <a:p>
            <a:fld id="{9370333F-211E-480A-A48D-622F2EB68390}" type="slidenum">
              <a:rPr lang="es-ES" altLang="en-US" smtClean="0"/>
              <a:pPr/>
              <a:t>30</a:t>
            </a:fld>
            <a:endParaRPr lang="es-ES" altLang="en-US"/>
          </a:p>
        </p:txBody>
      </p:sp>
    </p:spTree>
    <p:extLst>
      <p:ext uri="{BB962C8B-B14F-4D97-AF65-F5344CB8AC3E}">
        <p14:creationId xmlns:p14="http://schemas.microsoft.com/office/powerpoint/2010/main" val="3679727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704851" y="152400"/>
            <a:ext cx="10972800" cy="1143000"/>
          </a:xfrm>
        </p:spPr>
        <p:txBody>
          <a:bodyPr/>
          <a:lstStyle/>
          <a:p>
            <a:r>
              <a:rPr lang="en-US" dirty="0"/>
              <a:t>The intuition behind the momentum method</a:t>
            </a:r>
          </a:p>
        </p:txBody>
      </p:sp>
      <p:sp>
        <p:nvSpPr>
          <p:cNvPr id="188419" name="Rectangle 3"/>
          <p:cNvSpPr>
            <a:spLocks noGrp="1" noChangeArrowheads="1"/>
          </p:cNvSpPr>
          <p:nvPr>
            <p:ph type="body" sz="half" idx="1"/>
          </p:nvPr>
        </p:nvSpPr>
        <p:spPr>
          <a:xfrm>
            <a:off x="47329" y="1449388"/>
            <a:ext cx="5712636" cy="5257800"/>
          </a:xfrm>
        </p:spPr>
        <p:txBody>
          <a:bodyPr/>
          <a:lstStyle/>
          <a:p>
            <a:pPr algn="just"/>
            <a:r>
              <a:rPr lang="en-US" sz="3200" dirty="0"/>
              <a:t> </a:t>
            </a:r>
            <a:r>
              <a:rPr lang="en-US" sz="2400" dirty="0"/>
              <a:t>Imagine a ball on the error surface. The location of the ball in the horizontal plane represents the weight vector.</a:t>
            </a:r>
          </a:p>
          <a:p>
            <a:pPr lvl="1" algn="just"/>
            <a:r>
              <a:rPr lang="en-US" sz="2000" dirty="0"/>
              <a:t>The ball starts off by following the gradient, but once it has velocity, it no longer does steepest descent. </a:t>
            </a:r>
          </a:p>
          <a:p>
            <a:pPr lvl="1" algn="just"/>
            <a:r>
              <a:rPr lang="en-US" sz="2000" dirty="0"/>
              <a:t>Its momentum makes it keep going in the previous direction.</a:t>
            </a:r>
          </a:p>
        </p:txBody>
      </p:sp>
      <p:sp>
        <p:nvSpPr>
          <p:cNvPr id="2" name="Content Placeholder 1"/>
          <p:cNvSpPr>
            <a:spLocks noGrp="1"/>
          </p:cNvSpPr>
          <p:nvPr>
            <p:ph sz="quarter" idx="2"/>
          </p:nvPr>
        </p:nvSpPr>
        <p:spPr>
          <a:xfrm>
            <a:off x="6197600" y="1508787"/>
            <a:ext cx="5803056" cy="2980928"/>
          </a:xfrm>
        </p:spPr>
        <p:txBody>
          <a:bodyPr/>
          <a:lstStyle/>
          <a:p>
            <a:pPr marL="457189" lvl="2" indent="-457189"/>
            <a:r>
              <a:rPr lang="en-US" sz="2667" dirty="0">
                <a:solidFill>
                  <a:schemeClr val="tx1"/>
                </a:solidFill>
              </a:rPr>
              <a:t>It damps oscillations in directions of high curvature by combining gradients with opposite signs.</a:t>
            </a:r>
          </a:p>
          <a:p>
            <a:pPr marL="457189" lvl="2" indent="-457189"/>
            <a:r>
              <a:rPr lang="en-US" sz="2667" dirty="0">
                <a:solidFill>
                  <a:schemeClr val="tx1"/>
                </a:solidFill>
              </a:rPr>
              <a:t>It builds up speed in directions with a gentle but consistent gradient.</a:t>
            </a:r>
          </a:p>
          <a:p>
            <a:pPr marL="457189" lvl="2" indent="-457189"/>
            <a:endParaRPr lang="en-US" dirty="0"/>
          </a:p>
        </p:txBody>
      </p:sp>
      <p:sp>
        <p:nvSpPr>
          <p:cNvPr id="6" name="Oval 10"/>
          <p:cNvSpPr>
            <a:spLocks noChangeArrowheads="1"/>
          </p:cNvSpPr>
          <p:nvPr/>
        </p:nvSpPr>
        <p:spPr bwMode="auto">
          <a:xfrm rot="19764402">
            <a:off x="6220588" y="3392530"/>
            <a:ext cx="8978891" cy="1624841"/>
          </a:xfrm>
          <a:prstGeom prst="ellipse">
            <a:avLst/>
          </a:prstGeom>
          <a:noFill/>
          <a:ln w="9525">
            <a:solidFill>
              <a:srgbClr val="3366FF"/>
            </a:solidFill>
            <a:round/>
            <a:headEnd/>
            <a:tailEnd/>
          </a:ln>
          <a:effectLst/>
        </p:spPr>
        <p:txBody>
          <a:bodyPr wrap="none" anchor="ctr"/>
          <a:lstStyle/>
          <a:p>
            <a:endParaRPr lang="en-US" sz="2400"/>
          </a:p>
        </p:txBody>
      </p:sp>
      <p:sp>
        <p:nvSpPr>
          <p:cNvPr id="8" name="Oval 13"/>
          <p:cNvSpPr>
            <a:spLocks noChangeArrowheads="1"/>
          </p:cNvSpPr>
          <p:nvPr/>
        </p:nvSpPr>
        <p:spPr bwMode="auto">
          <a:xfrm>
            <a:off x="6960096" y="5577533"/>
            <a:ext cx="143933" cy="166368"/>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cxnSp>
        <p:nvCxnSpPr>
          <p:cNvPr id="4" name="Straight Arrow Connector 3"/>
          <p:cNvCxnSpPr>
            <a:stCxn id="8" idx="5"/>
          </p:cNvCxnSpPr>
          <p:nvPr/>
        </p:nvCxnSpPr>
        <p:spPr>
          <a:xfrm>
            <a:off x="7082951" y="5719537"/>
            <a:ext cx="526360" cy="58877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7561305" y="6286968"/>
            <a:ext cx="384043" cy="9601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V="1">
            <a:off x="7897343" y="6046942"/>
            <a:ext cx="192021" cy="336037"/>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H="1" flipV="1">
            <a:off x="7945348" y="5566888"/>
            <a:ext cx="96011" cy="52805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V="1">
            <a:off x="7945348" y="5182845"/>
            <a:ext cx="96011" cy="432048"/>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8041359" y="5086835"/>
            <a:ext cx="384043" cy="9601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8425401" y="5086835"/>
            <a:ext cx="432048" cy="19202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V="1">
            <a:off x="8857450" y="5134840"/>
            <a:ext cx="480053" cy="144016"/>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V="1">
            <a:off x="9289497" y="4798803"/>
            <a:ext cx="432048" cy="336037"/>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57" name="Oval 13"/>
          <p:cNvSpPr>
            <a:spLocks noChangeArrowheads="1"/>
          </p:cNvSpPr>
          <p:nvPr/>
        </p:nvSpPr>
        <p:spPr bwMode="auto">
          <a:xfrm>
            <a:off x="7824275" y="6286968"/>
            <a:ext cx="143933" cy="166368"/>
          </a:xfrm>
          <a:prstGeom prst="ellipse">
            <a:avLst/>
          </a:prstGeom>
          <a:solidFill>
            <a:srgbClr val="008000"/>
          </a:solidFill>
          <a:ln w="9525">
            <a:solidFill>
              <a:schemeClr val="tx1"/>
            </a:solidFill>
            <a:round/>
            <a:headEnd/>
            <a:tailEnd/>
          </a:ln>
          <a:effectLst/>
        </p:spPr>
        <p:txBody>
          <a:bodyPr wrap="none" anchor="ctr"/>
          <a:lstStyle/>
          <a:p>
            <a:endParaRPr lang="en-US" sz="2400"/>
          </a:p>
        </p:txBody>
      </p:sp>
      <p:sp>
        <p:nvSpPr>
          <p:cNvPr id="3" name="Footer Placeholder 2">
            <a:extLst>
              <a:ext uri="{FF2B5EF4-FFF2-40B4-BE49-F238E27FC236}">
                <a16:creationId xmlns:a16="http://schemas.microsoft.com/office/drawing/2014/main" id="{5E78AF8C-DF7C-4A12-85B2-A4ACC5888A11}"/>
              </a:ext>
            </a:extLst>
          </p:cNvPr>
          <p:cNvSpPr>
            <a:spLocks noGrp="1"/>
          </p:cNvSpPr>
          <p:nvPr>
            <p:ph type="ftr" sz="quarter" idx="11"/>
          </p:nvPr>
        </p:nvSpPr>
        <p:spPr/>
        <p:txBody>
          <a:bodyPr/>
          <a:lstStyle/>
          <a:p>
            <a:r>
              <a:rPr lang="en-US"/>
              <a:t>Dr. Deepali Vora</a:t>
            </a:r>
          </a:p>
        </p:txBody>
      </p:sp>
      <p:sp>
        <p:nvSpPr>
          <p:cNvPr id="5" name="Slide Number Placeholder 4">
            <a:extLst>
              <a:ext uri="{FF2B5EF4-FFF2-40B4-BE49-F238E27FC236}">
                <a16:creationId xmlns:a16="http://schemas.microsoft.com/office/drawing/2014/main" id="{768BD091-20BA-4DD6-9D97-5EAD73BC5B06}"/>
              </a:ext>
            </a:extLst>
          </p:cNvPr>
          <p:cNvSpPr>
            <a:spLocks noGrp="1"/>
          </p:cNvSpPr>
          <p:nvPr>
            <p:ph type="sldNum" sz="quarter" idx="12"/>
          </p:nvPr>
        </p:nvSpPr>
        <p:spPr/>
        <p:txBody>
          <a:bodyPr/>
          <a:lstStyle/>
          <a:p>
            <a:fld id="{FC009779-55AD-BC4D-8753-9D733F0932BF}" type="slidenum">
              <a:rPr lang="en-US" smtClean="0"/>
              <a:pPr/>
              <a:t>31</a:t>
            </a:fld>
            <a:endParaRPr lang="en-US"/>
          </a:p>
        </p:txBody>
      </p:sp>
    </p:spTree>
    <p:extLst>
      <p:ext uri="{BB962C8B-B14F-4D97-AF65-F5344CB8AC3E}">
        <p14:creationId xmlns:p14="http://schemas.microsoft.com/office/powerpoint/2010/main" val="3792632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41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841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animBg="1"/>
      <p:bldP spid="8" grpId="0" animBg="1"/>
      <p:bldP spid="5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C7752-20C5-4869-AE3F-9FC1B2CFEA22}"/>
              </a:ext>
            </a:extLst>
          </p:cNvPr>
          <p:cNvSpPr>
            <a:spLocks noGrp="1"/>
          </p:cNvSpPr>
          <p:nvPr>
            <p:ph type="title"/>
          </p:nvPr>
        </p:nvSpPr>
        <p:spPr/>
        <p:txBody>
          <a:bodyPr/>
          <a:lstStyle/>
          <a:p>
            <a:r>
              <a:rPr lang="en-US" dirty="0"/>
              <a:t>The update rule for </a:t>
            </a:r>
            <a:r>
              <a:rPr lang="en-US" dirty="0" err="1"/>
              <a:t>gd</a:t>
            </a:r>
            <a:r>
              <a:rPr lang="en-US" dirty="0"/>
              <a:t> with momentum</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36DD986-686B-4A65-83F8-FF285D72DC89}"/>
                  </a:ext>
                </a:extLst>
              </p:cNvPr>
              <p:cNvSpPr>
                <a:spLocks noGrp="1"/>
              </p:cNvSpPr>
              <p:nvPr>
                <p:ph idx="1"/>
              </p:nvPr>
            </p:nvSpPr>
            <p:spPr/>
            <p:txBody>
              <a:bodyPr>
                <a:normAutofit/>
              </a:bodyPr>
              <a:lstStyle/>
              <a:p>
                <a:r>
                  <a:rPr lang="en-US" altLang="zh-TW" sz="2000" dirty="0">
                    <a:solidFill>
                      <a:srgbClr val="FF0000"/>
                    </a:solidFill>
                    <a:latin typeface="Cambria Math" panose="02040503050406030204" pitchFamily="18" charset="0"/>
                  </a:rPr>
                  <a:t>GD update rule is:</a:t>
                </a:r>
              </a:p>
              <a:p>
                <a14:m>
                  <m:oMath xmlns:m="http://schemas.openxmlformats.org/officeDocument/2006/math">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𝑤</m:t>
                        </m:r>
                      </m:e>
                      <m:sup>
                        <m:r>
                          <a:rPr lang="en-US" altLang="zh-TW" sz="2000" i="1">
                            <a:latin typeface="Cambria Math" panose="02040503050406030204" pitchFamily="18" charset="0"/>
                          </a:rPr>
                          <m:t>2</m:t>
                        </m:r>
                      </m:sup>
                    </m:sSup>
                  </m:oMath>
                </a14:m>
                <a:r>
                  <a:rPr lang="en-US" altLang="zh-TW" sz="2000" dirty="0"/>
                  <a:t> = </a:t>
                </a:r>
                <a14:m>
                  <m:oMath xmlns:m="http://schemas.openxmlformats.org/officeDocument/2006/math">
                    <m:sSup>
                      <m:sSupPr>
                        <m:ctrlPr>
                          <a:rPr lang="en-US" altLang="zh-TW" sz="2000" i="1">
                            <a:latin typeface="Cambria Math" panose="02040503050406030204" pitchFamily="18" charset="0"/>
                          </a:rPr>
                        </m:ctrlPr>
                      </m:sSupPr>
                      <m:e>
                        <m:r>
                          <a:rPr lang="en-US" altLang="zh-TW" sz="2000" b="0" i="1" smtClean="0">
                            <a:latin typeface="Cambria Math" panose="02040503050406030204" pitchFamily="18" charset="0"/>
                          </a:rPr>
                          <m:t>𝑤</m:t>
                        </m:r>
                      </m:e>
                      <m:sup>
                        <m:r>
                          <a:rPr lang="en-US" altLang="zh-TW" sz="2000" i="1">
                            <a:latin typeface="Cambria Math" panose="02040503050406030204" pitchFamily="18" charset="0"/>
                          </a:rPr>
                          <m:t>1</m:t>
                        </m:r>
                      </m:sup>
                    </m:sSup>
                  </m:oMath>
                </a14:m>
                <a:r>
                  <a:rPr lang="en-US" altLang="zh-TW" sz="2000" dirty="0"/>
                  <a:t> – </a:t>
                </a:r>
                <a:r>
                  <a:rPr lang="el-GR" altLang="zh-TW" sz="2000" dirty="0"/>
                  <a:t>η</a:t>
                </a:r>
                <a14:m>
                  <m:oMath xmlns:m="http://schemas.openxmlformats.org/officeDocument/2006/math">
                    <m:r>
                      <a:rPr lang="zh-TW" altLang="en-US" sz="2000" i="1">
                        <a:latin typeface="Cambria Math" panose="02040503050406030204" pitchFamily="18" charset="0"/>
                      </a:rPr>
                      <m:t>𝛻</m:t>
                    </m:r>
                    <m:r>
                      <a:rPr lang="en-US" altLang="zh-TW" sz="2000" i="1">
                        <a:latin typeface="Cambria Math" panose="02040503050406030204" pitchFamily="18" charset="0"/>
                      </a:rPr>
                      <m:t>𝐿</m:t>
                    </m:r>
                    <m:d>
                      <m:dPr>
                        <m:ctrlPr>
                          <a:rPr lang="en-US" altLang="zh-TW" sz="2000" i="1">
                            <a:latin typeface="Cambria Math" panose="02040503050406030204" pitchFamily="18" charset="0"/>
                          </a:rPr>
                        </m:ctrlPr>
                      </m:dPr>
                      <m:e>
                        <m:sSup>
                          <m:sSupPr>
                            <m:ctrlPr>
                              <a:rPr lang="en-US" altLang="zh-TW" sz="2000" i="1">
                                <a:latin typeface="Cambria Math" panose="02040503050406030204" pitchFamily="18" charset="0"/>
                              </a:rPr>
                            </m:ctrlPr>
                          </m:sSupPr>
                          <m:e>
                            <m:r>
                              <a:rPr lang="en-US" altLang="zh-TW" sz="2000" b="0" i="1" smtClean="0">
                                <a:latin typeface="Cambria Math" panose="02040503050406030204" pitchFamily="18" charset="0"/>
                              </a:rPr>
                              <m:t>𝑤</m:t>
                            </m:r>
                          </m:e>
                          <m:sup>
                            <m:r>
                              <a:rPr lang="en-US" altLang="zh-TW" sz="2000" i="1">
                                <a:latin typeface="Cambria Math" panose="02040503050406030204" pitchFamily="18" charset="0"/>
                              </a:rPr>
                              <m:t>1</m:t>
                            </m:r>
                          </m:sup>
                        </m:sSup>
                      </m:e>
                    </m:d>
                  </m:oMath>
                </a14:m>
                <a:endParaRPr lang="en-IN" sz="2000" dirty="0"/>
              </a:p>
              <a:p>
                <a:r>
                  <a:rPr lang="en-IN" sz="2000" dirty="0"/>
                  <a:t>Where</a:t>
                </a:r>
                <a14:m>
                  <m:oMath xmlns:m="http://schemas.openxmlformats.org/officeDocument/2006/math">
                    <m:r>
                      <a:rPr lang="en-US" altLang="zh-TW" sz="2000" b="0" i="0" smtClean="0">
                        <a:latin typeface="Cambria Math" panose="02040503050406030204" pitchFamily="18" charset="0"/>
                      </a:rPr>
                      <m:t> </m:t>
                    </m:r>
                    <m:r>
                      <a:rPr lang="zh-TW" altLang="en-US" sz="2000" i="1" smtClean="0">
                        <a:latin typeface="Cambria Math" panose="02040503050406030204" pitchFamily="18" charset="0"/>
                      </a:rPr>
                      <m:t>𝛻</m:t>
                    </m:r>
                    <m:r>
                      <a:rPr lang="en-US" altLang="zh-TW" sz="2000" i="1">
                        <a:latin typeface="Cambria Math" panose="02040503050406030204" pitchFamily="18" charset="0"/>
                      </a:rPr>
                      <m:t>𝐿</m:t>
                    </m:r>
                    <m:d>
                      <m:dPr>
                        <m:ctrlPr>
                          <a:rPr lang="en-US" altLang="zh-TW" sz="2000" i="1">
                            <a:latin typeface="Cambria Math" panose="02040503050406030204" pitchFamily="18" charset="0"/>
                          </a:rPr>
                        </m:ctrlPr>
                      </m:dPr>
                      <m:e>
                        <m:sSup>
                          <m:sSupPr>
                            <m:ctrlPr>
                              <a:rPr lang="en-US" altLang="zh-TW" sz="2000" i="1">
                                <a:latin typeface="Cambria Math" panose="02040503050406030204" pitchFamily="18" charset="0"/>
                              </a:rPr>
                            </m:ctrlPr>
                          </m:sSupPr>
                          <m:e>
                            <m:r>
                              <a:rPr lang="en-US" altLang="zh-TW" sz="2000" b="0" i="1" smtClean="0">
                                <a:latin typeface="Cambria Math" panose="02040503050406030204" pitchFamily="18" charset="0"/>
                              </a:rPr>
                              <m:t>𝑤</m:t>
                            </m:r>
                          </m:e>
                          <m:sup>
                            <m:r>
                              <a:rPr lang="en-US" altLang="zh-TW" sz="2000" i="1">
                                <a:latin typeface="Cambria Math" panose="02040503050406030204" pitchFamily="18" charset="0"/>
                              </a:rPr>
                              <m:t>1</m:t>
                            </m:r>
                          </m:sup>
                        </m:sSup>
                      </m:e>
                    </m:d>
                  </m:oMath>
                </a14:m>
                <a:r>
                  <a:rPr lang="en-IN" sz="2000" dirty="0"/>
                  <a:t> is calculated using backpropagation</a:t>
                </a:r>
              </a:p>
              <a:p>
                <a:r>
                  <a:rPr lang="en-IN" sz="2000" dirty="0">
                    <a:solidFill>
                      <a:srgbClr val="FF0000"/>
                    </a:solidFill>
                  </a:rPr>
                  <a:t>Now new update will be:</a:t>
                </a:r>
              </a:p>
              <a:p>
                <a14:m>
                  <m:oMath xmlns:m="http://schemas.openxmlformats.org/officeDocument/2006/math">
                    <m:sSup>
                      <m:sSupPr>
                        <m:ctrlPr>
                          <a:rPr lang="en-US" altLang="zh-TW" sz="2000" b="0" i="1" smtClean="0">
                            <a:latin typeface="Cambria Math" panose="02040503050406030204" pitchFamily="18" charset="0"/>
                          </a:rPr>
                        </m:ctrlPr>
                      </m:sSupPr>
                      <m:e>
                        <m:r>
                          <a:rPr lang="en-US" altLang="zh-TW" sz="2000" b="0" i="1" smtClean="0">
                            <a:latin typeface="Cambria Math" panose="02040503050406030204" pitchFamily="18" charset="0"/>
                          </a:rPr>
                          <m:t>𝑤</m:t>
                        </m:r>
                      </m:e>
                      <m:sup>
                        <m:r>
                          <a:rPr lang="en-US" altLang="zh-TW" sz="2000" b="0" i="1" smtClean="0">
                            <a:latin typeface="Cambria Math" panose="02040503050406030204" pitchFamily="18" charset="0"/>
                          </a:rPr>
                          <m:t>𝑢𝑝𝑑𝑎𝑡𝑒</m:t>
                        </m:r>
                      </m:sup>
                    </m:sSup>
                    <m:r>
                      <a:rPr lang="en-US" altLang="zh-TW" sz="2000" b="0" i="1" smtClean="0">
                        <a:latin typeface="Cambria Math" panose="02040503050406030204" pitchFamily="18" charset="0"/>
                      </a:rPr>
                      <m:t>=</m:t>
                    </m:r>
                    <m:sSup>
                      <m:sSupPr>
                        <m:ctrlPr>
                          <a:rPr lang="en-US" altLang="zh-TW" sz="2000" b="0" i="1" smtClean="0">
                            <a:latin typeface="Cambria Math" panose="02040503050406030204" pitchFamily="18" charset="0"/>
                          </a:rPr>
                        </m:ctrlPr>
                      </m:sSupPr>
                      <m:e>
                        <m:r>
                          <a:rPr lang="zh-TW" altLang="en-US" sz="2000" b="0" i="1" smtClean="0">
                            <a:latin typeface="Cambria Math" panose="02040503050406030204" pitchFamily="18" charset="0"/>
                          </a:rPr>
                          <m:t>𝛼</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𝑤</m:t>
                        </m:r>
                      </m:e>
                      <m:sup>
                        <m:r>
                          <a:rPr lang="en-US" altLang="zh-TW" sz="2000" b="0" i="1" smtClean="0">
                            <a:latin typeface="Cambria Math" panose="02040503050406030204" pitchFamily="18" charset="0"/>
                          </a:rPr>
                          <m:t>1</m:t>
                        </m:r>
                      </m:sup>
                    </m:sSup>
                    <m:r>
                      <a:rPr lang="en-US" altLang="zh-TW" sz="2000" b="0" i="1" smtClean="0">
                        <a:latin typeface="Cambria Math" panose="02040503050406030204" pitchFamily="18" charset="0"/>
                      </a:rPr>
                      <m:t>+</m:t>
                    </m:r>
                    <m:r>
                      <a:rPr lang="zh-TW" altLang="en-US" sz="2000" i="1" smtClean="0">
                        <a:latin typeface="Cambria Math" panose="02040503050406030204" pitchFamily="18" charset="0"/>
                      </a:rPr>
                      <m:t>𝛻</m:t>
                    </m:r>
                    <m:r>
                      <a:rPr lang="en-US" altLang="zh-TW" sz="2000" i="1">
                        <a:latin typeface="Cambria Math" panose="02040503050406030204" pitchFamily="18" charset="0"/>
                      </a:rPr>
                      <m:t>𝐿</m:t>
                    </m:r>
                    <m:d>
                      <m:dPr>
                        <m:ctrlPr>
                          <a:rPr lang="en-US" altLang="zh-TW" sz="2000" i="1">
                            <a:latin typeface="Cambria Math" panose="02040503050406030204" pitchFamily="18" charset="0"/>
                          </a:rPr>
                        </m:ctrlPr>
                      </m:dPr>
                      <m:e>
                        <m:sSup>
                          <m:sSupPr>
                            <m:ctrlPr>
                              <a:rPr lang="en-US" altLang="zh-TW" sz="2000" i="1">
                                <a:latin typeface="Cambria Math" panose="02040503050406030204" pitchFamily="18" charset="0"/>
                              </a:rPr>
                            </m:ctrlPr>
                          </m:sSupPr>
                          <m:e>
                            <m:r>
                              <a:rPr lang="en-US" altLang="zh-TW" sz="2000" b="0" i="1" smtClean="0">
                                <a:latin typeface="Cambria Math" panose="02040503050406030204" pitchFamily="18" charset="0"/>
                              </a:rPr>
                              <m:t>𝑤</m:t>
                            </m:r>
                          </m:e>
                          <m:sup>
                            <m:r>
                              <a:rPr lang="en-US" altLang="zh-TW" sz="2000" i="1">
                                <a:latin typeface="Cambria Math" panose="02040503050406030204" pitchFamily="18" charset="0"/>
                              </a:rPr>
                              <m:t>1</m:t>
                            </m:r>
                          </m:sup>
                        </m:sSup>
                      </m:e>
                    </m:d>
                  </m:oMath>
                </a14:m>
                <a:r>
                  <a:rPr lang="en-IN" sz="2000" dirty="0"/>
                  <a:t> </a:t>
                </a:r>
              </a:p>
              <a:p>
                <a14:m>
                  <m:oMath xmlns:m="http://schemas.openxmlformats.org/officeDocument/2006/math">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𝑤</m:t>
                        </m:r>
                      </m:e>
                      <m:sup>
                        <m:r>
                          <a:rPr lang="en-US" altLang="zh-TW" sz="2000" i="1">
                            <a:latin typeface="Cambria Math" panose="02040503050406030204" pitchFamily="18" charset="0"/>
                          </a:rPr>
                          <m:t>2</m:t>
                        </m:r>
                      </m:sup>
                    </m:sSup>
                  </m:oMath>
                </a14:m>
                <a:r>
                  <a:rPr lang="en-US" altLang="zh-TW" sz="2000" dirty="0"/>
                  <a:t> = </a:t>
                </a:r>
                <a14:m>
                  <m:oMath xmlns:m="http://schemas.openxmlformats.org/officeDocument/2006/math">
                    <m:sSup>
                      <m:sSupPr>
                        <m:ctrlPr>
                          <a:rPr lang="en-US" altLang="zh-TW" sz="2000" i="1">
                            <a:latin typeface="Cambria Math" panose="02040503050406030204" pitchFamily="18" charset="0"/>
                          </a:rPr>
                        </m:ctrlPr>
                      </m:sSupPr>
                      <m:e>
                        <m:r>
                          <a:rPr lang="en-US" altLang="zh-TW" sz="2000" b="0" i="1" smtClean="0">
                            <a:latin typeface="Cambria Math" panose="02040503050406030204" pitchFamily="18" charset="0"/>
                          </a:rPr>
                          <m:t>𝑤</m:t>
                        </m:r>
                      </m:e>
                      <m:sup>
                        <m:r>
                          <a:rPr lang="en-US" altLang="zh-TW" sz="2000" i="1">
                            <a:latin typeface="Cambria Math" panose="02040503050406030204" pitchFamily="18" charset="0"/>
                          </a:rPr>
                          <m:t>1</m:t>
                        </m:r>
                      </m:sup>
                    </m:sSup>
                  </m:oMath>
                </a14:m>
                <a:r>
                  <a:rPr lang="en-US" altLang="zh-TW" sz="2000" dirty="0"/>
                  <a:t> – </a:t>
                </a:r>
                <a14:m>
                  <m:oMath xmlns:m="http://schemas.openxmlformats.org/officeDocument/2006/math">
                    <m:sSup>
                      <m:sSupPr>
                        <m:ctrlPr>
                          <a:rPr lang="en-US" altLang="zh-TW" sz="2000" i="1">
                            <a:latin typeface="Cambria Math" panose="02040503050406030204" pitchFamily="18" charset="0"/>
                          </a:rPr>
                        </m:ctrlPr>
                      </m:sSupPr>
                      <m:e>
                        <m:r>
                          <a:rPr lang="en-US" altLang="zh-TW" sz="2000" i="1">
                            <a:latin typeface="Cambria Math" panose="02040503050406030204" pitchFamily="18" charset="0"/>
                          </a:rPr>
                          <m:t>𝑤</m:t>
                        </m:r>
                      </m:e>
                      <m:sup>
                        <m:r>
                          <a:rPr lang="en-US" altLang="zh-TW" sz="2000" i="1">
                            <a:latin typeface="Cambria Math" panose="02040503050406030204" pitchFamily="18" charset="0"/>
                          </a:rPr>
                          <m:t>𝑢𝑝𝑑𝑎𝑡𝑒</m:t>
                        </m:r>
                      </m:sup>
                    </m:sSup>
                  </m:oMath>
                </a14:m>
                <a:endParaRPr lang="en-IN" sz="2000" dirty="0"/>
              </a:p>
              <a:p>
                <a:r>
                  <a:rPr lang="en-IN" sz="2000" dirty="0"/>
                  <a:t>So with current updates; look at history of updates</a:t>
                </a:r>
              </a:p>
            </p:txBody>
          </p:sp>
        </mc:Choice>
        <mc:Fallback xmlns="">
          <p:sp>
            <p:nvSpPr>
              <p:cNvPr id="3" name="Text Placeholder 2">
                <a:extLst>
                  <a:ext uri="{FF2B5EF4-FFF2-40B4-BE49-F238E27FC236}">
                    <a16:creationId xmlns:a16="http://schemas.microsoft.com/office/drawing/2014/main" id="{A36DD986-686B-4A65-83F8-FF285D72DC89}"/>
                  </a:ext>
                </a:extLst>
              </p:cNvPr>
              <p:cNvSpPr>
                <a:spLocks noGrp="1" noRot="1" noChangeAspect="1" noMove="1" noResize="1" noEditPoints="1" noAdjustHandles="1" noChangeArrowheads="1" noChangeShapeType="1" noTextEdit="1"/>
              </p:cNvSpPr>
              <p:nvPr>
                <p:ph idx="1"/>
              </p:nvPr>
            </p:nvSpPr>
            <p:spPr>
              <a:blipFill>
                <a:blip r:embed="rId3"/>
                <a:stretch>
                  <a:fillRect l="-710" t="-1179" b="-196"/>
                </a:stretch>
              </a:blipFill>
            </p:spPr>
            <p:txBody>
              <a:bodyPr/>
              <a:lstStyle/>
              <a:p>
                <a:r>
                  <a:rPr lang="en-IN">
                    <a:noFill/>
                  </a:rPr>
                  <a:t> </a:t>
                </a:r>
              </a:p>
            </p:txBody>
          </p:sp>
        </mc:Fallback>
      </mc:AlternateContent>
      <p:sp>
        <p:nvSpPr>
          <p:cNvPr id="6" name="Footer Placeholder 5">
            <a:extLst>
              <a:ext uri="{FF2B5EF4-FFF2-40B4-BE49-F238E27FC236}">
                <a16:creationId xmlns:a16="http://schemas.microsoft.com/office/drawing/2014/main" id="{9FE57927-A4A2-49AB-9B22-49CB6526B71C}"/>
              </a:ext>
            </a:extLst>
          </p:cNvPr>
          <p:cNvSpPr>
            <a:spLocks noGrp="1"/>
          </p:cNvSpPr>
          <p:nvPr>
            <p:ph type="ftr" sz="quarter" idx="11"/>
          </p:nvPr>
        </p:nvSpPr>
        <p:spPr/>
        <p:txBody>
          <a:bodyPr/>
          <a:lstStyle/>
          <a:p>
            <a:r>
              <a:rPr lang="en-US"/>
              <a:t>Dr. Deepali Vora</a:t>
            </a:r>
          </a:p>
        </p:txBody>
      </p:sp>
      <p:sp>
        <p:nvSpPr>
          <p:cNvPr id="7" name="Slide Number Placeholder 6">
            <a:extLst>
              <a:ext uri="{FF2B5EF4-FFF2-40B4-BE49-F238E27FC236}">
                <a16:creationId xmlns:a16="http://schemas.microsoft.com/office/drawing/2014/main" id="{252B27FB-8E11-41FA-8BC5-7A1A5A380CDE}"/>
              </a:ext>
            </a:extLst>
          </p:cNvPr>
          <p:cNvSpPr>
            <a:spLocks noGrp="1"/>
          </p:cNvSpPr>
          <p:nvPr>
            <p:ph type="sldNum" sz="quarter" idx="12"/>
          </p:nvPr>
        </p:nvSpPr>
        <p:spPr/>
        <p:txBody>
          <a:bodyPr/>
          <a:lstStyle/>
          <a:p>
            <a:fld id="{FC009779-55AD-BC4D-8753-9D733F0932BF}" type="slidenum">
              <a:rPr lang="en-US" smtClean="0"/>
              <a:pPr/>
              <a:t>32</a:t>
            </a:fld>
            <a:endParaRPr lang="en-US"/>
          </a:p>
        </p:txBody>
      </p:sp>
    </p:spTree>
    <p:extLst>
      <p:ext uri="{BB962C8B-B14F-4D97-AF65-F5344CB8AC3E}">
        <p14:creationId xmlns:p14="http://schemas.microsoft.com/office/powerpoint/2010/main" val="1680775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704851" y="152400"/>
            <a:ext cx="10972800" cy="1143000"/>
          </a:xfrm>
        </p:spPr>
        <p:txBody>
          <a:bodyPr/>
          <a:lstStyle/>
          <a:p>
            <a:r>
              <a:rPr lang="en-US" dirty="0"/>
              <a:t>The equations of the momentum method</a:t>
            </a:r>
          </a:p>
        </p:txBody>
      </p:sp>
      <p:graphicFrame>
        <p:nvGraphicFramePr>
          <p:cNvPr id="188421" name="Object 5"/>
          <p:cNvGraphicFramePr>
            <a:graphicFrameLocks noGrp="1" noChangeAspect="1"/>
          </p:cNvGraphicFramePr>
          <p:nvPr>
            <p:ph sz="quarter" idx="2"/>
          </p:nvPr>
        </p:nvGraphicFramePr>
        <p:xfrm>
          <a:off x="911424" y="1540817"/>
          <a:ext cx="3937000" cy="1001184"/>
        </p:xfrm>
        <a:graphic>
          <a:graphicData uri="http://schemas.openxmlformats.org/presentationml/2006/ole">
            <mc:AlternateContent xmlns:mc="http://schemas.openxmlformats.org/markup-compatibility/2006">
              <mc:Choice xmlns:v="urn:schemas-microsoft-com:vml" Requires="v">
                <p:oleObj name="Equation" r:id="rId2" imgW="1535760" imgH="383760" progId="Equation.3">
                  <p:embed/>
                </p:oleObj>
              </mc:Choice>
              <mc:Fallback>
                <p:oleObj name="Equation" r:id="rId2" imgW="1535760" imgH="383760" progId="Equation.3">
                  <p:embed/>
                  <p:pic>
                    <p:nvPicPr>
                      <p:cNvPr id="188421" name="Object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424" y="1540817"/>
                        <a:ext cx="3937000" cy="1001184"/>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6" name="Content Placeholder 5"/>
          <p:cNvGraphicFramePr>
            <a:graphicFrameLocks noGrp="1" noChangeAspect="1"/>
          </p:cNvGraphicFramePr>
          <p:nvPr>
            <p:ph sz="quarter" idx="2"/>
            <p:extLst>
              <p:ext uri="{D42A27DB-BD31-4B8C-83A1-F6EECF244321}">
                <p14:modId xmlns:p14="http://schemas.microsoft.com/office/powerpoint/2010/main" val="2911136117"/>
              </p:ext>
            </p:extLst>
          </p:nvPr>
        </p:nvGraphicFramePr>
        <p:xfrm>
          <a:off x="575388" y="3996124"/>
          <a:ext cx="4569883" cy="2042584"/>
        </p:xfrm>
        <a:graphic>
          <a:graphicData uri="http://schemas.openxmlformats.org/presentationml/2006/ole">
            <mc:AlternateContent xmlns:mc="http://schemas.openxmlformats.org/markup-compatibility/2006">
              <mc:Choice xmlns:v="urn:schemas-microsoft-com:vml" Requires="v">
                <p:oleObj name="Equation" r:id="rId4" imgW="1782720" imgH="786240" progId="Equation.3">
                  <p:embed/>
                </p:oleObj>
              </mc:Choice>
              <mc:Fallback>
                <p:oleObj name="Equation" r:id="rId4" imgW="1782720" imgH="786240" progId="Equation.3">
                  <p:embed/>
                  <p:pic>
                    <p:nvPicPr>
                      <p:cNvPr id="6" name="Content Placeholder 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388" y="3996124"/>
                        <a:ext cx="4569883" cy="2042584"/>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2" name="TextBox 1"/>
          <p:cNvSpPr txBox="1"/>
          <p:nvPr/>
        </p:nvSpPr>
        <p:spPr>
          <a:xfrm>
            <a:off x="6096000" y="1209580"/>
            <a:ext cx="5917688" cy="1734064"/>
          </a:xfrm>
          <a:prstGeom prst="rect">
            <a:avLst/>
          </a:prstGeom>
          <a:noFill/>
        </p:spPr>
        <p:txBody>
          <a:bodyPr wrap="square" rtlCol="0">
            <a:spAutoFit/>
          </a:bodyPr>
          <a:lstStyle/>
          <a:p>
            <a:r>
              <a:rPr lang="en-US" sz="2667" dirty="0">
                <a:solidFill>
                  <a:srgbClr val="0000FF"/>
                </a:solidFill>
              </a:rPr>
              <a:t>The effect of the gradient is to increment the previous velocity</a:t>
            </a:r>
            <a:r>
              <a:rPr lang="en-US" sz="2667" dirty="0"/>
              <a:t>. </a:t>
            </a:r>
            <a:r>
              <a:rPr lang="en-US" sz="2667" dirty="0">
                <a:solidFill>
                  <a:srgbClr val="0000FF"/>
                </a:solidFill>
              </a:rPr>
              <a:t>The velocity also    decays by  </a:t>
            </a:r>
            <a:r>
              <a:rPr lang="en-US" sz="2667" dirty="0">
                <a:latin typeface="Symbol" charset="2"/>
                <a:cs typeface="Symbol" charset="2"/>
              </a:rPr>
              <a:t>a</a:t>
            </a:r>
            <a:r>
              <a:rPr lang="en-US" sz="2667" dirty="0">
                <a:solidFill>
                  <a:srgbClr val="0000FF"/>
                </a:solidFill>
              </a:rPr>
              <a:t>   which is slightly less then 1.</a:t>
            </a:r>
            <a:endParaRPr lang="en-US" sz="3200" dirty="0">
              <a:latin typeface="Symbol" charset="2"/>
              <a:cs typeface="Symbol" charset="2"/>
            </a:endParaRPr>
          </a:p>
        </p:txBody>
      </p:sp>
      <p:sp>
        <p:nvSpPr>
          <p:cNvPr id="8" name="TextBox 7"/>
          <p:cNvSpPr txBox="1"/>
          <p:nvPr/>
        </p:nvSpPr>
        <p:spPr>
          <a:xfrm>
            <a:off x="6240016" y="2883448"/>
            <a:ext cx="6000667" cy="1323632"/>
          </a:xfrm>
          <a:prstGeom prst="rect">
            <a:avLst/>
          </a:prstGeom>
          <a:noFill/>
        </p:spPr>
        <p:txBody>
          <a:bodyPr wrap="square" rtlCol="0">
            <a:spAutoFit/>
          </a:bodyPr>
          <a:lstStyle/>
          <a:p>
            <a:endParaRPr lang="en-US" sz="2667" dirty="0">
              <a:solidFill>
                <a:srgbClr val="0000FF"/>
              </a:solidFill>
            </a:endParaRPr>
          </a:p>
          <a:p>
            <a:r>
              <a:rPr lang="en-US" sz="2667" dirty="0">
                <a:solidFill>
                  <a:srgbClr val="0000FF"/>
                </a:solidFill>
              </a:rPr>
              <a:t>The weight change is equal to the current velocity. </a:t>
            </a:r>
            <a:endParaRPr lang="en-US" sz="2667" dirty="0"/>
          </a:p>
        </p:txBody>
      </p:sp>
      <p:sp>
        <p:nvSpPr>
          <p:cNvPr id="11" name="TextBox 10"/>
          <p:cNvSpPr txBox="1"/>
          <p:nvPr/>
        </p:nvSpPr>
        <p:spPr>
          <a:xfrm>
            <a:off x="6288021" y="4715076"/>
            <a:ext cx="5904656" cy="1323632"/>
          </a:xfrm>
          <a:prstGeom prst="rect">
            <a:avLst/>
          </a:prstGeom>
          <a:noFill/>
        </p:spPr>
        <p:txBody>
          <a:bodyPr wrap="square" rtlCol="0">
            <a:spAutoFit/>
          </a:bodyPr>
          <a:lstStyle/>
          <a:p>
            <a:r>
              <a:rPr lang="en-US" sz="2667" dirty="0">
                <a:solidFill>
                  <a:srgbClr val="0000FF"/>
                </a:solidFill>
              </a:rPr>
              <a:t>The weight change can be expressed in   terms of the previous weight change and the current gradient. </a:t>
            </a:r>
            <a:endParaRPr lang="en-US" sz="2667" dirty="0"/>
          </a:p>
        </p:txBody>
      </p:sp>
      <p:cxnSp>
        <p:nvCxnSpPr>
          <p:cNvPr id="10" name="Straight Arrow Connector 9"/>
          <p:cNvCxnSpPr/>
          <p:nvPr/>
        </p:nvCxnSpPr>
        <p:spPr>
          <a:xfrm flipH="1">
            <a:off x="5279910" y="2132856"/>
            <a:ext cx="624069" cy="0"/>
          </a:xfrm>
          <a:prstGeom prst="straightConnector1">
            <a:avLst/>
          </a:prstGeom>
          <a:ln w="38100" cmpd="sng">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H="1">
            <a:off x="3455707" y="3573016"/>
            <a:ext cx="2448272" cy="0"/>
          </a:xfrm>
          <a:prstGeom prst="straightConnector1">
            <a:avLst/>
          </a:prstGeom>
          <a:ln w="38100" cmpd="sng">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H="1">
            <a:off x="5471931" y="5445224"/>
            <a:ext cx="624069" cy="0"/>
          </a:xfrm>
          <a:prstGeom prst="straightConnector1">
            <a:avLst/>
          </a:prstGeom>
          <a:ln w="38100" cmpd="sng">
            <a:solidFill>
              <a:srgbClr val="3366FF"/>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19" name="Content Placeholder 18"/>
          <p:cNvGraphicFramePr>
            <a:graphicFrameLocks noGrp="1" noChangeAspect="1"/>
          </p:cNvGraphicFramePr>
          <p:nvPr>
            <p:ph sz="quarter" idx="2"/>
          </p:nvPr>
        </p:nvGraphicFramePr>
        <p:xfrm>
          <a:off x="575388" y="3332990"/>
          <a:ext cx="2026625" cy="531297"/>
        </p:xfrm>
        <a:graphic>
          <a:graphicData uri="http://schemas.openxmlformats.org/presentationml/2006/ole">
            <mc:AlternateContent xmlns:mc="http://schemas.openxmlformats.org/markup-compatibility/2006">
              <mc:Choice xmlns:v="urn:schemas-microsoft-com:vml" Requires="v">
                <p:oleObj name="Equation" r:id="rId6" imgW="758520" imgH="191880" progId="Equation.3">
                  <p:embed/>
                </p:oleObj>
              </mc:Choice>
              <mc:Fallback>
                <p:oleObj name="Equation" r:id="rId6" imgW="758520" imgH="191880" progId="Equation.3">
                  <p:embed/>
                  <p:pic>
                    <p:nvPicPr>
                      <p:cNvPr id="19" name="Content Placeholder 18"/>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5388" y="3332990"/>
                        <a:ext cx="2026625" cy="53129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3" name="Footer Placeholder 2">
            <a:extLst>
              <a:ext uri="{FF2B5EF4-FFF2-40B4-BE49-F238E27FC236}">
                <a16:creationId xmlns:a16="http://schemas.microsoft.com/office/drawing/2014/main" id="{9104E541-44FD-4703-A225-0A6CD3ADAF3B}"/>
              </a:ext>
            </a:extLst>
          </p:cNvPr>
          <p:cNvSpPr>
            <a:spLocks noGrp="1"/>
          </p:cNvSpPr>
          <p:nvPr>
            <p:ph type="ftr" sz="quarter" idx="11"/>
          </p:nvPr>
        </p:nvSpPr>
        <p:spPr/>
        <p:txBody>
          <a:bodyPr/>
          <a:lstStyle/>
          <a:p>
            <a:r>
              <a:rPr lang="en-US"/>
              <a:t>Dr. Deepali Vora</a:t>
            </a:r>
          </a:p>
        </p:txBody>
      </p:sp>
      <p:sp>
        <p:nvSpPr>
          <p:cNvPr id="4" name="Slide Number Placeholder 3">
            <a:extLst>
              <a:ext uri="{FF2B5EF4-FFF2-40B4-BE49-F238E27FC236}">
                <a16:creationId xmlns:a16="http://schemas.microsoft.com/office/drawing/2014/main" id="{45913838-6060-40A7-BFF1-7B15552E1A59}"/>
              </a:ext>
            </a:extLst>
          </p:cNvPr>
          <p:cNvSpPr>
            <a:spLocks noGrp="1"/>
          </p:cNvSpPr>
          <p:nvPr>
            <p:ph type="sldNum" sz="quarter" idx="12"/>
          </p:nvPr>
        </p:nvSpPr>
        <p:spPr/>
        <p:txBody>
          <a:bodyPr/>
          <a:lstStyle/>
          <a:p>
            <a:fld id="{FC009779-55AD-BC4D-8753-9D733F0932BF}" type="slidenum">
              <a:rPr lang="en-US" smtClean="0"/>
              <a:pPr/>
              <a:t>33</a:t>
            </a:fld>
            <a:endParaRPr lang="en-US"/>
          </a:p>
        </p:txBody>
      </p:sp>
    </p:spTree>
    <p:extLst>
      <p:ext uri="{BB962C8B-B14F-4D97-AF65-F5344CB8AC3E}">
        <p14:creationId xmlns:p14="http://schemas.microsoft.com/office/powerpoint/2010/main" val="67066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4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behavior of the momentum method</a:t>
            </a:r>
          </a:p>
        </p:txBody>
      </p:sp>
      <p:sp>
        <p:nvSpPr>
          <p:cNvPr id="3" name="Content Placeholder 2"/>
          <p:cNvSpPr>
            <a:spLocks noGrp="1"/>
          </p:cNvSpPr>
          <p:nvPr>
            <p:ph sz="half" idx="1"/>
          </p:nvPr>
        </p:nvSpPr>
        <p:spPr>
          <a:xfrm>
            <a:off x="556054" y="2347784"/>
            <a:ext cx="5297629" cy="3888424"/>
          </a:xfrm>
        </p:spPr>
        <p:txBody>
          <a:bodyPr>
            <a:normAutofit/>
          </a:bodyPr>
          <a:lstStyle/>
          <a:p>
            <a:r>
              <a:rPr lang="en-US" sz="2667" dirty="0"/>
              <a:t>If the error surface is a tilted plane, the ball reaches a terminal velocity.</a:t>
            </a:r>
          </a:p>
          <a:p>
            <a:pPr lvl="1"/>
            <a:r>
              <a:rPr lang="en-US" sz="2667" dirty="0">
                <a:solidFill>
                  <a:srgbClr val="0070C0"/>
                </a:solidFill>
              </a:rPr>
              <a:t>If the momentum is close to 1, this is much faster than simple gradient descent.</a:t>
            </a:r>
          </a:p>
        </p:txBody>
      </p:sp>
      <p:sp>
        <p:nvSpPr>
          <p:cNvPr id="4" name="Content Placeholder 3"/>
          <p:cNvSpPr>
            <a:spLocks noGrp="1"/>
          </p:cNvSpPr>
          <p:nvPr>
            <p:ph sz="half" idx="2"/>
          </p:nvPr>
        </p:nvSpPr>
        <p:spPr>
          <a:xfrm>
            <a:off x="6197600" y="2347784"/>
            <a:ext cx="5851061" cy="4235896"/>
          </a:xfrm>
        </p:spPr>
        <p:txBody>
          <a:bodyPr>
            <a:normAutofit/>
          </a:bodyPr>
          <a:lstStyle/>
          <a:p>
            <a:r>
              <a:rPr lang="en-US" sz="2200" dirty="0"/>
              <a:t>At the beginning of learning there may be very large gradients. </a:t>
            </a:r>
          </a:p>
          <a:p>
            <a:pPr lvl="1"/>
            <a:r>
              <a:rPr lang="en-US" sz="2200" dirty="0">
                <a:solidFill>
                  <a:srgbClr val="C00000"/>
                </a:solidFill>
              </a:rPr>
              <a:t>So it pays to use a small momentum (e.g. 0.5).</a:t>
            </a:r>
          </a:p>
          <a:p>
            <a:pPr lvl="1"/>
            <a:r>
              <a:rPr lang="en-US" sz="2200" dirty="0">
                <a:solidFill>
                  <a:srgbClr val="C00000"/>
                </a:solidFill>
              </a:rPr>
              <a:t>Once the large gradients have disappeared and the weights are stuck in a ravine the momentum can be smoothly raised to its final value</a:t>
            </a:r>
            <a:r>
              <a:rPr lang="en-US" sz="1300" dirty="0">
                <a:solidFill>
                  <a:srgbClr val="C00000"/>
                </a:solidFill>
              </a:rPr>
              <a:t> </a:t>
            </a:r>
            <a:r>
              <a:rPr lang="en-US" sz="2200" dirty="0">
                <a:solidFill>
                  <a:srgbClr val="C00000"/>
                </a:solidFill>
              </a:rPr>
              <a:t>(e.g. 0.9 or even 0.99)</a:t>
            </a:r>
          </a:p>
          <a:p>
            <a:r>
              <a:rPr lang="en-US" sz="2200" dirty="0"/>
              <a:t>This allows us to learn at a rate that would cause divergent oscillations without the momentum.</a:t>
            </a:r>
          </a:p>
        </p:txBody>
      </p:sp>
      <p:graphicFrame>
        <p:nvGraphicFramePr>
          <p:cNvPr id="5" name="Object 5"/>
          <p:cNvGraphicFramePr>
            <a:graphicFrameLocks noChangeAspect="1"/>
          </p:cNvGraphicFramePr>
          <p:nvPr>
            <p:extLst>
              <p:ext uri="{D42A27DB-BD31-4B8C-83A1-F6EECF244321}">
                <p14:modId xmlns:p14="http://schemas.microsoft.com/office/powerpoint/2010/main" val="3797637390"/>
              </p:ext>
            </p:extLst>
          </p:nvPr>
        </p:nvGraphicFramePr>
        <p:xfrm>
          <a:off x="1600200" y="4890744"/>
          <a:ext cx="3565101" cy="1200133"/>
        </p:xfrm>
        <a:graphic>
          <a:graphicData uri="http://schemas.openxmlformats.org/presentationml/2006/ole">
            <mc:AlternateContent xmlns:mc="http://schemas.openxmlformats.org/markup-compatibility/2006">
              <mc:Choice xmlns:v="urn:schemas-microsoft-com:vml" Requires="v">
                <p:oleObj name="Equation" r:id="rId2" imgW="1270800" imgH="420480" progId="Equation.3">
                  <p:embed/>
                </p:oleObj>
              </mc:Choice>
              <mc:Fallback>
                <p:oleObj name="Equation" r:id="rId2" imgW="1270800" imgH="420480" progId="Equation.3">
                  <p:embed/>
                  <p:pic>
                    <p:nvPicPr>
                      <p:cNvPr id="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4890744"/>
                        <a:ext cx="3565101" cy="1200133"/>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 name="Footer Placeholder 5">
            <a:extLst>
              <a:ext uri="{FF2B5EF4-FFF2-40B4-BE49-F238E27FC236}">
                <a16:creationId xmlns:a16="http://schemas.microsoft.com/office/drawing/2014/main" id="{54D30F59-D9BA-4B15-B770-6E8F92E3A15A}"/>
              </a:ext>
            </a:extLst>
          </p:cNvPr>
          <p:cNvSpPr>
            <a:spLocks noGrp="1"/>
          </p:cNvSpPr>
          <p:nvPr>
            <p:ph type="ftr" sz="quarter" idx="11"/>
          </p:nvPr>
        </p:nvSpPr>
        <p:spPr/>
        <p:txBody>
          <a:bodyPr/>
          <a:lstStyle/>
          <a:p>
            <a:pPr>
              <a:defRPr/>
            </a:pPr>
            <a:r>
              <a:rPr lang="es-ES"/>
              <a:t>Dr. Deepali Vora</a:t>
            </a:r>
          </a:p>
        </p:txBody>
      </p:sp>
      <p:sp>
        <p:nvSpPr>
          <p:cNvPr id="7" name="Slide Number Placeholder 6">
            <a:extLst>
              <a:ext uri="{FF2B5EF4-FFF2-40B4-BE49-F238E27FC236}">
                <a16:creationId xmlns:a16="http://schemas.microsoft.com/office/drawing/2014/main" id="{A2481714-F9FE-41B6-8A9B-489C92FFF310}"/>
              </a:ext>
            </a:extLst>
          </p:cNvPr>
          <p:cNvSpPr>
            <a:spLocks noGrp="1"/>
          </p:cNvSpPr>
          <p:nvPr>
            <p:ph type="sldNum" sz="quarter" idx="12"/>
          </p:nvPr>
        </p:nvSpPr>
        <p:spPr/>
        <p:txBody>
          <a:bodyPr/>
          <a:lstStyle/>
          <a:p>
            <a:fld id="{9370333F-211E-480A-A48D-622F2EB68390}" type="slidenum">
              <a:rPr lang="es-ES" altLang="en-US" smtClean="0"/>
              <a:pPr/>
              <a:t>34</a:t>
            </a:fld>
            <a:endParaRPr lang="es-ES" altLang="en-US"/>
          </a:p>
        </p:txBody>
      </p:sp>
    </p:spTree>
    <p:extLst>
      <p:ext uri="{BB962C8B-B14F-4D97-AF65-F5344CB8AC3E}">
        <p14:creationId xmlns:p14="http://schemas.microsoft.com/office/powerpoint/2010/main" val="2873521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F6E6C7-7844-FC8C-9CDA-1DEF2809FDAD}"/>
              </a:ext>
            </a:extLst>
          </p:cNvPr>
          <p:cNvSpPr>
            <a:spLocks noGrp="1"/>
          </p:cNvSpPr>
          <p:nvPr>
            <p:ph type="title"/>
          </p:nvPr>
        </p:nvSpPr>
        <p:spPr/>
        <p:txBody>
          <a:bodyPr/>
          <a:lstStyle/>
          <a:p>
            <a:r>
              <a:rPr lang="en-IN" dirty="0"/>
              <a:t>Momentum  GD</a:t>
            </a:r>
          </a:p>
        </p:txBody>
      </p:sp>
      <p:pic>
        <p:nvPicPr>
          <p:cNvPr id="7" name="Online Media 6" title="Applying the Momentum Optimizer to Gradient Descent">
            <a:hlinkClick r:id="" action="ppaction://media"/>
            <a:extLst>
              <a:ext uri="{FF2B5EF4-FFF2-40B4-BE49-F238E27FC236}">
                <a16:creationId xmlns:a16="http://schemas.microsoft.com/office/drawing/2014/main" id="{858FCE4B-FD5E-7CF1-75E7-C44C1E837374}"/>
              </a:ext>
            </a:extLst>
          </p:cNvPr>
          <p:cNvPicPr>
            <a:picLocks noGrp="1" noRot="1" noChangeAspect="1"/>
          </p:cNvPicPr>
          <p:nvPr>
            <p:ph idx="1"/>
            <a:videoFile r:link="rId1"/>
          </p:nvPr>
        </p:nvPicPr>
        <p:blipFill>
          <a:blip r:embed="rId3"/>
          <a:stretch>
            <a:fillRect/>
          </a:stretch>
        </p:blipFill>
        <p:spPr>
          <a:xfrm>
            <a:off x="2231136" y="2368818"/>
            <a:ext cx="7465438" cy="4214862"/>
          </a:xfrm>
          <a:prstGeom prst="rect">
            <a:avLst/>
          </a:prstGeom>
        </p:spPr>
      </p:pic>
      <p:sp>
        <p:nvSpPr>
          <p:cNvPr id="5" name="Footer Placeholder 4">
            <a:extLst>
              <a:ext uri="{FF2B5EF4-FFF2-40B4-BE49-F238E27FC236}">
                <a16:creationId xmlns:a16="http://schemas.microsoft.com/office/drawing/2014/main" id="{3E1148BA-03D8-86CD-DD72-7C93E7D27E7A}"/>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123199E5-048D-6DD9-91CB-866DD4D7651C}"/>
              </a:ext>
            </a:extLst>
          </p:cNvPr>
          <p:cNvSpPr>
            <a:spLocks noGrp="1"/>
          </p:cNvSpPr>
          <p:nvPr>
            <p:ph type="sldNum" sz="quarter" idx="12"/>
          </p:nvPr>
        </p:nvSpPr>
        <p:spPr/>
        <p:txBody>
          <a:bodyPr/>
          <a:lstStyle/>
          <a:p>
            <a:fld id="{9370333F-211E-480A-A48D-622F2EB68390}" type="slidenum">
              <a:rPr lang="es-ES" altLang="en-US" smtClean="0"/>
              <a:pPr/>
              <a:t>35</a:t>
            </a:fld>
            <a:endParaRPr lang="es-ES" altLang="en-US"/>
          </a:p>
        </p:txBody>
      </p:sp>
    </p:spTree>
    <p:extLst>
      <p:ext uri="{BB962C8B-B14F-4D97-AF65-F5344CB8AC3E}">
        <p14:creationId xmlns:p14="http://schemas.microsoft.com/office/powerpoint/2010/main" val="2362323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8BB0C-9CE3-10DD-5B9C-496385FE31D5}"/>
              </a:ext>
            </a:extLst>
          </p:cNvPr>
          <p:cNvSpPr>
            <a:spLocks noGrp="1"/>
          </p:cNvSpPr>
          <p:nvPr>
            <p:ph type="title"/>
          </p:nvPr>
        </p:nvSpPr>
        <p:spPr/>
        <p:txBody>
          <a:bodyPr/>
          <a:lstStyle/>
          <a:p>
            <a:r>
              <a:rPr lang="en-IN" dirty="0"/>
              <a:t>CODE</a:t>
            </a:r>
          </a:p>
        </p:txBody>
      </p:sp>
      <p:sp>
        <p:nvSpPr>
          <p:cNvPr id="3" name="Content Placeholder 2">
            <a:extLst>
              <a:ext uri="{FF2B5EF4-FFF2-40B4-BE49-F238E27FC236}">
                <a16:creationId xmlns:a16="http://schemas.microsoft.com/office/drawing/2014/main" id="{FF9BE401-0A01-622A-6E36-D91DE0A58EF9}"/>
              </a:ext>
            </a:extLst>
          </p:cNvPr>
          <p:cNvSpPr>
            <a:spLocks noGrp="1"/>
          </p:cNvSpPr>
          <p:nvPr>
            <p:ph idx="1"/>
          </p:nvPr>
        </p:nvSpPr>
        <p:spPr/>
        <p:txBody>
          <a:bodyPr/>
          <a:lstStyle/>
          <a:p>
            <a:r>
              <a:rPr lang="en-IN" dirty="0"/>
              <a:t>SGD</a:t>
            </a:r>
          </a:p>
          <a:p>
            <a:r>
              <a:rPr lang="en-IN" dirty="0"/>
              <a:t>Mini Batch</a:t>
            </a:r>
          </a:p>
          <a:p>
            <a:r>
              <a:rPr lang="en-IN" dirty="0"/>
              <a:t>Momentum</a:t>
            </a:r>
          </a:p>
          <a:p>
            <a:r>
              <a:rPr lang="en-IN" dirty="0">
                <a:hlinkClick r:id="rId2"/>
              </a:rPr>
              <a:t>SGD Code</a:t>
            </a:r>
            <a:endParaRPr lang="en-IN" dirty="0"/>
          </a:p>
        </p:txBody>
      </p:sp>
      <p:sp>
        <p:nvSpPr>
          <p:cNvPr id="4" name="Footer Placeholder 3">
            <a:extLst>
              <a:ext uri="{FF2B5EF4-FFF2-40B4-BE49-F238E27FC236}">
                <a16:creationId xmlns:a16="http://schemas.microsoft.com/office/drawing/2014/main" id="{B993544B-D85B-577D-6F6D-1D7F717F73B2}"/>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9F839758-E384-20A4-4828-4D0B3DF65689}"/>
              </a:ext>
            </a:extLst>
          </p:cNvPr>
          <p:cNvSpPr>
            <a:spLocks noGrp="1"/>
          </p:cNvSpPr>
          <p:nvPr>
            <p:ph type="sldNum" sz="quarter" idx="12"/>
          </p:nvPr>
        </p:nvSpPr>
        <p:spPr/>
        <p:txBody>
          <a:bodyPr/>
          <a:lstStyle/>
          <a:p>
            <a:fld id="{9370333F-211E-480A-A48D-622F2EB68390}" type="slidenum">
              <a:rPr lang="es-ES" altLang="en-US" smtClean="0"/>
              <a:pPr/>
              <a:t>36</a:t>
            </a:fld>
            <a:endParaRPr lang="es-ES" altLang="en-US"/>
          </a:p>
        </p:txBody>
      </p:sp>
    </p:spTree>
    <p:extLst>
      <p:ext uri="{BB962C8B-B14F-4D97-AF65-F5344CB8AC3E}">
        <p14:creationId xmlns:p14="http://schemas.microsoft.com/office/powerpoint/2010/main" val="1499192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behavior of the momentum method</a:t>
            </a:r>
          </a:p>
        </p:txBody>
      </p:sp>
      <p:sp>
        <p:nvSpPr>
          <p:cNvPr id="3" name="Content Placeholder 2"/>
          <p:cNvSpPr>
            <a:spLocks noGrp="1"/>
          </p:cNvSpPr>
          <p:nvPr>
            <p:ph sz="half" idx="1"/>
          </p:nvPr>
        </p:nvSpPr>
        <p:spPr>
          <a:xfrm>
            <a:off x="556054" y="2347784"/>
            <a:ext cx="5297629" cy="3888424"/>
          </a:xfrm>
        </p:spPr>
        <p:txBody>
          <a:bodyPr>
            <a:normAutofit/>
          </a:bodyPr>
          <a:lstStyle/>
          <a:p>
            <a:r>
              <a:rPr lang="en-US" sz="2667" dirty="0"/>
              <a:t>If the error surface is a tilted plane, the ball reaches a terminal velocity.</a:t>
            </a:r>
          </a:p>
          <a:p>
            <a:pPr lvl="1"/>
            <a:r>
              <a:rPr lang="en-US" sz="2667" dirty="0">
                <a:solidFill>
                  <a:srgbClr val="0070C0"/>
                </a:solidFill>
              </a:rPr>
              <a:t>If the momentum is close to 1, this is much faster than simple gradient descent.</a:t>
            </a:r>
          </a:p>
        </p:txBody>
      </p:sp>
      <p:sp>
        <p:nvSpPr>
          <p:cNvPr id="4" name="Content Placeholder 3"/>
          <p:cNvSpPr>
            <a:spLocks noGrp="1"/>
          </p:cNvSpPr>
          <p:nvPr>
            <p:ph sz="half" idx="2"/>
          </p:nvPr>
        </p:nvSpPr>
        <p:spPr>
          <a:xfrm>
            <a:off x="6197600" y="2347784"/>
            <a:ext cx="5851061" cy="4235896"/>
          </a:xfrm>
        </p:spPr>
        <p:txBody>
          <a:bodyPr>
            <a:normAutofit/>
          </a:bodyPr>
          <a:lstStyle/>
          <a:p>
            <a:r>
              <a:rPr lang="en-US" sz="2200" dirty="0"/>
              <a:t>At the beginning of learning there may be very large gradients. </a:t>
            </a:r>
          </a:p>
          <a:p>
            <a:pPr lvl="1"/>
            <a:r>
              <a:rPr lang="en-US" sz="2200" dirty="0">
                <a:solidFill>
                  <a:srgbClr val="C00000"/>
                </a:solidFill>
              </a:rPr>
              <a:t>So it pays to use a small momentum (e.g. 0.5).</a:t>
            </a:r>
          </a:p>
          <a:p>
            <a:pPr lvl="1"/>
            <a:r>
              <a:rPr lang="en-US" sz="2200" dirty="0">
                <a:solidFill>
                  <a:srgbClr val="C00000"/>
                </a:solidFill>
              </a:rPr>
              <a:t>Once the large gradients have disappeared and the weights are stuck in a ravine the momentum can be smoothly raised to its final value</a:t>
            </a:r>
            <a:r>
              <a:rPr lang="en-US" sz="1300" dirty="0">
                <a:solidFill>
                  <a:srgbClr val="C00000"/>
                </a:solidFill>
              </a:rPr>
              <a:t> </a:t>
            </a:r>
            <a:r>
              <a:rPr lang="en-US" sz="2200" dirty="0">
                <a:solidFill>
                  <a:srgbClr val="C00000"/>
                </a:solidFill>
              </a:rPr>
              <a:t>(e.g. 0.9 or even 0.99)</a:t>
            </a:r>
          </a:p>
          <a:p>
            <a:r>
              <a:rPr lang="en-US" sz="2200" dirty="0"/>
              <a:t>This allows us to learn at a rate that would cause divergent oscillations without the momentum.</a:t>
            </a:r>
          </a:p>
        </p:txBody>
      </p:sp>
      <p:sp>
        <p:nvSpPr>
          <p:cNvPr id="6" name="Footer Placeholder 5">
            <a:extLst>
              <a:ext uri="{FF2B5EF4-FFF2-40B4-BE49-F238E27FC236}">
                <a16:creationId xmlns:a16="http://schemas.microsoft.com/office/drawing/2014/main" id="{54D30F59-D9BA-4B15-B770-6E8F92E3A15A}"/>
              </a:ext>
            </a:extLst>
          </p:cNvPr>
          <p:cNvSpPr>
            <a:spLocks noGrp="1"/>
          </p:cNvSpPr>
          <p:nvPr>
            <p:ph type="ftr" sz="quarter" idx="11"/>
          </p:nvPr>
        </p:nvSpPr>
        <p:spPr/>
        <p:txBody>
          <a:bodyPr/>
          <a:lstStyle/>
          <a:p>
            <a:pPr>
              <a:defRPr/>
            </a:pPr>
            <a:r>
              <a:rPr lang="es-ES"/>
              <a:t>Dr. Deepali Vora</a:t>
            </a:r>
          </a:p>
        </p:txBody>
      </p:sp>
      <p:sp>
        <p:nvSpPr>
          <p:cNvPr id="7" name="Slide Number Placeholder 6">
            <a:extLst>
              <a:ext uri="{FF2B5EF4-FFF2-40B4-BE49-F238E27FC236}">
                <a16:creationId xmlns:a16="http://schemas.microsoft.com/office/drawing/2014/main" id="{A2481714-F9FE-41B6-8A9B-489C92FFF310}"/>
              </a:ext>
            </a:extLst>
          </p:cNvPr>
          <p:cNvSpPr>
            <a:spLocks noGrp="1"/>
          </p:cNvSpPr>
          <p:nvPr>
            <p:ph type="sldNum" sz="quarter" idx="12"/>
          </p:nvPr>
        </p:nvSpPr>
        <p:spPr/>
        <p:txBody>
          <a:bodyPr/>
          <a:lstStyle/>
          <a:p>
            <a:fld id="{9370333F-211E-480A-A48D-622F2EB68390}" type="slidenum">
              <a:rPr lang="es-ES" altLang="en-US" smtClean="0"/>
              <a:pPr/>
              <a:t>37</a:t>
            </a:fld>
            <a:endParaRPr lang="es-ES" altLang="en-US"/>
          </a:p>
        </p:txBody>
      </p:sp>
    </p:spTree>
    <p:extLst>
      <p:ext uri="{BB962C8B-B14F-4D97-AF65-F5344CB8AC3E}">
        <p14:creationId xmlns:p14="http://schemas.microsoft.com/office/powerpoint/2010/main" val="140174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1759" y="272061"/>
            <a:ext cx="7729728" cy="1188720"/>
          </a:xfrm>
        </p:spPr>
        <p:txBody>
          <a:bodyPr>
            <a:normAutofit/>
          </a:bodyPr>
          <a:lstStyle/>
          <a:p>
            <a:r>
              <a:rPr lang="en-US" dirty="0"/>
              <a:t>A better type of momentum (</a:t>
            </a:r>
            <a:r>
              <a:rPr lang="en-US" dirty="0" err="1"/>
              <a:t>Nesterov</a:t>
            </a:r>
            <a:r>
              <a:rPr lang="en-US" dirty="0"/>
              <a:t> 1983)</a:t>
            </a:r>
          </a:p>
        </p:txBody>
      </p:sp>
      <p:sp>
        <p:nvSpPr>
          <p:cNvPr id="3" name="Content Placeholder 2"/>
          <p:cNvSpPr>
            <a:spLocks noGrp="1"/>
          </p:cNvSpPr>
          <p:nvPr>
            <p:ph sz="half" idx="1"/>
          </p:nvPr>
        </p:nvSpPr>
        <p:spPr>
          <a:xfrm>
            <a:off x="451559" y="1460781"/>
            <a:ext cx="5825064" cy="4525963"/>
          </a:xfrm>
        </p:spPr>
        <p:txBody>
          <a:bodyPr>
            <a:normAutofit/>
          </a:bodyPr>
          <a:lstStyle/>
          <a:p>
            <a:r>
              <a:rPr lang="en-US" sz="2667" dirty="0"/>
              <a:t>The standard momentum method </a:t>
            </a:r>
            <a:r>
              <a:rPr lang="en-US" sz="2667" dirty="0">
                <a:solidFill>
                  <a:srgbClr val="0000FF"/>
                </a:solidFill>
              </a:rPr>
              <a:t>first</a:t>
            </a:r>
            <a:r>
              <a:rPr lang="en-US" sz="2667" dirty="0"/>
              <a:t> computes the gradient at the current location and </a:t>
            </a:r>
            <a:r>
              <a:rPr lang="en-US" sz="2667" dirty="0">
                <a:solidFill>
                  <a:srgbClr val="0000FF"/>
                </a:solidFill>
              </a:rPr>
              <a:t>then</a:t>
            </a:r>
            <a:r>
              <a:rPr lang="en-US" sz="2667" dirty="0"/>
              <a:t> takes a big jump in the direction of the updated accumulated gradient.</a:t>
            </a:r>
          </a:p>
          <a:p>
            <a:r>
              <a:rPr lang="en-US" sz="2667" dirty="0" err="1"/>
              <a:t>Ilya</a:t>
            </a:r>
            <a:r>
              <a:rPr lang="en-US" sz="2667" dirty="0"/>
              <a:t> </a:t>
            </a:r>
            <a:r>
              <a:rPr lang="en-US" sz="2667" dirty="0" err="1"/>
              <a:t>Sutskever</a:t>
            </a:r>
            <a:r>
              <a:rPr lang="en-US" sz="2667" dirty="0"/>
              <a:t> (2012 unpublished) suggested a new form of momentum that often works better. </a:t>
            </a:r>
          </a:p>
          <a:p>
            <a:pPr lvl="1"/>
            <a:r>
              <a:rPr lang="en-US" sz="2667" dirty="0"/>
              <a:t>Inspired by the </a:t>
            </a:r>
            <a:r>
              <a:rPr lang="en-US" sz="2667" dirty="0" err="1"/>
              <a:t>Nesterov</a:t>
            </a:r>
            <a:r>
              <a:rPr lang="en-US" sz="2667" dirty="0"/>
              <a:t> method for optimizing convex functions. </a:t>
            </a:r>
          </a:p>
        </p:txBody>
      </p:sp>
      <p:sp>
        <p:nvSpPr>
          <p:cNvPr id="4" name="Content Placeholder 3"/>
          <p:cNvSpPr>
            <a:spLocks noGrp="1"/>
          </p:cNvSpPr>
          <p:nvPr>
            <p:ph sz="half" idx="2"/>
          </p:nvPr>
        </p:nvSpPr>
        <p:spPr>
          <a:xfrm>
            <a:off x="6502400" y="1460781"/>
            <a:ext cx="5080001" cy="4525963"/>
          </a:xfrm>
        </p:spPr>
        <p:txBody>
          <a:bodyPr>
            <a:normAutofit/>
          </a:bodyPr>
          <a:lstStyle/>
          <a:p>
            <a:r>
              <a:rPr lang="en-US" sz="2667" dirty="0">
                <a:solidFill>
                  <a:srgbClr val="0000FF"/>
                </a:solidFill>
              </a:rPr>
              <a:t>First</a:t>
            </a:r>
            <a:r>
              <a:rPr lang="en-US" sz="2667" dirty="0"/>
              <a:t> make a big jump in the direction of the previous accumulated gradient.</a:t>
            </a:r>
          </a:p>
          <a:p>
            <a:r>
              <a:rPr lang="en-US" sz="2667" dirty="0">
                <a:solidFill>
                  <a:srgbClr val="0000FF"/>
                </a:solidFill>
              </a:rPr>
              <a:t>Then</a:t>
            </a:r>
            <a:r>
              <a:rPr lang="en-US" sz="2667" dirty="0"/>
              <a:t> measure the gradient where you end up and make a correction.</a:t>
            </a:r>
          </a:p>
          <a:p>
            <a:r>
              <a:rPr lang="en-US" sz="2600" dirty="0"/>
              <a:t>Its better to correct a mistake </a:t>
            </a:r>
            <a:r>
              <a:rPr lang="en-US" sz="2600" dirty="0">
                <a:solidFill>
                  <a:srgbClr val="0000FF"/>
                </a:solidFill>
              </a:rPr>
              <a:t>after</a:t>
            </a:r>
            <a:r>
              <a:rPr lang="en-US" sz="2600" dirty="0"/>
              <a:t> you have made it!</a:t>
            </a:r>
          </a:p>
          <a:p>
            <a:endParaRPr lang="en-US" sz="2667" dirty="0"/>
          </a:p>
        </p:txBody>
      </p:sp>
      <p:sp>
        <p:nvSpPr>
          <p:cNvPr id="5" name="Footer Placeholder 4">
            <a:extLst>
              <a:ext uri="{FF2B5EF4-FFF2-40B4-BE49-F238E27FC236}">
                <a16:creationId xmlns:a16="http://schemas.microsoft.com/office/drawing/2014/main" id="{263CB705-541A-4EAB-A09A-470A61EDDEF8}"/>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E1215FE0-B60D-4A0E-8CE9-F039EFE06D13}"/>
              </a:ext>
            </a:extLst>
          </p:cNvPr>
          <p:cNvSpPr>
            <a:spLocks noGrp="1"/>
          </p:cNvSpPr>
          <p:nvPr>
            <p:ph type="sldNum" sz="quarter" idx="12"/>
          </p:nvPr>
        </p:nvSpPr>
        <p:spPr/>
        <p:txBody>
          <a:bodyPr/>
          <a:lstStyle/>
          <a:p>
            <a:fld id="{9370333F-211E-480A-A48D-622F2EB68390}" type="slidenum">
              <a:rPr lang="es-ES" altLang="en-US" smtClean="0"/>
              <a:pPr/>
              <a:t>38</a:t>
            </a:fld>
            <a:endParaRPr lang="es-ES" altLang="en-US"/>
          </a:p>
        </p:txBody>
      </p:sp>
    </p:spTree>
    <p:extLst>
      <p:ext uri="{BB962C8B-B14F-4D97-AF65-F5344CB8AC3E}">
        <p14:creationId xmlns:p14="http://schemas.microsoft.com/office/powerpoint/2010/main" val="2894565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9307" y="286466"/>
            <a:ext cx="7729728" cy="1188720"/>
          </a:xfrm>
        </p:spPr>
        <p:txBody>
          <a:bodyPr>
            <a:normAutofit/>
          </a:bodyPr>
          <a:lstStyle/>
          <a:p>
            <a:r>
              <a:rPr lang="en-US" dirty="0"/>
              <a:t>A picture of the </a:t>
            </a:r>
            <a:r>
              <a:rPr lang="en-US" dirty="0" err="1"/>
              <a:t>Nesterov</a:t>
            </a:r>
            <a:r>
              <a:rPr lang="en-US" dirty="0"/>
              <a:t> method </a:t>
            </a:r>
          </a:p>
        </p:txBody>
      </p:sp>
      <p:sp>
        <p:nvSpPr>
          <p:cNvPr id="4" name="Content Placeholder 3"/>
          <p:cNvSpPr>
            <a:spLocks noGrp="1"/>
          </p:cNvSpPr>
          <p:nvPr>
            <p:ph sz="half" idx="2"/>
          </p:nvPr>
        </p:nvSpPr>
        <p:spPr>
          <a:xfrm>
            <a:off x="609602" y="1460782"/>
            <a:ext cx="12180045" cy="2783841"/>
          </a:xfrm>
        </p:spPr>
        <p:txBody>
          <a:bodyPr/>
          <a:lstStyle/>
          <a:p>
            <a:r>
              <a:rPr lang="en-US" sz="2667" dirty="0">
                <a:solidFill>
                  <a:schemeClr val="accent6">
                    <a:lumMod val="50000"/>
                  </a:schemeClr>
                </a:solidFill>
              </a:rPr>
              <a:t>First</a:t>
            </a:r>
            <a:r>
              <a:rPr lang="en-US" sz="2667" dirty="0"/>
              <a:t> make a big jump in the direction of the previous accumulated gradient.</a:t>
            </a:r>
          </a:p>
          <a:p>
            <a:r>
              <a:rPr lang="en-US" sz="2667" dirty="0">
                <a:solidFill>
                  <a:srgbClr val="FF0000"/>
                </a:solidFill>
              </a:rPr>
              <a:t>Then </a:t>
            </a:r>
            <a:r>
              <a:rPr lang="en-US" sz="2667" dirty="0"/>
              <a:t>measure the gradient where you end up and make a correction.</a:t>
            </a:r>
          </a:p>
          <a:p>
            <a:endParaRPr lang="en-US" sz="2667" dirty="0"/>
          </a:p>
          <a:p>
            <a:pPr marL="0" indent="0">
              <a:buNone/>
            </a:pPr>
            <a:endParaRPr lang="en-US" sz="5333" dirty="0">
              <a:solidFill>
                <a:srgbClr val="FF0000"/>
              </a:solidFill>
            </a:endParaRPr>
          </a:p>
        </p:txBody>
      </p:sp>
      <p:cxnSp>
        <p:nvCxnSpPr>
          <p:cNvPr id="6" name="Straight Arrow Connector 5"/>
          <p:cNvCxnSpPr/>
          <p:nvPr/>
        </p:nvCxnSpPr>
        <p:spPr>
          <a:xfrm flipV="1">
            <a:off x="2069199" y="3227340"/>
            <a:ext cx="3528763" cy="1277601"/>
          </a:xfrm>
          <a:prstGeom prst="straightConnector1">
            <a:avLst/>
          </a:prstGeom>
          <a:ln>
            <a:solidFill>
              <a:srgbClr val="975C29"/>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a:off x="5597962" y="3227340"/>
            <a:ext cx="418343" cy="63745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V="1">
            <a:off x="2140887" y="3864797"/>
            <a:ext cx="3855496" cy="642833"/>
          </a:xfrm>
          <a:prstGeom prst="straightConnector1">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7644" y="4704153"/>
            <a:ext cx="11853333" cy="1200329"/>
          </a:xfrm>
          <a:prstGeom prst="rect">
            <a:avLst/>
          </a:prstGeom>
          <a:noFill/>
        </p:spPr>
        <p:txBody>
          <a:bodyPr wrap="square" rtlCol="0">
            <a:spAutoFit/>
          </a:bodyPr>
          <a:lstStyle/>
          <a:p>
            <a:r>
              <a:rPr lang="en-US" sz="2400" dirty="0">
                <a:solidFill>
                  <a:srgbClr val="984807"/>
                </a:solidFill>
              </a:rPr>
              <a:t>brown </a:t>
            </a:r>
            <a:r>
              <a:rPr lang="en-US" sz="2400" dirty="0">
                <a:solidFill>
                  <a:schemeClr val="accent6">
                    <a:lumMod val="50000"/>
                  </a:schemeClr>
                </a:solidFill>
              </a:rPr>
              <a:t>vector</a:t>
            </a:r>
            <a:r>
              <a:rPr lang="en-US" sz="2400" dirty="0"/>
              <a:t> </a:t>
            </a:r>
            <a:r>
              <a:rPr lang="en-US" sz="2400" dirty="0">
                <a:solidFill>
                  <a:schemeClr val="accent6">
                    <a:lumMod val="50000"/>
                  </a:schemeClr>
                </a:solidFill>
              </a:rPr>
              <a:t>= jump,       </a:t>
            </a:r>
            <a:r>
              <a:rPr lang="en-US" sz="2400" dirty="0">
                <a:solidFill>
                  <a:srgbClr val="FF0000"/>
                </a:solidFill>
              </a:rPr>
              <a:t>red vector = correction,       </a:t>
            </a:r>
            <a:r>
              <a:rPr lang="en-US" sz="2400" dirty="0">
                <a:solidFill>
                  <a:srgbClr val="008000"/>
                </a:solidFill>
              </a:rPr>
              <a:t>green vector = accumulated gradient</a:t>
            </a:r>
          </a:p>
          <a:p>
            <a:endParaRPr lang="en-US" sz="2400" dirty="0">
              <a:solidFill>
                <a:srgbClr val="0000FF"/>
              </a:solidFill>
            </a:endParaRPr>
          </a:p>
          <a:p>
            <a:r>
              <a:rPr lang="en-US" sz="2400" dirty="0">
                <a:solidFill>
                  <a:srgbClr val="0000FF"/>
                </a:solidFill>
              </a:rPr>
              <a:t>blue vectors = standard momentum</a:t>
            </a:r>
          </a:p>
        </p:txBody>
      </p:sp>
      <p:cxnSp>
        <p:nvCxnSpPr>
          <p:cNvPr id="12" name="Straight Arrow Connector 11"/>
          <p:cNvCxnSpPr/>
          <p:nvPr/>
        </p:nvCxnSpPr>
        <p:spPr>
          <a:xfrm flipV="1">
            <a:off x="2069199" y="3864796"/>
            <a:ext cx="620216" cy="640144"/>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6016304" y="3466365"/>
            <a:ext cx="3107765" cy="403812"/>
          </a:xfrm>
          <a:prstGeom prst="straightConnector1">
            <a:avLst/>
          </a:prstGeom>
          <a:ln>
            <a:solidFill>
              <a:srgbClr val="975C29"/>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a:off x="8765486" y="3466422"/>
            <a:ext cx="349309" cy="39837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V="1">
            <a:off x="6016304" y="3864797"/>
            <a:ext cx="2749181" cy="26628"/>
          </a:xfrm>
          <a:prstGeom prst="straightConnector1">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V="1">
            <a:off x="2689415" y="2689424"/>
            <a:ext cx="3287047" cy="1180753"/>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3" name="Footer Placeholder 2">
            <a:extLst>
              <a:ext uri="{FF2B5EF4-FFF2-40B4-BE49-F238E27FC236}">
                <a16:creationId xmlns:a16="http://schemas.microsoft.com/office/drawing/2014/main" id="{59A41420-FC87-4B59-946B-6B7ED569DD76}"/>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E0216CD1-D6C6-49C2-8F88-5C81833B4A88}"/>
              </a:ext>
            </a:extLst>
          </p:cNvPr>
          <p:cNvSpPr>
            <a:spLocks noGrp="1"/>
          </p:cNvSpPr>
          <p:nvPr>
            <p:ph type="sldNum" sz="quarter" idx="12"/>
          </p:nvPr>
        </p:nvSpPr>
        <p:spPr/>
        <p:txBody>
          <a:bodyPr/>
          <a:lstStyle/>
          <a:p>
            <a:fld id="{9370333F-211E-480A-A48D-622F2EB68390}" type="slidenum">
              <a:rPr lang="es-ES" altLang="en-US" smtClean="0"/>
              <a:pPr/>
              <a:t>39</a:t>
            </a:fld>
            <a:endParaRPr lang="es-ES" altLang="en-US"/>
          </a:p>
        </p:txBody>
      </p:sp>
    </p:spTree>
    <p:extLst>
      <p:ext uri="{BB962C8B-B14F-4D97-AF65-F5344CB8AC3E}">
        <p14:creationId xmlns:p14="http://schemas.microsoft.com/office/powerpoint/2010/main" val="308587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3CDB162-14FB-58F6-1279-D05C5C45331D}"/>
              </a:ext>
            </a:extLst>
          </p:cNvPr>
          <p:cNvSpPr>
            <a:spLocks noGrp="1"/>
          </p:cNvSpPr>
          <p:nvPr>
            <p:ph type="title"/>
          </p:nvPr>
        </p:nvSpPr>
        <p:spPr/>
        <p:txBody>
          <a:bodyPr/>
          <a:lstStyle/>
          <a:p>
            <a:r>
              <a:rPr lang="en-US" dirty="0"/>
              <a:t>Nesterov gradient descent</a:t>
            </a:r>
            <a:endParaRPr lang="en-IN" dirty="0"/>
          </a:p>
        </p:txBody>
      </p:sp>
      <p:sp>
        <p:nvSpPr>
          <p:cNvPr id="5" name="Footer Placeholder 4">
            <a:extLst>
              <a:ext uri="{FF2B5EF4-FFF2-40B4-BE49-F238E27FC236}">
                <a16:creationId xmlns:a16="http://schemas.microsoft.com/office/drawing/2014/main" id="{B21361BD-881E-54DA-79B6-6FF69C52A824}"/>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B7B4DFF4-30FA-353D-76D3-F1B33A975CA9}"/>
              </a:ext>
            </a:extLst>
          </p:cNvPr>
          <p:cNvSpPr>
            <a:spLocks noGrp="1"/>
          </p:cNvSpPr>
          <p:nvPr>
            <p:ph type="sldNum" sz="quarter" idx="12"/>
          </p:nvPr>
        </p:nvSpPr>
        <p:spPr/>
        <p:txBody>
          <a:bodyPr/>
          <a:lstStyle/>
          <a:p>
            <a:fld id="{9370333F-211E-480A-A48D-622F2EB68390}" type="slidenum">
              <a:rPr lang="es-ES" altLang="en-US" smtClean="0"/>
              <a:pPr/>
              <a:t>40</a:t>
            </a:fld>
            <a:endParaRPr lang="es-ES" altLang="en-US"/>
          </a:p>
        </p:txBody>
      </p:sp>
      <p:pic>
        <p:nvPicPr>
          <p:cNvPr id="9" name="Picture 8">
            <a:extLst>
              <a:ext uri="{FF2B5EF4-FFF2-40B4-BE49-F238E27FC236}">
                <a16:creationId xmlns:a16="http://schemas.microsoft.com/office/drawing/2014/main" id="{3293A0D3-7BB0-5A68-5A48-53E8A6F03B8D}"/>
              </a:ext>
            </a:extLst>
          </p:cNvPr>
          <p:cNvPicPr>
            <a:picLocks noChangeAspect="1"/>
          </p:cNvPicPr>
          <p:nvPr/>
        </p:nvPicPr>
        <p:blipFill>
          <a:blip r:embed="rId2"/>
          <a:stretch>
            <a:fillRect/>
          </a:stretch>
        </p:blipFill>
        <p:spPr>
          <a:xfrm>
            <a:off x="1390342" y="2291106"/>
            <a:ext cx="8964276" cy="3543795"/>
          </a:xfrm>
          <a:prstGeom prst="rect">
            <a:avLst/>
          </a:prstGeom>
        </p:spPr>
      </p:pic>
      <p:sp>
        <p:nvSpPr>
          <p:cNvPr id="11" name="TextBox 10">
            <a:extLst>
              <a:ext uri="{FF2B5EF4-FFF2-40B4-BE49-F238E27FC236}">
                <a16:creationId xmlns:a16="http://schemas.microsoft.com/office/drawing/2014/main" id="{BA329057-E760-CF32-6E37-675A06EE3A6D}"/>
              </a:ext>
            </a:extLst>
          </p:cNvPr>
          <p:cNvSpPr txBox="1"/>
          <p:nvPr/>
        </p:nvSpPr>
        <p:spPr>
          <a:xfrm>
            <a:off x="3119120" y="5893308"/>
            <a:ext cx="6096000" cy="230832"/>
          </a:xfrm>
          <a:prstGeom prst="rect">
            <a:avLst/>
          </a:prstGeom>
          <a:noFill/>
        </p:spPr>
        <p:txBody>
          <a:bodyPr wrap="square">
            <a:spAutoFit/>
          </a:bodyPr>
          <a:lstStyle/>
          <a:p>
            <a:r>
              <a:rPr lang="en-IN" sz="900" dirty="0"/>
              <a:t>https://www.codingninjas.com/studio/library/nesterov-accelerated-gradient</a:t>
            </a:r>
          </a:p>
        </p:txBody>
      </p:sp>
    </p:spTree>
    <p:extLst>
      <p:ext uri="{BB962C8B-B14F-4D97-AF65-F5344CB8AC3E}">
        <p14:creationId xmlns:p14="http://schemas.microsoft.com/office/powerpoint/2010/main" val="1886409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A9DEC-2A78-F749-99E6-2BC9D594041E}"/>
              </a:ext>
            </a:extLst>
          </p:cNvPr>
          <p:cNvSpPr>
            <a:spLocks noGrp="1"/>
          </p:cNvSpPr>
          <p:nvPr>
            <p:ph type="title"/>
          </p:nvPr>
        </p:nvSpPr>
        <p:spPr>
          <a:xfrm>
            <a:off x="2017776" y="321564"/>
            <a:ext cx="7729728" cy="1188720"/>
          </a:xfrm>
        </p:spPr>
        <p:txBody>
          <a:bodyPr/>
          <a:lstStyle/>
          <a:p>
            <a:r>
              <a:rPr lang="en-US" dirty="0"/>
              <a:t>Nesterov gradient descent</a:t>
            </a:r>
            <a:endParaRPr lang="en-IN" dirty="0"/>
          </a:p>
        </p:txBody>
      </p:sp>
      <p:sp>
        <p:nvSpPr>
          <p:cNvPr id="3" name="Footer Placeholder 2">
            <a:extLst>
              <a:ext uri="{FF2B5EF4-FFF2-40B4-BE49-F238E27FC236}">
                <a16:creationId xmlns:a16="http://schemas.microsoft.com/office/drawing/2014/main" id="{AAAB89F9-5E72-3CF2-0F75-39F11074409B}"/>
              </a:ext>
            </a:extLst>
          </p:cNvPr>
          <p:cNvSpPr>
            <a:spLocks noGrp="1"/>
          </p:cNvSpPr>
          <p:nvPr>
            <p:ph type="ftr" sz="quarter" idx="11"/>
          </p:nvPr>
        </p:nvSpPr>
        <p:spPr/>
        <p:txBody>
          <a:bodyPr/>
          <a:lstStyle/>
          <a:p>
            <a:pPr>
              <a:defRPr/>
            </a:pPr>
            <a:r>
              <a:rPr lang="es-ES"/>
              <a:t>Dr. Deepali Vora</a:t>
            </a:r>
          </a:p>
        </p:txBody>
      </p:sp>
      <p:sp>
        <p:nvSpPr>
          <p:cNvPr id="4" name="Slide Number Placeholder 3">
            <a:extLst>
              <a:ext uri="{FF2B5EF4-FFF2-40B4-BE49-F238E27FC236}">
                <a16:creationId xmlns:a16="http://schemas.microsoft.com/office/drawing/2014/main" id="{DD5871ED-2D23-6F6E-DEA4-B34DA7230077}"/>
              </a:ext>
            </a:extLst>
          </p:cNvPr>
          <p:cNvSpPr>
            <a:spLocks noGrp="1"/>
          </p:cNvSpPr>
          <p:nvPr>
            <p:ph type="sldNum" sz="quarter" idx="12"/>
          </p:nvPr>
        </p:nvSpPr>
        <p:spPr/>
        <p:txBody>
          <a:bodyPr/>
          <a:lstStyle/>
          <a:p>
            <a:fld id="{9370333F-211E-480A-A48D-622F2EB68390}" type="slidenum">
              <a:rPr lang="es-ES" altLang="en-US" smtClean="0"/>
              <a:pPr/>
              <a:t>41</a:t>
            </a:fld>
            <a:endParaRPr lang="es-ES" altLang="en-US"/>
          </a:p>
        </p:txBody>
      </p:sp>
      <p:sp>
        <p:nvSpPr>
          <p:cNvPr id="6" name="TextBox 5">
            <a:extLst>
              <a:ext uri="{FF2B5EF4-FFF2-40B4-BE49-F238E27FC236}">
                <a16:creationId xmlns:a16="http://schemas.microsoft.com/office/drawing/2014/main" id="{7F5E998E-17DC-0C5F-FCB6-154093028F62}"/>
              </a:ext>
            </a:extLst>
          </p:cNvPr>
          <p:cNvSpPr txBox="1"/>
          <p:nvPr/>
        </p:nvSpPr>
        <p:spPr>
          <a:xfrm>
            <a:off x="934720" y="1598707"/>
            <a:ext cx="9895840" cy="4619213"/>
          </a:xfrm>
          <a:prstGeom prst="rect">
            <a:avLst/>
          </a:prstGeom>
          <a:noFill/>
        </p:spPr>
        <p:txBody>
          <a:bodyPr wrap="square">
            <a:spAutoFit/>
          </a:bodyPr>
          <a:lstStyle/>
          <a:p>
            <a:pPr marL="285750" indent="-285750" algn="l" fontAlgn="base">
              <a:lnSpc>
                <a:spcPct val="150000"/>
              </a:lnSpc>
              <a:buFont typeface="Arial" panose="020B0604020202020204" pitchFamily="34" charset="0"/>
              <a:buChar char="•"/>
            </a:pPr>
            <a:r>
              <a:rPr lang="en-US" b="0" dirty="0">
                <a:solidFill>
                  <a:srgbClr val="0070C0"/>
                </a:solidFill>
                <a:effectLst/>
                <a:latin typeface="Helvetica Neue"/>
              </a:rPr>
              <a:t>First, the projected position of the entire solution is calculated using the change calculated in the last iteration of the algorithm.</a:t>
            </a:r>
          </a:p>
          <a:p>
            <a:pPr algn="l" fontAlgn="base">
              <a:lnSpc>
                <a:spcPct val="150000"/>
              </a:lnSpc>
              <a:spcAft>
                <a:spcPts val="1125"/>
              </a:spcAft>
            </a:pPr>
            <a:r>
              <a:rPr lang="en-US" b="0" i="0" dirty="0">
                <a:solidFill>
                  <a:srgbClr val="404040"/>
                </a:solidFill>
                <a:effectLst/>
                <a:latin typeface="Arial" panose="020B0604020202020204" pitchFamily="34" charset="0"/>
              </a:rPr>
              <a:t>projection(t+1) = x(t) + (momentum * change(t))</a:t>
            </a:r>
          </a:p>
          <a:p>
            <a:pPr marL="285750" indent="-285750" algn="l" fontAlgn="base">
              <a:lnSpc>
                <a:spcPct val="150000"/>
              </a:lnSpc>
              <a:buFont typeface="Arial" panose="020B0604020202020204" pitchFamily="34" charset="0"/>
              <a:buChar char="•"/>
            </a:pPr>
            <a:r>
              <a:rPr lang="en-US" b="0" dirty="0">
                <a:solidFill>
                  <a:srgbClr val="0070C0"/>
                </a:solidFill>
                <a:effectLst/>
                <a:latin typeface="Helvetica Neue"/>
              </a:rPr>
              <a:t>Then calculate the gradient for this new position</a:t>
            </a:r>
            <a:r>
              <a:rPr lang="en-US" b="0" dirty="0">
                <a:solidFill>
                  <a:srgbClr val="555555"/>
                </a:solidFill>
                <a:effectLst/>
                <a:latin typeface="Helvetica Neue"/>
              </a:rPr>
              <a:t>.</a:t>
            </a:r>
          </a:p>
          <a:p>
            <a:pPr algn="l" fontAlgn="base">
              <a:lnSpc>
                <a:spcPct val="150000"/>
              </a:lnSpc>
              <a:spcAft>
                <a:spcPts val="1125"/>
              </a:spcAft>
            </a:pPr>
            <a:r>
              <a:rPr lang="en-US" b="0" i="0" dirty="0">
                <a:solidFill>
                  <a:srgbClr val="404040"/>
                </a:solidFill>
                <a:effectLst/>
                <a:latin typeface="Arial" panose="020B0604020202020204" pitchFamily="34" charset="0"/>
              </a:rPr>
              <a:t>gradient(t+1) = f'(projection(t+1))</a:t>
            </a:r>
          </a:p>
          <a:p>
            <a:pPr marL="285750" indent="-285750" algn="l" fontAlgn="base">
              <a:lnSpc>
                <a:spcPct val="150000"/>
              </a:lnSpc>
              <a:buFont typeface="Arial" panose="020B0604020202020204" pitchFamily="34" charset="0"/>
              <a:buChar char="•"/>
            </a:pPr>
            <a:r>
              <a:rPr lang="en-US" b="0" dirty="0">
                <a:solidFill>
                  <a:srgbClr val="0070C0"/>
                </a:solidFill>
                <a:effectLst/>
                <a:latin typeface="Helvetica Neue"/>
              </a:rPr>
              <a:t>Now we can calculate the new position of each variable using the gradient of the projection,   first by calculating the change in each variable.</a:t>
            </a:r>
          </a:p>
          <a:p>
            <a:pPr algn="l" fontAlgn="base">
              <a:lnSpc>
                <a:spcPct val="150000"/>
              </a:lnSpc>
              <a:spcAft>
                <a:spcPts val="1125"/>
              </a:spcAft>
            </a:pPr>
            <a:r>
              <a:rPr lang="en-US" b="0" i="0" dirty="0">
                <a:solidFill>
                  <a:srgbClr val="404040"/>
                </a:solidFill>
                <a:effectLst/>
                <a:latin typeface="Arial" panose="020B0604020202020204" pitchFamily="34" charset="0"/>
              </a:rPr>
              <a:t>    change(t+1) = (momentum * change(t)) – (</a:t>
            </a:r>
            <a:r>
              <a:rPr lang="en-US" b="0" i="0" dirty="0" err="1">
                <a:solidFill>
                  <a:srgbClr val="404040"/>
                </a:solidFill>
                <a:effectLst/>
                <a:latin typeface="Arial" panose="020B0604020202020204" pitchFamily="34" charset="0"/>
              </a:rPr>
              <a:t>step_size</a:t>
            </a:r>
            <a:r>
              <a:rPr lang="en-US" b="0" i="0" dirty="0">
                <a:solidFill>
                  <a:srgbClr val="404040"/>
                </a:solidFill>
                <a:effectLst/>
                <a:latin typeface="Arial" panose="020B0604020202020204" pitchFamily="34" charset="0"/>
              </a:rPr>
              <a:t> * gradient(t+1))</a:t>
            </a:r>
          </a:p>
          <a:p>
            <a:pPr marL="285750" indent="-285750" algn="l" fontAlgn="base">
              <a:lnSpc>
                <a:spcPct val="150000"/>
              </a:lnSpc>
              <a:buFont typeface="Arial" panose="020B0604020202020204" pitchFamily="34" charset="0"/>
              <a:buChar char="•"/>
            </a:pPr>
            <a:r>
              <a:rPr lang="en-US" b="0" dirty="0">
                <a:solidFill>
                  <a:srgbClr val="0070C0"/>
                </a:solidFill>
                <a:effectLst/>
                <a:latin typeface="Helvetica Neue"/>
              </a:rPr>
              <a:t>And finally, calculating the new value for each variable using the calculated change.</a:t>
            </a:r>
          </a:p>
          <a:p>
            <a:pPr algn="l" fontAlgn="base">
              <a:lnSpc>
                <a:spcPct val="150000"/>
              </a:lnSpc>
              <a:spcAft>
                <a:spcPts val="1125"/>
              </a:spcAft>
            </a:pPr>
            <a:r>
              <a:rPr lang="en-US" b="0" i="0" dirty="0">
                <a:solidFill>
                  <a:srgbClr val="404040"/>
                </a:solidFill>
                <a:effectLst/>
                <a:latin typeface="Arial" panose="020B0604020202020204" pitchFamily="34" charset="0"/>
              </a:rPr>
              <a:t>   x(t+1) = x(t) + change(t+1)</a:t>
            </a:r>
          </a:p>
        </p:txBody>
      </p:sp>
    </p:spTree>
    <p:extLst>
      <p:ext uri="{BB962C8B-B14F-4D97-AF65-F5344CB8AC3E}">
        <p14:creationId xmlns:p14="http://schemas.microsoft.com/office/powerpoint/2010/main" val="1082473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14400" y="1142885"/>
            <a:ext cx="10363200" cy="1470025"/>
          </a:xfrm>
        </p:spPr>
        <p:txBody>
          <a:bodyPr>
            <a:normAutofit fontScale="90000"/>
          </a:bodyPr>
          <a:lstStyle/>
          <a:p>
            <a:r>
              <a:rPr lang="en-US" sz="4267" dirty="0"/>
              <a:t> </a:t>
            </a:r>
            <a:r>
              <a:rPr lang="en-US" sz="4267" dirty="0">
                <a:solidFill>
                  <a:schemeClr val="tx1"/>
                </a:solidFill>
              </a:rPr>
              <a:t>Neural Networks for Machine Learning</a:t>
            </a:r>
            <a:br>
              <a:rPr lang="en-US" sz="4267" dirty="0"/>
            </a:br>
            <a:br>
              <a:rPr lang="en-US" sz="4267" dirty="0"/>
            </a:br>
            <a:r>
              <a:rPr lang="en-US" sz="4267" dirty="0"/>
              <a:t> Lecture 6d</a:t>
            </a:r>
            <a:br>
              <a:rPr lang="en-US" sz="4267" dirty="0"/>
            </a:br>
            <a:r>
              <a:rPr lang="en-US" sz="4267" dirty="0"/>
              <a:t>A separate, adaptive learning rate for each connection </a:t>
            </a:r>
          </a:p>
        </p:txBody>
      </p:sp>
      <p:sp>
        <p:nvSpPr>
          <p:cNvPr id="2" name="Rectangle 1"/>
          <p:cNvSpPr/>
          <p:nvPr/>
        </p:nvSpPr>
        <p:spPr>
          <a:xfrm>
            <a:off x="1440160" y="3874207"/>
            <a:ext cx="6096000" cy="2062103"/>
          </a:xfrm>
          <a:prstGeom prst="rect">
            <a:avLst/>
          </a:prstGeom>
        </p:spPr>
        <p:txBody>
          <a:bodyPr>
            <a:spAutoFit/>
          </a:bodyPr>
          <a:lstStyle/>
          <a:p>
            <a:r>
              <a:rPr lang="en-US" sz="3200" dirty="0"/>
              <a:t>Geoffrey Hinton </a:t>
            </a:r>
          </a:p>
          <a:p>
            <a:r>
              <a:rPr lang="en-US" sz="3200" dirty="0"/>
              <a:t>with</a:t>
            </a:r>
          </a:p>
          <a:p>
            <a:r>
              <a:rPr lang="en-US" sz="3200" dirty="0" err="1"/>
              <a:t>Nitish</a:t>
            </a:r>
            <a:r>
              <a:rPr lang="en-US" sz="3200" dirty="0"/>
              <a:t> </a:t>
            </a:r>
            <a:r>
              <a:rPr lang="en-US" sz="3200" dirty="0" err="1"/>
              <a:t>Srivastava</a:t>
            </a:r>
            <a:r>
              <a:rPr lang="en-US" sz="3200" dirty="0"/>
              <a:t> </a:t>
            </a:r>
          </a:p>
          <a:p>
            <a:r>
              <a:rPr lang="en-US" sz="3200" dirty="0"/>
              <a:t>Kevin </a:t>
            </a:r>
            <a:r>
              <a:rPr lang="en-US" sz="3200" dirty="0" err="1"/>
              <a:t>Swersky</a:t>
            </a:r>
            <a:endParaRPr lang="en-US" sz="3200" dirty="0"/>
          </a:p>
        </p:txBody>
      </p:sp>
      <p:sp>
        <p:nvSpPr>
          <p:cNvPr id="3" name="Footer Placeholder 2">
            <a:extLst>
              <a:ext uri="{FF2B5EF4-FFF2-40B4-BE49-F238E27FC236}">
                <a16:creationId xmlns:a16="http://schemas.microsoft.com/office/drawing/2014/main" id="{0F78B858-5D1E-4711-BAB0-622A749A9BCE}"/>
              </a:ext>
            </a:extLst>
          </p:cNvPr>
          <p:cNvSpPr>
            <a:spLocks noGrp="1"/>
          </p:cNvSpPr>
          <p:nvPr>
            <p:ph type="ftr" sz="quarter" idx="11"/>
          </p:nvPr>
        </p:nvSpPr>
        <p:spPr/>
        <p:txBody>
          <a:bodyPr/>
          <a:lstStyle/>
          <a:p>
            <a:pPr>
              <a:defRPr/>
            </a:pPr>
            <a:r>
              <a:rPr lang="es-ES"/>
              <a:t>Dr. Deepali Vora</a:t>
            </a:r>
          </a:p>
        </p:txBody>
      </p:sp>
      <p:sp>
        <p:nvSpPr>
          <p:cNvPr id="4" name="Slide Number Placeholder 3">
            <a:extLst>
              <a:ext uri="{FF2B5EF4-FFF2-40B4-BE49-F238E27FC236}">
                <a16:creationId xmlns:a16="http://schemas.microsoft.com/office/drawing/2014/main" id="{36AB7F21-0DE9-44BE-A171-7A3D70CEB5DE}"/>
              </a:ext>
            </a:extLst>
          </p:cNvPr>
          <p:cNvSpPr>
            <a:spLocks noGrp="1"/>
          </p:cNvSpPr>
          <p:nvPr>
            <p:ph type="sldNum" sz="quarter" idx="12"/>
          </p:nvPr>
        </p:nvSpPr>
        <p:spPr/>
        <p:txBody>
          <a:bodyPr/>
          <a:lstStyle/>
          <a:p>
            <a:fld id="{9370333F-211E-480A-A48D-622F2EB68390}" type="slidenum">
              <a:rPr lang="es-ES" altLang="en-US" smtClean="0"/>
              <a:pPr/>
              <a:t>42</a:t>
            </a:fld>
            <a:endParaRPr lang="es-ES" altLang="en-US"/>
          </a:p>
        </p:txBody>
      </p:sp>
    </p:spTree>
    <p:extLst>
      <p:ext uri="{BB962C8B-B14F-4D97-AF65-F5344CB8AC3E}">
        <p14:creationId xmlns:p14="http://schemas.microsoft.com/office/powerpoint/2010/main" val="24262926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383117" y="221771"/>
            <a:ext cx="11582400" cy="1143000"/>
          </a:xfrm>
        </p:spPr>
        <p:txBody>
          <a:bodyPr/>
          <a:lstStyle/>
          <a:p>
            <a:r>
              <a:rPr lang="en-US" dirty="0"/>
              <a:t>The intuition behind separate adaptive learning rates </a:t>
            </a:r>
          </a:p>
        </p:txBody>
      </p:sp>
      <p:sp>
        <p:nvSpPr>
          <p:cNvPr id="214023" name="Rectangle 7"/>
          <p:cNvSpPr>
            <a:spLocks noGrp="1" noChangeArrowheads="1"/>
          </p:cNvSpPr>
          <p:nvPr>
            <p:ph type="body" sz="half" idx="1"/>
          </p:nvPr>
        </p:nvSpPr>
        <p:spPr>
          <a:xfrm>
            <a:off x="336037" y="1891239"/>
            <a:ext cx="7729107" cy="4525963"/>
          </a:xfrm>
        </p:spPr>
        <p:txBody>
          <a:bodyPr>
            <a:normAutofit/>
          </a:bodyPr>
          <a:lstStyle/>
          <a:p>
            <a:pPr>
              <a:lnSpc>
                <a:spcPct val="90000"/>
              </a:lnSpc>
            </a:pPr>
            <a:r>
              <a:rPr lang="en-US" sz="2400" dirty="0"/>
              <a:t>In a multilayer net, the appropriate learning rates can vary widely between weights:</a:t>
            </a:r>
          </a:p>
          <a:p>
            <a:pPr lvl="1">
              <a:lnSpc>
                <a:spcPct val="90000"/>
              </a:lnSpc>
            </a:pPr>
            <a:r>
              <a:rPr lang="en-US" sz="2400" dirty="0">
                <a:solidFill>
                  <a:srgbClr val="00B050"/>
                </a:solidFill>
              </a:rPr>
              <a:t>The magnitudes of the gradients are often very different for different layers, especially if the initial weights are small.</a:t>
            </a:r>
          </a:p>
          <a:p>
            <a:pPr lvl="1">
              <a:lnSpc>
                <a:spcPct val="90000"/>
              </a:lnSpc>
            </a:pPr>
            <a:r>
              <a:rPr lang="en-US" sz="2400" dirty="0">
                <a:solidFill>
                  <a:srgbClr val="00B050"/>
                </a:solidFill>
              </a:rPr>
              <a:t>The fan-in of a unit determines the size of the “overshoot” effects caused by simultaneously changing many of the incoming weights of a unit to correct the same error.</a:t>
            </a:r>
          </a:p>
          <a:p>
            <a:pPr>
              <a:lnSpc>
                <a:spcPct val="90000"/>
              </a:lnSpc>
            </a:pPr>
            <a:r>
              <a:rPr lang="en-US" sz="2400" dirty="0"/>
              <a:t>So use a global learning rate (set by hand) multiplied by an appropriate local gain that is determined empirically for each weight. </a:t>
            </a:r>
          </a:p>
        </p:txBody>
      </p:sp>
      <p:sp>
        <p:nvSpPr>
          <p:cNvPr id="15" name="Oval 44"/>
          <p:cNvSpPr>
            <a:spLocks noChangeArrowheads="1"/>
          </p:cNvSpPr>
          <p:nvPr/>
        </p:nvSpPr>
        <p:spPr bwMode="auto">
          <a:xfrm>
            <a:off x="10013536" y="1508787"/>
            <a:ext cx="355600" cy="266700"/>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16" name="Oval 45"/>
          <p:cNvSpPr>
            <a:spLocks noChangeArrowheads="1"/>
          </p:cNvSpPr>
          <p:nvPr/>
        </p:nvSpPr>
        <p:spPr bwMode="auto">
          <a:xfrm>
            <a:off x="10589269" y="1508787"/>
            <a:ext cx="355600" cy="266700"/>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17" name="Line 46"/>
          <p:cNvSpPr>
            <a:spLocks noChangeShapeType="1"/>
          </p:cNvSpPr>
          <p:nvPr/>
        </p:nvSpPr>
        <p:spPr bwMode="auto">
          <a:xfrm flipV="1">
            <a:off x="9725674" y="1724687"/>
            <a:ext cx="383116" cy="6477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8" name="Line 47"/>
          <p:cNvSpPr>
            <a:spLocks noChangeShapeType="1"/>
          </p:cNvSpPr>
          <p:nvPr/>
        </p:nvSpPr>
        <p:spPr bwMode="auto">
          <a:xfrm flipV="1">
            <a:off x="10301407" y="1724687"/>
            <a:ext cx="383116" cy="6477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19" name="Line 48"/>
          <p:cNvSpPr>
            <a:spLocks noChangeShapeType="1"/>
          </p:cNvSpPr>
          <p:nvPr/>
        </p:nvSpPr>
        <p:spPr bwMode="auto">
          <a:xfrm flipH="1" flipV="1">
            <a:off x="10877141" y="1724685"/>
            <a:ext cx="289983" cy="64928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20" name="Line 49"/>
          <p:cNvSpPr>
            <a:spLocks noChangeShapeType="1"/>
          </p:cNvSpPr>
          <p:nvPr/>
        </p:nvSpPr>
        <p:spPr bwMode="auto">
          <a:xfrm flipH="1" flipV="1">
            <a:off x="10301407" y="1724685"/>
            <a:ext cx="383116" cy="719139"/>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21" name="Line 50"/>
          <p:cNvSpPr>
            <a:spLocks noChangeShapeType="1"/>
          </p:cNvSpPr>
          <p:nvPr/>
        </p:nvSpPr>
        <p:spPr bwMode="auto">
          <a:xfrm flipH="1" flipV="1">
            <a:off x="10396657" y="1723100"/>
            <a:ext cx="768351" cy="72072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22" name="Line 51"/>
          <p:cNvSpPr>
            <a:spLocks noChangeShapeType="1"/>
          </p:cNvSpPr>
          <p:nvPr/>
        </p:nvSpPr>
        <p:spPr bwMode="auto">
          <a:xfrm flipH="1" flipV="1">
            <a:off x="10781886" y="1796124"/>
            <a:ext cx="2117" cy="57785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23" name="Line 52"/>
          <p:cNvSpPr>
            <a:spLocks noChangeShapeType="1"/>
          </p:cNvSpPr>
          <p:nvPr/>
        </p:nvSpPr>
        <p:spPr bwMode="auto">
          <a:xfrm flipH="1" flipV="1">
            <a:off x="10206152" y="1796124"/>
            <a:ext cx="0" cy="57785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24" name="Oval 55"/>
          <p:cNvSpPr>
            <a:spLocks noChangeArrowheads="1"/>
          </p:cNvSpPr>
          <p:nvPr/>
        </p:nvSpPr>
        <p:spPr bwMode="auto">
          <a:xfrm>
            <a:off x="10589269" y="2393023"/>
            <a:ext cx="355600" cy="266700"/>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25" name="Oval 56"/>
          <p:cNvSpPr>
            <a:spLocks noChangeArrowheads="1"/>
          </p:cNvSpPr>
          <p:nvPr/>
        </p:nvSpPr>
        <p:spPr bwMode="auto">
          <a:xfrm>
            <a:off x="11165003" y="2393023"/>
            <a:ext cx="355600" cy="266700"/>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26" name="Oval 57"/>
          <p:cNvSpPr>
            <a:spLocks noChangeArrowheads="1"/>
          </p:cNvSpPr>
          <p:nvPr/>
        </p:nvSpPr>
        <p:spPr bwMode="auto">
          <a:xfrm>
            <a:off x="9725669" y="3329650"/>
            <a:ext cx="355600" cy="266700"/>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27" name="Oval 58"/>
          <p:cNvSpPr>
            <a:spLocks noChangeArrowheads="1"/>
          </p:cNvSpPr>
          <p:nvPr/>
        </p:nvSpPr>
        <p:spPr bwMode="auto">
          <a:xfrm>
            <a:off x="10301403" y="3329650"/>
            <a:ext cx="355600" cy="266700"/>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28" name="Oval 59"/>
          <p:cNvSpPr>
            <a:spLocks noChangeArrowheads="1"/>
          </p:cNvSpPr>
          <p:nvPr/>
        </p:nvSpPr>
        <p:spPr bwMode="auto">
          <a:xfrm>
            <a:off x="10877136" y="3329650"/>
            <a:ext cx="355600" cy="266700"/>
          </a:xfrm>
          <a:prstGeom prst="ellipse">
            <a:avLst/>
          </a:prstGeom>
          <a:solidFill>
            <a:schemeClr val="bg2"/>
          </a:solidFill>
          <a:ln w="9525">
            <a:solidFill>
              <a:schemeClr val="tx1"/>
            </a:solidFill>
            <a:round/>
            <a:headEnd/>
            <a:tailEnd/>
          </a:ln>
          <a:effectLst/>
        </p:spPr>
        <p:txBody>
          <a:bodyPr wrap="none" anchor="ctr"/>
          <a:lstStyle/>
          <a:p>
            <a:endParaRPr lang="en-US" sz="2400"/>
          </a:p>
        </p:txBody>
      </p:sp>
      <p:sp>
        <p:nvSpPr>
          <p:cNvPr id="29" name="Oval 60"/>
          <p:cNvSpPr>
            <a:spLocks noChangeArrowheads="1"/>
          </p:cNvSpPr>
          <p:nvPr/>
        </p:nvSpPr>
        <p:spPr bwMode="auto">
          <a:xfrm>
            <a:off x="10013536" y="2393023"/>
            <a:ext cx="355600" cy="266700"/>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30" name="Oval 61"/>
          <p:cNvSpPr>
            <a:spLocks noChangeArrowheads="1"/>
          </p:cNvSpPr>
          <p:nvPr/>
        </p:nvSpPr>
        <p:spPr bwMode="auto">
          <a:xfrm>
            <a:off x="9437803" y="2372387"/>
            <a:ext cx="355600" cy="266700"/>
          </a:xfrm>
          <a:prstGeom prst="ellipse">
            <a:avLst/>
          </a:prstGeom>
          <a:solidFill>
            <a:srgbClr val="EEECE1"/>
          </a:solidFill>
          <a:ln w="9525">
            <a:solidFill>
              <a:schemeClr val="tx1"/>
            </a:solidFill>
            <a:round/>
            <a:headEnd/>
            <a:tailEnd/>
          </a:ln>
          <a:effectLst/>
        </p:spPr>
        <p:txBody>
          <a:bodyPr wrap="none" anchor="ctr"/>
          <a:lstStyle/>
          <a:p>
            <a:endParaRPr lang="en-US" sz="2400"/>
          </a:p>
        </p:txBody>
      </p:sp>
      <p:sp>
        <p:nvSpPr>
          <p:cNvPr id="31" name="Line 62"/>
          <p:cNvSpPr>
            <a:spLocks noChangeShapeType="1"/>
          </p:cNvSpPr>
          <p:nvPr/>
        </p:nvSpPr>
        <p:spPr bwMode="auto">
          <a:xfrm flipV="1">
            <a:off x="9918285" y="2661311"/>
            <a:ext cx="287867" cy="6477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32" name="Line 63"/>
          <p:cNvSpPr>
            <a:spLocks noChangeShapeType="1"/>
          </p:cNvSpPr>
          <p:nvPr/>
        </p:nvSpPr>
        <p:spPr bwMode="auto">
          <a:xfrm flipV="1">
            <a:off x="11069752" y="2661311"/>
            <a:ext cx="287867" cy="6477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33" name="Line 64"/>
          <p:cNvSpPr>
            <a:spLocks noChangeShapeType="1"/>
          </p:cNvSpPr>
          <p:nvPr/>
        </p:nvSpPr>
        <p:spPr bwMode="auto">
          <a:xfrm flipH="1" flipV="1">
            <a:off x="10781885" y="2659726"/>
            <a:ext cx="289984" cy="64928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34" name="Line 65"/>
          <p:cNvSpPr>
            <a:spLocks noChangeShapeType="1"/>
          </p:cNvSpPr>
          <p:nvPr/>
        </p:nvSpPr>
        <p:spPr bwMode="auto">
          <a:xfrm flipH="1" flipV="1">
            <a:off x="10206152" y="2659726"/>
            <a:ext cx="289984" cy="64928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35" name="Line 66"/>
          <p:cNvSpPr>
            <a:spLocks noChangeShapeType="1"/>
          </p:cNvSpPr>
          <p:nvPr/>
        </p:nvSpPr>
        <p:spPr bwMode="auto">
          <a:xfrm flipH="1" flipV="1">
            <a:off x="10301403" y="2659726"/>
            <a:ext cx="670983" cy="64928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36" name="Line 67"/>
          <p:cNvSpPr>
            <a:spLocks noChangeShapeType="1"/>
          </p:cNvSpPr>
          <p:nvPr/>
        </p:nvSpPr>
        <p:spPr bwMode="auto">
          <a:xfrm flipH="1" flipV="1">
            <a:off x="9725674" y="2659726"/>
            <a:ext cx="670983" cy="64928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37" name="Line 68"/>
          <p:cNvSpPr>
            <a:spLocks noChangeShapeType="1"/>
          </p:cNvSpPr>
          <p:nvPr/>
        </p:nvSpPr>
        <p:spPr bwMode="auto">
          <a:xfrm flipH="1" flipV="1">
            <a:off x="9628307" y="2659726"/>
            <a:ext cx="289983" cy="64928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38" name="Line 69"/>
          <p:cNvSpPr>
            <a:spLocks noChangeShapeType="1"/>
          </p:cNvSpPr>
          <p:nvPr/>
        </p:nvSpPr>
        <p:spPr bwMode="auto">
          <a:xfrm flipV="1">
            <a:off x="10494019" y="2661311"/>
            <a:ext cx="287867" cy="6477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39" name="Line 70"/>
          <p:cNvSpPr>
            <a:spLocks noChangeShapeType="1"/>
          </p:cNvSpPr>
          <p:nvPr/>
        </p:nvSpPr>
        <p:spPr bwMode="auto">
          <a:xfrm flipV="1">
            <a:off x="10589274" y="2659723"/>
            <a:ext cx="673100" cy="6477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400"/>
          </a:p>
        </p:txBody>
      </p:sp>
      <p:sp>
        <p:nvSpPr>
          <p:cNvPr id="40" name="Oval 72"/>
          <p:cNvSpPr>
            <a:spLocks noChangeArrowheads="1"/>
          </p:cNvSpPr>
          <p:nvPr/>
        </p:nvSpPr>
        <p:spPr bwMode="auto">
          <a:xfrm>
            <a:off x="9911936" y="1892962"/>
            <a:ext cx="143933" cy="107951"/>
          </a:xfrm>
          <a:prstGeom prst="ellipse">
            <a:avLst/>
          </a:prstGeom>
          <a:solidFill>
            <a:srgbClr val="0099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41" name="Oval 73"/>
          <p:cNvSpPr>
            <a:spLocks noChangeArrowheads="1"/>
          </p:cNvSpPr>
          <p:nvPr/>
        </p:nvSpPr>
        <p:spPr bwMode="auto">
          <a:xfrm>
            <a:off x="10104552" y="1892962"/>
            <a:ext cx="143933" cy="107951"/>
          </a:xfrm>
          <a:prstGeom prst="ellipse">
            <a:avLst/>
          </a:prstGeom>
          <a:solidFill>
            <a:srgbClr val="0099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42" name="Oval 74"/>
          <p:cNvSpPr>
            <a:spLocks noChangeArrowheads="1"/>
          </p:cNvSpPr>
          <p:nvPr/>
        </p:nvSpPr>
        <p:spPr bwMode="auto">
          <a:xfrm>
            <a:off x="10343736" y="1856450"/>
            <a:ext cx="143933" cy="107951"/>
          </a:xfrm>
          <a:prstGeom prst="ellipse">
            <a:avLst/>
          </a:prstGeom>
          <a:solidFill>
            <a:srgbClr val="0099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43" name="Oval 75"/>
          <p:cNvSpPr>
            <a:spLocks noChangeArrowheads="1"/>
          </p:cNvSpPr>
          <p:nvPr/>
        </p:nvSpPr>
        <p:spPr bwMode="auto">
          <a:xfrm>
            <a:off x="10055870" y="2756562"/>
            <a:ext cx="143933" cy="107951"/>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44" name="Oval 76"/>
          <p:cNvSpPr>
            <a:spLocks noChangeArrowheads="1"/>
          </p:cNvSpPr>
          <p:nvPr/>
        </p:nvSpPr>
        <p:spPr bwMode="auto">
          <a:xfrm>
            <a:off x="10199803" y="2756562"/>
            <a:ext cx="143933" cy="107951"/>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45" name="Oval 77"/>
          <p:cNvSpPr>
            <a:spLocks noChangeArrowheads="1"/>
          </p:cNvSpPr>
          <p:nvPr/>
        </p:nvSpPr>
        <p:spPr bwMode="auto">
          <a:xfrm>
            <a:off x="10392419" y="2756562"/>
            <a:ext cx="143933" cy="107951"/>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400"/>
          </a:p>
        </p:txBody>
      </p:sp>
      <p:sp>
        <p:nvSpPr>
          <p:cNvPr id="5" name="TextBox 4"/>
          <p:cNvSpPr txBox="1"/>
          <p:nvPr/>
        </p:nvSpPr>
        <p:spPr>
          <a:xfrm>
            <a:off x="8266670" y="3621021"/>
            <a:ext cx="3781991" cy="1200329"/>
          </a:xfrm>
          <a:prstGeom prst="rect">
            <a:avLst/>
          </a:prstGeom>
          <a:noFill/>
        </p:spPr>
        <p:txBody>
          <a:bodyPr wrap="square" rtlCol="0">
            <a:spAutoFit/>
          </a:bodyPr>
          <a:lstStyle/>
          <a:p>
            <a:r>
              <a:rPr lang="en-US" sz="2400" dirty="0">
                <a:solidFill>
                  <a:srgbClr val="0000FF"/>
                </a:solidFill>
              </a:rPr>
              <a:t>Gradients can get very small in the early layers of very    deep nets.</a:t>
            </a:r>
          </a:p>
        </p:txBody>
      </p:sp>
      <p:sp>
        <p:nvSpPr>
          <p:cNvPr id="46" name="TextBox 45"/>
          <p:cNvSpPr txBox="1"/>
          <p:nvPr/>
        </p:nvSpPr>
        <p:spPr>
          <a:xfrm>
            <a:off x="8287738" y="4999597"/>
            <a:ext cx="3904262" cy="830997"/>
          </a:xfrm>
          <a:prstGeom prst="rect">
            <a:avLst/>
          </a:prstGeom>
          <a:noFill/>
        </p:spPr>
        <p:txBody>
          <a:bodyPr wrap="square" rtlCol="0">
            <a:spAutoFit/>
          </a:bodyPr>
          <a:lstStyle/>
          <a:p>
            <a:r>
              <a:rPr lang="en-US" sz="2400" dirty="0">
                <a:solidFill>
                  <a:srgbClr val="0000FF"/>
                </a:solidFill>
              </a:rPr>
              <a:t>The fan-in often varies widely between layers.</a:t>
            </a:r>
          </a:p>
        </p:txBody>
      </p:sp>
    </p:spTree>
    <p:extLst>
      <p:ext uri="{BB962C8B-B14F-4D97-AF65-F5344CB8AC3E}">
        <p14:creationId xmlns:p14="http://schemas.microsoft.com/office/powerpoint/2010/main" val="2701770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0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0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14023">
                                            <p:txEl>
                                              <p:pRg st="2" end="2"/>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140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5" grpId="0"/>
      <p:bldP spid="4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r>
              <a:rPr lang="en-US" dirty="0"/>
              <a:t>One way to determine the individual learning rates</a:t>
            </a:r>
          </a:p>
        </p:txBody>
      </p:sp>
      <p:graphicFrame>
        <p:nvGraphicFramePr>
          <p:cNvPr id="214022" name="Object 6"/>
          <p:cNvGraphicFramePr>
            <a:graphicFrameLocks noGrp="1" noChangeAspect="1"/>
          </p:cNvGraphicFramePr>
          <p:nvPr>
            <p:ph idx="1"/>
            <p:extLst>
              <p:ext uri="{D42A27DB-BD31-4B8C-83A1-F6EECF244321}">
                <p14:modId xmlns:p14="http://schemas.microsoft.com/office/powerpoint/2010/main" val="2616789823"/>
              </p:ext>
            </p:extLst>
          </p:nvPr>
        </p:nvGraphicFramePr>
        <p:xfrm>
          <a:off x="8291513" y="4043363"/>
          <a:ext cx="2855912" cy="1555750"/>
        </p:xfrm>
        <a:graphic>
          <a:graphicData uri="http://schemas.openxmlformats.org/presentationml/2006/ole">
            <mc:AlternateContent xmlns:mc="http://schemas.openxmlformats.org/markup-compatibility/2006">
              <mc:Choice xmlns:v="urn:schemas-microsoft-com:vml" Requires="v">
                <p:oleObj name="Equation" r:id="rId2" imgW="1846800" imgH="1005480" progId="Equation.3">
                  <p:embed/>
                </p:oleObj>
              </mc:Choice>
              <mc:Fallback>
                <p:oleObj name="Equation" r:id="rId2" imgW="1846800" imgH="1005480" progId="Equation.3">
                  <p:embed/>
                  <p:pic>
                    <p:nvPicPr>
                      <p:cNvPr id="214022" name="Object 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1513" y="4043363"/>
                        <a:ext cx="2855912" cy="155575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214023" name="Rectangle 7"/>
          <p:cNvSpPr>
            <a:spLocks noGrp="1" noChangeArrowheads="1"/>
          </p:cNvSpPr>
          <p:nvPr>
            <p:ph type="body" sz="half" idx="4294967295"/>
          </p:nvPr>
        </p:nvSpPr>
        <p:spPr>
          <a:xfrm>
            <a:off x="840259" y="2434281"/>
            <a:ext cx="6759146" cy="3601394"/>
          </a:xfrm>
        </p:spPr>
        <p:txBody>
          <a:bodyPr>
            <a:noAutofit/>
          </a:bodyPr>
          <a:lstStyle/>
          <a:p>
            <a:pPr>
              <a:lnSpc>
                <a:spcPct val="90000"/>
              </a:lnSpc>
            </a:pPr>
            <a:r>
              <a:rPr lang="en-US" sz="2400" dirty="0"/>
              <a:t>Start with a local gain of 1 for every weight. </a:t>
            </a:r>
          </a:p>
          <a:p>
            <a:pPr>
              <a:lnSpc>
                <a:spcPct val="90000"/>
              </a:lnSpc>
            </a:pPr>
            <a:r>
              <a:rPr lang="en-US" sz="2400" dirty="0"/>
              <a:t>Increase the local gain if the gradient for that weight does not change sign.</a:t>
            </a:r>
          </a:p>
          <a:p>
            <a:pPr>
              <a:lnSpc>
                <a:spcPct val="90000"/>
              </a:lnSpc>
            </a:pPr>
            <a:r>
              <a:rPr lang="en-US" sz="2400" dirty="0"/>
              <a:t>Use small additive increases and multiplicative decreases (for mini-batch)</a:t>
            </a:r>
          </a:p>
          <a:p>
            <a:pPr lvl="1">
              <a:lnSpc>
                <a:spcPct val="90000"/>
              </a:lnSpc>
            </a:pPr>
            <a:r>
              <a:rPr lang="en-US" sz="2000" dirty="0">
                <a:solidFill>
                  <a:srgbClr val="00B050"/>
                </a:solidFill>
              </a:rPr>
              <a:t>This ensures that big gains decay rapidly when oscillations start.</a:t>
            </a:r>
          </a:p>
          <a:p>
            <a:pPr lvl="1">
              <a:lnSpc>
                <a:spcPct val="90000"/>
              </a:lnSpc>
            </a:pPr>
            <a:r>
              <a:rPr lang="en-US" sz="2000" dirty="0">
                <a:solidFill>
                  <a:srgbClr val="00B050"/>
                </a:solidFill>
              </a:rPr>
              <a:t>If the gradient is totally random the gain will hover around 1 when we increase  by </a:t>
            </a:r>
            <a:r>
              <a:rPr lang="en-US" sz="2000" dirty="0">
                <a:solidFill>
                  <a:srgbClr val="FF0000"/>
                </a:solidFill>
              </a:rPr>
              <a:t>plus</a:t>
            </a:r>
            <a:r>
              <a:rPr lang="en-US" sz="2000" dirty="0"/>
              <a:t>     </a:t>
            </a:r>
            <a:r>
              <a:rPr lang="en-US" sz="2000" dirty="0">
                <a:solidFill>
                  <a:srgbClr val="00B050"/>
                </a:solidFill>
              </a:rPr>
              <a:t>half the time and decrease        by </a:t>
            </a:r>
            <a:r>
              <a:rPr lang="en-US" sz="2000" dirty="0">
                <a:solidFill>
                  <a:srgbClr val="FF0000"/>
                </a:solidFill>
              </a:rPr>
              <a:t>times</a:t>
            </a:r>
            <a:r>
              <a:rPr lang="en-US" sz="2000" dirty="0"/>
              <a:t>              </a:t>
            </a:r>
            <a:r>
              <a:rPr lang="en-US" sz="2000" dirty="0">
                <a:solidFill>
                  <a:srgbClr val="00B050"/>
                </a:solidFill>
              </a:rPr>
              <a:t>half the time.</a:t>
            </a:r>
          </a:p>
        </p:txBody>
      </p:sp>
      <p:graphicFrame>
        <p:nvGraphicFramePr>
          <p:cNvPr id="2" name="Object 1"/>
          <p:cNvGraphicFramePr>
            <a:graphicFrameLocks noChangeAspect="1"/>
          </p:cNvGraphicFramePr>
          <p:nvPr>
            <p:extLst>
              <p:ext uri="{D42A27DB-BD31-4B8C-83A1-F6EECF244321}">
                <p14:modId xmlns:p14="http://schemas.microsoft.com/office/powerpoint/2010/main" val="2527733829"/>
              </p:ext>
            </p:extLst>
          </p:nvPr>
        </p:nvGraphicFramePr>
        <p:xfrm>
          <a:off x="4326533" y="5371043"/>
          <a:ext cx="317500" cy="455084"/>
        </p:xfrm>
        <a:graphic>
          <a:graphicData uri="http://schemas.openxmlformats.org/presentationml/2006/ole">
            <mc:AlternateContent xmlns:mc="http://schemas.openxmlformats.org/markup-compatibility/2006">
              <mc:Choice xmlns:v="urn:schemas-microsoft-com:vml" Requires="v">
                <p:oleObj name="Equation" r:id="rId4" imgW="118800" imgH="164520" progId="Equation.3">
                  <p:embed/>
                </p:oleObj>
              </mc:Choice>
              <mc:Fallback>
                <p:oleObj name="Equation" r:id="rId4" imgW="118800" imgH="164520" progId="Equation.3">
                  <p:embed/>
                  <p:pic>
                    <p:nvPicPr>
                      <p:cNvPr id="2"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6533" y="5371043"/>
                        <a:ext cx="317500" cy="455084"/>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348793853"/>
              </p:ext>
            </p:extLst>
          </p:nvPr>
        </p:nvGraphicFramePr>
        <p:xfrm>
          <a:off x="2398879" y="5652008"/>
          <a:ext cx="806449" cy="482600"/>
        </p:xfrm>
        <a:graphic>
          <a:graphicData uri="http://schemas.openxmlformats.org/presentationml/2006/ole">
            <mc:AlternateContent xmlns:mc="http://schemas.openxmlformats.org/markup-compatibility/2006">
              <mc:Choice xmlns:v="urn:schemas-microsoft-com:vml" Requires="v">
                <p:oleObj name="Equation" r:id="rId6" imgW="292320" imgH="164520" progId="Equation.3">
                  <p:embed/>
                </p:oleObj>
              </mc:Choice>
              <mc:Fallback>
                <p:oleObj name="Equation" r:id="rId6" imgW="292320" imgH="164520" progId="Equation.3">
                  <p:embed/>
                  <p:pic>
                    <p:nvPicPr>
                      <p:cNvPr id="6"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8879" y="5652008"/>
                        <a:ext cx="806449" cy="4826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776507266"/>
              </p:ext>
            </p:extLst>
          </p:nvPr>
        </p:nvGraphicFramePr>
        <p:xfrm>
          <a:off x="7958667" y="2533250"/>
          <a:ext cx="2741083" cy="1145116"/>
        </p:xfrm>
        <a:graphic>
          <a:graphicData uri="http://schemas.openxmlformats.org/presentationml/2006/ole">
            <mc:AlternateContent xmlns:mc="http://schemas.openxmlformats.org/markup-compatibility/2006">
              <mc:Choice xmlns:v="urn:schemas-microsoft-com:vml" Requires="v">
                <p:oleObj name="Equation" r:id="rId8" imgW="1078560" imgH="447840" progId="Equation.3">
                  <p:embed/>
                </p:oleObj>
              </mc:Choice>
              <mc:Fallback>
                <p:oleObj name="Equation" r:id="rId8" imgW="1078560" imgH="447840" progId="Equation.3">
                  <p:embed/>
                  <p:pic>
                    <p:nvPicPr>
                      <p:cNvPr id="7"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8667" y="2533250"/>
                        <a:ext cx="2741083" cy="1145116"/>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20663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0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0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40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40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402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r>
              <a:rPr lang="en-US" dirty="0"/>
              <a:t>Tricks for making adaptive learning rates work better</a:t>
            </a:r>
          </a:p>
        </p:txBody>
      </p:sp>
      <p:sp>
        <p:nvSpPr>
          <p:cNvPr id="2" name="Content Placeholder 1"/>
          <p:cNvSpPr>
            <a:spLocks noGrp="1"/>
          </p:cNvSpPr>
          <p:nvPr>
            <p:ph sz="half" idx="1"/>
          </p:nvPr>
        </p:nvSpPr>
        <p:spPr>
          <a:xfrm>
            <a:off x="766119" y="2384854"/>
            <a:ext cx="5087567" cy="3355172"/>
          </a:xfrm>
        </p:spPr>
        <p:txBody>
          <a:bodyPr>
            <a:noAutofit/>
          </a:bodyPr>
          <a:lstStyle/>
          <a:p>
            <a:r>
              <a:rPr lang="en-US" sz="2400" dirty="0"/>
              <a:t>Adaptive learning rates can be combined with momentum.</a:t>
            </a:r>
          </a:p>
          <a:p>
            <a:pPr lvl="1"/>
            <a:r>
              <a:rPr lang="en-US" sz="2000" dirty="0"/>
              <a:t>Use the agreement in sign  between the current gradient for a weight and the velocity for that weight (Jacobs, 1989). </a:t>
            </a:r>
          </a:p>
          <a:p>
            <a:r>
              <a:rPr lang="en-US" sz="2400" dirty="0"/>
              <a:t>Adaptive learning rates only deal with axis-aligned effects.</a:t>
            </a:r>
          </a:p>
          <a:p>
            <a:pPr lvl="1"/>
            <a:r>
              <a:rPr lang="en-US" sz="2000" dirty="0"/>
              <a:t>Momentum does not care about the alignment of the axes.</a:t>
            </a:r>
          </a:p>
        </p:txBody>
      </p:sp>
      <p:sp>
        <p:nvSpPr>
          <p:cNvPr id="214023" name="Rectangle 7"/>
          <p:cNvSpPr>
            <a:spLocks noGrp="1" noChangeArrowheads="1"/>
          </p:cNvSpPr>
          <p:nvPr>
            <p:ph sz="half" idx="2"/>
          </p:nvPr>
        </p:nvSpPr>
        <p:spPr>
          <a:xfrm>
            <a:off x="6338315" y="2384854"/>
            <a:ext cx="4943404" cy="3508454"/>
          </a:xfrm>
        </p:spPr>
        <p:txBody>
          <a:bodyPr/>
          <a:lstStyle/>
          <a:p>
            <a:pPr>
              <a:lnSpc>
                <a:spcPct val="90000"/>
              </a:lnSpc>
            </a:pPr>
            <a:r>
              <a:rPr lang="en-US" sz="2400" dirty="0"/>
              <a:t>Limit the gains to lie in some reasonable range</a:t>
            </a:r>
          </a:p>
          <a:p>
            <a:pPr lvl="1">
              <a:lnSpc>
                <a:spcPct val="90000"/>
              </a:lnSpc>
            </a:pPr>
            <a:r>
              <a:rPr lang="en-US" sz="2000" dirty="0"/>
              <a:t> </a:t>
            </a:r>
            <a:r>
              <a:rPr lang="en-US" sz="2000" i="1" dirty="0"/>
              <a:t>e.g. </a:t>
            </a:r>
            <a:r>
              <a:rPr lang="en-US" sz="2000" dirty="0"/>
              <a:t>[0.1, 10] or [.01, 100]</a:t>
            </a:r>
          </a:p>
          <a:p>
            <a:pPr>
              <a:lnSpc>
                <a:spcPct val="90000"/>
              </a:lnSpc>
            </a:pPr>
            <a:r>
              <a:rPr lang="en-US" sz="2400" dirty="0"/>
              <a:t>Use full batch learning or big mini-batches</a:t>
            </a:r>
          </a:p>
          <a:p>
            <a:pPr lvl="1">
              <a:lnSpc>
                <a:spcPct val="90000"/>
              </a:lnSpc>
            </a:pPr>
            <a:r>
              <a:rPr lang="en-US" sz="2000" dirty="0"/>
              <a:t>This ensures that changes in the sign of the gradient are not mainly due to the sampling error of a mini-batch</a:t>
            </a:r>
            <a:r>
              <a:rPr lang="en-US" dirty="0"/>
              <a:t>.</a:t>
            </a:r>
          </a:p>
        </p:txBody>
      </p:sp>
    </p:spTree>
    <p:extLst>
      <p:ext uri="{BB962C8B-B14F-4D97-AF65-F5344CB8AC3E}">
        <p14:creationId xmlns:p14="http://schemas.microsoft.com/office/powerpoint/2010/main" val="1923902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0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402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95B7DA0-C37D-7280-F18A-5B182B0223E3}"/>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a:t>ERROR surface - axis</a:t>
            </a:r>
          </a:p>
        </p:txBody>
      </p:sp>
      <p:pic>
        <p:nvPicPr>
          <p:cNvPr id="10" name="Content Placeholder 9">
            <a:extLst>
              <a:ext uri="{FF2B5EF4-FFF2-40B4-BE49-F238E27FC236}">
                <a16:creationId xmlns:a16="http://schemas.microsoft.com/office/drawing/2014/main" id="{90B49D5B-9646-CA8A-63B6-C85DE74514A3}"/>
              </a:ext>
            </a:extLst>
          </p:cNvPr>
          <p:cNvPicPr>
            <a:picLocks noGrp="1" noChangeAspect="1"/>
          </p:cNvPicPr>
          <p:nvPr>
            <p:ph idx="1"/>
          </p:nvPr>
        </p:nvPicPr>
        <p:blipFill>
          <a:blip r:embed="rId3"/>
          <a:stretch>
            <a:fillRect/>
          </a:stretch>
        </p:blipFill>
        <p:spPr>
          <a:xfrm>
            <a:off x="2733271" y="2482596"/>
            <a:ext cx="6737132" cy="2930652"/>
          </a:xfrm>
          <a:prstGeom prst="rect">
            <a:avLst/>
          </a:prstGeom>
        </p:spPr>
      </p:pic>
      <p:sp>
        <p:nvSpPr>
          <p:cNvPr id="5" name="Footer Placeholder 4">
            <a:extLst>
              <a:ext uri="{FF2B5EF4-FFF2-40B4-BE49-F238E27FC236}">
                <a16:creationId xmlns:a16="http://schemas.microsoft.com/office/drawing/2014/main" id="{EB541ABA-1CDC-6735-76D1-9D110E854CE9}"/>
              </a:ext>
            </a:extLst>
          </p:cNvPr>
          <p:cNvSpPr>
            <a:spLocks noGrp="1"/>
          </p:cNvSpPr>
          <p:nvPr>
            <p:ph type="ftr" sz="quarter" idx="11"/>
          </p:nvPr>
        </p:nvSpPr>
        <p:spPr>
          <a:xfrm>
            <a:off x="1600200" y="6236208"/>
            <a:ext cx="5901189" cy="320040"/>
          </a:xfrm>
        </p:spPr>
        <p:txBody>
          <a:bodyPr vert="horz" lIns="91440" tIns="45720" rIns="91440" bIns="45720" rtlCol="0" anchor="ctr">
            <a:normAutofit/>
          </a:bodyPr>
          <a:lstStyle/>
          <a:p>
            <a:pPr defTabSz="457200" latinLnBrk="0">
              <a:spcAft>
                <a:spcPts val="600"/>
              </a:spcAft>
              <a:defRPr/>
            </a:pPr>
            <a:r>
              <a:rPr lang="en-US" kern="1200">
                <a:solidFill>
                  <a:schemeClr val="tx1">
                    <a:alpha val="70000"/>
                  </a:schemeClr>
                </a:solidFill>
                <a:latin typeface="+mn-lt"/>
                <a:ea typeface="+mn-ea"/>
                <a:cs typeface="+mn-cs"/>
              </a:rPr>
              <a:t>Dr. Deepali Vora</a:t>
            </a:r>
          </a:p>
        </p:txBody>
      </p:sp>
      <p:sp>
        <p:nvSpPr>
          <p:cNvPr id="6" name="Slide Number Placeholder 5">
            <a:extLst>
              <a:ext uri="{FF2B5EF4-FFF2-40B4-BE49-F238E27FC236}">
                <a16:creationId xmlns:a16="http://schemas.microsoft.com/office/drawing/2014/main" id="{2A98D46E-B46E-677A-A8BC-F562562791E5}"/>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defTabSz="457200" latinLnBrk="0">
              <a:lnSpc>
                <a:spcPct val="90000"/>
              </a:lnSpc>
              <a:spcAft>
                <a:spcPts val="600"/>
              </a:spcAft>
            </a:pPr>
            <a:fld id="{9370333F-211E-480A-A48D-622F2EB68390}" type="slidenum">
              <a:rPr lang="en-US" altLang="en-US" smtClean="0"/>
              <a:pPr defTabSz="457200" latinLnBrk="0">
                <a:lnSpc>
                  <a:spcPct val="90000"/>
                </a:lnSpc>
                <a:spcAft>
                  <a:spcPts val="600"/>
                </a:spcAft>
              </a:pPr>
              <a:t>46</a:t>
            </a:fld>
            <a:endParaRPr lang="en-US" altLang="en-US"/>
          </a:p>
        </p:txBody>
      </p:sp>
    </p:spTree>
    <p:extLst>
      <p:ext uri="{BB962C8B-B14F-4D97-AF65-F5344CB8AC3E}">
        <p14:creationId xmlns:p14="http://schemas.microsoft.com/office/powerpoint/2010/main" val="42310688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204018" y="258030"/>
            <a:ext cx="7729728" cy="1188720"/>
          </a:xfrm>
        </p:spPr>
        <p:txBody>
          <a:bodyPr/>
          <a:lstStyle/>
          <a:p>
            <a:r>
              <a:rPr lang="en-US" altLang="zh-TW" dirty="0"/>
              <a:t>Learning Rate</a:t>
            </a:r>
            <a:endParaRPr lang="zh-TW" altLang="en-US" dirty="0"/>
          </a:p>
        </p:txBody>
      </p:sp>
      <p:sp>
        <p:nvSpPr>
          <p:cNvPr id="4" name="Footer Placeholder 3">
            <a:extLst>
              <a:ext uri="{FF2B5EF4-FFF2-40B4-BE49-F238E27FC236}">
                <a16:creationId xmlns:a16="http://schemas.microsoft.com/office/drawing/2014/main" id="{CF53185A-9DA2-4B76-8E4B-C02DE94FB2B9}"/>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21D50F63-B932-4269-A1DD-E58B317E03A6}"/>
              </a:ext>
            </a:extLst>
          </p:cNvPr>
          <p:cNvSpPr>
            <a:spLocks noGrp="1"/>
          </p:cNvSpPr>
          <p:nvPr>
            <p:ph type="sldNum" sz="quarter" idx="12"/>
          </p:nvPr>
        </p:nvSpPr>
        <p:spPr/>
        <p:txBody>
          <a:bodyPr/>
          <a:lstStyle/>
          <a:p>
            <a:fld id="{9370333F-211E-480A-A48D-622F2EB68390}" type="slidenum">
              <a:rPr lang="es-ES" altLang="en-US" smtClean="0"/>
              <a:pPr/>
              <a:t>47</a:t>
            </a:fld>
            <a:endParaRPr lang="es-ES" altLang="en-US"/>
          </a:p>
        </p:txBody>
      </p:sp>
      <p:cxnSp>
        <p:nvCxnSpPr>
          <p:cNvPr id="5" name="直線單箭頭接點 4"/>
          <p:cNvCxnSpPr/>
          <p:nvPr/>
        </p:nvCxnSpPr>
        <p:spPr>
          <a:xfrm>
            <a:off x="6300201" y="5553831"/>
            <a:ext cx="40767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flipV="1">
            <a:off x="6300201" y="2429631"/>
            <a:ext cx="0" cy="31242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6125473" y="5592270"/>
            <a:ext cx="4077583" cy="461665"/>
          </a:xfrm>
          <a:prstGeom prst="rect">
            <a:avLst/>
          </a:prstGeom>
          <a:noFill/>
        </p:spPr>
        <p:txBody>
          <a:bodyPr wrap="square" rtlCol="0">
            <a:spAutoFit/>
          </a:bodyPr>
          <a:lstStyle/>
          <a:p>
            <a:pPr algn="ctr"/>
            <a:r>
              <a:rPr lang="en-US" altLang="zh-TW" sz="2400" dirty="0"/>
              <a:t>No. of parameters updates</a:t>
            </a:r>
            <a:endParaRPr lang="zh-TW" altLang="en-US" sz="2400" dirty="0"/>
          </a:p>
        </p:txBody>
      </p:sp>
      <p:sp>
        <p:nvSpPr>
          <p:cNvPr id="11" name="文字方塊 10"/>
          <p:cNvSpPr txBox="1"/>
          <p:nvPr/>
        </p:nvSpPr>
        <p:spPr>
          <a:xfrm>
            <a:off x="5780531" y="1998524"/>
            <a:ext cx="1143000" cy="461665"/>
          </a:xfrm>
          <a:prstGeom prst="rect">
            <a:avLst/>
          </a:prstGeom>
          <a:noFill/>
        </p:spPr>
        <p:txBody>
          <a:bodyPr wrap="square" rtlCol="0">
            <a:spAutoFit/>
          </a:bodyPr>
          <a:lstStyle/>
          <a:p>
            <a:pPr algn="ctr"/>
            <a:r>
              <a:rPr lang="en-US" altLang="zh-TW" sz="2400" dirty="0"/>
              <a:t>Loss</a:t>
            </a:r>
            <a:endParaRPr lang="zh-TW" altLang="en-US" sz="2400" dirty="0"/>
          </a:p>
        </p:txBody>
      </p:sp>
      <p:sp>
        <p:nvSpPr>
          <p:cNvPr id="12" name="手繪多邊形 11"/>
          <p:cNvSpPr/>
          <p:nvPr/>
        </p:nvSpPr>
        <p:spPr>
          <a:xfrm>
            <a:off x="2116334" y="1712384"/>
            <a:ext cx="3900367" cy="4523185"/>
          </a:xfrm>
          <a:custGeom>
            <a:avLst/>
            <a:gdLst>
              <a:gd name="connsiteX0" fmla="*/ 0 w 3899756"/>
              <a:gd name="connsiteY0" fmla="*/ 2050581 h 4527158"/>
              <a:gd name="connsiteX1" fmla="*/ 514350 w 3899756"/>
              <a:gd name="connsiteY1" fmla="*/ 2964981 h 4527158"/>
              <a:gd name="connsiteX2" fmla="*/ 1257300 w 3899756"/>
              <a:gd name="connsiteY2" fmla="*/ 3403131 h 4527158"/>
              <a:gd name="connsiteX3" fmla="*/ 1733550 w 3899756"/>
              <a:gd name="connsiteY3" fmla="*/ 4527081 h 4527158"/>
              <a:gd name="connsiteX4" fmla="*/ 2266950 w 3899756"/>
              <a:gd name="connsiteY4" fmla="*/ 3345981 h 4527158"/>
              <a:gd name="connsiteX5" fmla="*/ 2552700 w 3899756"/>
              <a:gd name="connsiteY5" fmla="*/ 2641131 h 4527158"/>
              <a:gd name="connsiteX6" fmla="*/ 3162300 w 3899756"/>
              <a:gd name="connsiteY6" fmla="*/ 2488731 h 4527158"/>
              <a:gd name="connsiteX7" fmla="*/ 3829050 w 3899756"/>
              <a:gd name="connsiteY7" fmla="*/ 374181 h 4527158"/>
              <a:gd name="connsiteX8" fmla="*/ 3848100 w 3899756"/>
              <a:gd name="connsiteY8" fmla="*/ 12231 h 4527158"/>
              <a:gd name="connsiteX0" fmla="*/ 0 w 3902334"/>
              <a:gd name="connsiteY0" fmla="*/ 2047495 h 4524072"/>
              <a:gd name="connsiteX1" fmla="*/ 514350 w 3902334"/>
              <a:gd name="connsiteY1" fmla="*/ 2961895 h 4524072"/>
              <a:gd name="connsiteX2" fmla="*/ 1257300 w 3902334"/>
              <a:gd name="connsiteY2" fmla="*/ 3400045 h 4524072"/>
              <a:gd name="connsiteX3" fmla="*/ 1733550 w 3902334"/>
              <a:gd name="connsiteY3" fmla="*/ 4523995 h 4524072"/>
              <a:gd name="connsiteX4" fmla="*/ 2266950 w 3902334"/>
              <a:gd name="connsiteY4" fmla="*/ 3342895 h 4524072"/>
              <a:gd name="connsiteX5" fmla="*/ 2552700 w 3902334"/>
              <a:gd name="connsiteY5" fmla="*/ 2638045 h 4524072"/>
              <a:gd name="connsiteX6" fmla="*/ 3124200 w 3902334"/>
              <a:gd name="connsiteY6" fmla="*/ 2323720 h 4524072"/>
              <a:gd name="connsiteX7" fmla="*/ 3829050 w 3902334"/>
              <a:gd name="connsiteY7" fmla="*/ 371095 h 4524072"/>
              <a:gd name="connsiteX8" fmla="*/ 3848100 w 3902334"/>
              <a:gd name="connsiteY8" fmla="*/ 9145 h 4524072"/>
              <a:gd name="connsiteX0" fmla="*/ 0 w 3900367"/>
              <a:gd name="connsiteY0" fmla="*/ 2046608 h 4523185"/>
              <a:gd name="connsiteX1" fmla="*/ 514350 w 3900367"/>
              <a:gd name="connsiteY1" fmla="*/ 2961008 h 4523185"/>
              <a:gd name="connsiteX2" fmla="*/ 1257300 w 3900367"/>
              <a:gd name="connsiteY2" fmla="*/ 3399158 h 4523185"/>
              <a:gd name="connsiteX3" fmla="*/ 1733550 w 3900367"/>
              <a:gd name="connsiteY3" fmla="*/ 4523108 h 4523185"/>
              <a:gd name="connsiteX4" fmla="*/ 2266950 w 3900367"/>
              <a:gd name="connsiteY4" fmla="*/ 3342008 h 4523185"/>
              <a:gd name="connsiteX5" fmla="*/ 2552700 w 3900367"/>
              <a:gd name="connsiteY5" fmla="*/ 2637158 h 4523185"/>
              <a:gd name="connsiteX6" fmla="*/ 3153228 w 3900367"/>
              <a:gd name="connsiteY6" fmla="*/ 2264775 h 4523185"/>
              <a:gd name="connsiteX7" fmla="*/ 3829050 w 3900367"/>
              <a:gd name="connsiteY7" fmla="*/ 370208 h 4523185"/>
              <a:gd name="connsiteX8" fmla="*/ 3848100 w 3900367"/>
              <a:gd name="connsiteY8" fmla="*/ 8258 h 452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67" h="4523185">
                <a:moveTo>
                  <a:pt x="0" y="2046608"/>
                </a:moveTo>
                <a:cubicBezTo>
                  <a:pt x="152400" y="2391095"/>
                  <a:pt x="304800" y="2735583"/>
                  <a:pt x="514350" y="2961008"/>
                </a:cubicBezTo>
                <a:cubicBezTo>
                  <a:pt x="723900" y="3186433"/>
                  <a:pt x="1054100" y="3138808"/>
                  <a:pt x="1257300" y="3399158"/>
                </a:cubicBezTo>
                <a:cubicBezTo>
                  <a:pt x="1460500" y="3659508"/>
                  <a:pt x="1565275" y="4532633"/>
                  <a:pt x="1733550" y="4523108"/>
                </a:cubicBezTo>
                <a:cubicBezTo>
                  <a:pt x="1901825" y="4513583"/>
                  <a:pt x="2130425" y="3656333"/>
                  <a:pt x="2266950" y="3342008"/>
                </a:cubicBezTo>
                <a:cubicBezTo>
                  <a:pt x="2403475" y="3027683"/>
                  <a:pt x="2404987" y="2816697"/>
                  <a:pt x="2552700" y="2637158"/>
                </a:cubicBezTo>
                <a:cubicBezTo>
                  <a:pt x="2700413" y="2457619"/>
                  <a:pt x="2940503" y="2642600"/>
                  <a:pt x="3153228" y="2264775"/>
                </a:cubicBezTo>
                <a:cubicBezTo>
                  <a:pt x="3365953" y="1886950"/>
                  <a:pt x="3713238" y="746294"/>
                  <a:pt x="3829050" y="370208"/>
                </a:cubicBezTo>
                <a:cubicBezTo>
                  <a:pt x="3944862" y="-5878"/>
                  <a:pt x="3895725" y="-17142"/>
                  <a:pt x="3848100" y="8258"/>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4" name="直線單箭頭接點 13"/>
          <p:cNvCxnSpPr>
            <a:endCxn id="12" idx="0"/>
          </p:cNvCxnSpPr>
          <p:nvPr/>
        </p:nvCxnSpPr>
        <p:spPr>
          <a:xfrm flipH="1" flipV="1">
            <a:off x="2116333" y="3758992"/>
            <a:ext cx="817068" cy="1047551"/>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stCxn id="12" idx="0"/>
            <a:endCxn id="12" idx="7"/>
          </p:cNvCxnSpPr>
          <p:nvPr/>
        </p:nvCxnSpPr>
        <p:spPr>
          <a:xfrm flipV="1">
            <a:off x="2116333" y="2082591"/>
            <a:ext cx="3829050" cy="1676400"/>
          </a:xfrm>
          <a:prstGeom prst="straightConnector1">
            <a:avLst/>
          </a:prstGeom>
          <a:ln w="38100">
            <a:solidFill>
              <a:srgbClr val="FFC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H="1">
            <a:off x="2964313" y="4768779"/>
            <a:ext cx="1574320" cy="37765"/>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手繪多邊形 24"/>
          <p:cNvSpPr/>
          <p:nvPr/>
        </p:nvSpPr>
        <p:spPr>
          <a:xfrm>
            <a:off x="6312901" y="1813682"/>
            <a:ext cx="1790700" cy="1758857"/>
          </a:xfrm>
          <a:custGeom>
            <a:avLst/>
            <a:gdLst>
              <a:gd name="connsiteX0" fmla="*/ 0 w 1790700"/>
              <a:gd name="connsiteY0" fmla="*/ 1409700 h 1758857"/>
              <a:gd name="connsiteX1" fmla="*/ 304800 w 1790700"/>
              <a:gd name="connsiteY1" fmla="*/ 1663700 h 1758857"/>
              <a:gd name="connsiteX2" fmla="*/ 1790700 w 1790700"/>
              <a:gd name="connsiteY2" fmla="*/ 0 h 1758857"/>
            </a:gdLst>
            <a:ahLst/>
            <a:cxnLst>
              <a:cxn ang="0">
                <a:pos x="connsiteX0" y="connsiteY0"/>
              </a:cxn>
              <a:cxn ang="0">
                <a:pos x="connsiteX1" y="connsiteY1"/>
              </a:cxn>
              <a:cxn ang="0">
                <a:pos x="connsiteX2" y="connsiteY2"/>
              </a:cxn>
            </a:cxnLst>
            <a:rect l="l" t="t" r="r" b="b"/>
            <a:pathLst>
              <a:path w="1790700" h="1758857">
                <a:moveTo>
                  <a:pt x="0" y="1409700"/>
                </a:moveTo>
                <a:cubicBezTo>
                  <a:pt x="3175" y="1654175"/>
                  <a:pt x="6350" y="1898650"/>
                  <a:pt x="304800" y="1663700"/>
                </a:cubicBezTo>
                <a:cubicBezTo>
                  <a:pt x="603250" y="1428750"/>
                  <a:pt x="1196975" y="714375"/>
                  <a:pt x="1790700" y="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手繪多邊形 27"/>
          <p:cNvSpPr/>
          <p:nvPr/>
        </p:nvSpPr>
        <p:spPr>
          <a:xfrm>
            <a:off x="6321048" y="3329295"/>
            <a:ext cx="3935464" cy="1520095"/>
          </a:xfrm>
          <a:custGeom>
            <a:avLst/>
            <a:gdLst>
              <a:gd name="connsiteX0" fmla="*/ 0 w 3935464"/>
              <a:gd name="connsiteY0" fmla="*/ 0 h 1520095"/>
              <a:gd name="connsiteX1" fmla="*/ 293298 w 3935464"/>
              <a:gd name="connsiteY1" fmla="*/ 672861 h 1520095"/>
              <a:gd name="connsiteX2" fmla="*/ 569344 w 3935464"/>
              <a:gd name="connsiteY2" fmla="*/ 1069676 h 1520095"/>
              <a:gd name="connsiteX3" fmla="*/ 1242204 w 3935464"/>
              <a:gd name="connsiteY3" fmla="*/ 1414732 h 1520095"/>
              <a:gd name="connsiteX4" fmla="*/ 3536830 w 3935464"/>
              <a:gd name="connsiteY4" fmla="*/ 1518249 h 1520095"/>
              <a:gd name="connsiteX5" fmla="*/ 3933645 w 3935464"/>
              <a:gd name="connsiteY5" fmla="*/ 1483744 h 1520095"/>
              <a:gd name="connsiteX6" fmla="*/ 3933645 w 3935464"/>
              <a:gd name="connsiteY6" fmla="*/ 1483744 h 152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5464" h="1520095">
                <a:moveTo>
                  <a:pt x="0" y="0"/>
                </a:moveTo>
                <a:cubicBezTo>
                  <a:pt x="99203" y="247291"/>
                  <a:pt x="198407" y="494582"/>
                  <a:pt x="293298" y="672861"/>
                </a:cubicBezTo>
                <a:cubicBezTo>
                  <a:pt x="388189" y="851140"/>
                  <a:pt x="411193" y="946031"/>
                  <a:pt x="569344" y="1069676"/>
                </a:cubicBezTo>
                <a:cubicBezTo>
                  <a:pt x="727495" y="1193321"/>
                  <a:pt x="747623" y="1339970"/>
                  <a:pt x="1242204" y="1414732"/>
                </a:cubicBezTo>
                <a:cubicBezTo>
                  <a:pt x="1736785" y="1489494"/>
                  <a:pt x="3088257" y="1506747"/>
                  <a:pt x="3536830" y="1518249"/>
                </a:cubicBezTo>
                <a:cubicBezTo>
                  <a:pt x="3985403" y="1529751"/>
                  <a:pt x="3933645" y="1483744"/>
                  <a:pt x="3933645" y="1483744"/>
                </a:cubicBezTo>
                <a:lnTo>
                  <a:pt x="3933645" y="1483744"/>
                </a:lnTo>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手繪多邊形 28"/>
          <p:cNvSpPr/>
          <p:nvPr/>
        </p:nvSpPr>
        <p:spPr>
          <a:xfrm>
            <a:off x="6303796" y="3329295"/>
            <a:ext cx="3952717" cy="1764955"/>
          </a:xfrm>
          <a:custGeom>
            <a:avLst/>
            <a:gdLst>
              <a:gd name="connsiteX0" fmla="*/ 0 w 4071668"/>
              <a:gd name="connsiteY0" fmla="*/ 0 h 1961190"/>
              <a:gd name="connsiteX1" fmla="*/ 1086929 w 4071668"/>
              <a:gd name="connsiteY1" fmla="*/ 724619 h 1961190"/>
              <a:gd name="connsiteX2" fmla="*/ 3071004 w 4071668"/>
              <a:gd name="connsiteY2" fmla="*/ 1500996 h 1961190"/>
              <a:gd name="connsiteX3" fmla="*/ 3709359 w 4071668"/>
              <a:gd name="connsiteY3" fmla="*/ 1828800 h 1961190"/>
              <a:gd name="connsiteX4" fmla="*/ 3985404 w 4071668"/>
              <a:gd name="connsiteY4" fmla="*/ 1949570 h 1961190"/>
              <a:gd name="connsiteX5" fmla="*/ 4071668 w 4071668"/>
              <a:gd name="connsiteY5" fmla="*/ 1949570 h 1961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668" h="1961190">
                <a:moveTo>
                  <a:pt x="0" y="0"/>
                </a:moveTo>
                <a:cubicBezTo>
                  <a:pt x="287547" y="237226"/>
                  <a:pt x="575095" y="474453"/>
                  <a:pt x="1086929" y="724619"/>
                </a:cubicBezTo>
                <a:cubicBezTo>
                  <a:pt x="1598763" y="974785"/>
                  <a:pt x="2633932" y="1316966"/>
                  <a:pt x="3071004" y="1500996"/>
                </a:cubicBezTo>
                <a:cubicBezTo>
                  <a:pt x="3508076" y="1685026"/>
                  <a:pt x="3556959" y="1754038"/>
                  <a:pt x="3709359" y="1828800"/>
                </a:cubicBezTo>
                <a:cubicBezTo>
                  <a:pt x="3861759" y="1903562"/>
                  <a:pt x="3925019" y="1929442"/>
                  <a:pt x="3985404" y="1949570"/>
                </a:cubicBezTo>
                <a:cubicBezTo>
                  <a:pt x="4045789" y="1969698"/>
                  <a:pt x="4058728" y="1959634"/>
                  <a:pt x="4071668" y="1949570"/>
                </a:cubicBezTo>
              </a:path>
            </a:pathLst>
          </a:cu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008" name="手繪多邊形 43007"/>
          <p:cNvSpPr/>
          <p:nvPr/>
        </p:nvSpPr>
        <p:spPr>
          <a:xfrm>
            <a:off x="6338301" y="3363801"/>
            <a:ext cx="3916392" cy="2018581"/>
          </a:xfrm>
          <a:custGeom>
            <a:avLst/>
            <a:gdLst>
              <a:gd name="connsiteX0" fmla="*/ 0 w 3916392"/>
              <a:gd name="connsiteY0" fmla="*/ 0 h 2018581"/>
              <a:gd name="connsiteX1" fmla="*/ 879894 w 3916392"/>
              <a:gd name="connsiteY1" fmla="*/ 931653 h 2018581"/>
              <a:gd name="connsiteX2" fmla="*/ 2104845 w 3916392"/>
              <a:gd name="connsiteY2" fmla="*/ 1777041 h 2018581"/>
              <a:gd name="connsiteX3" fmla="*/ 3916392 w 3916392"/>
              <a:gd name="connsiteY3" fmla="*/ 2018581 h 2018581"/>
            </a:gdLst>
            <a:ahLst/>
            <a:cxnLst>
              <a:cxn ang="0">
                <a:pos x="connsiteX0" y="connsiteY0"/>
              </a:cxn>
              <a:cxn ang="0">
                <a:pos x="connsiteX1" y="connsiteY1"/>
              </a:cxn>
              <a:cxn ang="0">
                <a:pos x="connsiteX2" y="connsiteY2"/>
              </a:cxn>
              <a:cxn ang="0">
                <a:pos x="connsiteX3" y="connsiteY3"/>
              </a:cxn>
            </a:cxnLst>
            <a:rect l="l" t="t" r="r" b="b"/>
            <a:pathLst>
              <a:path w="3916392" h="2018581">
                <a:moveTo>
                  <a:pt x="0" y="0"/>
                </a:moveTo>
                <a:cubicBezTo>
                  <a:pt x="264543" y="317740"/>
                  <a:pt x="529087" y="635480"/>
                  <a:pt x="879894" y="931653"/>
                </a:cubicBezTo>
                <a:cubicBezTo>
                  <a:pt x="1230701" y="1227826"/>
                  <a:pt x="1598762" y="1595886"/>
                  <a:pt x="2104845" y="1777041"/>
                </a:cubicBezTo>
                <a:cubicBezTo>
                  <a:pt x="2610928" y="1958196"/>
                  <a:pt x="3263660" y="1988388"/>
                  <a:pt x="3916392" y="2018581"/>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文字方塊 33"/>
          <p:cNvSpPr txBox="1"/>
          <p:nvPr/>
        </p:nvSpPr>
        <p:spPr>
          <a:xfrm>
            <a:off x="4267425" y="5059391"/>
            <a:ext cx="1143000" cy="461665"/>
          </a:xfrm>
          <a:prstGeom prst="rect">
            <a:avLst/>
          </a:prstGeom>
          <a:noFill/>
        </p:spPr>
        <p:txBody>
          <a:bodyPr wrap="square" rtlCol="0">
            <a:spAutoFit/>
          </a:bodyPr>
          <a:lstStyle/>
          <a:p>
            <a:pPr algn="ctr"/>
            <a:r>
              <a:rPr lang="en-US" altLang="zh-TW" sz="2400" dirty="0"/>
              <a:t>Loss</a:t>
            </a:r>
            <a:endParaRPr lang="zh-TW" altLang="en-US" sz="2400" dirty="0"/>
          </a:p>
        </p:txBody>
      </p:sp>
      <p:sp>
        <p:nvSpPr>
          <p:cNvPr id="43009" name="文字方塊 43008"/>
          <p:cNvSpPr txBox="1"/>
          <p:nvPr/>
        </p:nvSpPr>
        <p:spPr>
          <a:xfrm>
            <a:off x="7351439" y="2686734"/>
            <a:ext cx="2191109" cy="461665"/>
          </a:xfrm>
          <a:prstGeom prst="rect">
            <a:avLst/>
          </a:prstGeom>
          <a:noFill/>
        </p:spPr>
        <p:txBody>
          <a:bodyPr wrap="square" rtlCol="0">
            <a:spAutoFit/>
          </a:bodyPr>
          <a:lstStyle/>
          <a:p>
            <a:r>
              <a:rPr lang="en-US" altLang="zh-TW" sz="2400" dirty="0">
                <a:solidFill>
                  <a:srgbClr val="FFC000"/>
                </a:solidFill>
              </a:rPr>
              <a:t>Very Large</a:t>
            </a:r>
            <a:endParaRPr lang="zh-TW" altLang="en-US" sz="2400" dirty="0">
              <a:solidFill>
                <a:srgbClr val="FFC000"/>
              </a:solidFill>
            </a:endParaRPr>
          </a:p>
        </p:txBody>
      </p:sp>
      <p:sp>
        <p:nvSpPr>
          <p:cNvPr id="36" name="文字方塊 35"/>
          <p:cNvSpPr txBox="1"/>
          <p:nvPr/>
        </p:nvSpPr>
        <p:spPr>
          <a:xfrm>
            <a:off x="6475260" y="4487478"/>
            <a:ext cx="876178" cy="461665"/>
          </a:xfrm>
          <a:prstGeom prst="rect">
            <a:avLst/>
          </a:prstGeom>
          <a:noFill/>
        </p:spPr>
        <p:txBody>
          <a:bodyPr wrap="square" rtlCol="0">
            <a:spAutoFit/>
          </a:bodyPr>
          <a:lstStyle/>
          <a:p>
            <a:r>
              <a:rPr lang="en-US" altLang="zh-TW" sz="2400" dirty="0">
                <a:solidFill>
                  <a:srgbClr val="00B050"/>
                </a:solidFill>
              </a:rPr>
              <a:t>Large</a:t>
            </a:r>
            <a:endParaRPr lang="zh-TW" altLang="en-US" sz="2400" dirty="0">
              <a:solidFill>
                <a:srgbClr val="00B050"/>
              </a:solidFill>
            </a:endParaRPr>
          </a:p>
        </p:txBody>
      </p:sp>
      <p:sp>
        <p:nvSpPr>
          <p:cNvPr id="38" name="文字方塊 37"/>
          <p:cNvSpPr txBox="1"/>
          <p:nvPr/>
        </p:nvSpPr>
        <p:spPr>
          <a:xfrm>
            <a:off x="8212386" y="3858509"/>
            <a:ext cx="876178" cy="461665"/>
          </a:xfrm>
          <a:prstGeom prst="rect">
            <a:avLst/>
          </a:prstGeom>
          <a:noFill/>
        </p:spPr>
        <p:txBody>
          <a:bodyPr wrap="square" rtlCol="0">
            <a:spAutoFit/>
          </a:bodyPr>
          <a:lstStyle/>
          <a:p>
            <a:r>
              <a:rPr lang="en-US" altLang="zh-TW" sz="2400" dirty="0">
                <a:solidFill>
                  <a:srgbClr val="0000FF"/>
                </a:solidFill>
              </a:rPr>
              <a:t>small</a:t>
            </a:r>
            <a:endParaRPr lang="zh-TW" altLang="en-US" sz="2400" dirty="0">
              <a:solidFill>
                <a:srgbClr val="0000FF"/>
              </a:solidFill>
            </a:endParaRPr>
          </a:p>
        </p:txBody>
      </p:sp>
      <p:sp>
        <p:nvSpPr>
          <p:cNvPr id="39" name="文字方塊 38"/>
          <p:cNvSpPr txBox="1"/>
          <p:nvPr/>
        </p:nvSpPr>
        <p:spPr>
          <a:xfrm>
            <a:off x="7196926" y="5020840"/>
            <a:ext cx="1449837" cy="461665"/>
          </a:xfrm>
          <a:prstGeom prst="rect">
            <a:avLst/>
          </a:prstGeom>
          <a:noFill/>
        </p:spPr>
        <p:txBody>
          <a:bodyPr wrap="square" rtlCol="0">
            <a:spAutoFit/>
          </a:bodyPr>
          <a:lstStyle/>
          <a:p>
            <a:r>
              <a:rPr lang="en-US" altLang="zh-TW" sz="2400" dirty="0">
                <a:solidFill>
                  <a:srgbClr val="FF0000"/>
                </a:solidFill>
              </a:rPr>
              <a:t>Just make</a:t>
            </a:r>
            <a:endParaRPr lang="zh-TW" altLang="en-US" sz="2400" dirty="0">
              <a:solidFill>
                <a:srgbClr val="FF0000"/>
              </a:solidFill>
            </a:endParaRPr>
          </a:p>
        </p:txBody>
      </p:sp>
      <p:graphicFrame>
        <p:nvGraphicFramePr>
          <p:cNvPr id="21" name="Object 12"/>
          <p:cNvGraphicFramePr>
            <a:graphicFrameLocks noChangeAspect="1"/>
          </p:cNvGraphicFramePr>
          <p:nvPr>
            <p:extLst>
              <p:ext uri="{D42A27DB-BD31-4B8C-83A1-F6EECF244321}">
                <p14:modId xmlns:p14="http://schemas.microsoft.com/office/powerpoint/2010/main" val="2652740735"/>
              </p:ext>
            </p:extLst>
          </p:nvPr>
        </p:nvGraphicFramePr>
        <p:xfrm>
          <a:off x="8338551" y="1995352"/>
          <a:ext cx="3162300" cy="573087"/>
        </p:xfrm>
        <a:graphic>
          <a:graphicData uri="http://schemas.openxmlformats.org/presentationml/2006/ole">
            <mc:AlternateContent xmlns:mc="http://schemas.openxmlformats.org/markup-compatibility/2006">
              <mc:Choice xmlns:v="urn:schemas-microsoft-com:vml" Requires="v">
                <p:oleObj name="方程式" r:id="rId3" imgW="1257120" imgH="228600" progId="Equation.3">
                  <p:embed/>
                </p:oleObj>
              </mc:Choice>
              <mc:Fallback>
                <p:oleObj name="方程式" r:id="rId3" imgW="1257120" imgH="228600" progId="Equation.3">
                  <p:embed/>
                  <p:pic>
                    <p:nvPicPr>
                      <p:cNvPr id="21" name="Object 12"/>
                      <p:cNvPicPr>
                        <a:picLocks noChangeAspect="1" noChangeArrowheads="1"/>
                      </p:cNvPicPr>
                      <p:nvPr/>
                    </p:nvPicPr>
                    <p:blipFill>
                      <a:blip r:embed="rId4"/>
                      <a:srcRect/>
                      <a:stretch>
                        <a:fillRect/>
                      </a:stretch>
                    </p:blipFill>
                    <p:spPr bwMode="auto">
                      <a:xfrm>
                        <a:off x="8338551" y="1995352"/>
                        <a:ext cx="3162300" cy="573087"/>
                      </a:xfrm>
                      <a:prstGeom prst="rect">
                        <a:avLst/>
                      </a:prstGeom>
                      <a:noFill/>
                    </p:spPr>
                  </p:pic>
                </p:oleObj>
              </mc:Fallback>
            </mc:AlternateContent>
          </a:graphicData>
        </a:graphic>
      </p:graphicFrame>
      <p:sp>
        <p:nvSpPr>
          <p:cNvPr id="22" name="內容版面配置區 2"/>
          <p:cNvSpPr txBox="1">
            <a:spLocks/>
          </p:cNvSpPr>
          <p:nvPr/>
        </p:nvSpPr>
        <p:spPr>
          <a:xfrm>
            <a:off x="7052762" y="1475107"/>
            <a:ext cx="5139238" cy="7041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t>Set the </a:t>
            </a:r>
            <a:r>
              <a:rPr lang="en-US" altLang="zh-TW" b="1" dirty="0">
                <a:solidFill>
                  <a:srgbClr val="7030A0"/>
                </a:solidFill>
              </a:rPr>
              <a:t>learning rate </a:t>
            </a:r>
            <a:r>
              <a:rPr lang="el-GR" altLang="zh-TW" b="1" dirty="0">
                <a:solidFill>
                  <a:srgbClr val="7030A0"/>
                </a:solidFill>
              </a:rPr>
              <a:t>η</a:t>
            </a:r>
            <a:r>
              <a:rPr lang="en-US" altLang="zh-TW" dirty="0"/>
              <a:t> carefully</a:t>
            </a:r>
            <a:endParaRPr lang="zh-TW" altLang="en-US" dirty="0"/>
          </a:p>
        </p:txBody>
      </p:sp>
      <p:sp>
        <p:nvSpPr>
          <p:cNvPr id="3" name="矩形 2"/>
          <p:cNvSpPr/>
          <p:nvPr/>
        </p:nvSpPr>
        <p:spPr>
          <a:xfrm>
            <a:off x="219156" y="1845640"/>
            <a:ext cx="4302726" cy="1200329"/>
          </a:xfrm>
          <a:prstGeom prst="rect">
            <a:avLst/>
          </a:prstGeom>
        </p:spPr>
        <p:txBody>
          <a:bodyPr wrap="square">
            <a:spAutoFit/>
          </a:bodyPr>
          <a:lstStyle/>
          <a:p>
            <a:r>
              <a:rPr lang="en-US" altLang="zh-TW" sz="2400" dirty="0"/>
              <a:t>If there are more than three      parameters, you cannot visualize this.</a:t>
            </a:r>
            <a:endParaRPr lang="zh-TW" altLang="en-US" sz="2400" dirty="0"/>
          </a:p>
        </p:txBody>
      </p:sp>
      <p:sp>
        <p:nvSpPr>
          <p:cNvPr id="23" name="矩形 22"/>
          <p:cNvSpPr/>
          <p:nvPr/>
        </p:nvSpPr>
        <p:spPr>
          <a:xfrm>
            <a:off x="5829271" y="6134170"/>
            <a:ext cx="4757604" cy="461665"/>
          </a:xfrm>
          <a:prstGeom prst="rect">
            <a:avLst/>
          </a:prstGeom>
        </p:spPr>
        <p:txBody>
          <a:bodyPr wrap="square">
            <a:spAutoFit/>
          </a:bodyPr>
          <a:lstStyle/>
          <a:p>
            <a:pPr algn="ctr"/>
            <a:r>
              <a:rPr lang="en-US" altLang="zh-TW" sz="2400" dirty="0">
                <a:solidFill>
                  <a:srgbClr val="FF0000"/>
                </a:solidFill>
              </a:rPr>
              <a:t>But you can always visualize this.</a:t>
            </a:r>
            <a:endParaRPr lang="zh-TW" altLang="en-US" sz="2400" dirty="0">
              <a:solidFill>
                <a:srgbClr val="FF0000"/>
              </a:solidFill>
            </a:endParaRPr>
          </a:p>
        </p:txBody>
      </p:sp>
      <p:cxnSp>
        <p:nvCxnSpPr>
          <p:cNvPr id="24" name="直線單箭頭接點 23"/>
          <p:cNvCxnSpPr>
            <a:stCxn id="12" idx="1"/>
          </p:cNvCxnSpPr>
          <p:nvPr/>
        </p:nvCxnSpPr>
        <p:spPr>
          <a:xfrm flipH="1" flipV="1">
            <a:off x="2127027" y="3772043"/>
            <a:ext cx="503656" cy="901349"/>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stCxn id="12" idx="2"/>
          </p:cNvCxnSpPr>
          <p:nvPr/>
        </p:nvCxnSpPr>
        <p:spPr>
          <a:xfrm flipH="1" flipV="1">
            <a:off x="2603713" y="4673393"/>
            <a:ext cx="769920" cy="438149"/>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a:stCxn id="12" idx="3"/>
          </p:cNvCxnSpPr>
          <p:nvPr/>
        </p:nvCxnSpPr>
        <p:spPr>
          <a:xfrm flipH="1" flipV="1">
            <a:off x="3355755" y="5094251"/>
            <a:ext cx="494128" cy="1141241"/>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flipH="1" flipV="1">
            <a:off x="2045488" y="3811908"/>
            <a:ext cx="262522" cy="561182"/>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H="1" flipV="1">
            <a:off x="2300997" y="4374132"/>
            <a:ext cx="271805" cy="426406"/>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flipH="1" flipV="1">
            <a:off x="2565616" y="4784077"/>
            <a:ext cx="342517" cy="236763"/>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flipH="1" flipV="1">
            <a:off x="2860769" y="4980692"/>
            <a:ext cx="395993" cy="192600"/>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p:nvPr/>
        </p:nvCxnSpPr>
        <p:spPr>
          <a:xfrm flipV="1">
            <a:off x="2950654" y="4630085"/>
            <a:ext cx="1571228" cy="43230"/>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13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300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3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animBg="1"/>
      <p:bldP spid="25" grpId="0" animBg="1"/>
      <p:bldP spid="28" grpId="0" animBg="1"/>
      <p:bldP spid="29" grpId="0" animBg="1"/>
      <p:bldP spid="43008" grpId="0" animBg="1"/>
      <p:bldP spid="34" grpId="0"/>
      <p:bldP spid="43009" grpId="0"/>
      <p:bldP spid="36" grpId="0"/>
      <p:bldP spid="38" grpId="0"/>
      <p:bldP spid="39" grpId="0"/>
      <p:bldP spid="3" grpId="0"/>
      <p:bldP spid="2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Adaptive Learning Rates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915668" y="2656332"/>
                <a:ext cx="8360664" cy="3579876"/>
              </a:xfrm>
            </p:spPr>
            <p:txBody>
              <a:bodyPr>
                <a:normAutofit fontScale="85000" lnSpcReduction="20000"/>
              </a:bodyPr>
              <a:lstStyle/>
              <a:p>
                <a:pPr marL="228600" lvl="1"/>
                <a:r>
                  <a:rPr lang="en-US" altLang="zh-TW" sz="2800" dirty="0"/>
                  <a:t>Popular &amp; Simple Idea: Reduce the learning rate by some factor every few epochs.</a:t>
                </a:r>
              </a:p>
              <a:p>
                <a:pPr marL="228600" lvl="1"/>
                <a:r>
                  <a:rPr lang="en-US" altLang="zh-TW" sz="2800" dirty="0"/>
                  <a:t>At the beginning, we are far from the destination, so we use larger learning rate</a:t>
                </a:r>
              </a:p>
              <a:p>
                <a:pPr marL="228600" lvl="1"/>
                <a:r>
                  <a:rPr lang="en-US" altLang="zh-TW" sz="2800" dirty="0"/>
                  <a:t>After several epochs, we are close to the destination, so we reduce the learning rate</a:t>
                </a:r>
              </a:p>
              <a:p>
                <a:pPr marL="228600" lvl="1"/>
                <a:r>
                  <a:rPr lang="en-US" altLang="zh-TW" sz="2800" dirty="0"/>
                  <a:t>E.g. 1/t decay: </a:t>
                </a:r>
                <a14:m>
                  <m:oMath xmlns:m="http://schemas.openxmlformats.org/officeDocument/2006/math">
                    <m:sSup>
                      <m:sSupPr>
                        <m:ctrlPr>
                          <a:rPr lang="en-US" altLang="zh-TW" sz="2800" i="1">
                            <a:latin typeface="Cambria Math" panose="02040503050406030204" pitchFamily="18" charset="0"/>
                          </a:rPr>
                        </m:ctrlPr>
                      </m:sSupPr>
                      <m:e>
                        <m:r>
                          <a:rPr lang="zh-TW" altLang="en-US" sz="2800">
                            <a:latin typeface="Cambria Math" panose="02040503050406030204" pitchFamily="18" charset="0"/>
                          </a:rPr>
                          <m:t>𝜂</m:t>
                        </m:r>
                      </m:e>
                      <m:sup>
                        <m:r>
                          <a:rPr lang="en-US" altLang="zh-TW" sz="2800">
                            <a:latin typeface="Cambria Math" panose="02040503050406030204" pitchFamily="18" charset="0"/>
                          </a:rPr>
                          <m:t>𝑡</m:t>
                        </m:r>
                      </m:sup>
                    </m:sSup>
                    <m:r>
                      <a:rPr lang="en-US" altLang="zh-TW" sz="2800">
                        <a:latin typeface="Cambria Math" panose="02040503050406030204" pitchFamily="18" charset="0"/>
                      </a:rPr>
                      <m:t>=</m:t>
                    </m:r>
                    <m:f>
                      <m:fPr>
                        <m:type m:val="lin"/>
                        <m:ctrlPr>
                          <a:rPr lang="en-US" altLang="zh-TW" sz="2800" i="1">
                            <a:latin typeface="Cambria Math" panose="02040503050406030204" pitchFamily="18" charset="0"/>
                          </a:rPr>
                        </m:ctrlPr>
                      </m:fPr>
                      <m:num>
                        <m:r>
                          <a:rPr lang="zh-TW" altLang="en-US" sz="2800">
                            <a:latin typeface="Cambria Math" panose="02040503050406030204" pitchFamily="18" charset="0"/>
                          </a:rPr>
                          <m:t>𝜂</m:t>
                        </m:r>
                      </m:num>
                      <m:den>
                        <m:rad>
                          <m:radPr>
                            <m:degHide m:val="on"/>
                            <m:ctrlPr>
                              <a:rPr lang="zh-TW" altLang="en-US" sz="2800" i="1">
                                <a:latin typeface="Cambria Math" panose="02040503050406030204" pitchFamily="18" charset="0"/>
                              </a:rPr>
                            </m:ctrlPr>
                          </m:radPr>
                          <m:deg/>
                          <m:e>
                            <m:r>
                              <a:rPr lang="en-US" altLang="zh-TW" sz="2800">
                                <a:latin typeface="Cambria Math" panose="02040503050406030204" pitchFamily="18" charset="0"/>
                              </a:rPr>
                              <m:t>𝑡</m:t>
                            </m:r>
                            <m:r>
                              <a:rPr lang="en-US" altLang="zh-TW" sz="2800">
                                <a:latin typeface="Cambria Math" panose="02040503050406030204" pitchFamily="18" charset="0"/>
                              </a:rPr>
                              <m:t>+1</m:t>
                            </m:r>
                          </m:e>
                        </m:rad>
                      </m:den>
                    </m:f>
                  </m:oMath>
                </a14:m>
                <a:endParaRPr lang="en-US" altLang="zh-TW" sz="2800" dirty="0"/>
              </a:p>
              <a:p>
                <a:pPr marL="228600" lvl="1"/>
                <a:r>
                  <a:rPr lang="en-US" altLang="zh-TW" sz="2800" dirty="0"/>
                  <a:t>Learning rate cannot be one-size-fits-all</a:t>
                </a:r>
              </a:p>
              <a:p>
                <a:pPr lvl="1"/>
                <a:r>
                  <a:rPr lang="en-US" altLang="zh-TW" sz="2800" dirty="0">
                    <a:solidFill>
                      <a:srgbClr val="0000FF"/>
                    </a:solidFill>
                  </a:rPr>
                  <a:t>Giving different parameters different learning rates </a:t>
                </a:r>
              </a:p>
              <a:p>
                <a:pPr lvl="1"/>
                <a:endParaRPr lang="en-US" altLang="zh-TW"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915668" y="2656332"/>
                <a:ext cx="8360664" cy="3579876"/>
              </a:xfrm>
              <a:blipFill>
                <a:blip r:embed="rId3"/>
                <a:stretch>
                  <a:fillRect l="-948" t="-3407" r="-146"/>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A0940C15-779E-40B5-9129-ECBA9E033924}"/>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9710EBF1-9674-4BB2-97A0-CACE90055BE9}"/>
              </a:ext>
            </a:extLst>
          </p:cNvPr>
          <p:cNvSpPr>
            <a:spLocks noGrp="1"/>
          </p:cNvSpPr>
          <p:nvPr>
            <p:ph type="sldNum" sz="quarter" idx="12"/>
          </p:nvPr>
        </p:nvSpPr>
        <p:spPr/>
        <p:txBody>
          <a:bodyPr/>
          <a:lstStyle/>
          <a:p>
            <a:fld id="{9370333F-211E-480A-A48D-622F2EB68390}" type="slidenum">
              <a:rPr lang="es-ES" altLang="en-US" smtClean="0"/>
              <a:pPr/>
              <a:t>48</a:t>
            </a:fld>
            <a:endParaRPr lang="es-ES" altLang="en-US"/>
          </a:p>
        </p:txBody>
      </p:sp>
    </p:spTree>
    <p:extLst>
      <p:ext uri="{BB962C8B-B14F-4D97-AF65-F5344CB8AC3E}">
        <p14:creationId xmlns:p14="http://schemas.microsoft.com/office/powerpoint/2010/main" val="267587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Adagrad</a:t>
            </a:r>
            <a:endParaRPr lang="zh-TW" altLang="en-US" dirty="0"/>
          </a:p>
        </p:txBody>
      </p:sp>
      <p:sp>
        <p:nvSpPr>
          <p:cNvPr id="3" name="內容版面配置區 2"/>
          <p:cNvSpPr>
            <a:spLocks noGrp="1"/>
          </p:cNvSpPr>
          <p:nvPr>
            <p:ph idx="1"/>
          </p:nvPr>
        </p:nvSpPr>
        <p:spPr/>
        <p:txBody>
          <a:bodyPr/>
          <a:lstStyle/>
          <a:p>
            <a:r>
              <a:rPr lang="en-US" altLang="zh-TW" dirty="0"/>
              <a:t>Divide the learning rate of each parameter by the  </a:t>
            </a:r>
            <a:r>
              <a:rPr lang="en-US" altLang="zh-TW" b="1" i="1" dirty="0"/>
              <a:t> root mean square of its previous derivatives</a:t>
            </a:r>
          </a:p>
          <a:p>
            <a:pPr marL="0" indent="0">
              <a:buNone/>
            </a:pPr>
            <a:endParaRPr lang="zh-TW" altLang="en-US" dirty="0"/>
          </a:p>
        </p:txBody>
      </p:sp>
      <p:sp>
        <p:nvSpPr>
          <p:cNvPr id="5" name="Footer Placeholder 4">
            <a:extLst>
              <a:ext uri="{FF2B5EF4-FFF2-40B4-BE49-F238E27FC236}">
                <a16:creationId xmlns:a16="http://schemas.microsoft.com/office/drawing/2014/main" id="{7C366E11-0F44-435E-BC90-795DB54BEA3F}"/>
              </a:ext>
            </a:extLst>
          </p:cNvPr>
          <p:cNvSpPr>
            <a:spLocks noGrp="1"/>
          </p:cNvSpPr>
          <p:nvPr>
            <p:ph type="ftr" sz="quarter" idx="11"/>
          </p:nvPr>
        </p:nvSpPr>
        <p:spPr/>
        <p:txBody>
          <a:bodyPr/>
          <a:lstStyle/>
          <a:p>
            <a:pPr>
              <a:defRPr/>
            </a:pPr>
            <a:r>
              <a:rPr lang="es-ES"/>
              <a:t>Dr. Deepali Vora</a:t>
            </a:r>
          </a:p>
        </p:txBody>
      </p:sp>
      <p:sp>
        <p:nvSpPr>
          <p:cNvPr id="7" name="Slide Number Placeholder 6">
            <a:extLst>
              <a:ext uri="{FF2B5EF4-FFF2-40B4-BE49-F238E27FC236}">
                <a16:creationId xmlns:a16="http://schemas.microsoft.com/office/drawing/2014/main" id="{78F0BF25-BCA7-458A-ACB9-37C8D62379D8}"/>
              </a:ext>
            </a:extLst>
          </p:cNvPr>
          <p:cNvSpPr>
            <a:spLocks noGrp="1"/>
          </p:cNvSpPr>
          <p:nvPr>
            <p:ph type="sldNum" sz="quarter" idx="12"/>
          </p:nvPr>
        </p:nvSpPr>
        <p:spPr/>
        <p:txBody>
          <a:bodyPr/>
          <a:lstStyle/>
          <a:p>
            <a:fld id="{9370333F-211E-480A-A48D-622F2EB68390}" type="slidenum">
              <a:rPr lang="es-ES" altLang="en-US" smtClean="0"/>
              <a:pPr/>
              <a:t>49</a:t>
            </a:fld>
            <a:endParaRPr lang="es-ES" altLang="en-US"/>
          </a:p>
        </p:txBody>
      </p:sp>
      <mc:AlternateContent xmlns:mc="http://schemas.openxmlformats.org/markup-compatibility/2006" xmlns:a14="http://schemas.microsoft.com/office/drawing/2010/main">
        <mc:Choice Requires="a14">
          <p:sp>
            <p:nvSpPr>
              <p:cNvPr id="6" name="文字方塊 5"/>
              <p:cNvSpPr txBox="1"/>
              <p:nvPr/>
            </p:nvSpPr>
            <p:spPr>
              <a:xfrm>
                <a:off x="6008401" y="4639346"/>
                <a:ext cx="4269709" cy="138499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14:m>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oMath>
                </a14:m>
                <a:r>
                  <a:rPr lang="en-US" altLang="zh-TW" sz="2800" dirty="0"/>
                  <a:t>: </a:t>
                </a:r>
                <a:r>
                  <a:rPr lang="en-US" altLang="zh-TW" sz="2800" b="1" i="1" dirty="0"/>
                  <a:t>root mean square</a:t>
                </a:r>
                <a:r>
                  <a:rPr lang="en-US" altLang="zh-TW" sz="2800" dirty="0"/>
                  <a:t> of    the previous derivatives of  parameter w</a:t>
                </a:r>
              </a:p>
            </p:txBody>
          </p:sp>
        </mc:Choice>
        <mc:Fallback xmlns="">
          <p:sp>
            <p:nvSpPr>
              <p:cNvPr id="6" name="文字方塊 5"/>
              <p:cNvSpPr txBox="1">
                <a:spLocks noRot="1" noChangeAspect="1" noMove="1" noResize="1" noEditPoints="1" noAdjustHandles="1" noChangeArrowheads="1" noChangeShapeType="1" noTextEdit="1"/>
              </p:cNvSpPr>
              <p:nvPr/>
            </p:nvSpPr>
            <p:spPr>
              <a:xfrm>
                <a:off x="6008401" y="4639346"/>
                <a:ext cx="4269709" cy="1384995"/>
              </a:xfrm>
              <a:prstGeom prst="rect">
                <a:avLst/>
              </a:prstGeom>
              <a:blipFill>
                <a:blip r:embed="rId3"/>
                <a:stretch>
                  <a:fillRect/>
                </a:stretch>
              </a:blipFill>
            </p:spPr>
            <p:txBody>
              <a:bodyPr/>
              <a:lstStyle/>
              <a:p>
                <a:r>
                  <a:rPr lang="en-IN">
                    <a:noFill/>
                  </a:rPr>
                  <a:t> </a:t>
                </a:r>
              </a:p>
            </p:txBody>
          </p:sp>
        </mc:Fallback>
      </mc:AlternateContent>
      <p:sp>
        <p:nvSpPr>
          <p:cNvPr id="4" name="矩形 3"/>
          <p:cNvSpPr/>
          <p:nvPr/>
        </p:nvSpPr>
        <p:spPr>
          <a:xfrm>
            <a:off x="5989439" y="3519223"/>
            <a:ext cx="3425372" cy="61204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sz="2800" dirty="0"/>
              <a:t>w</a:t>
            </a:r>
            <a:r>
              <a:rPr lang="zh-TW" altLang="en-US" sz="2800" dirty="0"/>
              <a:t> </a:t>
            </a:r>
            <a:r>
              <a:rPr lang="en-US" altLang="zh-TW" sz="2800" dirty="0"/>
              <a:t>is one parameter</a:t>
            </a:r>
          </a:p>
        </p:txBody>
      </p:sp>
      <mc:AlternateContent xmlns:mc="http://schemas.openxmlformats.org/markup-compatibility/2006" xmlns:a14="http://schemas.microsoft.com/office/drawing/2010/main">
        <mc:Choice Requires="a14">
          <p:sp>
            <p:nvSpPr>
              <p:cNvPr id="14" name="文字方塊 13"/>
              <p:cNvSpPr txBox="1"/>
              <p:nvPr/>
            </p:nvSpPr>
            <p:spPr>
              <a:xfrm>
                <a:off x="9682957" y="3295376"/>
                <a:ext cx="1997918"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i="1">
                              <a:latin typeface="Cambria Math" panose="02040503050406030204" pitchFamily="18" charset="0"/>
                            </a:rPr>
                            <m:t>𝐿</m:t>
                          </m:r>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ea typeface="Cambria Math" panose="02040503050406030204" pitchFamily="18" charset="0"/>
                                    </a:rPr>
                                  </m:ctrlPr>
                                </m:sSupPr>
                                <m:e>
                                  <m:r>
                                    <a:rPr lang="zh-TW" altLang="en-US" sz="2800" i="1">
                                      <a:latin typeface="Cambria Math" panose="02040503050406030204" pitchFamily="18" charset="0"/>
                                      <a:ea typeface="Cambria Math" panose="02040503050406030204" pitchFamily="18" charset="0"/>
                                    </a:rPr>
                                    <m:t>𝜃</m:t>
                                  </m:r>
                                </m:e>
                                <m:sup>
                                  <m:r>
                                    <a:rPr lang="en-US" altLang="zh-TW" sz="2800" i="1">
                                      <a:latin typeface="Cambria Math" panose="02040503050406030204" pitchFamily="18" charset="0"/>
                                      <a:ea typeface="Cambria Math" panose="02040503050406030204" pitchFamily="18" charset="0"/>
                                    </a:rPr>
                                    <m:t>𝑡</m:t>
                                  </m:r>
                                </m:sup>
                              </m:sSup>
                            </m:e>
                          </m:d>
                        </m:num>
                        <m:den>
                          <m:r>
                            <a:rPr lang="zh-TW" altLang="en-US" sz="2800" i="1">
                              <a:latin typeface="Cambria Math" panose="02040503050406030204" pitchFamily="18" charset="0"/>
                            </a:rPr>
                            <m:t>𝜕</m:t>
                          </m:r>
                          <m:r>
                            <a:rPr lang="en-US" altLang="zh-TW" sz="2800" i="1">
                              <a:latin typeface="Cambria Math" panose="02040503050406030204" pitchFamily="18" charset="0"/>
                            </a:rPr>
                            <m:t>𝑤</m:t>
                          </m:r>
                        </m:den>
                      </m:f>
                    </m:oMath>
                  </m:oMathPara>
                </a14:m>
                <a:endParaRPr lang="zh-TW" altLang="en-US" sz="2800"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9682957" y="3295376"/>
                <a:ext cx="1997918" cy="859338"/>
              </a:xfrm>
              <a:prstGeom prst="rect">
                <a:avLst/>
              </a:prstGeom>
              <a:blipFill>
                <a:blip r:embed="rId4"/>
                <a:stretch>
                  <a:fillRect/>
                </a:stretch>
              </a:blipFill>
            </p:spPr>
            <p:txBody>
              <a:bodyPr/>
              <a:lstStyle/>
              <a:p>
                <a:r>
                  <a:rPr lang="en-IN">
                    <a:noFill/>
                  </a:rPr>
                  <a:t> </a:t>
                </a:r>
              </a:p>
            </p:txBody>
          </p:sp>
        </mc:Fallback>
      </mc:AlternateContent>
      <p:sp>
        <p:nvSpPr>
          <p:cNvPr id="18" name="文字方塊 17"/>
          <p:cNvSpPr txBox="1"/>
          <p:nvPr/>
        </p:nvSpPr>
        <p:spPr>
          <a:xfrm>
            <a:off x="1913890" y="2072710"/>
            <a:ext cx="3990596" cy="954107"/>
          </a:xfrm>
          <a:prstGeom prst="rect">
            <a:avLst/>
          </a:prstGeom>
          <a:noFill/>
        </p:spPr>
        <p:txBody>
          <a:bodyPr wrap="square" rtlCol="0">
            <a:spAutoFit/>
          </a:bodyPr>
          <a:lstStyle/>
          <a:p>
            <a:pPr algn="ctr"/>
            <a:r>
              <a:rPr lang="en-US" altLang="zh-TW" sz="2800" b="1" i="1" u="sng" dirty="0"/>
              <a:t>Vanilla Gradient descent</a:t>
            </a:r>
            <a:endParaRPr lang="zh-TW" altLang="en-US" sz="2800" b="1" i="1" u="sng" dirty="0"/>
          </a:p>
        </p:txBody>
      </p:sp>
      <p:sp>
        <p:nvSpPr>
          <p:cNvPr id="20" name="文字方塊 19"/>
          <p:cNvSpPr txBox="1"/>
          <p:nvPr/>
        </p:nvSpPr>
        <p:spPr>
          <a:xfrm>
            <a:off x="2017105" y="4432345"/>
            <a:ext cx="1690007" cy="523220"/>
          </a:xfrm>
          <a:prstGeom prst="rect">
            <a:avLst/>
          </a:prstGeom>
          <a:noFill/>
        </p:spPr>
        <p:txBody>
          <a:bodyPr wrap="square" rtlCol="0">
            <a:spAutoFit/>
          </a:bodyPr>
          <a:lstStyle/>
          <a:p>
            <a:pPr algn="ctr"/>
            <a:r>
              <a:rPr lang="en-US" altLang="zh-TW" sz="2800" b="1" i="1" u="sng" dirty="0"/>
              <a:t>Adagrad</a:t>
            </a:r>
            <a:endParaRPr lang="zh-TW" altLang="en-US" sz="2800" b="1" i="1" u="sng" dirty="0"/>
          </a:p>
        </p:txBody>
      </p:sp>
      <mc:AlternateContent xmlns:mc="http://schemas.openxmlformats.org/markup-compatibility/2006" xmlns:a14="http://schemas.microsoft.com/office/drawing/2010/main">
        <mc:Choice Requires="a14">
          <p:sp>
            <p:nvSpPr>
              <p:cNvPr id="21" name="文字方塊 20"/>
              <p:cNvSpPr txBox="1"/>
              <p:nvPr/>
            </p:nvSpPr>
            <p:spPr>
              <a:xfrm>
                <a:off x="2822294" y="3609804"/>
                <a:ext cx="289899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r>
                            <a:rPr lang="en-US" altLang="zh-TW" sz="2800" i="1">
                              <a:latin typeface="Cambria Math" panose="02040503050406030204" pitchFamily="18" charset="0"/>
                              <a:ea typeface="Cambria Math" panose="02040503050406030204" pitchFamily="18" charset="0"/>
                            </a:rPr>
                            <m:t>+1</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𝑡</m:t>
                          </m:r>
                        </m:sup>
                      </m:sSup>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2822294" y="3609804"/>
                <a:ext cx="2898999" cy="43088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132444" y="4973371"/>
                <a:ext cx="1896096" cy="818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𝜂</m:t>
                          </m:r>
                        </m:e>
                        <m:sup>
                          <m:r>
                            <a:rPr lang="en-US" altLang="zh-TW" sz="2800" i="1">
                              <a:latin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r>
                                <a:rPr lang="en-US" altLang="zh-TW" sz="2800" i="1">
                                  <a:latin typeface="Cambria Math" panose="02040503050406030204" pitchFamily="18" charset="0"/>
                                </a:rPr>
                                <m:t>𝑡</m:t>
                              </m:r>
                              <m:r>
                                <a:rPr lang="en-US" altLang="zh-TW" sz="2800" i="1">
                                  <a:latin typeface="Cambria Math" panose="02040503050406030204" pitchFamily="18" charset="0"/>
                                </a:rPr>
                                <m:t>+1</m:t>
                              </m:r>
                            </m:e>
                          </m:rad>
                        </m:den>
                      </m:f>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132444" y="4973371"/>
                <a:ext cx="1896096" cy="818301"/>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2862108" y="4898039"/>
                <a:ext cx="2984086"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r>
                            <a:rPr lang="en-US" altLang="zh-TW" sz="2800" i="1">
                              <a:latin typeface="Cambria Math" panose="02040503050406030204" pitchFamily="18" charset="0"/>
                              <a:ea typeface="Cambria Math" panose="02040503050406030204" pitchFamily="18" charset="0"/>
                            </a:rPr>
                            <m:t>+1</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𝑡</m:t>
                              </m:r>
                            </m:sup>
                          </m:sSup>
                        </m:num>
                        <m:den>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2862108" y="4898039"/>
                <a:ext cx="2984086" cy="859338"/>
              </a:xfrm>
              <a:prstGeom prst="rect">
                <a:avLst/>
              </a:prstGeom>
              <a:blipFill>
                <a:blip r:embed="rId7"/>
                <a:stretch>
                  <a:fillRect/>
                </a:stretch>
              </a:blipFill>
            </p:spPr>
            <p:txBody>
              <a:bodyPr/>
              <a:lstStyle/>
              <a:p>
                <a:r>
                  <a:rPr lang="en-IN">
                    <a:noFill/>
                  </a:rPr>
                  <a:t> </a:t>
                </a:r>
              </a:p>
            </p:txBody>
          </p:sp>
        </mc:Fallback>
      </mc:AlternateContent>
      <p:sp>
        <p:nvSpPr>
          <p:cNvPr id="13" name="文字方塊 12"/>
          <p:cNvSpPr txBox="1"/>
          <p:nvPr/>
        </p:nvSpPr>
        <p:spPr>
          <a:xfrm>
            <a:off x="6008400" y="6103365"/>
            <a:ext cx="4269709"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800" dirty="0"/>
              <a:t>Parameter dependent</a:t>
            </a:r>
          </a:p>
        </p:txBody>
      </p:sp>
      <mc:AlternateContent xmlns:mc="http://schemas.openxmlformats.org/markup-compatibility/2006" xmlns:a14="http://schemas.microsoft.com/office/drawing/2010/main">
        <mc:Choice Requires="a14">
          <p:sp>
            <p:nvSpPr>
              <p:cNvPr id="15" name="矩形 11"/>
              <p:cNvSpPr/>
              <p:nvPr/>
            </p:nvSpPr>
            <p:spPr>
              <a:xfrm>
                <a:off x="2017104" y="6265865"/>
                <a:ext cx="3008580" cy="461665"/>
              </a:xfrm>
              <a:prstGeom prst="rect">
                <a:avLst/>
              </a:prstGeom>
              <a:solidFill>
                <a:schemeClr val="accent1">
                  <a:lumMod val="60000"/>
                  <a:lumOff val="40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𝑡</m:t>
                          </m:r>
                          <m:r>
                            <a:rPr lang="en-US" altLang="zh-TW" sz="2400" i="1">
                              <a:latin typeface="Cambria Math" panose="02040503050406030204" pitchFamily="18" charset="0"/>
                            </a:rPr>
                            <m:t>+1</m:t>
                          </m:r>
                        </m:sup>
                      </m:sSup>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𝑡</m:t>
                          </m:r>
                        </m:sup>
                      </m:sSup>
                      <m:r>
                        <a:rPr lang="en-US" altLang="zh-TW" sz="2400" i="1">
                          <a:latin typeface="Cambria Math" panose="02040503050406030204" pitchFamily="18" charset="0"/>
                        </a:rPr>
                        <m:t>−</m:t>
                      </m:r>
                      <m:r>
                        <a:rPr lang="zh-TW" altLang="en-US" sz="2400" i="1">
                          <a:latin typeface="Cambria Math" panose="02040503050406030204" pitchFamily="18" charset="0"/>
                        </a:rPr>
                        <m:t>𝜂</m:t>
                      </m:r>
                      <m:r>
                        <a:rPr lang="en-US" altLang="zh-TW"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𝐿</m:t>
                      </m:r>
                      <m:d>
                        <m:dPr>
                          <m:ctrlPr>
                            <a:rPr lang="en-US" altLang="zh-TW" sz="2400" i="1">
                              <a:latin typeface="Cambria Math" panose="02040503050406030204" pitchFamily="18" charset="0"/>
                              <a:ea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𝑡</m:t>
                              </m:r>
                            </m:sup>
                          </m:sSup>
                        </m:e>
                      </m:d>
                    </m:oMath>
                  </m:oMathPara>
                </a14:m>
                <a:endParaRPr lang="zh-TW" altLang="en-US" sz="2400" dirty="0"/>
              </a:p>
            </p:txBody>
          </p:sp>
        </mc:Choice>
        <mc:Fallback xmlns="">
          <p:sp>
            <p:nvSpPr>
              <p:cNvPr id="15" name="矩形 11"/>
              <p:cNvSpPr>
                <a:spLocks noRot="1" noChangeAspect="1" noMove="1" noResize="1" noEditPoints="1" noAdjustHandles="1" noChangeArrowheads="1" noChangeShapeType="1" noTextEdit="1"/>
              </p:cNvSpPr>
              <p:nvPr/>
            </p:nvSpPr>
            <p:spPr>
              <a:xfrm>
                <a:off x="2017104" y="6265865"/>
                <a:ext cx="3008580" cy="461665"/>
              </a:xfrm>
              <a:prstGeom prst="rect">
                <a:avLst/>
              </a:prstGeom>
              <a:blipFill>
                <a:blip r:embed="rId8"/>
                <a:stretch>
                  <a:fillRect b="-10526"/>
                </a:stretch>
              </a:blipFill>
            </p:spPr>
            <p:txBody>
              <a:bodyPr/>
              <a:lstStyle/>
              <a:p>
                <a:r>
                  <a:rPr lang="en-IN">
                    <a:noFill/>
                  </a:rPr>
                  <a:t> </a:t>
                </a:r>
              </a:p>
            </p:txBody>
          </p:sp>
        </mc:Fallback>
      </mc:AlternateContent>
    </p:spTree>
    <p:extLst>
      <p:ext uri="{BB962C8B-B14F-4D97-AF65-F5344CB8AC3E}">
        <p14:creationId xmlns:p14="http://schemas.microsoft.com/office/powerpoint/2010/main" val="348712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14" grpId="0"/>
      <p:bldP spid="18" grpId="0"/>
      <p:bldP spid="20" grpId="0"/>
      <p:bldP spid="21" grpId="0"/>
      <p:bldP spid="23" grpId="0"/>
      <p:bldP spid="24" grpId="0"/>
      <p:bldP spid="13" grpId="0" animBg="1"/>
      <p:bldP spid="1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231136" y="206627"/>
            <a:ext cx="7729728" cy="1188720"/>
          </a:xfrm>
        </p:spPr>
        <p:txBody>
          <a:bodyPr/>
          <a:lstStyle/>
          <a:p>
            <a:r>
              <a:rPr lang="en-US" altLang="zh-TW" dirty="0"/>
              <a:t>Adagrad</a:t>
            </a:r>
            <a:endParaRPr lang="zh-TW" altLang="en-US" dirty="0"/>
          </a:p>
        </p:txBody>
      </p:sp>
      <p:grpSp>
        <p:nvGrpSpPr>
          <p:cNvPr id="5" name="Group 4">
            <a:extLst>
              <a:ext uri="{FF2B5EF4-FFF2-40B4-BE49-F238E27FC236}">
                <a16:creationId xmlns:a16="http://schemas.microsoft.com/office/drawing/2014/main" id="{F2731770-3E80-4AF2-AFF7-7F8A5FBFD8E1}"/>
              </a:ext>
            </a:extLst>
          </p:cNvPr>
          <p:cNvGrpSpPr/>
          <p:nvPr/>
        </p:nvGrpSpPr>
        <p:grpSpPr>
          <a:xfrm>
            <a:off x="828259" y="1587456"/>
            <a:ext cx="8611506" cy="5063917"/>
            <a:chOff x="1829157" y="1611846"/>
            <a:chExt cx="8611506" cy="5063917"/>
          </a:xfrm>
        </p:grpSpPr>
        <mc:AlternateContent xmlns:mc="http://schemas.openxmlformats.org/markup-compatibility/2006" xmlns:a14="http://schemas.microsoft.com/office/drawing/2010/main">
          <mc:Choice Requires="a14">
            <p:sp>
              <p:nvSpPr>
                <p:cNvPr id="23" name="文字方塊 22"/>
                <p:cNvSpPr txBox="1"/>
                <p:nvPr/>
              </p:nvSpPr>
              <p:spPr>
                <a:xfrm>
                  <a:off x="1829157" y="1611846"/>
                  <a:ext cx="2760306"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1</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0</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0</m:t>
                                </m:r>
                              </m:sup>
                            </m:sSup>
                          </m:num>
                          <m:den>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0</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0</m:t>
                            </m:r>
                          </m:sup>
                        </m:sSup>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1829157" y="1611846"/>
                  <a:ext cx="2760306" cy="85933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rot="5400000">
                  <a:off x="3116081" y="4920989"/>
                  <a:ext cx="69781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rot="5400000">
                  <a:off x="3116081" y="4920989"/>
                  <a:ext cx="697819" cy="43088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1829157" y="2596930"/>
                  <a:ext cx="2744918" cy="8636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2</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1</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1</m:t>
                                </m:r>
                              </m:sup>
                            </m:sSup>
                          </m:num>
                          <m:den>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1</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1</m:t>
                            </m:r>
                          </m:sup>
                        </m:sSup>
                      </m:oMath>
                    </m:oMathPara>
                  </a14:m>
                  <a:endParaRPr lang="zh-TW" altLang="en-US" sz="28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1829157" y="2596930"/>
                  <a:ext cx="2744918" cy="863698"/>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1868137" y="5499897"/>
                  <a:ext cx="2984086"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r>
                              <a:rPr lang="en-US" altLang="zh-TW" sz="2800" i="1">
                                <a:latin typeface="Cambria Math" panose="02040503050406030204" pitchFamily="18" charset="0"/>
                                <a:ea typeface="Cambria Math" panose="02040503050406030204" pitchFamily="18" charset="0"/>
                              </a:rPr>
                              <m:t>+1</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𝑡</m:t>
                                </m:r>
                              </m:sup>
                            </m:sSup>
                          </m:num>
                          <m:den>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1868137" y="5499897"/>
                  <a:ext cx="2984086" cy="859338"/>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文字方塊 26"/>
                <p:cNvSpPr txBox="1"/>
                <p:nvPr/>
              </p:nvSpPr>
              <p:spPr>
                <a:xfrm>
                  <a:off x="5304357" y="1737826"/>
                  <a:ext cx="2071977" cy="521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0</m:t>
                            </m:r>
                          </m:sup>
                        </m:sSup>
                        <m:r>
                          <a:rPr lang="en-US" altLang="zh-TW" sz="2800">
                            <a:latin typeface="Cambria Math" panose="02040503050406030204" pitchFamily="18" charset="0"/>
                          </a:rPr>
                          <m:t>=</m:t>
                        </m:r>
                        <m:rad>
                          <m:radPr>
                            <m:degHide m:val="on"/>
                            <m:ctrlPr>
                              <a:rPr lang="en-US" altLang="zh-TW" sz="2800" i="1">
                                <a:latin typeface="Cambria Math" panose="02040503050406030204" pitchFamily="18" charset="0"/>
                              </a:rPr>
                            </m:ctrlPr>
                          </m:radPr>
                          <m:deg/>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0</m:t>
                                        </m:r>
                                      </m:sup>
                                    </m:sSup>
                                  </m:e>
                                </m:d>
                              </m:e>
                              <m:sup>
                                <m:r>
                                  <a:rPr lang="en-US" altLang="zh-TW" sz="2800" i="1">
                                    <a:latin typeface="Cambria Math" panose="02040503050406030204" pitchFamily="18" charset="0"/>
                                  </a:rPr>
                                  <m:t>2</m:t>
                                </m:r>
                              </m:sup>
                            </m:sSup>
                          </m:e>
                        </m:rad>
                      </m:oMath>
                    </m:oMathPara>
                  </a14:m>
                  <a:endParaRPr lang="zh-TW" altLang="en-US" sz="2800"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5304357" y="1737826"/>
                  <a:ext cx="2071977" cy="52181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5283200" y="2278952"/>
                  <a:ext cx="3859903" cy="1273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1</m:t>
                            </m:r>
                          </m:sup>
                        </m:sSup>
                        <m:r>
                          <a:rPr lang="en-US" altLang="zh-TW" sz="2800">
                            <a:latin typeface="Cambria Math" panose="02040503050406030204" pitchFamily="18" charset="0"/>
                          </a:rPr>
                          <m:t>=</m:t>
                        </m:r>
                        <m:rad>
                          <m:radPr>
                            <m:degHide m:val="on"/>
                            <m:ctrlPr>
                              <a:rPr lang="en-US" altLang="zh-TW" sz="2800" i="1">
                                <a:latin typeface="Cambria Math" panose="02040503050406030204" pitchFamily="18" charset="0"/>
                              </a:rPr>
                            </m:ctrlPr>
                          </m:radPr>
                          <m:deg/>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2</m:t>
                                </m:r>
                              </m:den>
                            </m:f>
                            <m:d>
                              <m:dPr>
                                <m:begChr m:val="["/>
                                <m:endChr m:val="]"/>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0</m:t>
                                            </m:r>
                                          </m:sup>
                                        </m:sSup>
                                      </m:e>
                                    </m:d>
                                  </m:e>
                                  <m:sup>
                                    <m:r>
                                      <a:rPr lang="en-US" altLang="zh-TW" sz="2800" i="1">
                                        <a:latin typeface="Cambria Math" panose="02040503050406030204" pitchFamily="18" charset="0"/>
                                      </a:rPr>
                                      <m:t>2</m:t>
                                    </m:r>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1</m:t>
                                            </m:r>
                                          </m:sup>
                                        </m:sSup>
                                      </m:e>
                                    </m:d>
                                  </m:e>
                                  <m:sup>
                                    <m:r>
                                      <a:rPr lang="en-US" altLang="zh-TW" sz="2800" i="1">
                                        <a:latin typeface="Cambria Math" panose="02040503050406030204" pitchFamily="18" charset="0"/>
                                      </a:rPr>
                                      <m:t>2</m:t>
                                    </m:r>
                                  </m:sup>
                                </m:sSup>
                              </m:e>
                            </m:d>
                          </m:e>
                        </m:rad>
                      </m:oMath>
                    </m:oMathPara>
                  </a14:m>
                  <a:endParaRPr lang="zh-TW" altLang="en-US" sz="28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5283200" y="2278952"/>
                  <a:ext cx="3859903" cy="1273041"/>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5279296" y="4999470"/>
                  <a:ext cx="3310778" cy="16762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r>
                          <a:rPr lang="en-US" altLang="zh-TW" sz="2800">
                            <a:latin typeface="Cambria Math" panose="02040503050406030204" pitchFamily="18" charset="0"/>
                          </a:rPr>
                          <m:t>=</m:t>
                        </m:r>
                        <m:rad>
                          <m:radPr>
                            <m:degHide m:val="on"/>
                            <m:ctrlPr>
                              <a:rPr lang="en-US" altLang="zh-TW" sz="2800" i="1">
                                <a:latin typeface="Cambria Math" panose="02040503050406030204" pitchFamily="18" charset="0"/>
                              </a:rPr>
                            </m:ctrlPr>
                          </m:radPr>
                          <m:deg/>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𝑡</m:t>
                                </m:r>
                                <m:r>
                                  <a:rPr lang="en-US" altLang="zh-TW" sz="2800" i="1">
                                    <a:latin typeface="Cambria Math" panose="02040503050406030204" pitchFamily="18" charset="0"/>
                                  </a:rPr>
                                  <m:t>+1</m:t>
                                </m:r>
                              </m:den>
                            </m:f>
                            <m:nary>
                              <m:naryPr>
                                <m:chr m:val="∑"/>
                                <m:ctrlPr>
                                  <a:rPr lang="en-US" altLang="zh-TW" sz="2800" i="1">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=0</m:t>
                                </m:r>
                              </m:sub>
                              <m:sup>
                                <m:r>
                                  <a:rPr lang="en-US" altLang="zh-TW" sz="2800" i="1">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oMath>
                    </m:oMathPara>
                  </a14:m>
                  <a:endParaRPr lang="zh-TW" altLang="en-US" sz="28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5279296" y="4999470"/>
                  <a:ext cx="3310778" cy="1676293"/>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1869393" y="3749893"/>
                  <a:ext cx="2768002" cy="8645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3</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2</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2</m:t>
                                </m:r>
                              </m:sup>
                            </m:sSup>
                          </m:num>
                          <m:den>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2</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2</m:t>
                            </m:r>
                          </m:sup>
                        </m:sSup>
                      </m:oMath>
                    </m:oMathPara>
                  </a14:m>
                  <a:endParaRPr lang="zh-TW" altLang="en-US" sz="28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1869393" y="3749893"/>
                  <a:ext cx="2768002" cy="864596"/>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文字方塊 30"/>
                <p:cNvSpPr txBox="1"/>
                <p:nvPr/>
              </p:nvSpPr>
              <p:spPr>
                <a:xfrm>
                  <a:off x="5171848" y="3546706"/>
                  <a:ext cx="5268815" cy="1273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2</m:t>
                            </m:r>
                          </m:sup>
                        </m:sSup>
                        <m:r>
                          <a:rPr lang="en-US" altLang="zh-TW" sz="2800">
                            <a:latin typeface="Cambria Math" panose="02040503050406030204" pitchFamily="18" charset="0"/>
                          </a:rPr>
                          <m:t>=</m:t>
                        </m:r>
                        <m:rad>
                          <m:radPr>
                            <m:degHide m:val="on"/>
                            <m:ctrlPr>
                              <a:rPr lang="en-US" altLang="zh-TW" sz="2800" i="1">
                                <a:latin typeface="Cambria Math" panose="02040503050406030204" pitchFamily="18" charset="0"/>
                              </a:rPr>
                            </m:ctrlPr>
                          </m:radPr>
                          <m:deg/>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3</m:t>
                                </m:r>
                              </m:den>
                            </m:f>
                            <m:d>
                              <m:dPr>
                                <m:begChr m:val="["/>
                                <m:endChr m:val="]"/>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0</m:t>
                                            </m:r>
                                          </m:sup>
                                        </m:sSup>
                                      </m:e>
                                    </m:d>
                                  </m:e>
                                  <m:sup>
                                    <m:r>
                                      <a:rPr lang="en-US" altLang="zh-TW" sz="2800" i="1">
                                        <a:latin typeface="Cambria Math" panose="02040503050406030204" pitchFamily="18" charset="0"/>
                                      </a:rPr>
                                      <m:t>2</m:t>
                                    </m:r>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1</m:t>
                                            </m:r>
                                          </m:sup>
                                        </m:sSup>
                                      </m:e>
                                    </m:d>
                                  </m:e>
                                  <m:sup>
                                    <m:r>
                                      <a:rPr lang="en-US" altLang="zh-TW" sz="2800" i="1">
                                        <a:latin typeface="Cambria Math" panose="02040503050406030204" pitchFamily="18" charset="0"/>
                                      </a:rPr>
                                      <m:t>2</m:t>
                                    </m:r>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2</m:t>
                                            </m:r>
                                          </m:sup>
                                        </m:sSup>
                                      </m:e>
                                    </m:d>
                                  </m:e>
                                  <m:sup>
                                    <m:r>
                                      <a:rPr lang="en-US" altLang="zh-TW" sz="2800" i="1">
                                        <a:latin typeface="Cambria Math" panose="02040503050406030204" pitchFamily="18" charset="0"/>
                                      </a:rPr>
                                      <m:t>2</m:t>
                                    </m:r>
                                  </m:sup>
                                </m:sSup>
                              </m:e>
                            </m:d>
                          </m:e>
                        </m:rad>
                      </m:oMath>
                    </m:oMathPara>
                  </a14:m>
                  <a:endParaRPr lang="zh-TW" altLang="en-US" sz="28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5171848" y="3546706"/>
                  <a:ext cx="5268815" cy="1273041"/>
                </a:xfrm>
                <a:prstGeom prst="rect">
                  <a:avLst/>
                </a:prstGeom>
                <a:blipFill>
                  <a:blip r:embed="rId11"/>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16" name="文字方塊 15"/>
              <p:cNvSpPr txBox="1"/>
              <p:nvPr/>
            </p:nvSpPr>
            <p:spPr>
              <a:xfrm>
                <a:off x="7808496" y="5032291"/>
                <a:ext cx="3992207" cy="138499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14:m>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oMath>
                </a14:m>
                <a:r>
                  <a:rPr lang="en-US" altLang="zh-TW" sz="2800" dirty="0"/>
                  <a:t>: </a:t>
                </a:r>
                <a:r>
                  <a:rPr lang="en-US" altLang="zh-TW" sz="2800" b="1" i="1" dirty="0"/>
                  <a:t>root mean square</a:t>
                </a:r>
                <a:r>
                  <a:rPr lang="en-US" altLang="zh-TW" sz="2800" dirty="0"/>
                  <a:t> of the previous derivatives of parameter w</a:t>
                </a:r>
              </a:p>
            </p:txBody>
          </p:sp>
        </mc:Choice>
        <mc:Fallback xmlns="">
          <p:sp>
            <p:nvSpPr>
              <p:cNvPr id="16" name="文字方塊 15"/>
              <p:cNvSpPr txBox="1">
                <a:spLocks noRot="1" noChangeAspect="1" noMove="1" noResize="1" noEditPoints="1" noAdjustHandles="1" noChangeArrowheads="1" noChangeShapeType="1" noTextEdit="1"/>
              </p:cNvSpPr>
              <p:nvPr/>
            </p:nvSpPr>
            <p:spPr>
              <a:xfrm>
                <a:off x="7808496" y="5032291"/>
                <a:ext cx="3992207" cy="1384995"/>
              </a:xfrm>
              <a:prstGeom prst="rect">
                <a:avLst/>
              </a:prstGeom>
              <a:blipFill>
                <a:blip r:embed="rId12"/>
                <a:stretch>
                  <a:fillRect/>
                </a:stretch>
              </a:blipFill>
            </p:spPr>
            <p:txBody>
              <a:bodyPr/>
              <a:lstStyle/>
              <a:p>
                <a:r>
                  <a:rPr lang="en-IN">
                    <a:noFill/>
                  </a:rPr>
                  <a:t> </a:t>
                </a:r>
              </a:p>
            </p:txBody>
          </p:sp>
        </mc:Fallback>
      </mc:AlternateContent>
      <p:sp>
        <p:nvSpPr>
          <p:cNvPr id="3" name="Footer Placeholder 2">
            <a:extLst>
              <a:ext uri="{FF2B5EF4-FFF2-40B4-BE49-F238E27FC236}">
                <a16:creationId xmlns:a16="http://schemas.microsoft.com/office/drawing/2014/main" id="{0F3E0C9C-2F11-4260-9D8D-8FB787D0C944}"/>
              </a:ext>
            </a:extLst>
          </p:cNvPr>
          <p:cNvSpPr>
            <a:spLocks noGrp="1"/>
          </p:cNvSpPr>
          <p:nvPr>
            <p:ph type="ftr" sz="quarter" idx="11"/>
          </p:nvPr>
        </p:nvSpPr>
        <p:spPr/>
        <p:txBody>
          <a:bodyPr/>
          <a:lstStyle/>
          <a:p>
            <a:pPr>
              <a:defRPr/>
            </a:pPr>
            <a:r>
              <a:rPr lang="es-ES"/>
              <a:t>Dr. Deepali Vora</a:t>
            </a:r>
          </a:p>
        </p:txBody>
      </p:sp>
      <p:sp>
        <p:nvSpPr>
          <p:cNvPr id="4" name="Slide Number Placeholder 3">
            <a:extLst>
              <a:ext uri="{FF2B5EF4-FFF2-40B4-BE49-F238E27FC236}">
                <a16:creationId xmlns:a16="http://schemas.microsoft.com/office/drawing/2014/main" id="{67F82AD2-2301-422F-B8F7-FCED3419D6A7}"/>
              </a:ext>
            </a:extLst>
          </p:cNvPr>
          <p:cNvSpPr>
            <a:spLocks noGrp="1"/>
          </p:cNvSpPr>
          <p:nvPr>
            <p:ph type="sldNum" sz="quarter" idx="12"/>
          </p:nvPr>
        </p:nvSpPr>
        <p:spPr/>
        <p:txBody>
          <a:bodyPr/>
          <a:lstStyle/>
          <a:p>
            <a:fld id="{9370333F-211E-480A-A48D-622F2EB68390}" type="slidenum">
              <a:rPr lang="es-ES" altLang="en-US" smtClean="0"/>
              <a:pPr/>
              <a:t>50</a:t>
            </a:fld>
            <a:endParaRPr lang="es-ES" altLang="en-US"/>
          </a:p>
        </p:txBody>
      </p:sp>
    </p:spTree>
    <p:extLst>
      <p:ext uri="{BB962C8B-B14F-4D97-AF65-F5344CB8AC3E}">
        <p14:creationId xmlns:p14="http://schemas.microsoft.com/office/powerpoint/2010/main" val="27700236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Adagrad</a:t>
            </a:r>
            <a:endParaRPr lang="zh-TW" altLang="en-US" dirty="0"/>
          </a:p>
        </p:txBody>
      </p:sp>
      <p:sp>
        <p:nvSpPr>
          <p:cNvPr id="3" name="內容版面配置區 2"/>
          <p:cNvSpPr>
            <a:spLocks noGrp="1"/>
          </p:cNvSpPr>
          <p:nvPr>
            <p:ph idx="1"/>
          </p:nvPr>
        </p:nvSpPr>
        <p:spPr>
          <a:xfrm>
            <a:off x="2152650" y="2272355"/>
            <a:ext cx="7729728" cy="631666"/>
          </a:xfrm>
        </p:spPr>
        <p:txBody>
          <a:bodyPr>
            <a:normAutofit lnSpcReduction="10000"/>
          </a:bodyPr>
          <a:lstStyle/>
          <a:p>
            <a:r>
              <a:rPr lang="en-US" altLang="zh-TW" dirty="0"/>
              <a:t>Divide the learning rate of each parameter by the  </a:t>
            </a:r>
            <a:r>
              <a:rPr lang="en-US" altLang="zh-TW" b="1" i="1" dirty="0"/>
              <a:t> root mean square of its previous derivatives</a:t>
            </a:r>
          </a:p>
          <a:p>
            <a:pPr marL="0" indent="0">
              <a:buNone/>
            </a:pPr>
            <a:endParaRPr lang="zh-TW" altLang="en-US" dirty="0"/>
          </a:p>
        </p:txBody>
      </p:sp>
      <mc:AlternateContent xmlns:mc="http://schemas.openxmlformats.org/markup-compatibility/2006" xmlns:a14="http://schemas.microsoft.com/office/drawing/2010/main">
        <mc:Choice Requires="a14">
          <p:sp>
            <p:nvSpPr>
              <p:cNvPr id="22" name="文字方塊 21"/>
              <p:cNvSpPr txBox="1"/>
              <p:nvPr/>
            </p:nvSpPr>
            <p:spPr>
              <a:xfrm>
                <a:off x="6166116" y="2725081"/>
                <a:ext cx="1896096" cy="818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𝜂</m:t>
                          </m:r>
                        </m:e>
                        <m:sup>
                          <m:r>
                            <a:rPr lang="en-US" altLang="zh-TW" sz="2800" i="1">
                              <a:latin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r>
                                <a:rPr lang="en-US" altLang="zh-TW" sz="2800" i="1">
                                  <a:latin typeface="Cambria Math" panose="02040503050406030204" pitchFamily="18" charset="0"/>
                                </a:rPr>
                                <m:t>𝑡</m:t>
                              </m:r>
                              <m:r>
                                <a:rPr lang="en-US" altLang="zh-TW" sz="2800" i="1">
                                  <a:latin typeface="Cambria Math" panose="02040503050406030204" pitchFamily="18" charset="0"/>
                                </a:rPr>
                                <m:t>+1</m:t>
                              </m:r>
                            </m:e>
                          </m:rad>
                        </m:den>
                      </m:f>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6166116" y="2725081"/>
                <a:ext cx="1896096" cy="81830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2575620" y="5374337"/>
                <a:ext cx="4396781" cy="1273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r>
                            <a:rPr lang="en-US" altLang="zh-TW" sz="2800" i="1">
                              <a:latin typeface="Cambria Math" panose="02040503050406030204" pitchFamily="18" charset="0"/>
                              <a:ea typeface="Cambria Math" panose="02040503050406030204" pitchFamily="18" charset="0"/>
                            </a:rPr>
                            <m:t>+1</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nary>
                                <m:naryPr>
                                  <m:chr m:val="∑"/>
                                  <m:ctrlPr>
                                    <a:rPr lang="en-US" altLang="zh-TW" sz="2800" i="1">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=0</m:t>
                                  </m:r>
                                </m:sub>
                                <m:sup>
                                  <m:r>
                                    <a:rPr lang="en-US" altLang="zh-TW" sz="2800" i="1">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2575620" y="5374337"/>
                <a:ext cx="4396781" cy="1273682"/>
              </a:xfrm>
              <a:prstGeom prst="rect">
                <a:avLst/>
              </a:prstGeom>
              <a:blipFill>
                <a:blip r:embed="rId4"/>
                <a:stretch>
                  <a:fillRect/>
                </a:stretch>
              </a:blipFill>
            </p:spPr>
            <p:txBody>
              <a:bodyPr/>
              <a:lstStyle/>
              <a:p>
                <a:r>
                  <a:rPr lang="en-IN">
                    <a:noFill/>
                  </a:rPr>
                  <a:t> </a:t>
                </a:r>
              </a:p>
            </p:txBody>
          </p:sp>
        </mc:Fallback>
      </mc:AlternateContent>
      <p:sp>
        <p:nvSpPr>
          <p:cNvPr id="6" name="文字方塊 5"/>
          <p:cNvSpPr txBox="1"/>
          <p:nvPr/>
        </p:nvSpPr>
        <p:spPr>
          <a:xfrm>
            <a:off x="7556354" y="2866799"/>
            <a:ext cx="2482996" cy="461665"/>
          </a:xfrm>
          <a:prstGeom prst="rect">
            <a:avLst/>
          </a:prstGeom>
          <a:noFill/>
        </p:spPr>
        <p:txBody>
          <a:bodyPr wrap="square" rtlCol="0">
            <a:spAutoFit/>
          </a:bodyPr>
          <a:lstStyle/>
          <a:p>
            <a:pPr algn="ctr"/>
            <a:r>
              <a:rPr lang="en-US" altLang="zh-TW" sz="2400" dirty="0">
                <a:solidFill>
                  <a:srgbClr val="FF0000"/>
                </a:solidFill>
              </a:rPr>
              <a:t>1/t decay</a:t>
            </a:r>
            <a:endParaRPr lang="zh-TW" altLang="en-US" sz="2400" dirty="0">
              <a:solidFill>
                <a:srgbClr val="FF0000"/>
              </a:solidFill>
            </a:endParaRPr>
          </a:p>
        </p:txBody>
      </p:sp>
      <mc:AlternateContent xmlns:mc="http://schemas.openxmlformats.org/markup-compatibility/2006" xmlns:a14="http://schemas.microsoft.com/office/drawing/2010/main">
        <mc:Choice Requires="a14">
          <p:sp>
            <p:nvSpPr>
              <p:cNvPr id="10" name="文字方塊 9"/>
              <p:cNvSpPr txBox="1"/>
              <p:nvPr/>
            </p:nvSpPr>
            <p:spPr>
              <a:xfrm>
                <a:off x="2575619" y="3478696"/>
                <a:ext cx="2984086" cy="7377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r>
                            <a:rPr lang="en-US" altLang="zh-TW" sz="2800" i="1">
                              <a:latin typeface="Cambria Math" panose="02040503050406030204" pitchFamily="18" charset="0"/>
                              <a:ea typeface="Cambria Math" panose="02040503050406030204" pitchFamily="18" charset="0"/>
                            </a:rPr>
                            <m:t>+1</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𝜂</m:t>
                          </m:r>
                        </m:num>
                        <m:den>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2575619" y="3478696"/>
                <a:ext cx="2984086" cy="73776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6144138" y="3666216"/>
                <a:ext cx="3310778" cy="16762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r>
                        <a:rPr lang="en-US" altLang="zh-TW" sz="2800">
                          <a:latin typeface="Cambria Math" panose="02040503050406030204" pitchFamily="18" charset="0"/>
                        </a:rPr>
                        <m:t>=</m:t>
                      </m:r>
                      <m:rad>
                        <m:radPr>
                          <m:degHide m:val="on"/>
                          <m:ctrlPr>
                            <a:rPr lang="en-US" altLang="zh-TW" sz="2800" i="1">
                              <a:latin typeface="Cambria Math" panose="02040503050406030204" pitchFamily="18" charset="0"/>
                            </a:rPr>
                          </m:ctrlPr>
                        </m:radPr>
                        <m:deg/>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𝑡</m:t>
                              </m:r>
                              <m:r>
                                <a:rPr lang="en-US" altLang="zh-TW" sz="2800" i="1">
                                  <a:latin typeface="Cambria Math" panose="02040503050406030204" pitchFamily="18" charset="0"/>
                                </a:rPr>
                                <m:t>+1</m:t>
                              </m:r>
                            </m:den>
                          </m:f>
                          <m:nary>
                            <m:naryPr>
                              <m:chr m:val="∑"/>
                              <m:ctrlPr>
                                <a:rPr lang="en-US" altLang="zh-TW" sz="2800" i="1">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=0</m:t>
                              </m:r>
                            </m:sub>
                            <m:sup>
                              <m:r>
                                <a:rPr lang="en-US" altLang="zh-TW" sz="2800" i="1">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oMath>
                  </m:oMathPara>
                </a14:m>
                <a:endParaRPr lang="zh-TW" altLang="en-US" sz="28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6144138" y="3666216"/>
                <a:ext cx="3310778" cy="1676293"/>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文字方塊 3"/>
              <p:cNvSpPr txBox="1"/>
              <p:nvPr/>
            </p:nvSpPr>
            <p:spPr>
              <a:xfrm>
                <a:off x="4655157" y="3276211"/>
                <a:ext cx="495946" cy="523220"/>
              </a:xfrm>
              <a:prstGeom prst="rect">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4655157" y="3276211"/>
                <a:ext cx="495946" cy="523220"/>
              </a:xfrm>
              <a:prstGeom prst="rect">
                <a:avLst/>
              </a:prstGeom>
              <a:blipFill>
                <a:blip r:embed="rId7"/>
                <a:stretch>
                  <a:fillRect/>
                </a:stretch>
              </a:blipFill>
              <a:ln/>
            </p:spPr>
            <p:txBody>
              <a:bodyPr/>
              <a:lstStyle/>
              <a:p>
                <a:r>
                  <a:rPr lang="en-IN">
                    <a:noFill/>
                  </a:rPr>
                  <a:t> </a:t>
                </a:r>
              </a:p>
            </p:txBody>
          </p:sp>
        </mc:Fallback>
      </mc:AlternateContent>
      <p:sp>
        <p:nvSpPr>
          <p:cNvPr id="5" name="向下箭號 4"/>
          <p:cNvSpPr/>
          <p:nvPr/>
        </p:nvSpPr>
        <p:spPr>
          <a:xfrm>
            <a:off x="3439038" y="4180823"/>
            <a:ext cx="438150" cy="11260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1" name="文字方塊 10"/>
              <p:cNvSpPr txBox="1"/>
              <p:nvPr/>
            </p:nvSpPr>
            <p:spPr>
              <a:xfrm>
                <a:off x="4655157" y="3919213"/>
                <a:ext cx="495946" cy="523220"/>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4655157" y="3919213"/>
                <a:ext cx="495946" cy="523220"/>
              </a:xfrm>
              <a:prstGeom prst="rect">
                <a:avLst/>
              </a:prstGeom>
              <a:blipFill>
                <a:blip r:embed="rId8"/>
                <a:stretch>
                  <a:fillRect/>
                </a:stretch>
              </a:blipFill>
              <a:ln/>
            </p:spPr>
            <p:txBody>
              <a:bodyPr/>
              <a:lstStyle/>
              <a:p>
                <a:r>
                  <a:rPr lang="en-IN">
                    <a:noFill/>
                  </a:rPr>
                  <a:t> </a:t>
                </a:r>
              </a:p>
            </p:txBody>
          </p:sp>
        </mc:Fallback>
      </mc:AlternateContent>
      <p:cxnSp>
        <p:nvCxnSpPr>
          <p:cNvPr id="13" name="直線單箭頭接點 12"/>
          <p:cNvCxnSpPr>
            <a:stCxn id="4" idx="3"/>
          </p:cNvCxnSpPr>
          <p:nvPr/>
        </p:nvCxnSpPr>
        <p:spPr>
          <a:xfrm flipV="1">
            <a:off x="5151104" y="3134231"/>
            <a:ext cx="993035" cy="4035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stCxn id="11" idx="3"/>
            <a:endCxn id="12" idx="1"/>
          </p:cNvCxnSpPr>
          <p:nvPr/>
        </p:nvCxnSpPr>
        <p:spPr>
          <a:xfrm>
            <a:off x="5151104" y="4180824"/>
            <a:ext cx="993035" cy="323539"/>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7170592" y="3143144"/>
            <a:ext cx="771525" cy="3857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p:nvPr/>
        </p:nvCxnSpPr>
        <p:spPr>
          <a:xfrm>
            <a:off x="7294002" y="4584555"/>
            <a:ext cx="771525" cy="3857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788B029D-1E23-4731-959F-C3D8B8F7ABC9}"/>
              </a:ext>
            </a:extLst>
          </p:cNvPr>
          <p:cNvSpPr>
            <a:spLocks noGrp="1"/>
          </p:cNvSpPr>
          <p:nvPr>
            <p:ph type="ftr" sz="quarter" idx="11"/>
          </p:nvPr>
        </p:nvSpPr>
        <p:spPr/>
        <p:txBody>
          <a:bodyPr/>
          <a:lstStyle/>
          <a:p>
            <a:pPr>
              <a:defRPr/>
            </a:pPr>
            <a:r>
              <a:rPr lang="es-ES"/>
              <a:t>Dr. Deepali Vora</a:t>
            </a:r>
          </a:p>
        </p:txBody>
      </p:sp>
      <p:sp>
        <p:nvSpPr>
          <p:cNvPr id="9" name="Slide Number Placeholder 8">
            <a:extLst>
              <a:ext uri="{FF2B5EF4-FFF2-40B4-BE49-F238E27FC236}">
                <a16:creationId xmlns:a16="http://schemas.microsoft.com/office/drawing/2014/main" id="{CDF560C7-E23E-4C54-A6D4-F047D54E3031}"/>
              </a:ext>
            </a:extLst>
          </p:cNvPr>
          <p:cNvSpPr>
            <a:spLocks noGrp="1"/>
          </p:cNvSpPr>
          <p:nvPr>
            <p:ph type="sldNum" sz="quarter" idx="12"/>
          </p:nvPr>
        </p:nvSpPr>
        <p:spPr/>
        <p:txBody>
          <a:bodyPr/>
          <a:lstStyle/>
          <a:p>
            <a:fld id="{9370333F-211E-480A-A48D-622F2EB68390}" type="slidenum">
              <a:rPr lang="es-ES" altLang="en-US" smtClean="0"/>
              <a:pPr/>
              <a:t>51</a:t>
            </a:fld>
            <a:endParaRPr lang="es-ES" altLang="en-US"/>
          </a:p>
        </p:txBody>
      </p:sp>
    </p:spTree>
    <p:extLst>
      <p:ext uri="{BB962C8B-B14F-4D97-AF65-F5344CB8AC3E}">
        <p14:creationId xmlns:p14="http://schemas.microsoft.com/office/powerpoint/2010/main" val="148564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6" grpId="0"/>
      <p:bldP spid="12" grpId="0"/>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Contradiction?</a:t>
            </a:r>
            <a:endParaRPr lang="zh-TW" altLang="en-US" dirty="0"/>
          </a:p>
        </p:txBody>
      </p:sp>
      <mc:AlternateContent xmlns:mc="http://schemas.openxmlformats.org/markup-compatibility/2006" xmlns:a14="http://schemas.microsoft.com/office/drawing/2010/main">
        <mc:Choice Requires="a14">
          <p:sp>
            <p:nvSpPr>
              <p:cNvPr id="6" name="文字方塊 5"/>
              <p:cNvSpPr txBox="1"/>
              <p:nvPr/>
            </p:nvSpPr>
            <p:spPr>
              <a:xfrm>
                <a:off x="3001557" y="4461952"/>
                <a:ext cx="4396781" cy="1273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r>
                            <a:rPr lang="en-US" altLang="zh-TW" sz="2800" i="1">
                              <a:latin typeface="Cambria Math" panose="02040503050406030204" pitchFamily="18" charset="0"/>
                              <a:ea typeface="Cambria Math" panose="02040503050406030204" pitchFamily="18" charset="0"/>
                            </a:rPr>
                            <m:t>+1</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nary>
                                <m:naryPr>
                                  <m:chr m:val="∑"/>
                                  <m:ctrlPr>
                                    <a:rPr lang="en-US" altLang="zh-TW" sz="2800" i="1">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=0</m:t>
                                  </m:r>
                                </m:sub>
                                <m:sup>
                                  <m:r>
                                    <a:rPr lang="en-US" altLang="zh-TW" sz="2800" i="1">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3001557" y="4461952"/>
                <a:ext cx="4396781" cy="1273682"/>
              </a:xfrm>
              <a:prstGeom prst="rect">
                <a:avLst/>
              </a:prstGeom>
              <a:blipFill>
                <a:blip r:embed="rId3"/>
                <a:stretch>
                  <a:fillRect/>
                </a:stretch>
              </a:blipFill>
            </p:spPr>
            <p:txBody>
              <a:bodyPr/>
              <a:lstStyle/>
              <a:p>
                <a:r>
                  <a:rPr lang="en-IN">
                    <a:noFill/>
                  </a:rPr>
                  <a:t> </a:t>
                </a:r>
              </a:p>
            </p:txBody>
          </p:sp>
        </mc:Fallback>
      </mc:AlternateContent>
      <p:sp>
        <p:nvSpPr>
          <p:cNvPr id="7" name="文字方塊 6"/>
          <p:cNvSpPr txBox="1"/>
          <p:nvPr/>
        </p:nvSpPr>
        <p:spPr>
          <a:xfrm>
            <a:off x="2213611" y="2120323"/>
            <a:ext cx="4286043" cy="523220"/>
          </a:xfrm>
          <a:prstGeom prst="rect">
            <a:avLst/>
          </a:prstGeom>
          <a:noFill/>
        </p:spPr>
        <p:txBody>
          <a:bodyPr wrap="square" rtlCol="0">
            <a:spAutoFit/>
          </a:bodyPr>
          <a:lstStyle/>
          <a:p>
            <a:pPr algn="ctr"/>
            <a:r>
              <a:rPr lang="en-US" altLang="zh-TW" sz="2800" b="1" i="1" u="sng" dirty="0"/>
              <a:t>Vanilla Gradient descent</a:t>
            </a:r>
            <a:endParaRPr lang="zh-TW" altLang="en-US" sz="2800" b="1" i="1" u="sng" dirty="0"/>
          </a:p>
        </p:txBody>
      </p:sp>
      <p:sp>
        <p:nvSpPr>
          <p:cNvPr id="8" name="文字方塊 7"/>
          <p:cNvSpPr txBox="1"/>
          <p:nvPr/>
        </p:nvSpPr>
        <p:spPr>
          <a:xfrm>
            <a:off x="2152651" y="3782194"/>
            <a:ext cx="1632927" cy="523220"/>
          </a:xfrm>
          <a:prstGeom prst="rect">
            <a:avLst/>
          </a:prstGeom>
          <a:noFill/>
        </p:spPr>
        <p:txBody>
          <a:bodyPr wrap="square" rtlCol="0">
            <a:spAutoFit/>
          </a:bodyPr>
          <a:lstStyle/>
          <a:p>
            <a:pPr algn="ctr"/>
            <a:r>
              <a:rPr lang="en-US" altLang="zh-TW" sz="2800" b="1" i="1" u="sng" dirty="0"/>
              <a:t>Adagrad</a:t>
            </a:r>
            <a:endParaRPr lang="zh-TW" altLang="en-US" sz="2800" b="1" i="1" u="sng" dirty="0"/>
          </a:p>
        </p:txBody>
      </p:sp>
      <p:sp>
        <p:nvSpPr>
          <p:cNvPr id="3" name="矩形 2"/>
          <p:cNvSpPr/>
          <p:nvPr/>
        </p:nvSpPr>
        <p:spPr>
          <a:xfrm>
            <a:off x="7273100" y="2541743"/>
            <a:ext cx="2114108" cy="82933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Larger gradient, </a:t>
            </a:r>
          </a:p>
          <a:p>
            <a:pPr algn="ctr"/>
            <a:r>
              <a:rPr lang="en-US" altLang="zh-TW" sz="2400" dirty="0"/>
              <a:t>larger step</a:t>
            </a:r>
            <a:endParaRPr lang="zh-TW" altLang="en-US" sz="2400" dirty="0"/>
          </a:p>
        </p:txBody>
      </p:sp>
      <p:sp>
        <p:nvSpPr>
          <p:cNvPr id="12" name="矩形 11"/>
          <p:cNvSpPr/>
          <p:nvPr/>
        </p:nvSpPr>
        <p:spPr>
          <a:xfrm>
            <a:off x="7809021" y="5352676"/>
            <a:ext cx="2114108" cy="82933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Larger gradient, smaller step</a:t>
            </a:r>
            <a:endParaRPr lang="zh-TW" altLang="en-US" sz="2400" dirty="0"/>
          </a:p>
        </p:txBody>
      </p:sp>
      <p:sp>
        <p:nvSpPr>
          <p:cNvPr id="14" name="矩形 13"/>
          <p:cNvSpPr/>
          <p:nvPr/>
        </p:nvSpPr>
        <p:spPr>
          <a:xfrm>
            <a:off x="7809021" y="3996566"/>
            <a:ext cx="2114108" cy="82933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Larger gradient, </a:t>
            </a:r>
          </a:p>
          <a:p>
            <a:pPr algn="ctr"/>
            <a:r>
              <a:rPr lang="en-US" altLang="zh-TW" sz="2400" dirty="0"/>
              <a:t>larger step</a:t>
            </a:r>
            <a:endParaRPr lang="zh-TW" altLang="en-US" sz="2400" dirty="0"/>
          </a:p>
        </p:txBody>
      </p:sp>
      <p:cxnSp>
        <p:nvCxnSpPr>
          <p:cNvPr id="5" name="直線接點 4"/>
          <p:cNvCxnSpPr/>
          <p:nvPr/>
        </p:nvCxnSpPr>
        <p:spPr>
          <a:xfrm>
            <a:off x="5873094" y="3180485"/>
            <a:ext cx="31205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6961042" y="5047993"/>
            <a:ext cx="31205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5409472" y="5593069"/>
            <a:ext cx="1551570"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endCxn id="3" idx="1"/>
          </p:cNvCxnSpPr>
          <p:nvPr/>
        </p:nvCxnSpPr>
        <p:spPr>
          <a:xfrm flipV="1">
            <a:off x="6351616" y="2956408"/>
            <a:ext cx="92148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endCxn id="14" idx="1"/>
          </p:cNvCxnSpPr>
          <p:nvPr/>
        </p:nvCxnSpPr>
        <p:spPr>
          <a:xfrm flipV="1">
            <a:off x="7337449" y="4411231"/>
            <a:ext cx="471572" cy="2630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a:off x="6321621" y="5634035"/>
            <a:ext cx="1487401" cy="40017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字方塊 21"/>
              <p:cNvSpPr txBox="1"/>
              <p:nvPr/>
            </p:nvSpPr>
            <p:spPr>
              <a:xfrm>
                <a:off x="3469401" y="2724237"/>
                <a:ext cx="289899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r>
                            <a:rPr lang="en-US" altLang="zh-TW" sz="2800" i="1">
                              <a:latin typeface="Cambria Math" panose="02040503050406030204" pitchFamily="18" charset="0"/>
                              <a:ea typeface="Cambria Math" panose="02040503050406030204" pitchFamily="18" charset="0"/>
                            </a:rPr>
                            <m:t>+1</m:t>
                          </m:r>
                        </m:sup>
                      </m:sSup>
                      <m:r>
                        <a:rPr lang="en-US" altLang="zh-TW" sz="2800" i="1">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i="1">
                              <a:latin typeface="Cambria Math" panose="02040503050406030204" pitchFamily="18" charset="0"/>
                              <a:ea typeface="Cambria Math" panose="02040503050406030204" pitchFamily="18" charset="0"/>
                            </a:rPr>
                            <m:t>𝑡</m:t>
                          </m:r>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𝑡</m:t>
                          </m:r>
                        </m:sup>
                      </m:sSup>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3469401" y="2724237"/>
                <a:ext cx="2898999" cy="43088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432853" y="4988626"/>
                <a:ext cx="1997918"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m:t>
                          </m:r>
                          <m:r>
                            <a:rPr lang="en-US" altLang="zh-TW" sz="2800" i="1">
                              <a:latin typeface="Cambria Math" panose="02040503050406030204" pitchFamily="18" charset="0"/>
                            </a:rPr>
                            <m:t>𝐿</m:t>
                          </m:r>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ea typeface="Cambria Math" panose="02040503050406030204" pitchFamily="18" charset="0"/>
                                    </a:rPr>
                                  </m:ctrlPr>
                                </m:sSupPr>
                                <m:e>
                                  <m:r>
                                    <a:rPr lang="zh-TW" altLang="en-US" sz="2800" i="1">
                                      <a:latin typeface="Cambria Math" panose="02040503050406030204" pitchFamily="18" charset="0"/>
                                      <a:ea typeface="Cambria Math" panose="02040503050406030204" pitchFamily="18" charset="0"/>
                                    </a:rPr>
                                    <m:t>𝜃</m:t>
                                  </m:r>
                                </m:e>
                                <m:sup>
                                  <m:r>
                                    <a:rPr lang="en-US" altLang="zh-TW" sz="2800" i="1">
                                      <a:latin typeface="Cambria Math" panose="02040503050406030204" pitchFamily="18" charset="0"/>
                                      <a:ea typeface="Cambria Math" panose="02040503050406030204" pitchFamily="18" charset="0"/>
                                    </a:rPr>
                                    <m:t>𝑡</m:t>
                                  </m:r>
                                </m:sup>
                              </m:sSup>
                            </m:e>
                          </m:d>
                        </m:num>
                        <m:den>
                          <m:r>
                            <a:rPr lang="zh-TW" altLang="en-US" sz="2800" i="1">
                              <a:latin typeface="Cambria Math" panose="02040503050406030204" pitchFamily="18" charset="0"/>
                            </a:rPr>
                            <m:t>𝜕</m:t>
                          </m:r>
                          <m:r>
                            <a:rPr lang="en-US" altLang="zh-TW" sz="2800" i="1">
                              <a:latin typeface="Cambria Math" panose="02040503050406030204" pitchFamily="18" charset="0"/>
                            </a:rPr>
                            <m:t>𝑤</m:t>
                          </m:r>
                        </m:den>
                      </m:f>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432853" y="4988626"/>
                <a:ext cx="1997918" cy="859338"/>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594722" y="2790147"/>
                <a:ext cx="1896096" cy="818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𝜂</m:t>
                          </m:r>
                        </m:e>
                        <m:sup>
                          <m:r>
                            <a:rPr lang="en-US" altLang="zh-TW" sz="2800" i="1">
                              <a:latin typeface="Cambria Math" panose="02040503050406030204" pitchFamily="18" charset="0"/>
                            </a:rPr>
                            <m:t>𝑡</m:t>
                          </m:r>
                        </m:sup>
                      </m:sSup>
                      <m:r>
                        <a:rPr lang="en-US" altLang="zh-TW" sz="2800" i="1">
                          <a:latin typeface="Cambria Math" panose="02040503050406030204" pitchFamily="18" charset="0"/>
                        </a:rPr>
                        <m:t>=</m:t>
                      </m:r>
                      <m:f>
                        <m:fPr>
                          <m:ctrlPr>
                            <a:rPr lang="en-US" altLang="zh-TW" sz="2800" i="1">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r>
                                <a:rPr lang="en-US" altLang="zh-TW" sz="2800" i="1">
                                  <a:latin typeface="Cambria Math" panose="02040503050406030204" pitchFamily="18" charset="0"/>
                                </a:rPr>
                                <m:t>𝑡</m:t>
                              </m:r>
                              <m:r>
                                <a:rPr lang="en-US" altLang="zh-TW" sz="2800" i="1">
                                  <a:latin typeface="Cambria Math" panose="02040503050406030204" pitchFamily="18" charset="0"/>
                                </a:rPr>
                                <m:t>+1</m:t>
                              </m:r>
                            </m:e>
                          </m:rad>
                        </m:den>
                      </m:f>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594722" y="2790147"/>
                <a:ext cx="1896096" cy="818301"/>
              </a:xfrm>
              <a:prstGeom prst="rect">
                <a:avLst/>
              </a:prstGeom>
              <a:blipFill>
                <a:blip r:embed="rId6"/>
                <a:stretch>
                  <a:fillRect/>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5AEC35D3-A02E-4B76-BB1D-CBEC59408A1D}"/>
              </a:ext>
            </a:extLst>
          </p:cNvPr>
          <p:cNvSpPr>
            <a:spLocks noGrp="1"/>
          </p:cNvSpPr>
          <p:nvPr>
            <p:ph type="ftr" sz="quarter" idx="11"/>
          </p:nvPr>
        </p:nvSpPr>
        <p:spPr/>
        <p:txBody>
          <a:bodyPr/>
          <a:lstStyle/>
          <a:p>
            <a:pPr>
              <a:defRPr/>
            </a:pPr>
            <a:r>
              <a:rPr lang="es-ES"/>
              <a:t>Dr. Deepali Vora</a:t>
            </a:r>
          </a:p>
        </p:txBody>
      </p:sp>
      <p:sp>
        <p:nvSpPr>
          <p:cNvPr id="9" name="Slide Number Placeholder 8">
            <a:extLst>
              <a:ext uri="{FF2B5EF4-FFF2-40B4-BE49-F238E27FC236}">
                <a16:creationId xmlns:a16="http://schemas.microsoft.com/office/drawing/2014/main" id="{E169FF3C-A381-4E17-B5B2-CBB59537600D}"/>
              </a:ext>
            </a:extLst>
          </p:cNvPr>
          <p:cNvSpPr>
            <a:spLocks noGrp="1"/>
          </p:cNvSpPr>
          <p:nvPr>
            <p:ph type="sldNum" sz="quarter" idx="12"/>
          </p:nvPr>
        </p:nvSpPr>
        <p:spPr/>
        <p:txBody>
          <a:bodyPr/>
          <a:lstStyle/>
          <a:p>
            <a:fld id="{9370333F-211E-480A-A48D-622F2EB68390}" type="slidenum">
              <a:rPr lang="es-ES" altLang="en-US" smtClean="0"/>
              <a:pPr/>
              <a:t>52</a:t>
            </a:fld>
            <a:endParaRPr lang="es-ES" altLang="en-US"/>
          </a:p>
        </p:txBody>
      </p:sp>
    </p:spTree>
    <p:extLst>
      <p:ext uri="{BB962C8B-B14F-4D97-AF65-F5344CB8AC3E}">
        <p14:creationId xmlns:p14="http://schemas.microsoft.com/office/powerpoint/2010/main" val="1735873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 grpId="0" animBg="1"/>
      <p:bldP spid="12" grpId="0" animBg="1"/>
      <p:bldP spid="14" grpId="0" animBg="1"/>
      <p:bldP spid="22" grpId="0"/>
      <p:bldP spid="23" grpId="0"/>
      <p:bldP spid="2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E287F-BA85-8C20-3CD9-F12308032F18}"/>
              </a:ext>
            </a:extLst>
          </p:cNvPr>
          <p:cNvSpPr>
            <a:spLocks noGrp="1"/>
          </p:cNvSpPr>
          <p:nvPr>
            <p:ph type="title"/>
          </p:nvPr>
        </p:nvSpPr>
        <p:spPr/>
        <p:txBody>
          <a:bodyPr/>
          <a:lstStyle/>
          <a:p>
            <a:r>
              <a:rPr lang="en-IN" dirty="0"/>
              <a:t>ADAGRAD</a:t>
            </a:r>
          </a:p>
        </p:txBody>
      </p:sp>
      <p:sp>
        <p:nvSpPr>
          <p:cNvPr id="6" name="Content Placeholder 5">
            <a:extLst>
              <a:ext uri="{FF2B5EF4-FFF2-40B4-BE49-F238E27FC236}">
                <a16:creationId xmlns:a16="http://schemas.microsoft.com/office/drawing/2014/main" id="{661036E7-A97F-52AC-7583-25AC5471DAEB}"/>
              </a:ext>
            </a:extLst>
          </p:cNvPr>
          <p:cNvSpPr>
            <a:spLocks noGrp="1"/>
          </p:cNvSpPr>
          <p:nvPr>
            <p:ph sz="half" idx="1"/>
          </p:nvPr>
        </p:nvSpPr>
        <p:spPr>
          <a:xfrm>
            <a:off x="1581912" y="2638044"/>
            <a:ext cx="4271771" cy="3579876"/>
          </a:xfrm>
        </p:spPr>
        <p:txBody>
          <a:bodyPr>
            <a:normAutofit fontScale="92500" lnSpcReduction="20000"/>
          </a:bodyPr>
          <a:lstStyle/>
          <a:p>
            <a:r>
              <a:rPr lang="en-IN" b="1" dirty="0"/>
              <a:t>Advantages</a:t>
            </a:r>
          </a:p>
          <a:p>
            <a:r>
              <a:rPr lang="en-US" dirty="0" err="1"/>
              <a:t>AdaGrad</a:t>
            </a:r>
            <a:r>
              <a:rPr lang="en-US" dirty="0"/>
              <a:t> adjusts the learning rate for each parameter to enable effective updates based on the </a:t>
            </a:r>
            <a:r>
              <a:rPr lang="en-US" dirty="0">
                <a:solidFill>
                  <a:srgbClr val="0070C0"/>
                </a:solidFill>
              </a:rPr>
              <a:t>parameter’s significance </a:t>
            </a:r>
            <a:r>
              <a:rPr lang="en-US" dirty="0"/>
              <a:t>to the optimization process. This method lessens the requirement for manual adjustment of learning rates.</a:t>
            </a:r>
          </a:p>
          <a:p>
            <a:r>
              <a:rPr lang="en-US" dirty="0"/>
              <a:t>Robustness: </a:t>
            </a:r>
            <a:r>
              <a:rPr lang="en-US" dirty="0" err="1"/>
              <a:t>AdaGrad</a:t>
            </a:r>
            <a:r>
              <a:rPr lang="en-US" dirty="0"/>
              <a:t> does well with </a:t>
            </a:r>
            <a:r>
              <a:rPr lang="en-US" dirty="0">
                <a:solidFill>
                  <a:srgbClr val="0070C0"/>
                </a:solidFill>
              </a:rPr>
              <a:t>sparse data and variables </a:t>
            </a:r>
            <a:r>
              <a:rPr lang="en-US" dirty="0"/>
              <a:t>of different sizes. It makes sure that parameters that receive few updates get higher learning rates, which speeds up convergence.</a:t>
            </a:r>
            <a:r>
              <a:rPr lang="en-IN" dirty="0"/>
              <a:t>	</a:t>
            </a:r>
          </a:p>
        </p:txBody>
      </p:sp>
      <p:sp>
        <p:nvSpPr>
          <p:cNvPr id="7" name="Content Placeholder 6">
            <a:extLst>
              <a:ext uri="{FF2B5EF4-FFF2-40B4-BE49-F238E27FC236}">
                <a16:creationId xmlns:a16="http://schemas.microsoft.com/office/drawing/2014/main" id="{5697E134-6874-13F1-BFC2-274BA9DFE347}"/>
              </a:ext>
            </a:extLst>
          </p:cNvPr>
          <p:cNvSpPr>
            <a:spLocks noGrp="1"/>
          </p:cNvSpPr>
          <p:nvPr>
            <p:ph sz="half" idx="2"/>
          </p:nvPr>
        </p:nvSpPr>
        <p:spPr>
          <a:xfrm>
            <a:off x="6338315" y="2638044"/>
            <a:ext cx="4270247" cy="3803396"/>
          </a:xfrm>
        </p:spPr>
        <p:txBody>
          <a:bodyPr>
            <a:normAutofit fontScale="92500" lnSpcReduction="20000"/>
          </a:bodyPr>
          <a:lstStyle/>
          <a:p>
            <a:r>
              <a:rPr lang="en-IN" b="1" dirty="0"/>
              <a:t>Disadvantages</a:t>
            </a:r>
          </a:p>
          <a:p>
            <a:r>
              <a:rPr lang="en-US" dirty="0">
                <a:solidFill>
                  <a:srgbClr val="0070C0"/>
                </a:solidFill>
              </a:rPr>
              <a:t>Accumulation of Squared Gradients</a:t>
            </a:r>
            <a:r>
              <a:rPr lang="en-US" dirty="0"/>
              <a:t>: The </a:t>
            </a:r>
            <a:r>
              <a:rPr lang="en-US" dirty="0" err="1"/>
              <a:t>AdaGrad</a:t>
            </a:r>
            <a:r>
              <a:rPr lang="en-US" dirty="0"/>
              <a:t> sum of squared gradients has the potential to grow very big over time, which could cause the learning rate to drop too low. As a result, the algorithm may experience sluggish convergence or even premature stalling.</a:t>
            </a:r>
          </a:p>
          <a:p>
            <a:r>
              <a:rPr lang="en-US" dirty="0">
                <a:solidFill>
                  <a:srgbClr val="0070C0"/>
                </a:solidFill>
              </a:rPr>
              <a:t>Lack of Control: </a:t>
            </a:r>
            <a:r>
              <a:rPr lang="en-US" dirty="0" err="1"/>
              <a:t>AdaGrad</a:t>
            </a:r>
            <a:r>
              <a:rPr lang="en-US" dirty="0"/>
              <a:t> does not provide fine-grained control over the learning rates of particular parameters because it globally accumulates squared gradients for all parameters. This may be an issue in circumstances where different learning speeds are necessary.</a:t>
            </a:r>
          </a:p>
        </p:txBody>
      </p:sp>
      <p:sp>
        <p:nvSpPr>
          <p:cNvPr id="4" name="Footer Placeholder 3">
            <a:extLst>
              <a:ext uri="{FF2B5EF4-FFF2-40B4-BE49-F238E27FC236}">
                <a16:creationId xmlns:a16="http://schemas.microsoft.com/office/drawing/2014/main" id="{C6614A23-CC17-4F49-8634-451A30B049CB}"/>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2DC31EBC-92C9-1BB3-9294-B071E8DBEC32}"/>
              </a:ext>
            </a:extLst>
          </p:cNvPr>
          <p:cNvSpPr>
            <a:spLocks noGrp="1"/>
          </p:cNvSpPr>
          <p:nvPr>
            <p:ph type="sldNum" sz="quarter" idx="12"/>
          </p:nvPr>
        </p:nvSpPr>
        <p:spPr/>
        <p:txBody>
          <a:bodyPr/>
          <a:lstStyle/>
          <a:p>
            <a:fld id="{9370333F-211E-480A-A48D-622F2EB68390}" type="slidenum">
              <a:rPr lang="es-ES" altLang="en-US" smtClean="0"/>
              <a:pPr/>
              <a:t>53</a:t>
            </a:fld>
            <a:endParaRPr lang="es-ES" altLang="en-US"/>
          </a:p>
        </p:txBody>
      </p:sp>
    </p:spTree>
    <p:extLst>
      <p:ext uri="{BB962C8B-B14F-4D97-AF65-F5344CB8AC3E}">
        <p14:creationId xmlns:p14="http://schemas.microsoft.com/office/powerpoint/2010/main" val="41167636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F8C5F8E-B99E-9767-6241-98877B7633D5}"/>
              </a:ext>
            </a:extLst>
          </p:cNvPr>
          <p:cNvSpPr>
            <a:spLocks noGrp="1"/>
          </p:cNvSpPr>
          <p:nvPr>
            <p:ph type="title"/>
          </p:nvPr>
        </p:nvSpPr>
        <p:spPr/>
        <p:txBody>
          <a:bodyPr/>
          <a:lstStyle/>
          <a:p>
            <a:r>
              <a:rPr lang="en-IN" dirty="0"/>
              <a:t>Variations in </a:t>
            </a:r>
            <a:r>
              <a:rPr lang="en-IN" dirty="0" err="1"/>
              <a:t>adagrad</a:t>
            </a:r>
            <a:endParaRPr lang="en-IN" dirty="0"/>
          </a:p>
        </p:txBody>
      </p:sp>
      <p:sp>
        <p:nvSpPr>
          <p:cNvPr id="8" name="Content Placeholder 7">
            <a:extLst>
              <a:ext uri="{FF2B5EF4-FFF2-40B4-BE49-F238E27FC236}">
                <a16:creationId xmlns:a16="http://schemas.microsoft.com/office/drawing/2014/main" id="{EEBBBFAB-BAA5-680B-63B0-CAF13D0DB36C}"/>
              </a:ext>
            </a:extLst>
          </p:cNvPr>
          <p:cNvSpPr>
            <a:spLocks noGrp="1"/>
          </p:cNvSpPr>
          <p:nvPr>
            <p:ph idx="1"/>
          </p:nvPr>
        </p:nvSpPr>
        <p:spPr/>
        <p:txBody>
          <a:bodyPr>
            <a:normAutofit fontScale="92500" lnSpcReduction="20000"/>
          </a:bodyPr>
          <a:lstStyle/>
          <a:p>
            <a:r>
              <a:rPr lang="en-US" dirty="0" err="1"/>
              <a:t>AdaGrad</a:t>
            </a:r>
            <a:r>
              <a:rPr lang="en-US" dirty="0"/>
              <a:t> has a number of drawbacks, hence various modifications and enhancements have been suggested.</a:t>
            </a:r>
          </a:p>
          <a:p>
            <a:r>
              <a:rPr lang="en-US" dirty="0"/>
              <a:t>Some of them consist of:</a:t>
            </a:r>
          </a:p>
          <a:p>
            <a:r>
              <a:rPr lang="en-US" dirty="0">
                <a:solidFill>
                  <a:srgbClr val="0070C0"/>
                </a:solidFill>
              </a:rPr>
              <a:t>RPROP</a:t>
            </a:r>
            <a:r>
              <a:rPr lang="en-US" dirty="0"/>
              <a:t>: Considers the sign of gradient</a:t>
            </a:r>
          </a:p>
          <a:p>
            <a:r>
              <a:rPr lang="en-US" dirty="0">
                <a:solidFill>
                  <a:srgbClr val="0070C0"/>
                </a:solidFill>
              </a:rPr>
              <a:t>RMSprop</a:t>
            </a:r>
            <a:r>
              <a:rPr lang="en-US" dirty="0"/>
              <a:t>: To keep the learning rate from dropping too low, this form adds a decay term to the squared gradients.</a:t>
            </a:r>
          </a:p>
          <a:p>
            <a:r>
              <a:rPr lang="en-US" dirty="0" err="1">
                <a:solidFill>
                  <a:srgbClr val="0070C0"/>
                </a:solidFill>
              </a:rPr>
              <a:t>AdaDelta</a:t>
            </a:r>
            <a:r>
              <a:rPr lang="en-US" dirty="0">
                <a:solidFill>
                  <a:srgbClr val="0070C0"/>
                </a:solidFill>
              </a:rPr>
              <a:t>:</a:t>
            </a:r>
            <a:r>
              <a:rPr lang="en-US" dirty="0"/>
              <a:t> Rather than utilizing a global sum, it solves the issue of </a:t>
            </a:r>
            <a:r>
              <a:rPr lang="en-US" dirty="0" err="1"/>
              <a:t>AdaGrad’s</a:t>
            </a:r>
            <a:r>
              <a:rPr lang="en-US" dirty="0"/>
              <a:t> monotonically falling learning rate by employing a decaying average of previously squared gradients.</a:t>
            </a:r>
          </a:p>
          <a:p>
            <a:r>
              <a:rPr lang="en-US" dirty="0">
                <a:solidFill>
                  <a:srgbClr val="0070C0"/>
                </a:solidFill>
              </a:rPr>
              <a:t>Adam</a:t>
            </a:r>
            <a:r>
              <a:rPr lang="en-US" dirty="0"/>
              <a:t>: To more effectively manage the updating process, an extension of RMSprop incorporates momentum terms.</a:t>
            </a:r>
            <a:endParaRPr lang="en-IN" dirty="0"/>
          </a:p>
        </p:txBody>
      </p:sp>
      <p:sp>
        <p:nvSpPr>
          <p:cNvPr id="5" name="Footer Placeholder 4">
            <a:extLst>
              <a:ext uri="{FF2B5EF4-FFF2-40B4-BE49-F238E27FC236}">
                <a16:creationId xmlns:a16="http://schemas.microsoft.com/office/drawing/2014/main" id="{19B0E330-842B-7C08-9FF5-F5464CB22AA9}"/>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F14C495E-BFCD-E561-E844-2EEF655761FE}"/>
              </a:ext>
            </a:extLst>
          </p:cNvPr>
          <p:cNvSpPr>
            <a:spLocks noGrp="1"/>
          </p:cNvSpPr>
          <p:nvPr>
            <p:ph type="sldNum" sz="quarter" idx="12"/>
          </p:nvPr>
        </p:nvSpPr>
        <p:spPr/>
        <p:txBody>
          <a:bodyPr/>
          <a:lstStyle/>
          <a:p>
            <a:fld id="{9370333F-211E-480A-A48D-622F2EB68390}" type="slidenum">
              <a:rPr lang="es-ES" altLang="en-US" smtClean="0"/>
              <a:pPr/>
              <a:t>54</a:t>
            </a:fld>
            <a:endParaRPr lang="es-ES" altLang="en-US"/>
          </a:p>
        </p:txBody>
      </p:sp>
    </p:spTree>
    <p:extLst>
      <p:ext uri="{BB962C8B-B14F-4D97-AF65-F5344CB8AC3E}">
        <p14:creationId xmlns:p14="http://schemas.microsoft.com/office/powerpoint/2010/main" val="36806015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14400" y="1028734"/>
            <a:ext cx="10363200" cy="1470025"/>
          </a:xfrm>
        </p:spPr>
        <p:txBody>
          <a:bodyPr>
            <a:normAutofit fontScale="90000"/>
          </a:bodyPr>
          <a:lstStyle/>
          <a:p>
            <a:r>
              <a:rPr lang="en-US" sz="4267" dirty="0"/>
              <a:t> </a:t>
            </a:r>
            <a:r>
              <a:rPr lang="en-US" sz="4267" dirty="0">
                <a:solidFill>
                  <a:schemeClr val="tx1"/>
                </a:solidFill>
              </a:rPr>
              <a:t>Neural Networks for Machine Learning</a:t>
            </a:r>
            <a:br>
              <a:rPr lang="en-US" sz="4267" dirty="0"/>
            </a:br>
            <a:br>
              <a:rPr lang="en-US" sz="4267" dirty="0"/>
            </a:br>
            <a:r>
              <a:rPr lang="en-US" sz="4267" dirty="0"/>
              <a:t> Lecture 6e</a:t>
            </a:r>
            <a:br>
              <a:rPr lang="en-US" sz="4267" dirty="0"/>
            </a:br>
            <a:r>
              <a:rPr lang="en-US" sz="4267" dirty="0" err="1"/>
              <a:t>rmsprop</a:t>
            </a:r>
            <a:r>
              <a:rPr lang="en-US" sz="4267" dirty="0"/>
              <a:t>: Divide the gradient by a running average of its recent magnitude</a:t>
            </a:r>
          </a:p>
        </p:txBody>
      </p:sp>
      <p:sp>
        <p:nvSpPr>
          <p:cNvPr id="2" name="Rectangle 1"/>
          <p:cNvSpPr/>
          <p:nvPr/>
        </p:nvSpPr>
        <p:spPr>
          <a:xfrm>
            <a:off x="1440160" y="3874207"/>
            <a:ext cx="6096000" cy="2062103"/>
          </a:xfrm>
          <a:prstGeom prst="rect">
            <a:avLst/>
          </a:prstGeom>
        </p:spPr>
        <p:txBody>
          <a:bodyPr>
            <a:spAutoFit/>
          </a:bodyPr>
          <a:lstStyle/>
          <a:p>
            <a:r>
              <a:rPr lang="en-US" sz="3200" dirty="0"/>
              <a:t>Geoffrey Hinton </a:t>
            </a:r>
          </a:p>
          <a:p>
            <a:r>
              <a:rPr lang="en-US" sz="3200" dirty="0"/>
              <a:t>with</a:t>
            </a:r>
          </a:p>
          <a:p>
            <a:r>
              <a:rPr lang="en-US" sz="3200" dirty="0" err="1"/>
              <a:t>Nitish</a:t>
            </a:r>
            <a:r>
              <a:rPr lang="en-US" sz="3200" dirty="0"/>
              <a:t> </a:t>
            </a:r>
            <a:r>
              <a:rPr lang="en-US" sz="3200" dirty="0" err="1"/>
              <a:t>Srivastava</a:t>
            </a:r>
            <a:r>
              <a:rPr lang="en-US" sz="3200" dirty="0"/>
              <a:t> </a:t>
            </a:r>
          </a:p>
          <a:p>
            <a:r>
              <a:rPr lang="en-US" sz="3200" dirty="0"/>
              <a:t>Kevin </a:t>
            </a:r>
            <a:r>
              <a:rPr lang="en-US" sz="3200" dirty="0" err="1"/>
              <a:t>Swersky</a:t>
            </a:r>
            <a:endParaRPr lang="en-US" sz="3200" dirty="0"/>
          </a:p>
        </p:txBody>
      </p:sp>
      <p:sp>
        <p:nvSpPr>
          <p:cNvPr id="3" name="Footer Placeholder 2">
            <a:extLst>
              <a:ext uri="{FF2B5EF4-FFF2-40B4-BE49-F238E27FC236}">
                <a16:creationId xmlns:a16="http://schemas.microsoft.com/office/drawing/2014/main" id="{0FEE73EF-2179-457C-AE36-278AEE307D6E}"/>
              </a:ext>
            </a:extLst>
          </p:cNvPr>
          <p:cNvSpPr>
            <a:spLocks noGrp="1"/>
          </p:cNvSpPr>
          <p:nvPr>
            <p:ph type="ftr" sz="quarter" idx="11"/>
          </p:nvPr>
        </p:nvSpPr>
        <p:spPr/>
        <p:txBody>
          <a:bodyPr/>
          <a:lstStyle/>
          <a:p>
            <a:pPr>
              <a:defRPr/>
            </a:pPr>
            <a:r>
              <a:rPr lang="es-ES"/>
              <a:t>Dr. Deepali Vora</a:t>
            </a:r>
          </a:p>
        </p:txBody>
      </p:sp>
      <p:sp>
        <p:nvSpPr>
          <p:cNvPr id="4" name="Slide Number Placeholder 3">
            <a:extLst>
              <a:ext uri="{FF2B5EF4-FFF2-40B4-BE49-F238E27FC236}">
                <a16:creationId xmlns:a16="http://schemas.microsoft.com/office/drawing/2014/main" id="{51089D80-EFBF-4E13-8D7E-015A8167BB3E}"/>
              </a:ext>
            </a:extLst>
          </p:cNvPr>
          <p:cNvSpPr>
            <a:spLocks noGrp="1"/>
          </p:cNvSpPr>
          <p:nvPr>
            <p:ph type="sldNum" sz="quarter" idx="12"/>
          </p:nvPr>
        </p:nvSpPr>
        <p:spPr/>
        <p:txBody>
          <a:bodyPr/>
          <a:lstStyle/>
          <a:p>
            <a:fld id="{9370333F-211E-480A-A48D-622F2EB68390}" type="slidenum">
              <a:rPr lang="es-ES" altLang="en-US" smtClean="0"/>
              <a:pPr/>
              <a:t>55</a:t>
            </a:fld>
            <a:endParaRPr lang="es-ES" altLang="en-US"/>
          </a:p>
        </p:txBody>
      </p:sp>
    </p:spTree>
    <p:extLst>
      <p:ext uri="{BB962C8B-B14F-4D97-AF65-F5344CB8AC3E}">
        <p14:creationId xmlns:p14="http://schemas.microsoft.com/office/powerpoint/2010/main" val="18790910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err="1"/>
              <a:t>rprop</a:t>
            </a:r>
            <a:r>
              <a:rPr lang="en-US" dirty="0"/>
              <a:t>: Using only the sign of the gradient</a:t>
            </a:r>
          </a:p>
        </p:txBody>
      </p:sp>
      <p:sp>
        <p:nvSpPr>
          <p:cNvPr id="6" name="Content Placeholder 5"/>
          <p:cNvSpPr>
            <a:spLocks noGrp="1"/>
          </p:cNvSpPr>
          <p:nvPr>
            <p:ph sz="half" idx="1"/>
          </p:nvPr>
        </p:nvSpPr>
        <p:spPr>
          <a:xfrm>
            <a:off x="556054" y="2638044"/>
            <a:ext cx="5297629" cy="3490906"/>
          </a:xfrm>
        </p:spPr>
        <p:txBody>
          <a:bodyPr>
            <a:noAutofit/>
          </a:bodyPr>
          <a:lstStyle/>
          <a:p>
            <a:r>
              <a:rPr lang="en-US" sz="2000" dirty="0"/>
              <a:t>The magnitude of the gradient can be very different for different weights and can change during learning.</a:t>
            </a:r>
          </a:p>
          <a:p>
            <a:pPr lvl="1"/>
            <a:r>
              <a:rPr lang="en-US" sz="1800" dirty="0">
                <a:solidFill>
                  <a:srgbClr val="00B050"/>
                </a:solidFill>
              </a:rPr>
              <a:t>This makes it hard to choose a single global learning rate.</a:t>
            </a:r>
          </a:p>
          <a:p>
            <a:r>
              <a:rPr lang="en-US" sz="2000" dirty="0"/>
              <a:t>For </a:t>
            </a:r>
            <a:r>
              <a:rPr lang="en-US" sz="2000" dirty="0">
                <a:solidFill>
                  <a:srgbClr val="FF0000"/>
                </a:solidFill>
              </a:rPr>
              <a:t>full batch learning</a:t>
            </a:r>
            <a:r>
              <a:rPr lang="en-US" sz="2000" dirty="0"/>
              <a:t>, we can deal with this variation by only using the sign of the gradient.</a:t>
            </a:r>
          </a:p>
          <a:p>
            <a:pPr lvl="1"/>
            <a:r>
              <a:rPr lang="en-US" sz="1800" dirty="0">
                <a:solidFill>
                  <a:srgbClr val="00B050"/>
                </a:solidFill>
              </a:rPr>
              <a:t>The weight updates are all of the same magnitude.</a:t>
            </a:r>
          </a:p>
          <a:p>
            <a:pPr lvl="1"/>
            <a:r>
              <a:rPr lang="en-US" sz="1800" dirty="0">
                <a:solidFill>
                  <a:srgbClr val="00B050"/>
                </a:solidFill>
              </a:rPr>
              <a:t>This escapes from plateaus with tiny gradients quickly. </a:t>
            </a:r>
          </a:p>
        </p:txBody>
      </p:sp>
      <p:sp>
        <p:nvSpPr>
          <p:cNvPr id="7" name="Content Placeholder 6"/>
          <p:cNvSpPr>
            <a:spLocks noGrp="1"/>
          </p:cNvSpPr>
          <p:nvPr>
            <p:ph sz="half" idx="2"/>
          </p:nvPr>
        </p:nvSpPr>
        <p:spPr>
          <a:xfrm>
            <a:off x="6338315" y="2638043"/>
            <a:ext cx="4786367" cy="3490907"/>
          </a:xfrm>
        </p:spPr>
        <p:txBody>
          <a:bodyPr>
            <a:noAutofit/>
          </a:bodyPr>
          <a:lstStyle/>
          <a:p>
            <a:r>
              <a:rPr lang="en-US" sz="2000" dirty="0" err="1"/>
              <a:t>rprop</a:t>
            </a:r>
            <a:r>
              <a:rPr lang="en-US" sz="2000" dirty="0"/>
              <a:t>: This combines the idea of only using the sign of the gradient with the idea of adapting the step size separately for each weight.</a:t>
            </a:r>
          </a:p>
          <a:p>
            <a:pPr lvl="1"/>
            <a:r>
              <a:rPr lang="en-US" sz="1800" dirty="0"/>
              <a:t>Increase the step size for a weight </a:t>
            </a:r>
            <a:r>
              <a:rPr lang="en-US" sz="1800" dirty="0">
                <a:solidFill>
                  <a:srgbClr val="FF0000"/>
                </a:solidFill>
              </a:rPr>
              <a:t>multiplicatively</a:t>
            </a:r>
            <a:r>
              <a:rPr lang="en-US" sz="1800" dirty="0"/>
              <a:t> </a:t>
            </a:r>
            <a:r>
              <a:rPr lang="en-US" sz="1800" dirty="0">
                <a:solidFill>
                  <a:srgbClr val="0000FF"/>
                </a:solidFill>
              </a:rPr>
              <a:t>(</a:t>
            </a:r>
            <a:r>
              <a:rPr lang="en-US" sz="1800" i="1" dirty="0">
                <a:solidFill>
                  <a:srgbClr val="0000FF"/>
                </a:solidFill>
              </a:rPr>
              <a:t>e.g. </a:t>
            </a:r>
            <a:r>
              <a:rPr lang="en-US" sz="1800" dirty="0">
                <a:solidFill>
                  <a:srgbClr val="0000FF"/>
                </a:solidFill>
              </a:rPr>
              <a:t>times 1.2) </a:t>
            </a:r>
            <a:r>
              <a:rPr lang="en-US" sz="1800" dirty="0"/>
              <a:t>if the signs of its last two gradients agree.</a:t>
            </a:r>
          </a:p>
          <a:p>
            <a:pPr lvl="1"/>
            <a:r>
              <a:rPr lang="en-US" sz="1800" dirty="0"/>
              <a:t>Otherwise decrease the step size multiplicatively </a:t>
            </a:r>
            <a:r>
              <a:rPr lang="en-US" sz="1800" dirty="0">
                <a:solidFill>
                  <a:srgbClr val="0000FF"/>
                </a:solidFill>
              </a:rPr>
              <a:t>(</a:t>
            </a:r>
            <a:r>
              <a:rPr lang="en-US" sz="1800" i="1" dirty="0">
                <a:solidFill>
                  <a:srgbClr val="0000FF"/>
                </a:solidFill>
              </a:rPr>
              <a:t>e.g. </a:t>
            </a:r>
            <a:r>
              <a:rPr lang="en-US" sz="1800" dirty="0">
                <a:solidFill>
                  <a:srgbClr val="0000FF"/>
                </a:solidFill>
              </a:rPr>
              <a:t>times 0.5)</a:t>
            </a:r>
            <a:r>
              <a:rPr lang="en-US" sz="1800" dirty="0"/>
              <a:t>.</a:t>
            </a:r>
          </a:p>
          <a:p>
            <a:pPr lvl="1"/>
            <a:r>
              <a:rPr lang="en-US" sz="1800" dirty="0"/>
              <a:t>Limit the step sizes to be less than 50 and more than a millionth </a:t>
            </a:r>
            <a:r>
              <a:rPr lang="en-US" sz="1800" dirty="0">
                <a:solidFill>
                  <a:srgbClr val="0000FF"/>
                </a:solidFill>
              </a:rPr>
              <a:t>(Mike Shuster’s advice).</a:t>
            </a:r>
          </a:p>
        </p:txBody>
      </p:sp>
      <p:sp>
        <p:nvSpPr>
          <p:cNvPr id="2" name="Footer Placeholder 1">
            <a:extLst>
              <a:ext uri="{FF2B5EF4-FFF2-40B4-BE49-F238E27FC236}">
                <a16:creationId xmlns:a16="http://schemas.microsoft.com/office/drawing/2014/main" id="{7455E5D7-7EF6-4A73-BC09-1F0AD2B84C22}"/>
              </a:ext>
            </a:extLst>
          </p:cNvPr>
          <p:cNvSpPr>
            <a:spLocks noGrp="1"/>
          </p:cNvSpPr>
          <p:nvPr>
            <p:ph type="ftr" sz="quarter" idx="11"/>
          </p:nvPr>
        </p:nvSpPr>
        <p:spPr/>
        <p:txBody>
          <a:bodyPr/>
          <a:lstStyle/>
          <a:p>
            <a:pPr>
              <a:defRPr/>
            </a:pPr>
            <a:r>
              <a:rPr lang="es-ES"/>
              <a:t>Dr. Deepali Vora</a:t>
            </a:r>
          </a:p>
        </p:txBody>
      </p:sp>
      <p:sp>
        <p:nvSpPr>
          <p:cNvPr id="3" name="Slide Number Placeholder 2">
            <a:extLst>
              <a:ext uri="{FF2B5EF4-FFF2-40B4-BE49-F238E27FC236}">
                <a16:creationId xmlns:a16="http://schemas.microsoft.com/office/drawing/2014/main" id="{7920413B-C29D-4E79-8232-33C2B77B34C1}"/>
              </a:ext>
            </a:extLst>
          </p:cNvPr>
          <p:cNvSpPr>
            <a:spLocks noGrp="1"/>
          </p:cNvSpPr>
          <p:nvPr>
            <p:ph type="sldNum" sz="quarter" idx="12"/>
          </p:nvPr>
        </p:nvSpPr>
        <p:spPr/>
        <p:txBody>
          <a:bodyPr/>
          <a:lstStyle/>
          <a:p>
            <a:fld id="{9370333F-211E-480A-A48D-622F2EB68390}" type="slidenum">
              <a:rPr lang="es-ES" altLang="en-US" smtClean="0"/>
              <a:pPr/>
              <a:t>56</a:t>
            </a:fld>
            <a:endParaRPr lang="es-ES" altLang="en-US"/>
          </a:p>
        </p:txBody>
      </p:sp>
    </p:spTree>
    <p:extLst>
      <p:ext uri="{BB962C8B-B14F-4D97-AF65-F5344CB8AC3E}">
        <p14:creationId xmlns:p14="http://schemas.microsoft.com/office/powerpoint/2010/main" val="1119434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30CEF34-E54B-58FB-95BF-90B74E386C85}"/>
              </a:ext>
            </a:extLst>
          </p:cNvPr>
          <p:cNvSpPr>
            <a:spLocks noGrp="1"/>
          </p:cNvSpPr>
          <p:nvPr>
            <p:ph type="title"/>
          </p:nvPr>
        </p:nvSpPr>
        <p:spPr>
          <a:xfrm>
            <a:off x="804672" y="964692"/>
            <a:ext cx="5894832" cy="1188720"/>
          </a:xfrm>
        </p:spPr>
        <p:txBody>
          <a:bodyPr>
            <a:normAutofit/>
          </a:bodyPr>
          <a:lstStyle/>
          <a:p>
            <a:r>
              <a:rPr lang="en-IN" dirty="0"/>
              <a:t>RPROP</a:t>
            </a:r>
          </a:p>
        </p:txBody>
      </p:sp>
      <p:sp>
        <p:nvSpPr>
          <p:cNvPr id="8" name="Content Placeholder 7">
            <a:extLst>
              <a:ext uri="{FF2B5EF4-FFF2-40B4-BE49-F238E27FC236}">
                <a16:creationId xmlns:a16="http://schemas.microsoft.com/office/drawing/2014/main" id="{DA8FA9A7-3CBC-2CEF-B060-228432FA9CD7}"/>
              </a:ext>
            </a:extLst>
          </p:cNvPr>
          <p:cNvSpPr>
            <a:spLocks noGrp="1"/>
          </p:cNvSpPr>
          <p:nvPr>
            <p:ph idx="1"/>
          </p:nvPr>
        </p:nvSpPr>
        <p:spPr>
          <a:xfrm>
            <a:off x="436881" y="2638044"/>
            <a:ext cx="6329680" cy="3671316"/>
          </a:xfrm>
        </p:spPr>
        <p:txBody>
          <a:bodyPr>
            <a:normAutofit/>
          </a:bodyPr>
          <a:lstStyle/>
          <a:p>
            <a:pPr>
              <a:lnSpc>
                <a:spcPct val="90000"/>
              </a:lnSpc>
            </a:pPr>
            <a:r>
              <a:rPr lang="en-US" sz="1600" b="0" i="0" dirty="0">
                <a:solidFill>
                  <a:srgbClr val="0070C0"/>
                </a:solidFill>
                <a:effectLst/>
                <a:latin typeface="Arial" panose="020B0604020202020204" pitchFamily="34" charset="0"/>
              </a:rPr>
              <a:t>Simple observation </a:t>
            </a:r>
            <a:r>
              <a:rPr lang="en-US" sz="1600" b="0" i="0" dirty="0">
                <a:effectLst/>
                <a:latin typeface="Arial" panose="020B0604020202020204" pitchFamily="34" charset="0"/>
              </a:rPr>
              <a:t>: </a:t>
            </a:r>
            <a:r>
              <a:rPr lang="en-US" sz="1600" b="0" i="0" dirty="0">
                <a:effectLst/>
                <a:latin typeface="Arial" panose="020B0604020202020204" pitchFamily="34" charset="0"/>
                <a:cs typeface="Arial" panose="020B0604020202020204" pitchFamily="34" charset="0"/>
              </a:rPr>
              <a:t>If you overshoot the global minimum, the sign of the derivative will change. Otherwise, it won’t</a:t>
            </a:r>
            <a:r>
              <a:rPr lang="en-US" sz="1600" b="0" i="0" dirty="0">
                <a:effectLst/>
                <a:latin typeface="source-serif-pro"/>
              </a:rPr>
              <a:t>.</a:t>
            </a:r>
            <a:endParaRPr lang="en-US" sz="1600" b="0" i="0" dirty="0">
              <a:effectLst/>
              <a:latin typeface="Arial" panose="020B0604020202020204" pitchFamily="34" charset="0"/>
            </a:endParaRPr>
          </a:p>
          <a:p>
            <a:pPr>
              <a:lnSpc>
                <a:spcPct val="90000"/>
              </a:lnSpc>
            </a:pPr>
            <a:r>
              <a:rPr lang="en-US" sz="1600" b="0" i="0" dirty="0">
                <a:effectLst/>
                <a:latin typeface="Arial" panose="020B0604020202020204" pitchFamily="34" charset="0"/>
              </a:rPr>
              <a:t>For each weight, if there was a sign change of the partial derivative of the total error function compared to the last iteration, the update value for that weight is multiplied by a factor </a:t>
            </a:r>
            <a:r>
              <a:rPr lang="en-US" sz="1600" b="0" i="1" dirty="0">
                <a:effectLst/>
                <a:latin typeface="Arial" panose="020B0604020202020204" pitchFamily="34" charset="0"/>
              </a:rPr>
              <a:t>η</a:t>
            </a:r>
            <a:r>
              <a:rPr lang="en-US" sz="1600" b="0" i="0" baseline="30000" dirty="0">
                <a:effectLst/>
                <a:latin typeface="Arial" panose="020B0604020202020204" pitchFamily="34" charset="0"/>
              </a:rPr>
              <a:t>−</a:t>
            </a:r>
            <a:r>
              <a:rPr lang="en-US" sz="1600" b="0" i="0" dirty="0">
                <a:effectLst/>
                <a:latin typeface="Arial" panose="020B0604020202020204" pitchFamily="34" charset="0"/>
              </a:rPr>
              <a:t>, where </a:t>
            </a:r>
            <a:r>
              <a:rPr lang="en-US" sz="1600" b="0" i="1" dirty="0">
                <a:effectLst/>
                <a:latin typeface="Arial" panose="020B0604020202020204" pitchFamily="34" charset="0"/>
              </a:rPr>
              <a:t>η</a:t>
            </a:r>
            <a:r>
              <a:rPr lang="en-US" sz="1600" b="0" i="0" baseline="30000" dirty="0">
                <a:effectLst/>
                <a:latin typeface="Arial" panose="020B0604020202020204" pitchFamily="34" charset="0"/>
              </a:rPr>
              <a:t>−</a:t>
            </a:r>
            <a:r>
              <a:rPr lang="en-US" sz="1600" b="0" i="0" dirty="0">
                <a:effectLst/>
                <a:latin typeface="Arial" panose="020B0604020202020204" pitchFamily="34" charset="0"/>
              </a:rPr>
              <a:t> &lt; 1. </a:t>
            </a:r>
          </a:p>
          <a:p>
            <a:pPr>
              <a:lnSpc>
                <a:spcPct val="90000"/>
              </a:lnSpc>
            </a:pPr>
            <a:r>
              <a:rPr lang="en-US" sz="1600" b="0" i="0" dirty="0">
                <a:effectLst/>
                <a:latin typeface="Arial" panose="020B0604020202020204" pitchFamily="34" charset="0"/>
              </a:rPr>
              <a:t>If the last iteration produced the same sign, the update value is multiplied by a factor of </a:t>
            </a:r>
            <a:r>
              <a:rPr lang="en-US" sz="1600" b="0" i="1" dirty="0">
                <a:effectLst/>
                <a:latin typeface="Arial" panose="020B0604020202020204" pitchFamily="34" charset="0"/>
              </a:rPr>
              <a:t>η</a:t>
            </a:r>
            <a:r>
              <a:rPr lang="en-US" sz="1600" b="0" i="0" baseline="30000" dirty="0">
                <a:effectLst/>
                <a:latin typeface="Arial" panose="020B0604020202020204" pitchFamily="34" charset="0"/>
              </a:rPr>
              <a:t>+</a:t>
            </a:r>
            <a:r>
              <a:rPr lang="en-US" sz="1600" b="0" i="0" dirty="0">
                <a:effectLst/>
                <a:latin typeface="Arial" panose="020B0604020202020204" pitchFamily="34" charset="0"/>
              </a:rPr>
              <a:t>, where </a:t>
            </a:r>
            <a:r>
              <a:rPr lang="en-US" sz="1600" b="0" i="1" dirty="0">
                <a:effectLst/>
                <a:latin typeface="Arial" panose="020B0604020202020204" pitchFamily="34" charset="0"/>
              </a:rPr>
              <a:t>η</a:t>
            </a:r>
            <a:r>
              <a:rPr lang="en-US" sz="1600" b="0" i="0" baseline="30000" dirty="0">
                <a:effectLst/>
                <a:latin typeface="Arial" panose="020B0604020202020204" pitchFamily="34" charset="0"/>
              </a:rPr>
              <a:t>+</a:t>
            </a:r>
            <a:r>
              <a:rPr lang="en-US" sz="1600" b="0" i="0" dirty="0">
                <a:effectLst/>
                <a:latin typeface="Arial" panose="020B0604020202020204" pitchFamily="34" charset="0"/>
              </a:rPr>
              <a:t> &gt; 1. </a:t>
            </a:r>
          </a:p>
          <a:p>
            <a:pPr>
              <a:lnSpc>
                <a:spcPct val="90000"/>
              </a:lnSpc>
            </a:pPr>
            <a:r>
              <a:rPr lang="en-US" sz="1600" b="0" i="0" dirty="0">
                <a:effectLst/>
                <a:latin typeface="Arial" panose="020B0604020202020204" pitchFamily="34" charset="0"/>
              </a:rPr>
              <a:t>The update values are calculated for each weight in the above manner, and finally each weight is changed by its own update value, in the opposite direction of that weight's partial derivative, so as to </a:t>
            </a:r>
            <a:r>
              <a:rPr lang="en-US" sz="1600" b="0" i="0" dirty="0" err="1">
                <a:effectLst/>
                <a:latin typeface="Arial" panose="020B0604020202020204" pitchFamily="34" charset="0"/>
              </a:rPr>
              <a:t>minimise</a:t>
            </a:r>
            <a:r>
              <a:rPr lang="en-US" sz="1600" b="0" i="0" dirty="0">
                <a:effectLst/>
                <a:latin typeface="Arial" panose="020B0604020202020204" pitchFamily="34" charset="0"/>
              </a:rPr>
              <a:t> the total error function. </a:t>
            </a:r>
            <a:r>
              <a:rPr lang="en-US" sz="1600" b="0" i="1" dirty="0">
                <a:effectLst/>
                <a:latin typeface="Arial" panose="020B0604020202020204" pitchFamily="34" charset="0"/>
              </a:rPr>
              <a:t>η</a:t>
            </a:r>
            <a:r>
              <a:rPr lang="en-US" sz="1600" b="0" i="0" baseline="30000" dirty="0">
                <a:effectLst/>
                <a:latin typeface="Arial" panose="020B0604020202020204" pitchFamily="34" charset="0"/>
              </a:rPr>
              <a:t>+</a:t>
            </a:r>
            <a:r>
              <a:rPr lang="en-US" sz="1600" b="0" i="0" dirty="0">
                <a:effectLst/>
                <a:latin typeface="Arial" panose="020B0604020202020204" pitchFamily="34" charset="0"/>
              </a:rPr>
              <a:t> is empirically set to 1.2 and </a:t>
            </a:r>
            <a:r>
              <a:rPr lang="en-US" sz="1600" b="0" i="1" dirty="0">
                <a:effectLst/>
                <a:latin typeface="Arial" panose="020B0604020202020204" pitchFamily="34" charset="0"/>
              </a:rPr>
              <a:t>η</a:t>
            </a:r>
            <a:r>
              <a:rPr lang="en-US" sz="1600" b="0" i="0" baseline="30000" dirty="0">
                <a:effectLst/>
                <a:latin typeface="Arial" panose="020B0604020202020204" pitchFamily="34" charset="0"/>
              </a:rPr>
              <a:t>−</a:t>
            </a:r>
            <a:r>
              <a:rPr lang="en-US" sz="1600" b="0" i="0" dirty="0">
                <a:effectLst/>
                <a:latin typeface="Arial" panose="020B0604020202020204" pitchFamily="34" charset="0"/>
              </a:rPr>
              <a:t> to 0.5.</a:t>
            </a:r>
            <a:endParaRPr lang="en-IN" sz="1600" dirty="0"/>
          </a:p>
        </p:txBody>
      </p:sp>
      <p:sp>
        <p:nvSpPr>
          <p:cNvPr id="15" name="Rectangle 14">
            <a:extLst>
              <a:ext uri="{FF2B5EF4-FFF2-40B4-BE49-F238E27FC236}">
                <a16:creationId xmlns:a16="http://schemas.microsoft.com/office/drawing/2014/main" id="{879398A9-0D0D-4901-BDDF-B3D93CECA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6706" y="964692"/>
            <a:ext cx="398678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11FEC3B-E514-4E21-B2CB-7903A7356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1298" y="1128683"/>
            <a:ext cx="3657600"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10AA371-AC89-4304-6209-9BF2AD8DAB03}"/>
              </a:ext>
            </a:extLst>
          </p:cNvPr>
          <p:cNvPicPr>
            <a:picLocks noChangeAspect="1"/>
          </p:cNvPicPr>
          <p:nvPr/>
        </p:nvPicPr>
        <p:blipFill>
          <a:blip r:embed="rId2"/>
          <a:stretch>
            <a:fillRect/>
          </a:stretch>
        </p:blipFill>
        <p:spPr>
          <a:xfrm>
            <a:off x="7715890" y="2322112"/>
            <a:ext cx="3328416" cy="2221717"/>
          </a:xfrm>
          <a:prstGeom prst="rect">
            <a:avLst/>
          </a:prstGeom>
        </p:spPr>
      </p:pic>
      <p:sp>
        <p:nvSpPr>
          <p:cNvPr id="5" name="Footer Placeholder 4">
            <a:extLst>
              <a:ext uri="{FF2B5EF4-FFF2-40B4-BE49-F238E27FC236}">
                <a16:creationId xmlns:a16="http://schemas.microsoft.com/office/drawing/2014/main" id="{66A94A47-6529-B0CC-0747-164D1712B63C}"/>
              </a:ext>
            </a:extLst>
          </p:cNvPr>
          <p:cNvSpPr>
            <a:spLocks noGrp="1"/>
          </p:cNvSpPr>
          <p:nvPr>
            <p:ph type="ftr" sz="quarter" idx="11"/>
          </p:nvPr>
        </p:nvSpPr>
        <p:spPr>
          <a:xfrm>
            <a:off x="798315" y="6236208"/>
            <a:ext cx="5901189" cy="320040"/>
          </a:xfrm>
        </p:spPr>
        <p:txBody>
          <a:bodyPr>
            <a:normAutofit/>
          </a:bodyPr>
          <a:lstStyle/>
          <a:p>
            <a:pPr>
              <a:spcAft>
                <a:spcPts val="600"/>
              </a:spcAft>
              <a:defRPr/>
            </a:pPr>
            <a:r>
              <a:rPr lang="es-ES"/>
              <a:t>Dr. Deepali Vora</a:t>
            </a:r>
          </a:p>
        </p:txBody>
      </p:sp>
      <p:sp>
        <p:nvSpPr>
          <p:cNvPr id="6" name="Slide Number Placeholder 5">
            <a:extLst>
              <a:ext uri="{FF2B5EF4-FFF2-40B4-BE49-F238E27FC236}">
                <a16:creationId xmlns:a16="http://schemas.microsoft.com/office/drawing/2014/main" id="{E0AF5558-8597-2A17-E4E3-2762C49D55AC}"/>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9370333F-211E-480A-A48D-622F2EB68390}" type="slidenum">
              <a:rPr lang="es-ES" altLang="en-US" smtClean="0"/>
              <a:pPr>
                <a:lnSpc>
                  <a:spcPct val="90000"/>
                </a:lnSpc>
                <a:spcAft>
                  <a:spcPts val="600"/>
                </a:spcAft>
              </a:pPr>
              <a:t>57</a:t>
            </a:fld>
            <a:endParaRPr lang="es-ES" altLang="en-US"/>
          </a:p>
        </p:txBody>
      </p:sp>
    </p:spTree>
    <p:extLst>
      <p:ext uri="{BB962C8B-B14F-4D97-AF65-F5344CB8AC3E}">
        <p14:creationId xmlns:p14="http://schemas.microsoft.com/office/powerpoint/2010/main" val="14001024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t>
            </a:r>
            <a:r>
              <a:rPr lang="en-US" dirty="0" err="1"/>
              <a:t>rprop</a:t>
            </a:r>
            <a:r>
              <a:rPr lang="en-US" dirty="0"/>
              <a:t> does not work with mini-batches</a:t>
            </a:r>
          </a:p>
        </p:txBody>
      </p:sp>
      <p:sp>
        <p:nvSpPr>
          <p:cNvPr id="3" name="Content Placeholder 2"/>
          <p:cNvSpPr>
            <a:spLocks noGrp="1"/>
          </p:cNvSpPr>
          <p:nvPr>
            <p:ph sz="half" idx="1"/>
          </p:nvPr>
        </p:nvSpPr>
        <p:spPr>
          <a:xfrm>
            <a:off x="1037968" y="2638044"/>
            <a:ext cx="4815715" cy="3101982"/>
          </a:xfrm>
        </p:spPr>
        <p:txBody>
          <a:bodyPr>
            <a:normAutofit lnSpcReduction="10000"/>
          </a:bodyPr>
          <a:lstStyle/>
          <a:p>
            <a:r>
              <a:rPr lang="en-US" sz="2200" dirty="0"/>
              <a:t>The idea behind stochastic gradient descent is that when the learning rate is small, it averages the gradients over successive mini-batches.</a:t>
            </a:r>
          </a:p>
          <a:p>
            <a:pPr lvl="1"/>
            <a:r>
              <a:rPr lang="en-US" sz="1900" dirty="0"/>
              <a:t>Consider a weight that gets a gradient of  </a:t>
            </a:r>
            <a:r>
              <a:rPr lang="en-US" sz="1900" dirty="0">
                <a:solidFill>
                  <a:srgbClr val="0000FF"/>
                </a:solidFill>
              </a:rPr>
              <a:t>+0.1 </a:t>
            </a:r>
            <a:r>
              <a:rPr lang="en-US" sz="1900" dirty="0"/>
              <a:t>on nine mini-batches and a gradient of </a:t>
            </a:r>
            <a:r>
              <a:rPr lang="en-US" sz="1900" dirty="0">
                <a:solidFill>
                  <a:srgbClr val="0000FF"/>
                </a:solidFill>
              </a:rPr>
              <a:t>-0.9 </a:t>
            </a:r>
            <a:r>
              <a:rPr lang="en-US" sz="1900" dirty="0"/>
              <a:t>on the tenth mini-batch. </a:t>
            </a:r>
          </a:p>
          <a:p>
            <a:pPr lvl="1"/>
            <a:r>
              <a:rPr lang="en-US" sz="1900" dirty="0"/>
              <a:t>We want this weight to stay roughly where it is.</a:t>
            </a:r>
          </a:p>
          <a:p>
            <a:pPr lvl="1"/>
            <a:endParaRPr lang="en-US" dirty="0"/>
          </a:p>
        </p:txBody>
      </p:sp>
      <p:sp>
        <p:nvSpPr>
          <p:cNvPr id="4" name="Content Placeholder 3"/>
          <p:cNvSpPr>
            <a:spLocks noGrp="1"/>
          </p:cNvSpPr>
          <p:nvPr>
            <p:ph sz="half" idx="2"/>
          </p:nvPr>
        </p:nvSpPr>
        <p:spPr>
          <a:xfrm>
            <a:off x="6338315" y="2638043"/>
            <a:ext cx="4786367" cy="3775113"/>
          </a:xfrm>
        </p:spPr>
        <p:txBody>
          <a:bodyPr>
            <a:noAutofit/>
          </a:bodyPr>
          <a:lstStyle/>
          <a:p>
            <a:r>
              <a:rPr lang="en-US" sz="2000" dirty="0" err="1"/>
              <a:t>rprop</a:t>
            </a:r>
            <a:r>
              <a:rPr lang="en-US" sz="2000" dirty="0"/>
              <a:t> would increment the weight nine times and decrement it once by about the same amount</a:t>
            </a:r>
            <a:r>
              <a:rPr lang="en-US" sz="2000" dirty="0">
                <a:solidFill>
                  <a:srgbClr val="0000FF"/>
                </a:solidFill>
              </a:rPr>
              <a:t> (assuming any adaptation of the step sizes is small on this time-scale). </a:t>
            </a:r>
          </a:p>
          <a:p>
            <a:pPr lvl="1"/>
            <a:r>
              <a:rPr lang="en-US" sz="1800" dirty="0"/>
              <a:t>So the weight would grow a lot.</a:t>
            </a:r>
          </a:p>
          <a:p>
            <a:r>
              <a:rPr lang="en-US" sz="2000" dirty="0"/>
              <a:t>Is there a way to combine:</a:t>
            </a:r>
          </a:p>
          <a:p>
            <a:pPr lvl="1"/>
            <a:r>
              <a:rPr lang="en-US" sz="1800" dirty="0"/>
              <a:t>The robustness of </a:t>
            </a:r>
            <a:r>
              <a:rPr lang="en-US" sz="1800" dirty="0" err="1"/>
              <a:t>rprop</a:t>
            </a:r>
            <a:r>
              <a:rPr lang="en-US" sz="1800" dirty="0"/>
              <a:t>.</a:t>
            </a:r>
          </a:p>
          <a:p>
            <a:pPr lvl="1"/>
            <a:r>
              <a:rPr lang="en-US" sz="1800" dirty="0"/>
              <a:t>The efficiency of mini-batches.</a:t>
            </a:r>
          </a:p>
          <a:p>
            <a:pPr lvl="1"/>
            <a:r>
              <a:rPr lang="en-US" sz="1800" dirty="0"/>
              <a:t>The effective averaging of gradients over mini-batches. </a:t>
            </a:r>
          </a:p>
        </p:txBody>
      </p:sp>
      <p:sp>
        <p:nvSpPr>
          <p:cNvPr id="5" name="Footer Placeholder 4">
            <a:extLst>
              <a:ext uri="{FF2B5EF4-FFF2-40B4-BE49-F238E27FC236}">
                <a16:creationId xmlns:a16="http://schemas.microsoft.com/office/drawing/2014/main" id="{16021461-3F0D-4357-AD43-803E2E035A00}"/>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D3F2EF05-F83B-40A0-A843-8160838899C9}"/>
              </a:ext>
            </a:extLst>
          </p:cNvPr>
          <p:cNvSpPr>
            <a:spLocks noGrp="1"/>
          </p:cNvSpPr>
          <p:nvPr>
            <p:ph type="sldNum" sz="quarter" idx="12"/>
          </p:nvPr>
        </p:nvSpPr>
        <p:spPr/>
        <p:txBody>
          <a:bodyPr/>
          <a:lstStyle/>
          <a:p>
            <a:fld id="{9370333F-211E-480A-A48D-622F2EB68390}" type="slidenum">
              <a:rPr lang="es-ES" altLang="en-US" smtClean="0"/>
              <a:pPr/>
              <a:t>58</a:t>
            </a:fld>
            <a:endParaRPr lang="es-ES" altLang="en-US"/>
          </a:p>
        </p:txBody>
      </p:sp>
    </p:spTree>
    <p:extLst>
      <p:ext uri="{BB962C8B-B14F-4D97-AF65-F5344CB8AC3E}">
        <p14:creationId xmlns:p14="http://schemas.microsoft.com/office/powerpoint/2010/main" val="101305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rmsprop</a:t>
            </a:r>
            <a:r>
              <a:rPr lang="en-US" dirty="0"/>
              <a:t>: A mini-batch version of </a:t>
            </a:r>
            <a:r>
              <a:rPr lang="en-US" dirty="0" err="1"/>
              <a:t>rprop</a:t>
            </a:r>
            <a:endParaRPr lang="en-US" dirty="0"/>
          </a:p>
        </p:txBody>
      </p:sp>
      <p:sp>
        <p:nvSpPr>
          <p:cNvPr id="3" name="Content Placeholder 2"/>
          <p:cNvSpPr>
            <a:spLocks noGrp="1"/>
          </p:cNvSpPr>
          <p:nvPr>
            <p:ph idx="1"/>
          </p:nvPr>
        </p:nvSpPr>
        <p:spPr>
          <a:xfrm>
            <a:off x="1600200" y="2286000"/>
            <a:ext cx="9158722" cy="3694670"/>
          </a:xfrm>
        </p:spPr>
        <p:txBody>
          <a:bodyPr>
            <a:normAutofit/>
          </a:bodyPr>
          <a:lstStyle/>
          <a:p>
            <a:r>
              <a:rPr lang="en-US" sz="2000" dirty="0" err="1"/>
              <a:t>rprop</a:t>
            </a:r>
            <a:r>
              <a:rPr lang="en-US" sz="2000" dirty="0"/>
              <a:t> is equivalent to using the gradient but also dividing by the size of the gradient.</a:t>
            </a:r>
          </a:p>
          <a:p>
            <a:pPr lvl="1"/>
            <a:r>
              <a:rPr lang="en-US" sz="1800" dirty="0"/>
              <a:t>The problem with mini-batch </a:t>
            </a:r>
            <a:r>
              <a:rPr lang="en-US" sz="1800" dirty="0" err="1"/>
              <a:t>rprop</a:t>
            </a:r>
            <a:r>
              <a:rPr lang="en-US" sz="1800" dirty="0"/>
              <a:t> is that we divide by a different number for each mini-batch. So why not force the number we divide by to be very similar for adjacent mini-batches? </a:t>
            </a:r>
          </a:p>
          <a:p>
            <a:r>
              <a:rPr lang="en-US" sz="2000" dirty="0" err="1"/>
              <a:t>rmsprop</a:t>
            </a:r>
            <a:r>
              <a:rPr lang="en-US" sz="2000" dirty="0"/>
              <a:t>: Keep a moving average of the squared gradient for each weight</a:t>
            </a:r>
            <a:endParaRPr lang="en-US" sz="2000" i="1" dirty="0"/>
          </a:p>
          <a:p>
            <a:endParaRPr lang="en-US" dirty="0"/>
          </a:p>
          <a:p>
            <a:pPr marL="0" indent="0">
              <a:buNone/>
            </a:pPr>
            <a:endParaRPr lang="en-US" dirty="0"/>
          </a:p>
          <a:p>
            <a:r>
              <a:rPr lang="en-US" sz="2400" dirty="0"/>
              <a:t>Dividing the gradient by                                                  makes the learning work much better.</a:t>
            </a:r>
          </a:p>
        </p:txBody>
      </p:sp>
      <p:sp>
        <p:nvSpPr>
          <p:cNvPr id="4" name="Footer Placeholder 3">
            <a:extLst>
              <a:ext uri="{FF2B5EF4-FFF2-40B4-BE49-F238E27FC236}">
                <a16:creationId xmlns:a16="http://schemas.microsoft.com/office/drawing/2014/main" id="{ABFC0B10-999A-4344-A39B-CBF98324D982}"/>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185C9B0E-B69F-4025-AAB9-E55090C0AFD5}"/>
              </a:ext>
            </a:extLst>
          </p:cNvPr>
          <p:cNvSpPr>
            <a:spLocks noGrp="1"/>
          </p:cNvSpPr>
          <p:nvPr>
            <p:ph type="sldNum" sz="quarter" idx="12"/>
          </p:nvPr>
        </p:nvSpPr>
        <p:spPr/>
        <p:txBody>
          <a:bodyPr/>
          <a:lstStyle/>
          <a:p>
            <a:fld id="{9370333F-211E-480A-A48D-622F2EB68390}" type="slidenum">
              <a:rPr lang="es-ES" altLang="en-US" smtClean="0"/>
              <a:pPr/>
              <a:t>59</a:t>
            </a:fld>
            <a:endParaRPr lang="es-ES" altLang="en-US"/>
          </a:p>
        </p:txBody>
      </p:sp>
      <p:graphicFrame>
        <p:nvGraphicFramePr>
          <p:cNvPr id="5" name="Object 4"/>
          <p:cNvGraphicFramePr>
            <a:graphicFrameLocks noChangeAspect="1"/>
          </p:cNvGraphicFramePr>
          <p:nvPr>
            <p:extLst>
              <p:ext uri="{D42A27DB-BD31-4B8C-83A1-F6EECF244321}">
                <p14:modId xmlns:p14="http://schemas.microsoft.com/office/powerpoint/2010/main" val="2207680893"/>
              </p:ext>
            </p:extLst>
          </p:nvPr>
        </p:nvGraphicFramePr>
        <p:xfrm>
          <a:off x="1839058" y="4058425"/>
          <a:ext cx="9075559" cy="923671"/>
        </p:xfrm>
        <a:graphic>
          <a:graphicData uri="http://schemas.openxmlformats.org/presentationml/2006/ole">
            <mc:AlternateContent xmlns:mc="http://schemas.openxmlformats.org/markup-compatibility/2006">
              <mc:Choice xmlns:v="urn:schemas-microsoft-com:vml" Requires="v">
                <p:oleObj name="Equation" r:id="rId3" imgW="3592800" imgH="356400" progId="Equation.3">
                  <p:embed/>
                </p:oleObj>
              </mc:Choice>
              <mc:Fallback>
                <p:oleObj name="Equation" r:id="rId3" imgW="3592800" imgH="356400" progId="Equation.3">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058" y="4058425"/>
                        <a:ext cx="9075559" cy="923671"/>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178824525"/>
              </p:ext>
            </p:extLst>
          </p:nvPr>
        </p:nvGraphicFramePr>
        <p:xfrm>
          <a:off x="5461686" y="4757511"/>
          <a:ext cx="2817126" cy="590776"/>
        </p:xfrm>
        <a:graphic>
          <a:graphicData uri="http://schemas.openxmlformats.org/presentationml/2006/ole">
            <mc:AlternateContent xmlns:mc="http://schemas.openxmlformats.org/markup-compatibility/2006">
              <mc:Choice xmlns:v="urn:schemas-microsoft-com:vml" Requires="v">
                <p:oleObj name="Equation" r:id="rId5" imgW="1197360" imgH="237600" progId="Equation.3">
                  <p:embed/>
                </p:oleObj>
              </mc:Choice>
              <mc:Fallback>
                <p:oleObj name="Equation" r:id="rId5" imgW="1197360" imgH="237600" progId="Equation.3">
                  <p:embed/>
                  <p:pic>
                    <p:nvPicPr>
                      <p:cNvPr id="8"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1686" y="4757511"/>
                        <a:ext cx="2817126" cy="590776"/>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98308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Further developments of </a:t>
            </a:r>
            <a:r>
              <a:rPr lang="en-CA" dirty="0" err="1"/>
              <a:t>rmsprop</a:t>
            </a:r>
            <a:endParaRPr lang="en-US" dirty="0"/>
          </a:p>
        </p:txBody>
      </p:sp>
      <p:sp>
        <p:nvSpPr>
          <p:cNvPr id="3" name="Content Placeholder 2"/>
          <p:cNvSpPr>
            <a:spLocks noGrp="1"/>
          </p:cNvSpPr>
          <p:nvPr>
            <p:ph idx="1"/>
          </p:nvPr>
        </p:nvSpPr>
        <p:spPr>
          <a:xfrm>
            <a:off x="2231136" y="2335428"/>
            <a:ext cx="7729728" cy="3682314"/>
          </a:xfrm>
        </p:spPr>
        <p:txBody>
          <a:bodyPr>
            <a:normAutofit fontScale="92500" lnSpcReduction="10000"/>
          </a:bodyPr>
          <a:lstStyle/>
          <a:p>
            <a:r>
              <a:rPr lang="en-US" sz="2000" dirty="0"/>
              <a:t>Combining </a:t>
            </a:r>
            <a:r>
              <a:rPr lang="en-US" sz="2000" dirty="0" err="1"/>
              <a:t>rmsprop</a:t>
            </a:r>
            <a:r>
              <a:rPr lang="en-US" sz="2000" dirty="0"/>
              <a:t> with standard momentum</a:t>
            </a:r>
          </a:p>
          <a:p>
            <a:pPr lvl="1"/>
            <a:r>
              <a:rPr lang="en-US" sz="1800" dirty="0"/>
              <a:t>Momentum does not help as much as it normally does. Needs more investigation.</a:t>
            </a:r>
          </a:p>
          <a:p>
            <a:r>
              <a:rPr lang="en-US" sz="2000" dirty="0"/>
              <a:t>Combining </a:t>
            </a:r>
            <a:r>
              <a:rPr lang="en-US" sz="2000" dirty="0" err="1"/>
              <a:t>rmsprop</a:t>
            </a:r>
            <a:r>
              <a:rPr lang="en-US" sz="2000" dirty="0"/>
              <a:t> with </a:t>
            </a:r>
            <a:r>
              <a:rPr lang="en-US" sz="2000" dirty="0" err="1"/>
              <a:t>Nesterov</a:t>
            </a:r>
            <a:r>
              <a:rPr lang="en-US" sz="2000" dirty="0"/>
              <a:t> momentum (</a:t>
            </a:r>
            <a:r>
              <a:rPr lang="en-US" sz="2000" dirty="0" err="1"/>
              <a:t>Sutskever</a:t>
            </a:r>
            <a:r>
              <a:rPr lang="en-US" sz="2000" dirty="0"/>
              <a:t> 2012)</a:t>
            </a:r>
          </a:p>
          <a:p>
            <a:pPr lvl="1"/>
            <a:r>
              <a:rPr lang="en-US" sz="1800" dirty="0"/>
              <a:t>It works best if the RMS of the recent gradients is used to divide the correction rather than the jump in the direction of accumulated corrections.</a:t>
            </a:r>
          </a:p>
          <a:p>
            <a:r>
              <a:rPr lang="en-US" sz="2000" dirty="0"/>
              <a:t>Combining </a:t>
            </a:r>
            <a:r>
              <a:rPr lang="en-US" sz="2000" dirty="0" err="1"/>
              <a:t>rmsprop</a:t>
            </a:r>
            <a:r>
              <a:rPr lang="en-US" sz="2000" dirty="0"/>
              <a:t> with adaptive learning rates for each connection </a:t>
            </a:r>
          </a:p>
          <a:p>
            <a:pPr lvl="1"/>
            <a:r>
              <a:rPr lang="en-US" sz="1800" dirty="0"/>
              <a:t>Needs more investigation.</a:t>
            </a:r>
          </a:p>
          <a:p>
            <a:r>
              <a:rPr lang="en-US" sz="2000" dirty="0"/>
              <a:t>Other methods related to </a:t>
            </a:r>
            <a:r>
              <a:rPr lang="en-US" sz="2000" dirty="0" err="1"/>
              <a:t>rmsprop</a:t>
            </a:r>
            <a:endParaRPr lang="en-US" sz="2000" dirty="0"/>
          </a:p>
          <a:p>
            <a:pPr lvl="1"/>
            <a:r>
              <a:rPr lang="en-US" sz="1800" dirty="0" err="1"/>
              <a:t>Yann</a:t>
            </a:r>
            <a:r>
              <a:rPr lang="en-US" sz="1800" dirty="0"/>
              <a:t> </a:t>
            </a:r>
            <a:r>
              <a:rPr lang="en-US" sz="1800" dirty="0" err="1"/>
              <a:t>LeCun’s</a:t>
            </a:r>
            <a:r>
              <a:rPr lang="en-US" sz="1800" dirty="0"/>
              <a:t> group has a fancy version in “No more pesky learning rates”</a:t>
            </a:r>
          </a:p>
          <a:p>
            <a:endParaRPr lang="en-US" dirty="0"/>
          </a:p>
        </p:txBody>
      </p:sp>
      <p:sp>
        <p:nvSpPr>
          <p:cNvPr id="4" name="Footer Placeholder 3">
            <a:extLst>
              <a:ext uri="{FF2B5EF4-FFF2-40B4-BE49-F238E27FC236}">
                <a16:creationId xmlns:a16="http://schemas.microsoft.com/office/drawing/2014/main" id="{CC587180-3547-45AA-A346-7D399C19364F}"/>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94C5F314-50CD-4779-A45C-D15EF378367B}"/>
              </a:ext>
            </a:extLst>
          </p:cNvPr>
          <p:cNvSpPr>
            <a:spLocks noGrp="1"/>
          </p:cNvSpPr>
          <p:nvPr>
            <p:ph type="sldNum" sz="quarter" idx="12"/>
          </p:nvPr>
        </p:nvSpPr>
        <p:spPr/>
        <p:txBody>
          <a:bodyPr/>
          <a:lstStyle/>
          <a:p>
            <a:fld id="{9370333F-211E-480A-A48D-622F2EB68390}" type="slidenum">
              <a:rPr lang="es-ES" altLang="en-US" smtClean="0"/>
              <a:pPr/>
              <a:t>60</a:t>
            </a:fld>
            <a:endParaRPr lang="es-ES" altLang="en-US"/>
          </a:p>
        </p:txBody>
      </p:sp>
    </p:spTree>
    <p:extLst>
      <p:ext uri="{BB962C8B-B14F-4D97-AF65-F5344CB8AC3E}">
        <p14:creationId xmlns:p14="http://schemas.microsoft.com/office/powerpoint/2010/main" val="209933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A82C1-ED80-3C98-70B6-FED598576EC5}"/>
              </a:ext>
            </a:extLst>
          </p:cNvPr>
          <p:cNvSpPr>
            <a:spLocks noGrp="1"/>
          </p:cNvSpPr>
          <p:nvPr>
            <p:ph type="title"/>
          </p:nvPr>
        </p:nvSpPr>
        <p:spPr/>
        <p:txBody>
          <a:bodyPr/>
          <a:lstStyle/>
          <a:p>
            <a:r>
              <a:rPr lang="en-IN" dirty="0" err="1"/>
              <a:t>Adadelta</a:t>
            </a:r>
            <a:endParaRPr lang="en-IN" dirty="0"/>
          </a:p>
        </p:txBody>
      </p:sp>
      <p:sp>
        <p:nvSpPr>
          <p:cNvPr id="3" name="Content Placeholder 2">
            <a:extLst>
              <a:ext uri="{FF2B5EF4-FFF2-40B4-BE49-F238E27FC236}">
                <a16:creationId xmlns:a16="http://schemas.microsoft.com/office/drawing/2014/main" id="{03508425-9E97-E983-2F49-7E77BF8DEB0B}"/>
              </a:ext>
            </a:extLst>
          </p:cNvPr>
          <p:cNvSpPr>
            <a:spLocks noGrp="1"/>
          </p:cNvSpPr>
          <p:nvPr>
            <p:ph idx="1"/>
          </p:nvPr>
        </p:nvSpPr>
        <p:spPr>
          <a:xfrm>
            <a:off x="2231136" y="2638044"/>
            <a:ext cx="7729728" cy="3498596"/>
          </a:xfrm>
        </p:spPr>
        <p:txBody>
          <a:bodyPr>
            <a:normAutofit fontScale="92500" lnSpcReduction="10000"/>
          </a:bodyPr>
          <a:lstStyle/>
          <a:p>
            <a:r>
              <a:rPr lang="en-US" b="0" i="0" dirty="0" err="1">
                <a:solidFill>
                  <a:srgbClr val="242424"/>
                </a:solidFill>
                <a:effectLst/>
                <a:latin typeface="source-serif-pro"/>
              </a:rPr>
              <a:t>Adadelta</a:t>
            </a:r>
            <a:r>
              <a:rPr lang="en-US" b="0" i="0" dirty="0">
                <a:solidFill>
                  <a:srgbClr val="242424"/>
                </a:solidFill>
                <a:effectLst/>
                <a:latin typeface="source-serif-pro"/>
              </a:rPr>
              <a:t> updates the step size using a moving average of squared gradients</a:t>
            </a:r>
          </a:p>
          <a:p>
            <a:r>
              <a:rPr lang="en-US" b="0" i="0" dirty="0" err="1">
                <a:effectLst/>
                <a:latin typeface="Roboto" panose="02000000000000000000" pitchFamily="2" charset="0"/>
              </a:rPr>
              <a:t>Adadelta</a:t>
            </a:r>
            <a:r>
              <a:rPr lang="en-US" b="0" i="0" dirty="0">
                <a:effectLst/>
                <a:latin typeface="Roboto" panose="02000000000000000000" pitchFamily="2" charset="0"/>
              </a:rPr>
              <a:t> uses two state variables:</a:t>
            </a:r>
          </a:p>
          <a:p>
            <a:r>
              <a:rPr lang="en-US" b="0" i="0" dirty="0">
                <a:solidFill>
                  <a:srgbClr val="0070C0"/>
                </a:solidFill>
                <a:effectLst/>
                <a:latin typeface="Roboto" panose="02000000000000000000" pitchFamily="2" charset="0"/>
              </a:rPr>
              <a:t>Squared Gradient Accumulator (S): </a:t>
            </a:r>
            <a:r>
              <a:rPr lang="en-US" b="0" i="0" dirty="0">
                <a:effectLst/>
                <a:latin typeface="Roboto" panose="02000000000000000000" pitchFamily="2" charset="0"/>
              </a:rPr>
              <a:t>This accumulator keeps track of the exponentially weighted average of the squared gradients.</a:t>
            </a:r>
          </a:p>
          <a:p>
            <a:r>
              <a:rPr lang="en-US" b="0" i="0" dirty="0">
                <a:solidFill>
                  <a:srgbClr val="0070C0"/>
                </a:solidFill>
                <a:effectLst/>
                <a:latin typeface="Roboto" panose="02000000000000000000" pitchFamily="2" charset="0"/>
              </a:rPr>
              <a:t>Squared Parameter Update Accumulator (</a:t>
            </a:r>
            <a:r>
              <a:rPr lang="en-US" b="0" i="0" dirty="0" err="1">
                <a:solidFill>
                  <a:srgbClr val="0070C0"/>
                </a:solidFill>
                <a:effectLst/>
                <a:latin typeface="Roboto" panose="02000000000000000000" pitchFamily="2" charset="0"/>
              </a:rPr>
              <a:t>Δx</a:t>
            </a:r>
            <a:r>
              <a:rPr lang="en-US" b="0" i="0" dirty="0">
                <a:solidFill>
                  <a:srgbClr val="0070C0"/>
                </a:solidFill>
                <a:effectLst/>
                <a:latin typeface="Roboto" panose="02000000000000000000" pitchFamily="2" charset="0"/>
              </a:rPr>
              <a:t>): </a:t>
            </a:r>
            <a:r>
              <a:rPr lang="en-US" b="0" i="0" dirty="0">
                <a:effectLst/>
                <a:latin typeface="Roboto" panose="02000000000000000000" pitchFamily="2" charset="0"/>
              </a:rPr>
              <a:t>This accumulator tracks the exponentially weighted average of the squared updates made to your model parameters.  </a:t>
            </a:r>
          </a:p>
          <a:p>
            <a:r>
              <a:rPr lang="en-US" b="0" i="0" dirty="0" err="1">
                <a:effectLst/>
                <a:latin typeface="Roboto" panose="02000000000000000000" pitchFamily="2" charset="0"/>
              </a:rPr>
              <a:t>Adadelta</a:t>
            </a:r>
            <a:r>
              <a:rPr lang="en-US" b="0" i="0" dirty="0">
                <a:effectLst/>
                <a:latin typeface="Roboto" panose="02000000000000000000" pitchFamily="2" charset="0"/>
              </a:rPr>
              <a:t> has no learning rate parameter. Instead, it uses the rate of change in the parameters itself to adapt the learning rate.</a:t>
            </a:r>
          </a:p>
          <a:p>
            <a:pPr algn="l">
              <a:lnSpc>
                <a:spcPts val="1800"/>
              </a:lnSpc>
              <a:buFont typeface="Arial" panose="020B0604020202020204" pitchFamily="34" charset="0"/>
              <a:buChar char="•"/>
            </a:pPr>
            <a:r>
              <a:rPr lang="en-US" b="0" i="0" dirty="0" err="1">
                <a:effectLst/>
                <a:latin typeface="Roboto" panose="02000000000000000000" pitchFamily="2" charset="0"/>
              </a:rPr>
              <a:t>Adadelta</a:t>
            </a:r>
            <a:r>
              <a:rPr lang="en-US" b="0" i="0" dirty="0">
                <a:effectLst/>
                <a:latin typeface="Roboto" panose="02000000000000000000" pitchFamily="2" charset="0"/>
              </a:rPr>
              <a:t> requires two state variables to store the second moments of gradient and the change in parameters.</a:t>
            </a:r>
          </a:p>
          <a:p>
            <a:endParaRPr lang="en-US" b="0" i="0" dirty="0">
              <a:solidFill>
                <a:srgbClr val="242424"/>
              </a:solidFill>
              <a:effectLst/>
              <a:latin typeface="source-serif-pro"/>
            </a:endParaRPr>
          </a:p>
          <a:p>
            <a:endParaRPr lang="en-IN" dirty="0"/>
          </a:p>
        </p:txBody>
      </p:sp>
      <p:sp>
        <p:nvSpPr>
          <p:cNvPr id="4" name="Footer Placeholder 3">
            <a:extLst>
              <a:ext uri="{FF2B5EF4-FFF2-40B4-BE49-F238E27FC236}">
                <a16:creationId xmlns:a16="http://schemas.microsoft.com/office/drawing/2014/main" id="{9A89CEA4-0780-EA48-6990-97B1B58BEF60}"/>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694E10E1-9628-91DD-86D7-97BA4AFC384C}"/>
              </a:ext>
            </a:extLst>
          </p:cNvPr>
          <p:cNvSpPr>
            <a:spLocks noGrp="1"/>
          </p:cNvSpPr>
          <p:nvPr>
            <p:ph type="sldNum" sz="quarter" idx="12"/>
          </p:nvPr>
        </p:nvSpPr>
        <p:spPr/>
        <p:txBody>
          <a:bodyPr/>
          <a:lstStyle/>
          <a:p>
            <a:fld id="{9370333F-211E-480A-A48D-622F2EB68390}" type="slidenum">
              <a:rPr lang="es-ES" altLang="en-US" smtClean="0"/>
              <a:pPr/>
              <a:t>61</a:t>
            </a:fld>
            <a:endParaRPr lang="es-ES" altLang="en-US"/>
          </a:p>
        </p:txBody>
      </p:sp>
    </p:spTree>
    <p:extLst>
      <p:ext uri="{BB962C8B-B14F-4D97-AF65-F5344CB8AC3E}">
        <p14:creationId xmlns:p14="http://schemas.microsoft.com/office/powerpoint/2010/main" val="20808596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98C56-67AA-7D7B-6621-10596CB33865}"/>
              </a:ext>
            </a:extLst>
          </p:cNvPr>
          <p:cNvSpPr>
            <a:spLocks noGrp="1"/>
          </p:cNvSpPr>
          <p:nvPr>
            <p:ph type="title"/>
          </p:nvPr>
        </p:nvSpPr>
        <p:spPr/>
        <p:txBody>
          <a:bodyPr/>
          <a:lstStyle/>
          <a:p>
            <a:r>
              <a:rPr lang="en-IN" dirty="0" err="1"/>
              <a:t>Adadelta</a:t>
            </a:r>
            <a:r>
              <a:rPr lang="en-IN" dirty="0"/>
              <a:t> - Parameter Update </a:t>
            </a:r>
          </a:p>
        </p:txBody>
      </p:sp>
      <p:sp>
        <p:nvSpPr>
          <p:cNvPr id="3" name="Content Placeholder 2">
            <a:extLst>
              <a:ext uri="{FF2B5EF4-FFF2-40B4-BE49-F238E27FC236}">
                <a16:creationId xmlns:a16="http://schemas.microsoft.com/office/drawing/2014/main" id="{C681B85C-6D19-F9FE-8482-05D01C71AED5}"/>
              </a:ext>
            </a:extLst>
          </p:cNvPr>
          <p:cNvSpPr>
            <a:spLocks noGrp="1"/>
          </p:cNvSpPr>
          <p:nvPr>
            <p:ph idx="1"/>
          </p:nvPr>
        </p:nvSpPr>
        <p:spPr>
          <a:xfrm>
            <a:off x="2231136" y="2638044"/>
            <a:ext cx="7729728" cy="3386836"/>
          </a:xfrm>
        </p:spPr>
        <p:txBody>
          <a:bodyPr>
            <a:normAutofit fontScale="92500" lnSpcReduction="10000"/>
          </a:bodyPr>
          <a:lstStyle/>
          <a:p>
            <a:r>
              <a:rPr lang="en-US" dirty="0" err="1"/>
              <a:t>AdaDelta</a:t>
            </a:r>
            <a:r>
              <a:rPr lang="en-US" dirty="0"/>
              <a:t> uses a formula to update each model parameter based on the values stored in the accumulators.</a:t>
            </a:r>
          </a:p>
          <a:p>
            <a:r>
              <a:rPr lang="en-US" dirty="0"/>
              <a:t>The formula calculates the change (</a:t>
            </a:r>
            <a:r>
              <a:rPr lang="en-US" dirty="0" err="1"/>
              <a:t>Δθ_t</a:t>
            </a:r>
            <a:r>
              <a:rPr lang="en-US" dirty="0"/>
              <a:t>) to each parameter θ at each time step:</a:t>
            </a:r>
          </a:p>
          <a:p>
            <a:r>
              <a:rPr lang="en-US" dirty="0" err="1"/>
              <a:t>Δθ_t</a:t>
            </a:r>
            <a:r>
              <a:rPr lang="en-US" dirty="0"/>
              <a:t> = – (RMS[</a:t>
            </a:r>
            <a:r>
              <a:rPr lang="en-US" dirty="0" err="1"/>
              <a:t>Δx</a:t>
            </a:r>
            <a:r>
              <a:rPr lang="en-US" dirty="0"/>
              <a:t>]_t-1 / RMS[S]_t-1) * ∇θ(loss)_t</a:t>
            </a:r>
          </a:p>
          <a:p>
            <a:r>
              <a:rPr lang="en-US" dirty="0" err="1"/>
              <a:t>θ_t</a:t>
            </a:r>
            <a:r>
              <a:rPr lang="en-US" dirty="0"/>
              <a:t> = θ_t-1 + </a:t>
            </a:r>
            <a:r>
              <a:rPr lang="en-US" dirty="0" err="1"/>
              <a:t>Δθ_t</a:t>
            </a:r>
            <a:endParaRPr lang="en-US" dirty="0"/>
          </a:p>
          <a:p>
            <a:r>
              <a:rPr lang="en-US" dirty="0" err="1"/>
              <a:t>Δθ_t</a:t>
            </a:r>
            <a:r>
              <a:rPr lang="en-US" dirty="0"/>
              <a:t> represents the update to the parameter θ at time step t.</a:t>
            </a:r>
          </a:p>
          <a:p>
            <a:r>
              <a:rPr lang="en-US" dirty="0"/>
              <a:t>RMS[</a:t>
            </a:r>
            <a:r>
              <a:rPr lang="en-US" dirty="0" err="1"/>
              <a:t>Δx</a:t>
            </a:r>
            <a:r>
              <a:rPr lang="en-US" dirty="0"/>
              <a:t>]_t-1 is the root mean square of parameter updates up to time step t-1.</a:t>
            </a:r>
          </a:p>
          <a:p>
            <a:r>
              <a:rPr lang="en-US" dirty="0"/>
              <a:t>RMS[S]_t-1 is the root mean square of the squared gradients up to time step t-1.</a:t>
            </a:r>
          </a:p>
          <a:p>
            <a:r>
              <a:rPr lang="en-US" dirty="0"/>
              <a:t>∇θ(loss)_t is the gradient of the loss function concerning the parameter θ at time step t.</a:t>
            </a:r>
            <a:endParaRPr lang="en-IN" dirty="0"/>
          </a:p>
        </p:txBody>
      </p:sp>
      <p:sp>
        <p:nvSpPr>
          <p:cNvPr id="4" name="Footer Placeholder 3">
            <a:extLst>
              <a:ext uri="{FF2B5EF4-FFF2-40B4-BE49-F238E27FC236}">
                <a16:creationId xmlns:a16="http://schemas.microsoft.com/office/drawing/2014/main" id="{CAE9EF49-93D2-02E5-2DA0-E610DCA5698D}"/>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AF16A261-DD0F-9319-59D7-CB4D3883835D}"/>
              </a:ext>
            </a:extLst>
          </p:cNvPr>
          <p:cNvSpPr>
            <a:spLocks noGrp="1"/>
          </p:cNvSpPr>
          <p:nvPr>
            <p:ph type="sldNum" sz="quarter" idx="12"/>
          </p:nvPr>
        </p:nvSpPr>
        <p:spPr/>
        <p:txBody>
          <a:bodyPr/>
          <a:lstStyle/>
          <a:p>
            <a:fld id="{9370333F-211E-480A-A48D-622F2EB68390}" type="slidenum">
              <a:rPr lang="es-ES" altLang="en-US" smtClean="0"/>
              <a:pPr/>
              <a:t>62</a:t>
            </a:fld>
            <a:endParaRPr lang="es-ES" altLang="en-US"/>
          </a:p>
        </p:txBody>
      </p:sp>
    </p:spTree>
    <p:extLst>
      <p:ext uri="{BB962C8B-B14F-4D97-AF65-F5344CB8AC3E}">
        <p14:creationId xmlns:p14="http://schemas.microsoft.com/office/powerpoint/2010/main" val="8182104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39AF33-D125-F868-E259-617E8710B2FA}"/>
              </a:ext>
            </a:extLst>
          </p:cNvPr>
          <p:cNvSpPr>
            <a:spLocks noGrp="1"/>
          </p:cNvSpPr>
          <p:nvPr>
            <p:ph type="ftr" sz="quarter" idx="11"/>
          </p:nvPr>
        </p:nvSpPr>
        <p:spPr/>
        <p:txBody>
          <a:bodyPr/>
          <a:lstStyle/>
          <a:p>
            <a:pPr>
              <a:defRPr/>
            </a:pPr>
            <a:r>
              <a:rPr lang="es-ES" dirty="0"/>
              <a:t>Dr. Deepali Vora</a:t>
            </a:r>
          </a:p>
        </p:txBody>
      </p:sp>
      <p:sp>
        <p:nvSpPr>
          <p:cNvPr id="2" name="Title 1">
            <a:extLst>
              <a:ext uri="{FF2B5EF4-FFF2-40B4-BE49-F238E27FC236}">
                <a16:creationId xmlns:a16="http://schemas.microsoft.com/office/drawing/2014/main" id="{8E98C508-309B-0EA7-C5C3-2A9ACB895222}"/>
              </a:ext>
            </a:extLst>
          </p:cNvPr>
          <p:cNvSpPr>
            <a:spLocks noGrp="1"/>
          </p:cNvSpPr>
          <p:nvPr>
            <p:ph type="title"/>
          </p:nvPr>
        </p:nvSpPr>
        <p:spPr/>
        <p:txBody>
          <a:bodyPr/>
          <a:lstStyle/>
          <a:p>
            <a:r>
              <a:rPr lang="en-IN" dirty="0"/>
              <a:t>Adam (</a:t>
            </a:r>
            <a:r>
              <a:rPr lang="en-IN" b="0" i="0" dirty="0">
                <a:solidFill>
                  <a:srgbClr val="05192D"/>
                </a:solidFill>
                <a:effectLst/>
                <a:latin typeface="Studio-Feixen-Sans"/>
              </a:rPr>
              <a:t>Adaptive Moment Estimation)</a:t>
            </a:r>
            <a:endParaRPr lang="en-IN" dirty="0"/>
          </a:p>
        </p:txBody>
      </p:sp>
      <p:sp>
        <p:nvSpPr>
          <p:cNvPr id="3" name="Content Placeholder 2">
            <a:extLst>
              <a:ext uri="{FF2B5EF4-FFF2-40B4-BE49-F238E27FC236}">
                <a16:creationId xmlns:a16="http://schemas.microsoft.com/office/drawing/2014/main" id="{400F57C8-A948-7C05-5783-77854142D54E}"/>
              </a:ext>
            </a:extLst>
          </p:cNvPr>
          <p:cNvSpPr>
            <a:spLocks noGrp="1"/>
          </p:cNvSpPr>
          <p:nvPr>
            <p:ph idx="1"/>
          </p:nvPr>
        </p:nvSpPr>
        <p:spPr>
          <a:xfrm>
            <a:off x="2231136" y="2153412"/>
            <a:ext cx="7729728" cy="4704588"/>
          </a:xfrm>
        </p:spPr>
        <p:txBody>
          <a:bodyPr>
            <a:normAutofit lnSpcReduction="10000"/>
          </a:bodyPr>
          <a:lstStyle/>
          <a:p>
            <a:r>
              <a:rPr lang="en-US" b="0" i="0" u="none" strike="noStrike" dirty="0">
                <a:solidFill>
                  <a:srgbClr val="05192D"/>
                </a:solidFill>
                <a:effectLst/>
                <a:latin typeface="Studio-Feixen-Sans"/>
              </a:rPr>
              <a:t>Adam combines the main ideas from two optimization techniques: momentum and RMSprop. </a:t>
            </a:r>
          </a:p>
          <a:p>
            <a:r>
              <a:rPr lang="en-US" b="0" i="0" u="none" strike="noStrike" dirty="0">
                <a:solidFill>
                  <a:srgbClr val="05192D"/>
                </a:solidFill>
                <a:effectLst/>
                <a:latin typeface="Studio-Feixen-Sans"/>
              </a:rPr>
              <a:t>It is named </a:t>
            </a:r>
            <a:r>
              <a:rPr lang="en-US" b="0" i="1" u="none" strike="noStrike" dirty="0">
                <a:solidFill>
                  <a:srgbClr val="05192D"/>
                </a:solidFill>
                <a:effectLst/>
                <a:latin typeface="Studio-Feixen-Sans"/>
              </a:rPr>
              <a:t>adaptive</a:t>
            </a:r>
            <a:r>
              <a:rPr lang="en-US" b="0" i="0" u="none" strike="noStrike" dirty="0">
                <a:solidFill>
                  <a:srgbClr val="05192D"/>
                </a:solidFill>
                <a:effectLst/>
                <a:latin typeface="Studio-Feixen-Sans"/>
              </a:rPr>
              <a:t> as it adjusts the learning rate for each parameter.</a:t>
            </a:r>
          </a:p>
          <a:p>
            <a:r>
              <a:rPr lang="en-US" b="0" i="0" u="none" strike="noStrike" dirty="0">
                <a:solidFill>
                  <a:srgbClr val="05192D"/>
                </a:solidFill>
                <a:effectLst/>
                <a:latin typeface="Studio-Feixen-Sans"/>
              </a:rPr>
              <a:t>Maintains an exponentially decaying average of </a:t>
            </a:r>
            <a:r>
              <a:rPr lang="en-US" b="0" i="0" u="none" strike="noStrike" dirty="0">
                <a:solidFill>
                  <a:srgbClr val="0070C0"/>
                </a:solidFill>
                <a:effectLst/>
                <a:latin typeface="Studio-Feixen-Sans"/>
              </a:rPr>
              <a:t>past gradients </a:t>
            </a:r>
            <a:r>
              <a:rPr lang="en-US" b="0" i="0" u="none" strike="noStrike" dirty="0">
                <a:solidFill>
                  <a:srgbClr val="05192D"/>
                </a:solidFill>
                <a:effectLst/>
                <a:latin typeface="Studio-Feixen-Sans"/>
              </a:rPr>
              <a:t>and </a:t>
            </a:r>
            <a:r>
              <a:rPr lang="en-US" b="0" i="0" u="none" strike="noStrike" dirty="0">
                <a:solidFill>
                  <a:srgbClr val="0070C0"/>
                </a:solidFill>
                <a:effectLst/>
                <a:latin typeface="Studio-Feixen-Sans"/>
              </a:rPr>
              <a:t>past squared gradients</a:t>
            </a:r>
            <a:endParaRPr lang="en-US" b="0" i="0" dirty="0">
              <a:solidFill>
                <a:srgbClr val="0070C0"/>
              </a:solidFill>
              <a:effectLst/>
              <a:latin typeface="Studio-Feixen-Sans"/>
            </a:endParaRPr>
          </a:p>
          <a:p>
            <a:r>
              <a:rPr lang="en-US" b="0" i="0" u="none" strike="noStrike" dirty="0">
                <a:solidFill>
                  <a:srgbClr val="05192D"/>
                </a:solidFill>
                <a:effectLst/>
                <a:latin typeface="Studio-Feixen-Sans"/>
              </a:rPr>
              <a:t>1. The first moment vector (m):</a:t>
            </a:r>
          </a:p>
          <a:p>
            <a:pPr lvl="1"/>
            <a:r>
              <a:rPr lang="en-US" b="0" i="0" u="none" strike="noStrike" dirty="0">
                <a:solidFill>
                  <a:srgbClr val="05192D"/>
                </a:solidFill>
                <a:effectLst/>
                <a:latin typeface="Studio-Feixen-Sans"/>
              </a:rPr>
              <a:t>It is an estimate of the mean (first moment) of gradients.</a:t>
            </a:r>
          </a:p>
          <a:p>
            <a:pPr lvl="1"/>
            <a:r>
              <a:rPr lang="en-US" b="0" i="0" u="none" strike="noStrike" dirty="0">
                <a:solidFill>
                  <a:srgbClr val="05192D"/>
                </a:solidFill>
                <a:effectLst/>
                <a:latin typeface="Studio-Feixen-Sans"/>
              </a:rPr>
              <a:t>Calculated as an exponentially decaying average of past gradients.</a:t>
            </a:r>
          </a:p>
          <a:p>
            <a:pPr lvl="1"/>
            <a:r>
              <a:rPr lang="en-US" b="0" i="0" u="none" strike="noStrike" dirty="0">
                <a:solidFill>
                  <a:srgbClr val="05192D"/>
                </a:solidFill>
                <a:effectLst/>
                <a:latin typeface="Studio-Feixen-Sans"/>
              </a:rPr>
              <a:t>Helps in estimating the </a:t>
            </a:r>
            <a:r>
              <a:rPr lang="en-US" b="0" i="0" u="none" strike="noStrike" dirty="0">
                <a:solidFill>
                  <a:srgbClr val="0070C0"/>
                </a:solidFill>
                <a:effectLst/>
                <a:latin typeface="Studio-Feixen-Sans"/>
              </a:rPr>
              <a:t>direction</a:t>
            </a:r>
            <a:r>
              <a:rPr lang="en-US" b="0" i="0" u="none" strike="noStrike" dirty="0">
                <a:solidFill>
                  <a:srgbClr val="05192D"/>
                </a:solidFill>
                <a:effectLst/>
                <a:latin typeface="Studio-Feixen-Sans"/>
              </a:rPr>
              <a:t> of the gradient.</a:t>
            </a:r>
          </a:p>
          <a:p>
            <a:r>
              <a:rPr lang="en-US" b="0" i="0" u="none" strike="noStrike" dirty="0">
                <a:solidFill>
                  <a:srgbClr val="05192D"/>
                </a:solidFill>
                <a:effectLst/>
                <a:latin typeface="Studio-Feixen-Sans"/>
              </a:rPr>
              <a:t>2. The second moment vector (v):</a:t>
            </a:r>
          </a:p>
          <a:p>
            <a:pPr lvl="1"/>
            <a:r>
              <a:rPr lang="en-US" b="0" i="0" u="none" strike="noStrike" dirty="0">
                <a:solidFill>
                  <a:srgbClr val="05192D"/>
                </a:solidFill>
                <a:effectLst/>
                <a:latin typeface="Studio-Feixen-Sans"/>
              </a:rPr>
              <a:t>It’s an estimate of the uncentered variance (second moment) of the gradients.</a:t>
            </a:r>
          </a:p>
          <a:p>
            <a:pPr lvl="1"/>
            <a:r>
              <a:rPr lang="en-US" b="0" i="0" u="none" strike="noStrike" dirty="0">
                <a:solidFill>
                  <a:srgbClr val="05192D"/>
                </a:solidFill>
                <a:effectLst/>
                <a:latin typeface="Studio-Feixen-Sans"/>
              </a:rPr>
              <a:t>Also calculated as an exponentially decaying average, but of squared gradients.</a:t>
            </a:r>
          </a:p>
          <a:p>
            <a:pPr lvl="1"/>
            <a:r>
              <a:rPr lang="en-US" b="0" i="0" u="none" strike="noStrike" dirty="0">
                <a:solidFill>
                  <a:srgbClr val="05192D"/>
                </a:solidFill>
                <a:effectLst/>
                <a:latin typeface="Studio-Feixen-Sans"/>
              </a:rPr>
              <a:t>Helps in adapting the </a:t>
            </a:r>
            <a:r>
              <a:rPr lang="en-US" b="0" i="0" u="none" strike="noStrike" dirty="0">
                <a:solidFill>
                  <a:srgbClr val="0070C0"/>
                </a:solidFill>
                <a:effectLst/>
                <a:latin typeface="Studio-Feixen-Sans"/>
              </a:rPr>
              <a:t>learning rate </a:t>
            </a:r>
            <a:r>
              <a:rPr lang="en-US" b="0" i="0" u="none" strike="noStrike" dirty="0">
                <a:solidFill>
                  <a:srgbClr val="05192D"/>
                </a:solidFill>
                <a:effectLst/>
                <a:latin typeface="Studio-Feixen-Sans"/>
              </a:rPr>
              <a:t>for each parameter.</a:t>
            </a:r>
          </a:p>
          <a:p>
            <a:endParaRPr lang="en-US" b="0" i="0" u="none" strike="noStrike" dirty="0">
              <a:solidFill>
                <a:srgbClr val="05192D"/>
              </a:solidFill>
              <a:effectLst/>
              <a:latin typeface="Studio-Feixen-Sans"/>
            </a:endParaRPr>
          </a:p>
          <a:p>
            <a:endParaRPr lang="en-IN" dirty="0"/>
          </a:p>
        </p:txBody>
      </p:sp>
      <p:sp>
        <p:nvSpPr>
          <p:cNvPr id="5" name="Slide Number Placeholder 4">
            <a:extLst>
              <a:ext uri="{FF2B5EF4-FFF2-40B4-BE49-F238E27FC236}">
                <a16:creationId xmlns:a16="http://schemas.microsoft.com/office/drawing/2014/main" id="{18EE7FAA-6A5D-255E-C993-AB5B3C927A17}"/>
              </a:ext>
            </a:extLst>
          </p:cNvPr>
          <p:cNvSpPr>
            <a:spLocks noGrp="1"/>
          </p:cNvSpPr>
          <p:nvPr>
            <p:ph type="sldNum" sz="quarter" idx="12"/>
          </p:nvPr>
        </p:nvSpPr>
        <p:spPr/>
        <p:txBody>
          <a:bodyPr/>
          <a:lstStyle/>
          <a:p>
            <a:fld id="{9370333F-211E-480A-A48D-622F2EB68390}" type="slidenum">
              <a:rPr lang="es-ES" altLang="en-US" smtClean="0"/>
              <a:pPr/>
              <a:t>63</a:t>
            </a:fld>
            <a:endParaRPr lang="es-ES" altLang="en-US"/>
          </a:p>
        </p:txBody>
      </p:sp>
    </p:spTree>
    <p:extLst>
      <p:ext uri="{BB962C8B-B14F-4D97-AF65-F5344CB8AC3E}">
        <p14:creationId xmlns:p14="http://schemas.microsoft.com/office/powerpoint/2010/main" val="13324936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0B127-BDA2-7B92-EE6B-51D838236C0F}"/>
              </a:ext>
            </a:extLst>
          </p:cNvPr>
          <p:cNvSpPr>
            <a:spLocks noGrp="1"/>
          </p:cNvSpPr>
          <p:nvPr>
            <p:ph type="title"/>
          </p:nvPr>
        </p:nvSpPr>
        <p:spPr/>
        <p:txBody>
          <a:bodyPr/>
          <a:lstStyle/>
          <a:p>
            <a:r>
              <a:rPr lang="en-IN" dirty="0"/>
              <a:t>Adam – key features</a:t>
            </a:r>
          </a:p>
        </p:txBody>
      </p:sp>
      <p:sp>
        <p:nvSpPr>
          <p:cNvPr id="3" name="Content Placeholder 2">
            <a:extLst>
              <a:ext uri="{FF2B5EF4-FFF2-40B4-BE49-F238E27FC236}">
                <a16:creationId xmlns:a16="http://schemas.microsoft.com/office/drawing/2014/main" id="{249F60AB-55A3-898A-18E4-9E3A4E6672A9}"/>
              </a:ext>
            </a:extLst>
          </p:cNvPr>
          <p:cNvSpPr>
            <a:spLocks noGrp="1"/>
          </p:cNvSpPr>
          <p:nvPr>
            <p:ph idx="1"/>
          </p:nvPr>
        </p:nvSpPr>
        <p:spPr/>
        <p:txBody>
          <a:bodyPr>
            <a:normAutofit fontScale="85000" lnSpcReduction="20000"/>
          </a:bodyPr>
          <a:lstStyle/>
          <a:p>
            <a:pPr algn="l">
              <a:spcAft>
                <a:spcPts val="900"/>
              </a:spcAft>
              <a:buFont typeface="Arial" panose="020B0604020202020204" pitchFamily="34" charset="0"/>
              <a:buChar char="•"/>
            </a:pPr>
            <a:r>
              <a:rPr lang="en-US" b="1" i="0" u="none" strike="noStrike" dirty="0">
                <a:solidFill>
                  <a:srgbClr val="05192D"/>
                </a:solidFill>
                <a:effectLst/>
                <a:latin typeface="Studio-Feixen-Sans"/>
              </a:rPr>
              <a:t>Adaptivity</a:t>
            </a:r>
            <a:r>
              <a:rPr lang="en-US" b="0" i="0" u="none" strike="noStrike" dirty="0">
                <a:solidFill>
                  <a:srgbClr val="05192D"/>
                </a:solidFill>
                <a:effectLst/>
                <a:latin typeface="Studio-Feixen-Sans"/>
              </a:rPr>
              <a:t>: Adam adapts the learning rate for each parameter, which can speed up learning in many cases.</a:t>
            </a:r>
            <a:endParaRPr lang="en-US" b="0" i="0" dirty="0">
              <a:solidFill>
                <a:srgbClr val="05192D"/>
              </a:solidFill>
              <a:effectLst/>
              <a:latin typeface="Studio-Feixen-Sans"/>
            </a:endParaRPr>
          </a:p>
          <a:p>
            <a:pPr algn="l">
              <a:spcAft>
                <a:spcPts val="900"/>
              </a:spcAft>
              <a:buFont typeface="Arial" panose="020B0604020202020204" pitchFamily="34" charset="0"/>
              <a:buChar char="•"/>
            </a:pPr>
            <a:r>
              <a:rPr lang="en-US" b="1" i="0" u="none" strike="noStrike" dirty="0">
                <a:solidFill>
                  <a:srgbClr val="05192D"/>
                </a:solidFill>
                <a:effectLst/>
                <a:latin typeface="Studio-Feixen-Sans"/>
              </a:rPr>
              <a:t>Momentum</a:t>
            </a:r>
            <a:r>
              <a:rPr lang="en-US" b="0" i="0" u="none" strike="noStrike" dirty="0">
                <a:solidFill>
                  <a:srgbClr val="05192D"/>
                </a:solidFill>
                <a:effectLst/>
                <a:latin typeface="Studio-Feixen-Sans"/>
              </a:rPr>
              <a:t>: It uses a form of momentum, helping it navigate complex surfaces such as ravines and saddle points more effectively.</a:t>
            </a:r>
            <a:endParaRPr lang="en-US" b="0" i="0" dirty="0">
              <a:solidFill>
                <a:srgbClr val="05192D"/>
              </a:solidFill>
              <a:effectLst/>
              <a:latin typeface="Studio-Feixen-Sans"/>
            </a:endParaRPr>
          </a:p>
          <a:p>
            <a:pPr algn="l">
              <a:spcAft>
                <a:spcPts val="900"/>
              </a:spcAft>
              <a:buFont typeface="Arial" panose="020B0604020202020204" pitchFamily="34" charset="0"/>
              <a:buChar char="•"/>
            </a:pPr>
            <a:r>
              <a:rPr lang="en-US" b="1" i="0" u="none" strike="noStrike" dirty="0">
                <a:solidFill>
                  <a:srgbClr val="05192D"/>
                </a:solidFill>
                <a:effectLst/>
                <a:latin typeface="Studio-Feixen-Sans"/>
              </a:rPr>
              <a:t>Bias correction</a:t>
            </a:r>
            <a:r>
              <a:rPr lang="en-US" b="0" i="0" u="none" strike="noStrike" dirty="0">
                <a:solidFill>
                  <a:srgbClr val="05192D"/>
                </a:solidFill>
                <a:effectLst/>
                <a:latin typeface="Studio-Feixen-Sans"/>
              </a:rPr>
              <a:t>: Adam includes bias correction terms, which help it perform well even in the initial stages of training.</a:t>
            </a:r>
            <a:endParaRPr lang="en-US" b="0" i="0" dirty="0">
              <a:solidFill>
                <a:srgbClr val="05192D"/>
              </a:solidFill>
              <a:effectLst/>
              <a:latin typeface="Studio-Feixen-Sans"/>
            </a:endParaRPr>
          </a:p>
          <a:p>
            <a:pPr algn="l">
              <a:spcAft>
                <a:spcPts val="900"/>
              </a:spcAft>
              <a:buFont typeface="Arial" panose="020B0604020202020204" pitchFamily="34" charset="0"/>
              <a:buChar char="•"/>
            </a:pPr>
            <a:r>
              <a:rPr lang="en-US" b="1" i="0" u="none" strike="noStrike" dirty="0">
                <a:solidFill>
                  <a:srgbClr val="05192D"/>
                </a:solidFill>
                <a:effectLst/>
                <a:latin typeface="Studio-Feixen-Sans"/>
              </a:rPr>
              <a:t>Computational efficiency</a:t>
            </a:r>
            <a:r>
              <a:rPr lang="en-US" b="0" i="0" u="none" strike="noStrike" dirty="0">
                <a:solidFill>
                  <a:srgbClr val="05192D"/>
                </a:solidFill>
                <a:effectLst/>
                <a:latin typeface="Studio-Feixen-Sans"/>
              </a:rPr>
              <a:t>: It’s relatively computationally efficient and has low memory requirements.</a:t>
            </a:r>
            <a:endParaRPr lang="en-US" b="0" i="0" dirty="0">
              <a:solidFill>
                <a:srgbClr val="05192D"/>
              </a:solidFill>
              <a:effectLst/>
              <a:latin typeface="Studio-Feixen-Sans"/>
            </a:endParaRPr>
          </a:p>
          <a:p>
            <a:pPr algn="l">
              <a:spcAft>
                <a:spcPts val="900"/>
              </a:spcAft>
              <a:buFont typeface="Arial" panose="020B0604020202020204" pitchFamily="34" charset="0"/>
              <a:buChar char="•"/>
            </a:pPr>
            <a:r>
              <a:rPr lang="en-US" b="1" i="0" u="none" strike="noStrike" dirty="0">
                <a:solidFill>
                  <a:srgbClr val="05192D"/>
                </a:solidFill>
                <a:effectLst/>
                <a:latin typeface="Studio-Feixen-Sans"/>
              </a:rPr>
              <a:t>Hyperparameter robustness</a:t>
            </a:r>
            <a:r>
              <a:rPr lang="en-US" b="0" i="0" u="none" strike="noStrike" dirty="0">
                <a:solidFill>
                  <a:srgbClr val="05192D"/>
                </a:solidFill>
                <a:effectLst/>
                <a:latin typeface="Studio-Feixen-Sans"/>
              </a:rPr>
              <a:t>: While the learning rate may need tuning, Adam is often less sensitive to hyperparameter choices than some other optimizers.</a:t>
            </a:r>
            <a:endParaRPr lang="en-US" b="0" i="0" dirty="0">
              <a:solidFill>
                <a:srgbClr val="05192D"/>
              </a:solidFill>
              <a:effectLst/>
              <a:latin typeface="Studio-Feixen-Sans"/>
            </a:endParaRPr>
          </a:p>
          <a:p>
            <a:endParaRPr lang="en-IN" dirty="0"/>
          </a:p>
        </p:txBody>
      </p:sp>
      <p:sp>
        <p:nvSpPr>
          <p:cNvPr id="4" name="Footer Placeholder 3">
            <a:extLst>
              <a:ext uri="{FF2B5EF4-FFF2-40B4-BE49-F238E27FC236}">
                <a16:creationId xmlns:a16="http://schemas.microsoft.com/office/drawing/2014/main" id="{56BA2498-4C8D-A609-A3C3-FFE8F57C5BBF}"/>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FCA75068-DC53-132C-5C12-479CEBFB10A2}"/>
              </a:ext>
            </a:extLst>
          </p:cNvPr>
          <p:cNvSpPr>
            <a:spLocks noGrp="1"/>
          </p:cNvSpPr>
          <p:nvPr>
            <p:ph type="sldNum" sz="quarter" idx="12"/>
          </p:nvPr>
        </p:nvSpPr>
        <p:spPr/>
        <p:txBody>
          <a:bodyPr/>
          <a:lstStyle/>
          <a:p>
            <a:fld id="{9370333F-211E-480A-A48D-622F2EB68390}" type="slidenum">
              <a:rPr lang="es-ES" altLang="en-US" smtClean="0"/>
              <a:pPr/>
              <a:t>64</a:t>
            </a:fld>
            <a:endParaRPr lang="es-ES" altLang="en-US"/>
          </a:p>
        </p:txBody>
      </p:sp>
    </p:spTree>
    <p:extLst>
      <p:ext uri="{BB962C8B-B14F-4D97-AF65-F5344CB8AC3E}">
        <p14:creationId xmlns:p14="http://schemas.microsoft.com/office/powerpoint/2010/main" val="42514781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1962" y="365127"/>
            <a:ext cx="7947389" cy="1325563"/>
          </a:xfrm>
        </p:spPr>
        <p:txBody>
          <a:bodyPr/>
          <a:lstStyle/>
          <a:p>
            <a:r>
              <a:rPr lang="en-US" dirty="0"/>
              <a:t>Flat regions in energy landscape</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91962" y="2477559"/>
            <a:ext cx="4004039" cy="3099901"/>
          </a:xfr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1" y="2477559"/>
            <a:ext cx="4004039" cy="3099901"/>
          </a:xfrm>
          <a:prstGeom prst="rect">
            <a:avLst/>
          </a:prstGeom>
        </p:spPr>
      </p:pic>
    </p:spTree>
    <p:extLst>
      <p:ext uri="{BB962C8B-B14F-4D97-AF65-F5344CB8AC3E}">
        <p14:creationId xmlns:p14="http://schemas.microsoft.com/office/powerpoint/2010/main" val="10061348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3A3A3-70F2-F76E-869E-2704FCF6BE68}"/>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4AC7D979-8465-FAF6-3375-5D092EE7E191}"/>
              </a:ext>
            </a:extLst>
          </p:cNvPr>
          <p:cNvSpPr>
            <a:spLocks noGrp="1"/>
          </p:cNvSpPr>
          <p:nvPr>
            <p:ph idx="1"/>
          </p:nvPr>
        </p:nvSpPr>
        <p:spPr/>
        <p:txBody>
          <a:bodyPr/>
          <a:lstStyle/>
          <a:p>
            <a:r>
              <a:rPr lang="en-IN" dirty="0"/>
              <a:t>Deep Learning specialization – Coursera</a:t>
            </a:r>
          </a:p>
          <a:p>
            <a:r>
              <a:rPr lang="en-IN" dirty="0"/>
              <a:t>Deep Learning Part 1 – NPTEL</a:t>
            </a:r>
          </a:p>
          <a:p>
            <a:r>
              <a:rPr lang="en-IN" dirty="0"/>
              <a:t>https://d2l.ai/chapter_optimization/rmsprop.html</a:t>
            </a:r>
          </a:p>
          <a:p>
            <a:endParaRPr lang="en-IN" dirty="0"/>
          </a:p>
        </p:txBody>
      </p:sp>
      <p:sp>
        <p:nvSpPr>
          <p:cNvPr id="4" name="Footer Placeholder 3">
            <a:extLst>
              <a:ext uri="{FF2B5EF4-FFF2-40B4-BE49-F238E27FC236}">
                <a16:creationId xmlns:a16="http://schemas.microsoft.com/office/drawing/2014/main" id="{DB1546D0-3176-324A-CC5F-A913683C6D87}"/>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A2E53C57-8E64-89FD-DB65-CECB8B7E37FD}"/>
              </a:ext>
            </a:extLst>
          </p:cNvPr>
          <p:cNvSpPr>
            <a:spLocks noGrp="1"/>
          </p:cNvSpPr>
          <p:nvPr>
            <p:ph type="sldNum" sz="quarter" idx="12"/>
          </p:nvPr>
        </p:nvSpPr>
        <p:spPr/>
        <p:txBody>
          <a:bodyPr/>
          <a:lstStyle/>
          <a:p>
            <a:fld id="{9370333F-211E-480A-A48D-622F2EB68390}" type="slidenum">
              <a:rPr lang="es-ES" altLang="en-US" smtClean="0"/>
              <a:pPr/>
              <a:t>66</a:t>
            </a:fld>
            <a:endParaRPr lang="es-ES" altLang="en-US"/>
          </a:p>
        </p:txBody>
      </p:sp>
    </p:spTree>
    <p:extLst>
      <p:ext uri="{BB962C8B-B14F-4D97-AF65-F5344CB8AC3E}">
        <p14:creationId xmlns:p14="http://schemas.microsoft.com/office/powerpoint/2010/main" val="34779647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1619"/>
            <a:ext cx="10972800" cy="1143000"/>
          </a:xfrm>
        </p:spPr>
        <p:txBody>
          <a:bodyPr>
            <a:normAutofit/>
          </a:bodyPr>
          <a:lstStyle/>
          <a:p>
            <a:r>
              <a:rPr lang="en-CA" dirty="0"/>
              <a:t>Summary of learning methods for neural networks</a:t>
            </a:r>
          </a:p>
        </p:txBody>
      </p:sp>
      <p:sp>
        <p:nvSpPr>
          <p:cNvPr id="3" name="Content Placeholder 2"/>
          <p:cNvSpPr>
            <a:spLocks noGrp="1"/>
          </p:cNvSpPr>
          <p:nvPr>
            <p:ph sz="half" idx="1"/>
          </p:nvPr>
        </p:nvSpPr>
        <p:spPr>
          <a:xfrm>
            <a:off x="609600" y="1154161"/>
            <a:ext cx="5588000" cy="4525963"/>
          </a:xfrm>
        </p:spPr>
        <p:txBody>
          <a:bodyPr>
            <a:normAutofit/>
          </a:bodyPr>
          <a:lstStyle/>
          <a:p>
            <a:r>
              <a:rPr lang="en-CA" dirty="0"/>
              <a:t>For small datasets (e.g. 10,000 cases) or bigger datasets without much redundancy, use a full-batch method.</a:t>
            </a:r>
          </a:p>
          <a:p>
            <a:pPr lvl="1"/>
            <a:r>
              <a:rPr lang="en-CA" dirty="0"/>
              <a:t>Conjugate gradient, LBFGS ...</a:t>
            </a:r>
          </a:p>
          <a:p>
            <a:pPr lvl="1"/>
            <a:r>
              <a:rPr lang="en-CA" dirty="0"/>
              <a:t>adaptive learning rates, </a:t>
            </a:r>
            <a:r>
              <a:rPr lang="en-CA" dirty="0" err="1"/>
              <a:t>rprop</a:t>
            </a:r>
            <a:r>
              <a:rPr lang="en-CA" dirty="0"/>
              <a:t> ...</a:t>
            </a:r>
          </a:p>
          <a:p>
            <a:r>
              <a:rPr lang="en-CA" dirty="0"/>
              <a:t>For big, redundant datasets use mini-batches.</a:t>
            </a:r>
          </a:p>
          <a:p>
            <a:pPr lvl="1"/>
            <a:r>
              <a:rPr lang="en-CA" dirty="0"/>
              <a:t>Try gradient descent with momentum.</a:t>
            </a:r>
          </a:p>
          <a:p>
            <a:pPr lvl="1"/>
            <a:r>
              <a:rPr lang="en-CA" dirty="0"/>
              <a:t>Try </a:t>
            </a:r>
            <a:r>
              <a:rPr lang="en-CA" dirty="0" err="1"/>
              <a:t>rmsprop</a:t>
            </a:r>
            <a:r>
              <a:rPr lang="en-CA" dirty="0"/>
              <a:t> (with momentum ?)</a:t>
            </a:r>
          </a:p>
          <a:p>
            <a:pPr lvl="1"/>
            <a:r>
              <a:rPr lang="en-CA" dirty="0"/>
              <a:t>Try </a:t>
            </a:r>
            <a:r>
              <a:rPr lang="en-CA" dirty="0" err="1"/>
              <a:t>LeCun’s</a:t>
            </a:r>
            <a:r>
              <a:rPr lang="en-CA" dirty="0"/>
              <a:t> latest recipe.</a:t>
            </a:r>
          </a:p>
          <a:p>
            <a:endParaRPr lang="en-CA" dirty="0"/>
          </a:p>
          <a:p>
            <a:endParaRPr lang="en-CA" dirty="0"/>
          </a:p>
        </p:txBody>
      </p:sp>
      <p:sp>
        <p:nvSpPr>
          <p:cNvPr id="4" name="Content Placeholder 3"/>
          <p:cNvSpPr>
            <a:spLocks noGrp="1"/>
          </p:cNvSpPr>
          <p:nvPr>
            <p:ph sz="half" idx="2"/>
          </p:nvPr>
        </p:nvSpPr>
        <p:spPr>
          <a:xfrm>
            <a:off x="6197600" y="1154161"/>
            <a:ext cx="5384800" cy="4525963"/>
          </a:xfrm>
        </p:spPr>
        <p:txBody>
          <a:bodyPr>
            <a:normAutofit/>
          </a:bodyPr>
          <a:lstStyle/>
          <a:p>
            <a:r>
              <a:rPr lang="en-CA" dirty="0"/>
              <a:t>Why there is no simple recipe:</a:t>
            </a:r>
          </a:p>
          <a:p>
            <a:pPr>
              <a:buNone/>
            </a:pPr>
            <a:r>
              <a:rPr lang="en-CA" dirty="0"/>
              <a:t>       </a:t>
            </a:r>
            <a:r>
              <a:rPr lang="en-CA" dirty="0">
                <a:solidFill>
                  <a:srgbClr val="0070C0"/>
                </a:solidFill>
              </a:rPr>
              <a:t>Neural nets differ a lot: </a:t>
            </a:r>
          </a:p>
          <a:p>
            <a:pPr lvl="1"/>
            <a:r>
              <a:rPr lang="en-CA" dirty="0"/>
              <a:t>Very deep nets (especially ones with narrow bottlenecks).</a:t>
            </a:r>
          </a:p>
          <a:p>
            <a:pPr lvl="1"/>
            <a:r>
              <a:rPr lang="en-CA" dirty="0"/>
              <a:t>Recurrent nets. </a:t>
            </a:r>
          </a:p>
          <a:p>
            <a:pPr lvl="1"/>
            <a:r>
              <a:rPr lang="en-CA" dirty="0"/>
              <a:t>Wide shallow nets.</a:t>
            </a:r>
          </a:p>
          <a:p>
            <a:pPr>
              <a:buNone/>
            </a:pPr>
            <a:r>
              <a:rPr lang="en-CA" dirty="0"/>
              <a:t>       </a:t>
            </a:r>
            <a:r>
              <a:rPr lang="en-CA" dirty="0">
                <a:solidFill>
                  <a:srgbClr val="0070C0"/>
                </a:solidFill>
              </a:rPr>
              <a:t>Tasks differ a lot:</a:t>
            </a:r>
          </a:p>
          <a:p>
            <a:pPr lvl="1"/>
            <a:r>
              <a:rPr lang="en-CA" dirty="0"/>
              <a:t>Some require very accurate weights, some don’t.</a:t>
            </a:r>
          </a:p>
          <a:p>
            <a:pPr lvl="1"/>
            <a:r>
              <a:rPr lang="en-CA" dirty="0"/>
              <a:t>Some have many very rare cases (e.g. words).</a:t>
            </a:r>
          </a:p>
        </p:txBody>
      </p:sp>
      <p:sp>
        <p:nvSpPr>
          <p:cNvPr id="5" name="Footer Placeholder 4">
            <a:extLst>
              <a:ext uri="{FF2B5EF4-FFF2-40B4-BE49-F238E27FC236}">
                <a16:creationId xmlns:a16="http://schemas.microsoft.com/office/drawing/2014/main" id="{388BB72D-CBE0-42A8-B629-270EE0773568}"/>
              </a:ext>
            </a:extLst>
          </p:cNvPr>
          <p:cNvSpPr>
            <a:spLocks noGrp="1"/>
          </p:cNvSpPr>
          <p:nvPr>
            <p:ph type="ftr" sz="quarter" idx="11"/>
          </p:nvPr>
        </p:nvSpPr>
        <p:spPr/>
        <p:txBody>
          <a:bodyPr/>
          <a:lstStyle/>
          <a:p>
            <a:pPr>
              <a:defRPr/>
            </a:pPr>
            <a:r>
              <a:rPr lang="es-ES"/>
              <a:t>Dr. Deepali Vora</a:t>
            </a:r>
          </a:p>
        </p:txBody>
      </p:sp>
      <p:sp>
        <p:nvSpPr>
          <p:cNvPr id="6" name="Slide Number Placeholder 5">
            <a:extLst>
              <a:ext uri="{FF2B5EF4-FFF2-40B4-BE49-F238E27FC236}">
                <a16:creationId xmlns:a16="http://schemas.microsoft.com/office/drawing/2014/main" id="{59C559BB-18B7-463B-A00A-01B35476D250}"/>
              </a:ext>
            </a:extLst>
          </p:cNvPr>
          <p:cNvSpPr>
            <a:spLocks noGrp="1"/>
          </p:cNvSpPr>
          <p:nvPr>
            <p:ph type="sldNum" sz="quarter" idx="12"/>
          </p:nvPr>
        </p:nvSpPr>
        <p:spPr/>
        <p:txBody>
          <a:bodyPr/>
          <a:lstStyle/>
          <a:p>
            <a:fld id="{9370333F-211E-480A-A48D-622F2EB68390}" type="slidenum">
              <a:rPr lang="es-ES" altLang="en-US" smtClean="0"/>
              <a:pPr/>
              <a:t>67</a:t>
            </a:fld>
            <a:endParaRPr lang="es-E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09E09-1EB6-4C4E-A2EE-5FFFD93C0B71}"/>
              </a:ext>
            </a:extLst>
          </p:cNvPr>
          <p:cNvSpPr>
            <a:spLocks noGrp="1"/>
          </p:cNvSpPr>
          <p:nvPr>
            <p:ph type="title"/>
          </p:nvPr>
        </p:nvSpPr>
        <p:spPr/>
        <p:txBody>
          <a:bodyPr/>
          <a:lstStyle/>
          <a:p>
            <a:r>
              <a:rPr lang="en-US" dirty="0"/>
              <a:t>THANK YOU</a:t>
            </a:r>
            <a:endParaRPr lang="en-IN" dirty="0"/>
          </a:p>
        </p:txBody>
      </p:sp>
      <p:sp>
        <p:nvSpPr>
          <p:cNvPr id="3" name="Content Placeholder 2">
            <a:extLst>
              <a:ext uri="{FF2B5EF4-FFF2-40B4-BE49-F238E27FC236}">
                <a16:creationId xmlns:a16="http://schemas.microsoft.com/office/drawing/2014/main" id="{D5C55FED-1039-4E8E-AA96-4E765FB07AEE}"/>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080C53BC-C9D4-471B-8D43-5FDEB26203F0}"/>
              </a:ext>
            </a:extLst>
          </p:cNvPr>
          <p:cNvSpPr>
            <a:spLocks noGrp="1"/>
          </p:cNvSpPr>
          <p:nvPr>
            <p:ph type="ftr" sz="quarter" idx="11"/>
          </p:nvPr>
        </p:nvSpPr>
        <p:spPr/>
        <p:txBody>
          <a:bodyPr/>
          <a:lstStyle/>
          <a:p>
            <a:pPr>
              <a:defRPr/>
            </a:pPr>
            <a:r>
              <a:rPr lang="es-ES"/>
              <a:t>Dr. Deepali Vora</a:t>
            </a:r>
          </a:p>
        </p:txBody>
      </p:sp>
      <p:sp>
        <p:nvSpPr>
          <p:cNvPr id="5" name="Slide Number Placeholder 4">
            <a:extLst>
              <a:ext uri="{FF2B5EF4-FFF2-40B4-BE49-F238E27FC236}">
                <a16:creationId xmlns:a16="http://schemas.microsoft.com/office/drawing/2014/main" id="{7123C08E-54FF-4218-AE27-2A5AA0DE8D6D}"/>
              </a:ext>
            </a:extLst>
          </p:cNvPr>
          <p:cNvSpPr>
            <a:spLocks noGrp="1"/>
          </p:cNvSpPr>
          <p:nvPr>
            <p:ph type="sldNum" sz="quarter" idx="12"/>
          </p:nvPr>
        </p:nvSpPr>
        <p:spPr/>
        <p:txBody>
          <a:bodyPr/>
          <a:lstStyle/>
          <a:p>
            <a:fld id="{9370333F-211E-480A-A48D-622F2EB68390}" type="slidenum">
              <a:rPr lang="es-ES" altLang="en-US" smtClean="0"/>
              <a:pPr/>
              <a:t>68</a:t>
            </a:fld>
            <a:endParaRPr lang="es-ES" altLang="en-US"/>
          </a:p>
        </p:txBody>
      </p:sp>
    </p:spTree>
    <p:extLst>
      <p:ext uri="{BB962C8B-B14F-4D97-AF65-F5344CB8AC3E}">
        <p14:creationId xmlns:p14="http://schemas.microsoft.com/office/powerpoint/2010/main" val="1516699069"/>
      </p:ext>
    </p:extLst>
  </p:cSld>
  <p:clrMapOvr>
    <a:masterClrMapping/>
  </p:clrMapOvr>
</p:sld>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Simple-Office-Computer-View-PowerPoint-Template</Template>
  <TotalTime>25367</TotalTime>
  <Words>5924</Words>
  <Application>Microsoft Office PowerPoint</Application>
  <PresentationFormat>Widescreen</PresentationFormat>
  <Paragraphs>692</Paragraphs>
  <Slides>68</Slides>
  <Notes>21</Notes>
  <HiddenSlides>10</HiddenSlides>
  <MMClips>2</MMClips>
  <ScaleCrop>false</ScaleCrop>
  <HeadingPairs>
    <vt:vector size="8" baseType="variant">
      <vt:variant>
        <vt:lpstr>Fonts Used</vt:lpstr>
      </vt:variant>
      <vt:variant>
        <vt:i4>16</vt:i4>
      </vt:variant>
      <vt:variant>
        <vt:lpstr>Theme</vt:lpstr>
      </vt:variant>
      <vt:variant>
        <vt:i4>4</vt:i4>
      </vt:variant>
      <vt:variant>
        <vt:lpstr>Embedded OLE Servers</vt:lpstr>
      </vt:variant>
      <vt:variant>
        <vt:i4>2</vt:i4>
      </vt:variant>
      <vt:variant>
        <vt:lpstr>Slide Titles</vt:lpstr>
      </vt:variant>
      <vt:variant>
        <vt:i4>68</vt:i4>
      </vt:variant>
    </vt:vector>
  </HeadingPairs>
  <TitlesOfParts>
    <vt:vector size="90" baseType="lpstr">
      <vt:lpstr>맑은 고딕</vt:lpstr>
      <vt:lpstr>arial</vt:lpstr>
      <vt:lpstr>arial</vt:lpstr>
      <vt:lpstr>Calibri</vt:lpstr>
      <vt:lpstr>Cambria Math</vt:lpstr>
      <vt:lpstr>CMR10</vt:lpstr>
      <vt:lpstr>Gill Sans MT</vt:lpstr>
      <vt:lpstr>Google Sans</vt:lpstr>
      <vt:lpstr>Helvetica Neue</vt:lpstr>
      <vt:lpstr>Inter</vt:lpstr>
      <vt:lpstr>Roboto</vt:lpstr>
      <vt:lpstr>source-serif-pro</vt:lpstr>
      <vt:lpstr>Studio-Feixen-Sans</vt:lpstr>
      <vt:lpstr>Symbol</vt:lpstr>
      <vt:lpstr>Times New Roman</vt:lpstr>
      <vt:lpstr>Wingdings</vt:lpstr>
      <vt:lpstr>Cover and End Slide Master</vt:lpstr>
      <vt:lpstr>Contents Slide Master</vt:lpstr>
      <vt:lpstr>Section Break Slide Master</vt:lpstr>
      <vt:lpstr>Parcel</vt:lpstr>
      <vt:lpstr>Equation</vt:lpstr>
      <vt:lpstr>方程式</vt:lpstr>
      <vt:lpstr>Neural Network  Convergence</vt:lpstr>
      <vt:lpstr>What we know</vt:lpstr>
      <vt:lpstr>Convergence in NN</vt:lpstr>
      <vt:lpstr>BP and GD</vt:lpstr>
      <vt:lpstr>The error surface for a linear neuron</vt:lpstr>
      <vt:lpstr>Error and error surface</vt:lpstr>
      <vt:lpstr>Local and Global Minima</vt:lpstr>
      <vt:lpstr>Local and Global Minima</vt:lpstr>
      <vt:lpstr>Gradient Descent </vt:lpstr>
      <vt:lpstr>Gradient descent</vt:lpstr>
      <vt:lpstr>Gradient descent</vt:lpstr>
      <vt:lpstr>Gradient descent</vt:lpstr>
      <vt:lpstr>Convergence speed of full batch learning when the error surface is a quadratic bowl</vt:lpstr>
      <vt:lpstr>Convergence speed of full batch learning when the error surface is a quadratic bowl</vt:lpstr>
      <vt:lpstr>How the learning goes wrong</vt:lpstr>
      <vt:lpstr>Stochastic gradient descent</vt:lpstr>
      <vt:lpstr>Stochastic gradient descent</vt:lpstr>
      <vt:lpstr>Two types of learning algorithm</vt:lpstr>
      <vt:lpstr>A basic mini-batch gradient descent algorithm </vt:lpstr>
      <vt:lpstr>Be careful about turning down the learning rate</vt:lpstr>
      <vt:lpstr>Learning Rate</vt:lpstr>
      <vt:lpstr>Initializing the weights</vt:lpstr>
      <vt:lpstr>Shifting the inputs</vt:lpstr>
      <vt:lpstr>Scaling the inputs</vt:lpstr>
      <vt:lpstr>A more thorough method: Decorrelate the input components</vt:lpstr>
      <vt:lpstr>Common problems that occur in multilayer networks</vt:lpstr>
      <vt:lpstr>What we discussed</vt:lpstr>
      <vt:lpstr>Four ways to speed up mini-batch learning</vt:lpstr>
      <vt:lpstr>Some observations of gd</vt:lpstr>
      <vt:lpstr>What we discussed</vt:lpstr>
      <vt:lpstr>The intuition behind the momentum method</vt:lpstr>
      <vt:lpstr>The update rule for gd with momentum</vt:lpstr>
      <vt:lpstr>The equations of the momentum method</vt:lpstr>
      <vt:lpstr>The behavior of the momentum method</vt:lpstr>
      <vt:lpstr>Momentum  GD</vt:lpstr>
      <vt:lpstr>CODE</vt:lpstr>
      <vt:lpstr>The behavior of the momentum method</vt:lpstr>
      <vt:lpstr>A better type of momentum (Nesterov 1983)</vt:lpstr>
      <vt:lpstr>A picture of the Nesterov method </vt:lpstr>
      <vt:lpstr>Nesterov gradient descent</vt:lpstr>
      <vt:lpstr>Nesterov gradient descent</vt:lpstr>
      <vt:lpstr> Neural Networks for Machine Learning   Lecture 6d A separate, adaptive learning rate for each connection </vt:lpstr>
      <vt:lpstr>The intuition behind separate adaptive learning rates </vt:lpstr>
      <vt:lpstr>One way to determine the individual learning rates</vt:lpstr>
      <vt:lpstr>Tricks for making adaptive learning rates work better</vt:lpstr>
      <vt:lpstr>ERROR surface - axis</vt:lpstr>
      <vt:lpstr>Learning Rate</vt:lpstr>
      <vt:lpstr>Adaptive Learning Rates</vt:lpstr>
      <vt:lpstr>Adagrad</vt:lpstr>
      <vt:lpstr>Adagrad</vt:lpstr>
      <vt:lpstr>Adagrad</vt:lpstr>
      <vt:lpstr>Contradiction?</vt:lpstr>
      <vt:lpstr>ADAGRAD</vt:lpstr>
      <vt:lpstr>Variations in adagrad</vt:lpstr>
      <vt:lpstr> Neural Networks for Machine Learning   Lecture 6e rmsprop: Divide the gradient by a running average of its recent magnitude</vt:lpstr>
      <vt:lpstr>rprop: Using only the sign of the gradient</vt:lpstr>
      <vt:lpstr>RPROP</vt:lpstr>
      <vt:lpstr>Why rprop does not work with mini-batches</vt:lpstr>
      <vt:lpstr>rmsprop: A mini-batch version of rprop</vt:lpstr>
      <vt:lpstr>Further developments of rmsprop</vt:lpstr>
      <vt:lpstr>Adadelta</vt:lpstr>
      <vt:lpstr>Adadelta - Parameter Update </vt:lpstr>
      <vt:lpstr>Adam (Adaptive Moment Estimation)</vt:lpstr>
      <vt:lpstr>Adam – key features</vt:lpstr>
      <vt:lpstr>Flat regions in energy landscape</vt:lpstr>
      <vt:lpstr>references</vt:lpstr>
      <vt:lpstr>Summary of learning methods for neural networks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dc:title>
  <dc:creator>Deepali Vora</dc:creator>
  <cp:lastModifiedBy>Deepali Vora</cp:lastModifiedBy>
  <cp:revision>216</cp:revision>
  <dcterms:created xsi:type="dcterms:W3CDTF">2022-02-04T13:50:05Z</dcterms:created>
  <dcterms:modified xsi:type="dcterms:W3CDTF">2025-02-22T04:32:35Z</dcterms:modified>
</cp:coreProperties>
</file>