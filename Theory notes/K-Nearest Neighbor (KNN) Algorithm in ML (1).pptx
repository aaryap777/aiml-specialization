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4" r:id="rId9"/>
    <p:sldId id="266" r:id="rId10"/>
    <p:sldId id="267"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3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9F56-1486-4CF0-B1B0-835A977924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23C257-3F3F-6C82-D867-3CFE6332B6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B30881-7714-D728-C40A-9E6B20A69650}"/>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5" name="Footer Placeholder 4">
            <a:extLst>
              <a:ext uri="{FF2B5EF4-FFF2-40B4-BE49-F238E27FC236}">
                <a16:creationId xmlns:a16="http://schemas.microsoft.com/office/drawing/2014/main" id="{54CFD5D6-D627-5117-42D1-E93B2C4C2D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4C12E5-8A2F-504F-482C-661C56A7F8A2}"/>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409416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B187-7989-FEFF-B70E-FFF2626324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1398E-7AAC-2838-2F42-599787437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0774FC-474E-D212-D4C0-3CE780204D6E}"/>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5" name="Footer Placeholder 4">
            <a:extLst>
              <a:ext uri="{FF2B5EF4-FFF2-40B4-BE49-F238E27FC236}">
                <a16:creationId xmlns:a16="http://schemas.microsoft.com/office/drawing/2014/main" id="{8EA25DAB-209D-D336-0E22-204F3BD127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14FAC9-2D80-E926-35C9-21C377744095}"/>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3175472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A2CF6-B34B-C1A6-B6DD-FCF2A468E8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09958D-6FF3-05BF-3E3A-348D060EC9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40F2B3-CD57-CD8D-EE90-7FE72CDF1FCC}"/>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5" name="Footer Placeholder 4">
            <a:extLst>
              <a:ext uri="{FF2B5EF4-FFF2-40B4-BE49-F238E27FC236}">
                <a16:creationId xmlns:a16="http://schemas.microsoft.com/office/drawing/2014/main" id="{E9F4C697-4CE9-3FFF-CB87-8767763F38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654B8E-7D88-B633-4ACA-EFCBD7D6D24F}"/>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221878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F8E4-ACA1-4DDF-C7FC-18EC052FBC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F3B4B8-8156-DE89-084B-37DEF805F5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A6B46C-FE84-BB60-EC51-972EF4FB32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83D380-F9B2-02DD-B56C-489EC42240DF}"/>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6" name="Footer Placeholder 5">
            <a:extLst>
              <a:ext uri="{FF2B5EF4-FFF2-40B4-BE49-F238E27FC236}">
                <a16:creationId xmlns:a16="http://schemas.microsoft.com/office/drawing/2014/main" id="{AE6B8562-A36E-ECAD-012C-B290F6049E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4A8861-260C-A9E7-FAEA-1ADE06DF75B8}"/>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3975111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D2A19-2134-9845-17FA-8517CD1A8F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897598-4E01-BB49-F79A-C1769F4CE8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E0F637-34EE-3EE1-7AA4-28989A9EC7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18E5CF-3BF9-CD66-DFF5-F5090EAF1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317CA2-9426-2E5B-3112-6544EDDC41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404CB9-5A1F-8CFD-0FCD-DE365AAC7A19}"/>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8" name="Footer Placeholder 7">
            <a:extLst>
              <a:ext uri="{FF2B5EF4-FFF2-40B4-BE49-F238E27FC236}">
                <a16:creationId xmlns:a16="http://schemas.microsoft.com/office/drawing/2014/main" id="{CE8A91FF-44E1-70FF-120E-946C250147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03E1AD-B265-6AFB-408B-FC505976BD44}"/>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483403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E71B-4766-2755-BEE6-6EBD474EB8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DBA760-787B-6AED-60E7-6CBA6BD2B91F}"/>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4" name="Footer Placeholder 3">
            <a:extLst>
              <a:ext uri="{FF2B5EF4-FFF2-40B4-BE49-F238E27FC236}">
                <a16:creationId xmlns:a16="http://schemas.microsoft.com/office/drawing/2014/main" id="{70306AD3-637E-EAC3-2F44-B3196CB2D1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0D7CAF-ACE3-8565-A773-81FD2790D5E5}"/>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2592888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E6D10-0364-2174-0114-31E0CDF7352A}"/>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3" name="Footer Placeholder 2">
            <a:extLst>
              <a:ext uri="{FF2B5EF4-FFF2-40B4-BE49-F238E27FC236}">
                <a16:creationId xmlns:a16="http://schemas.microsoft.com/office/drawing/2014/main" id="{F19EE3EB-3E12-BE42-FAC5-823A09330A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D3D452-0D7C-208A-7FFE-2132EADA7F6C}"/>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394856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6430-C52B-AA4C-BAE8-36B7F99AE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235B89-94E7-BB75-B105-21A7D2280A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B9E8AB-50A4-D11D-CFA6-A4C0EE69F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AD9DA5-35C1-66A3-4CED-E1ABDB5378EE}"/>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6" name="Footer Placeholder 5">
            <a:extLst>
              <a:ext uri="{FF2B5EF4-FFF2-40B4-BE49-F238E27FC236}">
                <a16:creationId xmlns:a16="http://schemas.microsoft.com/office/drawing/2014/main" id="{8B30C955-42C1-AA12-5044-5BF6AF24E7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3C024B-5ACA-7A07-188E-E1D4F5D4489A}"/>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1874126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4AE69-2839-C070-FE8B-EEB81C3A0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B890EB-66AB-71F9-9DCF-3A9ADEF31A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662926-9FD4-E970-42DA-078D8748E5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EE3DE3-A2AD-59A2-FE01-B62ECF472829}"/>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6" name="Footer Placeholder 5">
            <a:extLst>
              <a:ext uri="{FF2B5EF4-FFF2-40B4-BE49-F238E27FC236}">
                <a16:creationId xmlns:a16="http://schemas.microsoft.com/office/drawing/2014/main" id="{FC03267C-A053-AD5E-F691-6412C85F3F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5A7C15-BED9-851D-0D3A-DDC17F684414}"/>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4147562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6BC7-C42D-932C-010F-6817EB6152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0E8C22-3DD5-FDEA-4958-CE52247D18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3D21B2-9F69-1DEE-ECE4-3F1E33595556}"/>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5" name="Footer Placeholder 4">
            <a:extLst>
              <a:ext uri="{FF2B5EF4-FFF2-40B4-BE49-F238E27FC236}">
                <a16:creationId xmlns:a16="http://schemas.microsoft.com/office/drawing/2014/main" id="{CBCB274F-EC84-DA03-89E9-5C64D0A506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8364F9-2863-863E-92F6-0001E4984FA1}"/>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903575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06CDA5-B043-893C-1E1F-6DAE8F6F4B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11A247-1745-B607-539B-679D54F060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9BE40E-623C-5290-4AEC-31A43ACB3B54}"/>
              </a:ext>
            </a:extLst>
          </p:cNvPr>
          <p:cNvSpPr>
            <a:spLocks noGrp="1"/>
          </p:cNvSpPr>
          <p:nvPr>
            <p:ph type="dt" sz="half" idx="10"/>
          </p:nvPr>
        </p:nvSpPr>
        <p:spPr/>
        <p:txBody>
          <a:bodyPr/>
          <a:lstStyle/>
          <a:p>
            <a:fld id="{E4E1D7D7-F809-43DA-BE2E-BEED8F46ABFF}" type="datetimeFigureOut">
              <a:rPr lang="en-IN" smtClean="0"/>
              <a:t>03-08-2024</a:t>
            </a:fld>
            <a:endParaRPr lang="en-IN"/>
          </a:p>
        </p:txBody>
      </p:sp>
      <p:sp>
        <p:nvSpPr>
          <p:cNvPr id="5" name="Footer Placeholder 4">
            <a:extLst>
              <a:ext uri="{FF2B5EF4-FFF2-40B4-BE49-F238E27FC236}">
                <a16:creationId xmlns:a16="http://schemas.microsoft.com/office/drawing/2014/main" id="{DE592921-C19F-B6DC-82AD-C9889BDD4B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043576-CB20-E2FD-81AB-4120721011ED}"/>
              </a:ext>
            </a:extLst>
          </p:cNvPr>
          <p:cNvSpPr>
            <a:spLocks noGrp="1"/>
          </p:cNvSpPr>
          <p:nvPr>
            <p:ph type="sldNum" sz="quarter" idx="12"/>
          </p:nvPr>
        </p:nvSpPr>
        <p:spPr/>
        <p:txBody>
          <a:bodyPr/>
          <a:lstStyle/>
          <a:p>
            <a:fld id="{C845F16F-F4EC-457A-B8DE-A61D676A4262}" type="slidenum">
              <a:rPr lang="en-IN" smtClean="0"/>
              <a:t>‹#›</a:t>
            </a:fld>
            <a:endParaRPr lang="en-IN"/>
          </a:p>
        </p:txBody>
      </p:sp>
    </p:spTree>
    <p:extLst>
      <p:ext uri="{BB962C8B-B14F-4D97-AF65-F5344CB8AC3E}">
        <p14:creationId xmlns:p14="http://schemas.microsoft.com/office/powerpoint/2010/main" val="2060324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FF64CB-091A-E516-5019-A0C9F6BCDB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458D82-0F7F-8651-149F-3E21ACD5BD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74D29A-4800-28E0-4B0A-286D8FF1A7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E1D7D7-F809-43DA-BE2E-BEED8F46ABFF}" type="datetimeFigureOut">
              <a:rPr lang="en-IN" smtClean="0"/>
              <a:t>03-08-2024</a:t>
            </a:fld>
            <a:endParaRPr lang="en-IN"/>
          </a:p>
        </p:txBody>
      </p:sp>
      <p:sp>
        <p:nvSpPr>
          <p:cNvPr id="5" name="Footer Placeholder 4">
            <a:extLst>
              <a:ext uri="{FF2B5EF4-FFF2-40B4-BE49-F238E27FC236}">
                <a16:creationId xmlns:a16="http://schemas.microsoft.com/office/drawing/2014/main" id="{52F5C0ED-EE41-9F5D-E91C-6864F2ABCA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933C49D-A65B-7203-96D7-6F62D90291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45F16F-F4EC-457A-B8DE-A61D676A4262}" type="slidenum">
              <a:rPr lang="en-IN" smtClean="0"/>
              <a:t>‹#›</a:t>
            </a:fld>
            <a:endParaRPr lang="en-IN"/>
          </a:p>
        </p:txBody>
      </p:sp>
      <p:sp>
        <p:nvSpPr>
          <p:cNvPr id="8" name="TextBox 7">
            <a:extLst>
              <a:ext uri="{FF2B5EF4-FFF2-40B4-BE49-F238E27FC236}">
                <a16:creationId xmlns:a16="http://schemas.microsoft.com/office/drawing/2014/main" id="{503E18DC-9FD5-584D-6E1C-383366CE41E7}"/>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IN"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3705446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48975-0045-60A8-D234-435F6144C9C2}"/>
              </a:ext>
            </a:extLst>
          </p:cNvPr>
          <p:cNvSpPr>
            <a:spLocks noGrp="1"/>
          </p:cNvSpPr>
          <p:nvPr>
            <p:ph type="ctrTitle"/>
          </p:nvPr>
        </p:nvSpPr>
        <p:spPr/>
        <p:txBody>
          <a:bodyPr>
            <a:normAutofit fontScale="90000"/>
          </a:bodyPr>
          <a:lstStyle/>
          <a:p>
            <a:r>
              <a:rPr lang="en-US" b="1" i="0" dirty="0">
                <a:effectLst/>
                <a:highlight>
                  <a:srgbClr val="FAFBFC"/>
                </a:highlight>
                <a:latin typeface="__Source_Sans_Pro_fa6df0"/>
              </a:rPr>
              <a:t>K-Nearest Neighbor (KNN) Algorithm in Machine Learning</a:t>
            </a:r>
            <a:br>
              <a:rPr lang="en-US" b="1" i="0" dirty="0">
                <a:effectLst/>
                <a:highlight>
                  <a:srgbClr val="FAFBFC"/>
                </a:highlight>
                <a:latin typeface="__Source_Sans_Pro_fa6df0"/>
              </a:rPr>
            </a:br>
            <a:endParaRPr lang="en-IN" dirty="0"/>
          </a:p>
        </p:txBody>
      </p:sp>
      <p:sp>
        <p:nvSpPr>
          <p:cNvPr id="3" name="Subtitle 2">
            <a:extLst>
              <a:ext uri="{FF2B5EF4-FFF2-40B4-BE49-F238E27FC236}">
                <a16:creationId xmlns:a16="http://schemas.microsoft.com/office/drawing/2014/main" id="{91A4BD24-B90B-327B-53BE-FC54610E7674}"/>
              </a:ext>
            </a:extLst>
          </p:cNvPr>
          <p:cNvSpPr>
            <a:spLocks noGrp="1"/>
          </p:cNvSpPr>
          <p:nvPr>
            <p:ph type="subTitle" idx="1"/>
          </p:nvPr>
        </p:nvSpPr>
        <p:spPr/>
        <p:txBody>
          <a:bodyPr/>
          <a:lstStyle/>
          <a:p>
            <a:r>
              <a:rPr lang="en-IN" dirty="0"/>
              <a:t>By</a:t>
            </a:r>
            <a:br>
              <a:rPr lang="en-IN" dirty="0"/>
            </a:br>
            <a:r>
              <a:rPr lang="en-IN" dirty="0"/>
              <a:t>Ms. Priti P. </a:t>
            </a:r>
            <a:r>
              <a:rPr lang="en-IN" dirty="0" err="1"/>
              <a:t>Jorvekar</a:t>
            </a:r>
            <a:endParaRPr lang="en-IN" dirty="0"/>
          </a:p>
        </p:txBody>
      </p:sp>
    </p:spTree>
    <p:extLst>
      <p:ext uri="{BB962C8B-B14F-4D97-AF65-F5344CB8AC3E}">
        <p14:creationId xmlns:p14="http://schemas.microsoft.com/office/powerpoint/2010/main" val="543656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8B9BB-1965-1E96-A582-E0C11120C1EE}"/>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03D68F9E-814D-398A-E38F-01E324E2FEE5}"/>
              </a:ext>
            </a:extLst>
          </p:cNvPr>
          <p:cNvSpPr>
            <a:spLocks noGrp="1"/>
          </p:cNvSpPr>
          <p:nvPr>
            <p:ph idx="1"/>
          </p:nvPr>
        </p:nvSpPr>
        <p:spPr/>
        <p:txBody>
          <a:bodyPr/>
          <a:lstStyle/>
          <a:p>
            <a:pPr algn="just"/>
            <a:r>
              <a:rPr lang="en-US" b="0" i="0" dirty="0">
                <a:solidFill>
                  <a:srgbClr val="445578"/>
                </a:solidFill>
                <a:effectLst/>
                <a:highlight>
                  <a:srgbClr val="FFFFFF"/>
                </a:highlight>
                <a:latin typeface="Inter"/>
              </a:rPr>
              <a:t>This algorithm works for both classification and regression problems</a:t>
            </a:r>
          </a:p>
          <a:p>
            <a:pPr algn="just"/>
            <a:r>
              <a:rPr lang="en-US" b="1" i="0" dirty="0">
                <a:solidFill>
                  <a:srgbClr val="61738E"/>
                </a:solidFill>
                <a:effectLst/>
                <a:highlight>
                  <a:srgbClr val="FAFBFC"/>
                </a:highlight>
                <a:latin typeface="__Source_Sans_Pro_fa6df0"/>
              </a:rPr>
              <a:t>KNN</a:t>
            </a:r>
            <a:r>
              <a:rPr lang="en-US" b="0" i="0" dirty="0">
                <a:solidFill>
                  <a:srgbClr val="61738E"/>
                </a:solidFill>
                <a:effectLst/>
                <a:highlight>
                  <a:srgbClr val="FAFBFC"/>
                </a:highlight>
                <a:latin typeface="__Source_Sans_Pro_fa6df0"/>
              </a:rPr>
              <a:t> is a reasonably simple classification technique that identifies the class in which a sample belongs by measuring its similarity with other nearby points.</a:t>
            </a:r>
            <a:endParaRPr lang="en-US" b="0" i="0" dirty="0">
              <a:solidFill>
                <a:srgbClr val="445578"/>
              </a:solidFill>
              <a:effectLst/>
              <a:highlight>
                <a:srgbClr val="FFFFFF"/>
              </a:highlight>
              <a:latin typeface="Inter"/>
            </a:endParaRPr>
          </a:p>
          <a:p>
            <a:pPr algn="just"/>
            <a:r>
              <a:rPr lang="en-US" b="0" i="0" dirty="0">
                <a:solidFill>
                  <a:srgbClr val="61738E"/>
                </a:solidFill>
                <a:effectLst/>
                <a:highlight>
                  <a:srgbClr val="FAFBFC"/>
                </a:highlight>
                <a:latin typeface="__Source_Sans_Pro_fa6df0"/>
              </a:rPr>
              <a:t>it is a powerful technique for identifying the class of an unknown sample point.</a:t>
            </a:r>
          </a:p>
          <a:p>
            <a:pPr algn="just"/>
            <a:r>
              <a:rPr lang="en-US" b="0" i="0" dirty="0">
                <a:solidFill>
                  <a:srgbClr val="61738E"/>
                </a:solidFill>
                <a:effectLst/>
                <a:highlight>
                  <a:srgbClr val="FAFBFC"/>
                </a:highlight>
                <a:latin typeface="__Source_Sans_Pro_fa6df0"/>
              </a:rPr>
              <a:t>It classifies the data point on how its neighbor is classified.</a:t>
            </a:r>
            <a:endParaRPr lang="en-IN" dirty="0"/>
          </a:p>
        </p:txBody>
      </p:sp>
    </p:spTree>
    <p:extLst>
      <p:ext uri="{BB962C8B-B14F-4D97-AF65-F5344CB8AC3E}">
        <p14:creationId xmlns:p14="http://schemas.microsoft.com/office/powerpoint/2010/main" val="1227307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BAA7A-D4D5-AAA4-F97C-82B831D997F9}"/>
              </a:ext>
            </a:extLst>
          </p:cNvPr>
          <p:cNvSpPr>
            <a:spLocks noGrp="1"/>
          </p:cNvSpPr>
          <p:nvPr>
            <p:ph type="title"/>
          </p:nvPr>
        </p:nvSpPr>
        <p:spPr/>
        <p:txBody>
          <a:bodyPr/>
          <a:lstStyle/>
          <a:p>
            <a:r>
              <a:rPr lang="en-US" b="1" i="0" dirty="0">
                <a:effectLst/>
                <a:highlight>
                  <a:srgbClr val="FAFBFC"/>
                </a:highlight>
                <a:latin typeface="__Source_Sans_Pro_fa6df0"/>
              </a:rPr>
              <a:t>How does K-Nearest </a:t>
            </a:r>
            <a:r>
              <a:rPr lang="en-US" b="1" i="0" dirty="0" err="1">
                <a:effectLst/>
                <a:highlight>
                  <a:srgbClr val="FAFBFC"/>
                </a:highlight>
                <a:latin typeface="__Source_Sans_Pro_fa6df0"/>
              </a:rPr>
              <a:t>Neighbours</a:t>
            </a:r>
            <a:r>
              <a:rPr lang="en-US" b="1" i="0" dirty="0">
                <a:effectLst/>
                <a:highlight>
                  <a:srgbClr val="FAFBFC"/>
                </a:highlight>
                <a:latin typeface="__Source_Sans_Pro_fa6df0"/>
              </a:rPr>
              <a:t> Work?</a:t>
            </a:r>
            <a:br>
              <a:rPr lang="en-US" b="1" i="0" dirty="0">
                <a:effectLst/>
                <a:highlight>
                  <a:srgbClr val="FAFBFC"/>
                </a:highlight>
                <a:latin typeface="__Source_Sans_Pro_fa6df0"/>
              </a:rPr>
            </a:br>
            <a:endParaRPr lang="en-IN" dirty="0"/>
          </a:p>
        </p:txBody>
      </p:sp>
      <p:sp>
        <p:nvSpPr>
          <p:cNvPr id="3" name="Content Placeholder 2">
            <a:extLst>
              <a:ext uri="{FF2B5EF4-FFF2-40B4-BE49-F238E27FC236}">
                <a16:creationId xmlns:a16="http://schemas.microsoft.com/office/drawing/2014/main" id="{D0DEF2A4-85D1-D072-299F-C9A9E0403E09}"/>
              </a:ext>
            </a:extLst>
          </p:cNvPr>
          <p:cNvSpPr>
            <a:spLocks noGrp="1"/>
          </p:cNvSpPr>
          <p:nvPr>
            <p:ph idx="1"/>
          </p:nvPr>
        </p:nvSpPr>
        <p:spPr/>
        <p:txBody>
          <a:bodyPr>
            <a:normAutofit fontScale="92500" lnSpcReduction="20000"/>
          </a:bodyPr>
          <a:lstStyle/>
          <a:p>
            <a:pPr marL="0" indent="0" algn="l">
              <a:buNone/>
            </a:pPr>
            <a:r>
              <a:rPr lang="en-US" b="1" i="0" dirty="0">
                <a:solidFill>
                  <a:srgbClr val="61738E"/>
                </a:solidFill>
                <a:effectLst/>
                <a:highlight>
                  <a:srgbClr val="FAFBFC"/>
                </a:highlight>
                <a:latin typeface="__Source_Sans_Pro_fa6df0"/>
              </a:rPr>
              <a:t>The steps for the KNN Algorithm in Machine Learning are as follows:</a:t>
            </a:r>
            <a:endParaRPr lang="en-US" b="0" i="0" dirty="0">
              <a:solidFill>
                <a:srgbClr val="61738E"/>
              </a:solidFill>
              <a:effectLst/>
              <a:highlight>
                <a:srgbClr val="FAFBFC"/>
              </a:highlight>
              <a:latin typeface="__Source_Sans_Pro_fa6df0"/>
            </a:endParaRPr>
          </a:p>
          <a:p>
            <a:pPr algn="l">
              <a:buFont typeface="Arial" panose="020B0604020202020204" pitchFamily="34" charset="0"/>
              <a:buChar char="•"/>
            </a:pPr>
            <a:r>
              <a:rPr lang="en-US" b="1" i="0" dirty="0">
                <a:solidFill>
                  <a:srgbClr val="445578"/>
                </a:solidFill>
                <a:effectLst/>
                <a:highlight>
                  <a:srgbClr val="FFFFFF"/>
                </a:highlight>
                <a:latin typeface="Inter"/>
              </a:rPr>
              <a:t>Step 1: </a:t>
            </a:r>
            <a:r>
              <a:rPr lang="en-US" b="0" i="0" dirty="0">
                <a:solidFill>
                  <a:srgbClr val="445578"/>
                </a:solidFill>
                <a:effectLst/>
                <a:highlight>
                  <a:srgbClr val="FFFFFF"/>
                </a:highlight>
                <a:latin typeface="Inter"/>
              </a:rPr>
              <a:t> The optimal value of K is determined.</a:t>
            </a:r>
          </a:p>
          <a:p>
            <a:pPr algn="l">
              <a:buFont typeface="Arial" panose="020B0604020202020204" pitchFamily="34" charset="0"/>
              <a:buChar char="•"/>
            </a:pPr>
            <a:r>
              <a:rPr lang="en-US" b="1" i="0" dirty="0">
                <a:solidFill>
                  <a:srgbClr val="445578"/>
                </a:solidFill>
                <a:effectLst/>
                <a:highlight>
                  <a:srgbClr val="FFFFFF"/>
                </a:highlight>
                <a:latin typeface="Inter"/>
              </a:rPr>
              <a:t>Step 2:</a:t>
            </a:r>
            <a:r>
              <a:rPr lang="en-US" b="0" i="0" dirty="0">
                <a:solidFill>
                  <a:srgbClr val="445578"/>
                </a:solidFill>
                <a:effectLst/>
                <a:highlight>
                  <a:srgbClr val="FFFFFF"/>
                </a:highlight>
                <a:latin typeface="Inter"/>
              </a:rPr>
              <a:t> The KNN algorithm calculates the distance of all data points from the query data point using the distance measuring techniques stated above.</a:t>
            </a:r>
          </a:p>
          <a:p>
            <a:pPr algn="l">
              <a:buFont typeface="Arial" panose="020B0604020202020204" pitchFamily="34" charset="0"/>
              <a:buChar char="•"/>
            </a:pPr>
            <a:r>
              <a:rPr lang="en-US" b="1" i="0" dirty="0">
                <a:solidFill>
                  <a:srgbClr val="445578"/>
                </a:solidFill>
                <a:effectLst/>
                <a:highlight>
                  <a:srgbClr val="FFFFFF"/>
                </a:highlight>
                <a:latin typeface="Inter"/>
              </a:rPr>
              <a:t>Step 3:</a:t>
            </a:r>
            <a:r>
              <a:rPr lang="en-US" b="0" i="0" dirty="0">
                <a:solidFill>
                  <a:srgbClr val="445578"/>
                </a:solidFill>
                <a:effectLst/>
                <a:highlight>
                  <a:srgbClr val="FFFFFF"/>
                </a:highlight>
                <a:latin typeface="Inter"/>
              </a:rPr>
              <a:t> It ranks the data points by increasing distance. The closest K points in the data space of the query point are its nearest neighbors.</a:t>
            </a:r>
          </a:p>
          <a:p>
            <a:pPr algn="l">
              <a:buFont typeface="Arial" panose="020B0604020202020204" pitchFamily="34" charset="0"/>
              <a:buChar char="•"/>
            </a:pPr>
            <a:r>
              <a:rPr lang="en-US" b="1" i="0" dirty="0">
                <a:solidFill>
                  <a:srgbClr val="445578"/>
                </a:solidFill>
                <a:effectLst/>
                <a:highlight>
                  <a:srgbClr val="FFFFFF"/>
                </a:highlight>
                <a:latin typeface="Inter"/>
              </a:rPr>
              <a:t>Step 4: </a:t>
            </a:r>
            <a:r>
              <a:rPr lang="en-US" b="0" i="0" dirty="0">
                <a:solidFill>
                  <a:srgbClr val="445578"/>
                </a:solidFill>
                <a:effectLst/>
                <a:highlight>
                  <a:srgbClr val="FFFFFF"/>
                </a:highlight>
                <a:latin typeface="Inter"/>
              </a:rPr>
              <a:t>For each query point, one of these K neighbors predicts its class .</a:t>
            </a:r>
          </a:p>
          <a:p>
            <a:pPr algn="l">
              <a:buFont typeface="Arial" panose="020B0604020202020204" pitchFamily="34" charset="0"/>
              <a:buChar char="•"/>
            </a:pPr>
            <a:r>
              <a:rPr lang="en-US" b="0" i="0" dirty="0">
                <a:solidFill>
                  <a:srgbClr val="445578"/>
                </a:solidFill>
                <a:effectLst/>
                <a:highlight>
                  <a:srgbClr val="FFFFFF"/>
                </a:highlight>
                <a:latin typeface="Inter"/>
              </a:rPr>
              <a:t>Counting the data points in each category and taking the majority votes into consideration – </a:t>
            </a:r>
            <a:r>
              <a:rPr lang="en-US" b="1" i="0" dirty="0">
                <a:solidFill>
                  <a:srgbClr val="445578"/>
                </a:solidFill>
                <a:effectLst/>
                <a:highlight>
                  <a:srgbClr val="FFFFFF"/>
                </a:highlight>
                <a:latin typeface="Inter"/>
              </a:rPr>
              <a:t>KNN Classifier model</a:t>
            </a:r>
            <a:r>
              <a:rPr lang="en-US" b="0" i="0" dirty="0">
                <a:solidFill>
                  <a:srgbClr val="445578"/>
                </a:solidFill>
                <a:effectLst/>
                <a:highlight>
                  <a:srgbClr val="FFFFFF"/>
                </a:highlight>
                <a:latin typeface="Inter"/>
              </a:rPr>
              <a:t>.</a:t>
            </a:r>
          </a:p>
          <a:p>
            <a:pPr marL="0" indent="0">
              <a:buNone/>
            </a:pPr>
            <a:br>
              <a:rPr lang="en-US" dirty="0"/>
            </a:br>
            <a:endParaRPr lang="en-IN" dirty="0"/>
          </a:p>
        </p:txBody>
      </p:sp>
    </p:spTree>
    <p:extLst>
      <p:ext uri="{BB962C8B-B14F-4D97-AF65-F5344CB8AC3E}">
        <p14:creationId xmlns:p14="http://schemas.microsoft.com/office/powerpoint/2010/main" val="3637481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21672-C02D-45A0-2B0D-EB25FE645783}"/>
              </a:ext>
            </a:extLst>
          </p:cNvPr>
          <p:cNvSpPr>
            <a:spLocks noGrp="1"/>
          </p:cNvSpPr>
          <p:nvPr>
            <p:ph type="title"/>
          </p:nvPr>
        </p:nvSpPr>
        <p:spPr/>
        <p:txBody>
          <a:bodyPr/>
          <a:lstStyle/>
          <a:p>
            <a:pPr algn="ctr"/>
            <a:r>
              <a:rPr lang="en-IN" dirty="0"/>
              <a:t>Working</a:t>
            </a:r>
          </a:p>
        </p:txBody>
      </p:sp>
      <p:sp>
        <p:nvSpPr>
          <p:cNvPr id="3" name="Content Placeholder 2">
            <a:extLst>
              <a:ext uri="{FF2B5EF4-FFF2-40B4-BE49-F238E27FC236}">
                <a16:creationId xmlns:a16="http://schemas.microsoft.com/office/drawing/2014/main" id="{864FE2E4-6100-674A-B49A-D4F4268DC8FE}"/>
              </a:ext>
            </a:extLst>
          </p:cNvPr>
          <p:cNvSpPr>
            <a:spLocks noGrp="1"/>
          </p:cNvSpPr>
          <p:nvPr>
            <p:ph idx="1"/>
          </p:nvPr>
        </p:nvSpPr>
        <p:spPr/>
        <p:txBody>
          <a:bodyPr/>
          <a:lstStyle/>
          <a:p>
            <a:r>
              <a:rPr lang="en-US" b="0" i="0" dirty="0">
                <a:solidFill>
                  <a:srgbClr val="61738E"/>
                </a:solidFill>
                <a:effectLst/>
                <a:highlight>
                  <a:srgbClr val="FAFBFC"/>
                </a:highlight>
                <a:latin typeface="__Source_Sans_Pro_fa6df0"/>
              </a:rPr>
              <a:t>Suppose we have a new data point and need to put it in the required category. Consider the below image :</a:t>
            </a:r>
          </a:p>
          <a:p>
            <a:endParaRPr lang="en-IN" dirty="0"/>
          </a:p>
        </p:txBody>
      </p:sp>
      <p:pic>
        <p:nvPicPr>
          <p:cNvPr id="5" name="Picture 4">
            <a:extLst>
              <a:ext uri="{FF2B5EF4-FFF2-40B4-BE49-F238E27FC236}">
                <a16:creationId xmlns:a16="http://schemas.microsoft.com/office/drawing/2014/main" id="{016F5052-7957-41B1-C352-9946C7ACDD67}"/>
              </a:ext>
            </a:extLst>
          </p:cNvPr>
          <p:cNvPicPr>
            <a:picLocks noChangeAspect="1"/>
          </p:cNvPicPr>
          <p:nvPr/>
        </p:nvPicPr>
        <p:blipFill>
          <a:blip r:embed="rId2"/>
          <a:stretch>
            <a:fillRect/>
          </a:stretch>
        </p:blipFill>
        <p:spPr>
          <a:xfrm>
            <a:off x="3853480" y="2874115"/>
            <a:ext cx="3646777" cy="3143446"/>
          </a:xfrm>
          <a:prstGeom prst="rect">
            <a:avLst/>
          </a:prstGeom>
        </p:spPr>
      </p:pic>
    </p:spTree>
    <p:extLst>
      <p:ext uri="{BB962C8B-B14F-4D97-AF65-F5344CB8AC3E}">
        <p14:creationId xmlns:p14="http://schemas.microsoft.com/office/powerpoint/2010/main" val="2331741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7E1F1B-8091-F960-9434-9D1866F57D93}"/>
              </a:ext>
            </a:extLst>
          </p:cNvPr>
          <p:cNvSpPr>
            <a:spLocks noGrp="1"/>
          </p:cNvSpPr>
          <p:nvPr>
            <p:ph idx="1"/>
          </p:nvPr>
        </p:nvSpPr>
        <p:spPr>
          <a:xfrm>
            <a:off x="838200" y="576943"/>
            <a:ext cx="10515600" cy="5600020"/>
          </a:xfrm>
        </p:spPr>
        <p:txBody>
          <a:bodyPr/>
          <a:lstStyle/>
          <a:p>
            <a:pPr algn="l">
              <a:buFont typeface="Arial" panose="020B0604020202020204" pitchFamily="34" charset="0"/>
              <a:buChar char="•"/>
            </a:pPr>
            <a:r>
              <a:rPr lang="en-US" b="0" i="0" dirty="0">
                <a:solidFill>
                  <a:srgbClr val="61738E"/>
                </a:solidFill>
                <a:effectLst/>
                <a:highlight>
                  <a:srgbClr val="FAFBFC"/>
                </a:highlight>
                <a:latin typeface="__Source_Sans_Pro_fa6df0"/>
              </a:rPr>
              <a:t>First, we will choose the number of neighbors as k=5.</a:t>
            </a:r>
          </a:p>
          <a:p>
            <a:pPr algn="l">
              <a:buFont typeface="Arial" panose="020B0604020202020204" pitchFamily="34" charset="0"/>
              <a:buChar char="•"/>
            </a:pPr>
            <a:r>
              <a:rPr lang="en-US" b="0" i="0" dirty="0">
                <a:solidFill>
                  <a:srgbClr val="61738E"/>
                </a:solidFill>
                <a:effectLst/>
                <a:highlight>
                  <a:srgbClr val="FAFBFC"/>
                </a:highlight>
                <a:latin typeface="__Source_Sans_Pro_fa6df0"/>
              </a:rPr>
              <a:t>Next, we will calculate the Euclidean distance between the data points. The Euclidean distance is the distance between two points, which we have studied in geometry. It can be calculated as :</a:t>
            </a:r>
          </a:p>
          <a:p>
            <a:endParaRPr lang="en-IN" dirty="0"/>
          </a:p>
        </p:txBody>
      </p:sp>
      <p:pic>
        <p:nvPicPr>
          <p:cNvPr id="5" name="Picture 4">
            <a:extLst>
              <a:ext uri="{FF2B5EF4-FFF2-40B4-BE49-F238E27FC236}">
                <a16:creationId xmlns:a16="http://schemas.microsoft.com/office/drawing/2014/main" id="{10BA341C-ED75-3174-5F82-91D0737C757F}"/>
              </a:ext>
            </a:extLst>
          </p:cNvPr>
          <p:cNvPicPr>
            <a:picLocks noChangeAspect="1"/>
          </p:cNvPicPr>
          <p:nvPr/>
        </p:nvPicPr>
        <p:blipFill>
          <a:blip r:embed="rId2"/>
          <a:stretch>
            <a:fillRect/>
          </a:stretch>
        </p:blipFill>
        <p:spPr>
          <a:xfrm>
            <a:off x="3788229" y="2459602"/>
            <a:ext cx="3690257" cy="3412952"/>
          </a:xfrm>
          <a:prstGeom prst="rect">
            <a:avLst/>
          </a:prstGeom>
        </p:spPr>
      </p:pic>
    </p:spTree>
    <p:extLst>
      <p:ext uri="{BB962C8B-B14F-4D97-AF65-F5344CB8AC3E}">
        <p14:creationId xmlns:p14="http://schemas.microsoft.com/office/powerpoint/2010/main" val="3524595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52841-2497-2CFC-4B36-DC008834D021}"/>
              </a:ext>
            </a:extLst>
          </p:cNvPr>
          <p:cNvSpPr>
            <a:spLocks noGrp="1"/>
          </p:cNvSpPr>
          <p:nvPr>
            <p:ph idx="1"/>
          </p:nvPr>
        </p:nvSpPr>
        <p:spPr>
          <a:xfrm>
            <a:off x="838200" y="315686"/>
            <a:ext cx="10515600" cy="5861277"/>
          </a:xfrm>
        </p:spPr>
        <p:txBody>
          <a:bodyPr>
            <a:normAutofit fontScale="92500" lnSpcReduction="10000"/>
          </a:bodyPr>
          <a:lstStyle/>
          <a:p>
            <a:r>
              <a:rPr lang="en-US" b="0" i="0" dirty="0">
                <a:solidFill>
                  <a:srgbClr val="61738E"/>
                </a:solidFill>
                <a:effectLst/>
                <a:highlight>
                  <a:srgbClr val="FAFBFC"/>
                </a:highlight>
                <a:latin typeface="__Source_Sans_Pro_fa6df0"/>
              </a:rPr>
              <a:t>By calculating the Euclidean distance, we got the nearest neighbors, as three nearest neighbors in category </a:t>
            </a:r>
            <a:r>
              <a:rPr lang="en-US" b="0" i="0" dirty="0">
                <a:effectLst/>
                <a:highlight>
                  <a:srgbClr val="FAFBFC"/>
                </a:highlight>
                <a:latin typeface="__Source_Sans_Pro_fa6df0"/>
              </a:rPr>
              <a:t>A</a:t>
            </a:r>
            <a:r>
              <a:rPr lang="en-US" b="0" i="0" dirty="0">
                <a:solidFill>
                  <a:srgbClr val="61738E"/>
                </a:solidFill>
                <a:effectLst/>
                <a:highlight>
                  <a:srgbClr val="FAFBFC"/>
                </a:highlight>
                <a:latin typeface="__Source_Sans_Pro_fa6df0"/>
              </a:rPr>
              <a:t> and two nearest neighbors in category </a:t>
            </a:r>
            <a:r>
              <a:rPr lang="en-US" b="0" i="0" dirty="0">
                <a:effectLst/>
                <a:highlight>
                  <a:srgbClr val="FAFBFC"/>
                </a:highlight>
                <a:latin typeface="__Source_Sans_Pro_fa6df0"/>
              </a:rPr>
              <a:t>B</a:t>
            </a:r>
            <a:r>
              <a:rPr lang="en-US" b="0" i="0" dirty="0">
                <a:solidFill>
                  <a:srgbClr val="61738E"/>
                </a:solidFill>
                <a:effectLst/>
                <a:highlight>
                  <a:srgbClr val="FAFBFC"/>
                </a:highlight>
                <a:latin typeface="__Source_Sans_Pro_fa6df0"/>
              </a:rPr>
              <a:t>. Consider the below image :</a:t>
            </a:r>
          </a:p>
          <a:p>
            <a:endParaRPr lang="en-US" dirty="0">
              <a:solidFill>
                <a:srgbClr val="61738E"/>
              </a:solidFill>
              <a:highlight>
                <a:srgbClr val="FAFBFC"/>
              </a:highlight>
              <a:latin typeface="__Source_Sans_Pro_fa6df0"/>
            </a:endParaRPr>
          </a:p>
          <a:p>
            <a:endParaRPr lang="en-US" b="0" i="0" dirty="0">
              <a:solidFill>
                <a:srgbClr val="61738E"/>
              </a:solidFill>
              <a:effectLst/>
              <a:highlight>
                <a:srgbClr val="FAFBFC"/>
              </a:highlight>
              <a:latin typeface="__Source_Sans_Pro_fa6df0"/>
            </a:endParaRPr>
          </a:p>
          <a:p>
            <a:endParaRPr lang="en-US" dirty="0">
              <a:solidFill>
                <a:srgbClr val="61738E"/>
              </a:solidFill>
              <a:highlight>
                <a:srgbClr val="FAFBFC"/>
              </a:highlight>
              <a:latin typeface="__Source_Sans_Pro_fa6df0"/>
            </a:endParaRPr>
          </a:p>
          <a:p>
            <a:endParaRPr lang="en-US" b="0" i="0" dirty="0">
              <a:solidFill>
                <a:srgbClr val="61738E"/>
              </a:solidFill>
              <a:effectLst/>
              <a:highlight>
                <a:srgbClr val="FAFBFC"/>
              </a:highlight>
              <a:latin typeface="__Source_Sans_Pro_fa6df0"/>
            </a:endParaRPr>
          </a:p>
          <a:p>
            <a:endParaRPr lang="en-US" dirty="0">
              <a:solidFill>
                <a:srgbClr val="61738E"/>
              </a:solidFill>
              <a:highlight>
                <a:srgbClr val="FAFBFC"/>
              </a:highlight>
              <a:latin typeface="__Source_Sans_Pro_fa6df0"/>
            </a:endParaRPr>
          </a:p>
          <a:p>
            <a:endParaRPr lang="en-US" b="0" i="0" dirty="0">
              <a:solidFill>
                <a:srgbClr val="61738E"/>
              </a:solidFill>
              <a:effectLst/>
              <a:highlight>
                <a:srgbClr val="FAFBFC"/>
              </a:highlight>
              <a:latin typeface="__Source_Sans_Pro_fa6df0"/>
            </a:endParaRPr>
          </a:p>
          <a:p>
            <a:endParaRPr lang="en-US" dirty="0">
              <a:solidFill>
                <a:srgbClr val="61738E"/>
              </a:solidFill>
              <a:highlight>
                <a:srgbClr val="FAFBFC"/>
              </a:highlight>
              <a:latin typeface="__Source_Sans_Pro_fa6df0"/>
            </a:endParaRPr>
          </a:p>
          <a:p>
            <a:r>
              <a:rPr lang="en-US" b="0" i="0" dirty="0">
                <a:solidFill>
                  <a:srgbClr val="61738E"/>
                </a:solidFill>
                <a:effectLst/>
                <a:highlight>
                  <a:srgbClr val="FAFBFC"/>
                </a:highlight>
                <a:latin typeface="__Source_Sans_Pro_fa6df0"/>
              </a:rPr>
              <a:t>As we can see, the three nearest neighbors are from category A. Hence this new data point must belong to category A.</a:t>
            </a:r>
          </a:p>
          <a:p>
            <a:r>
              <a:rPr lang="en-US" b="0" i="0" dirty="0">
                <a:solidFill>
                  <a:srgbClr val="445578"/>
                </a:solidFill>
                <a:effectLst/>
                <a:highlight>
                  <a:srgbClr val="FFFFFF"/>
                </a:highlight>
                <a:latin typeface="Inter"/>
              </a:rPr>
              <a:t>A KNN classifier determines the class of a data point through </a:t>
            </a:r>
            <a:r>
              <a:rPr lang="en-US" b="1" i="0" dirty="0">
                <a:solidFill>
                  <a:srgbClr val="445578"/>
                </a:solidFill>
                <a:effectLst/>
                <a:highlight>
                  <a:srgbClr val="FFFFFF"/>
                </a:highlight>
                <a:latin typeface="Inter"/>
              </a:rPr>
              <a:t>a majority vote of nearest neighbors</a:t>
            </a:r>
            <a:endParaRPr lang="en-US" b="0" i="0" dirty="0">
              <a:solidFill>
                <a:srgbClr val="61738E"/>
              </a:solidFill>
              <a:effectLst/>
              <a:highlight>
                <a:srgbClr val="FAFBFC"/>
              </a:highlight>
              <a:latin typeface="__Source_Sans_Pro_fa6df0"/>
            </a:endParaRPr>
          </a:p>
          <a:p>
            <a:endParaRPr lang="en-US" b="0" i="0" dirty="0">
              <a:solidFill>
                <a:srgbClr val="61738E"/>
              </a:solidFill>
              <a:effectLst/>
              <a:highlight>
                <a:srgbClr val="FAFBFC"/>
              </a:highlight>
              <a:latin typeface="__Source_Sans_Pro_fa6df0"/>
            </a:endParaRPr>
          </a:p>
          <a:p>
            <a:endParaRPr lang="en-IN" dirty="0"/>
          </a:p>
        </p:txBody>
      </p:sp>
      <p:pic>
        <p:nvPicPr>
          <p:cNvPr id="5" name="Picture 4">
            <a:extLst>
              <a:ext uri="{FF2B5EF4-FFF2-40B4-BE49-F238E27FC236}">
                <a16:creationId xmlns:a16="http://schemas.microsoft.com/office/drawing/2014/main" id="{8049A00A-8E04-62C0-ED46-22164C5DAA68}"/>
              </a:ext>
            </a:extLst>
          </p:cNvPr>
          <p:cNvPicPr>
            <a:picLocks noChangeAspect="1"/>
          </p:cNvPicPr>
          <p:nvPr/>
        </p:nvPicPr>
        <p:blipFill>
          <a:blip r:embed="rId2"/>
          <a:stretch>
            <a:fillRect/>
          </a:stretch>
        </p:blipFill>
        <p:spPr>
          <a:xfrm>
            <a:off x="3559629" y="1417357"/>
            <a:ext cx="5656148" cy="3013521"/>
          </a:xfrm>
          <a:prstGeom prst="rect">
            <a:avLst/>
          </a:prstGeom>
        </p:spPr>
      </p:pic>
    </p:spTree>
    <p:extLst>
      <p:ext uri="{BB962C8B-B14F-4D97-AF65-F5344CB8AC3E}">
        <p14:creationId xmlns:p14="http://schemas.microsoft.com/office/powerpoint/2010/main" val="2731149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notebook with math equations and numbers&#10;&#10;Description automatically generated">
            <a:extLst>
              <a:ext uri="{FF2B5EF4-FFF2-40B4-BE49-F238E27FC236}">
                <a16:creationId xmlns:a16="http://schemas.microsoft.com/office/drawing/2014/main" id="{CC958CDD-FB15-6C66-27FA-A2D08E353E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5229" y="206829"/>
            <a:ext cx="5464627" cy="6418970"/>
          </a:xfrm>
        </p:spPr>
      </p:pic>
    </p:spTree>
    <p:extLst>
      <p:ext uri="{BB962C8B-B14F-4D97-AF65-F5344CB8AC3E}">
        <p14:creationId xmlns:p14="http://schemas.microsoft.com/office/powerpoint/2010/main" val="1908856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EBA31-90A7-ED7A-22FB-7D6058E7A8D2}"/>
              </a:ext>
            </a:extLst>
          </p:cNvPr>
          <p:cNvSpPr>
            <a:spLocks noGrp="1"/>
          </p:cNvSpPr>
          <p:nvPr>
            <p:ph type="title"/>
          </p:nvPr>
        </p:nvSpPr>
        <p:spPr/>
        <p:txBody>
          <a:bodyPr/>
          <a:lstStyle/>
          <a:p>
            <a:r>
              <a:rPr lang="en-IN" b="1" i="0" dirty="0">
                <a:effectLst/>
                <a:highlight>
                  <a:srgbClr val="FAFBFC"/>
                </a:highlight>
                <a:latin typeface="__Source_Sans_Pro_fa6df0"/>
              </a:rPr>
              <a:t>Types of Distance Metric</a:t>
            </a:r>
            <a:br>
              <a:rPr lang="en-IN" b="1" i="0" dirty="0">
                <a:effectLst/>
                <a:highlight>
                  <a:srgbClr val="FAFBFC"/>
                </a:highlight>
                <a:latin typeface="__Source_Sans_Pro_fa6df0"/>
              </a:rPr>
            </a:br>
            <a:endParaRPr lang="en-IN" dirty="0"/>
          </a:p>
        </p:txBody>
      </p:sp>
      <p:sp>
        <p:nvSpPr>
          <p:cNvPr id="3" name="Content Placeholder 2">
            <a:extLst>
              <a:ext uri="{FF2B5EF4-FFF2-40B4-BE49-F238E27FC236}">
                <a16:creationId xmlns:a16="http://schemas.microsoft.com/office/drawing/2014/main" id="{01601740-1BDD-2199-C57F-871AFAAF50E0}"/>
              </a:ext>
            </a:extLst>
          </p:cNvPr>
          <p:cNvSpPr>
            <a:spLocks noGrp="1"/>
          </p:cNvSpPr>
          <p:nvPr>
            <p:ph idx="1"/>
          </p:nvPr>
        </p:nvSpPr>
        <p:spPr/>
        <p:txBody>
          <a:bodyPr/>
          <a:lstStyle/>
          <a:p>
            <a:pPr algn="l"/>
            <a:r>
              <a:rPr lang="en-US" b="0" i="0" dirty="0">
                <a:solidFill>
                  <a:srgbClr val="61738E"/>
                </a:solidFill>
                <a:effectLst/>
                <a:highlight>
                  <a:srgbClr val="FAFBFC"/>
                </a:highlight>
                <a:latin typeface="__Source_Sans_Pro_fa6df0"/>
              </a:rPr>
              <a:t>The decisions made by KNN depend on the type of Distance Metric we have chosen. A </a:t>
            </a:r>
            <a:r>
              <a:rPr lang="en-US" b="1" i="0" dirty="0">
                <a:solidFill>
                  <a:srgbClr val="61738E"/>
                </a:solidFill>
                <a:effectLst/>
                <a:highlight>
                  <a:srgbClr val="FAFBFC"/>
                </a:highlight>
                <a:latin typeface="__Source_Sans_Pro_fa6df0"/>
              </a:rPr>
              <a:t>distance metric</a:t>
            </a:r>
            <a:r>
              <a:rPr lang="en-US" b="0" i="0" dirty="0">
                <a:solidFill>
                  <a:srgbClr val="61738E"/>
                </a:solidFill>
                <a:effectLst/>
                <a:highlight>
                  <a:srgbClr val="FAFBFC"/>
                </a:highlight>
                <a:latin typeface="__Source_Sans_Pro_fa6df0"/>
              </a:rPr>
              <a:t> is a quantified measure of how 'far' or 'close' two points are. Apart from Euclidean Distance, Manhattan, </a:t>
            </a:r>
            <a:r>
              <a:rPr lang="en-US" b="0" i="0" dirty="0" err="1">
                <a:solidFill>
                  <a:srgbClr val="61738E"/>
                </a:solidFill>
                <a:effectLst/>
                <a:highlight>
                  <a:srgbClr val="FAFBFC"/>
                </a:highlight>
                <a:latin typeface="__Source_Sans_Pro_fa6df0"/>
              </a:rPr>
              <a:t>Minkowski</a:t>
            </a:r>
            <a:r>
              <a:rPr lang="en-US" b="0" i="0" dirty="0">
                <a:solidFill>
                  <a:srgbClr val="61738E"/>
                </a:solidFill>
                <a:effectLst/>
                <a:highlight>
                  <a:srgbClr val="FAFBFC"/>
                </a:highlight>
                <a:latin typeface="__Source_Sans_Pro_fa6df0"/>
              </a:rPr>
              <a:t>, and Hamming Distances can be used as distance metrics for KNN.</a:t>
            </a:r>
          </a:p>
          <a:p>
            <a:pPr marL="0" indent="0" algn="l">
              <a:buNone/>
            </a:pPr>
            <a:endParaRPr lang="en-IN" dirty="0"/>
          </a:p>
        </p:txBody>
      </p:sp>
    </p:spTree>
    <p:extLst>
      <p:ext uri="{BB962C8B-B14F-4D97-AF65-F5344CB8AC3E}">
        <p14:creationId xmlns:p14="http://schemas.microsoft.com/office/powerpoint/2010/main" val="737303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642C-D7D5-2735-FE62-F40AF1625B0E}"/>
              </a:ext>
            </a:extLst>
          </p:cNvPr>
          <p:cNvSpPr>
            <a:spLocks noGrp="1"/>
          </p:cNvSpPr>
          <p:nvPr>
            <p:ph type="title"/>
          </p:nvPr>
        </p:nvSpPr>
        <p:spPr/>
        <p:txBody>
          <a:bodyPr/>
          <a:lstStyle/>
          <a:p>
            <a:pPr algn="ctr"/>
            <a:r>
              <a:rPr lang="en-US" b="1" i="0" dirty="0">
                <a:effectLst/>
                <a:highlight>
                  <a:srgbClr val="FAFBFC"/>
                </a:highlight>
                <a:latin typeface="__Source_Sans_Pro_fa6df0"/>
              </a:rPr>
              <a:t>How to Determine the K Value ?</a:t>
            </a:r>
            <a:br>
              <a:rPr lang="en-US" b="1" i="0" dirty="0">
                <a:effectLst/>
                <a:highlight>
                  <a:srgbClr val="FAFBFC"/>
                </a:highlight>
                <a:latin typeface="__Source_Sans_Pro_fa6df0"/>
              </a:rPr>
            </a:br>
            <a:endParaRPr lang="en-IN" dirty="0"/>
          </a:p>
        </p:txBody>
      </p:sp>
      <p:sp>
        <p:nvSpPr>
          <p:cNvPr id="3" name="Content Placeholder 2">
            <a:extLst>
              <a:ext uri="{FF2B5EF4-FFF2-40B4-BE49-F238E27FC236}">
                <a16:creationId xmlns:a16="http://schemas.microsoft.com/office/drawing/2014/main" id="{38CB27A5-FDAA-DDA8-44D3-D71FE4AEDC3B}"/>
              </a:ext>
            </a:extLst>
          </p:cNvPr>
          <p:cNvSpPr>
            <a:spLocks noGrp="1"/>
          </p:cNvSpPr>
          <p:nvPr>
            <p:ph idx="1"/>
          </p:nvPr>
        </p:nvSpPr>
        <p:spPr/>
        <p:txBody>
          <a:bodyPr/>
          <a:lstStyle/>
          <a:p>
            <a:r>
              <a:rPr lang="en-US" b="0" i="0" dirty="0">
                <a:solidFill>
                  <a:srgbClr val="61738E"/>
                </a:solidFill>
                <a:effectLst/>
                <a:highlight>
                  <a:srgbClr val="FAFBFC"/>
                </a:highlight>
                <a:latin typeface="__Source_Sans_Pro_fa6df0"/>
              </a:rPr>
              <a:t>Choosing an appropriate value of </a:t>
            </a:r>
            <a:r>
              <a:rPr lang="en-US" b="0" i="0" dirty="0">
                <a:effectLst/>
                <a:highlight>
                  <a:srgbClr val="FAFBFC"/>
                </a:highlight>
                <a:latin typeface="__Source_Sans_Pro_fa6df0"/>
              </a:rPr>
              <a:t>k</a:t>
            </a:r>
            <a:r>
              <a:rPr lang="en-US" b="0" i="0" dirty="0">
                <a:solidFill>
                  <a:srgbClr val="61738E"/>
                </a:solidFill>
                <a:effectLst/>
                <a:highlight>
                  <a:srgbClr val="FAFBFC"/>
                </a:highlight>
                <a:latin typeface="__Source_Sans_Pro_fa6df0"/>
              </a:rPr>
              <a:t> in KNN is crucial to get the best out of the model. </a:t>
            </a:r>
          </a:p>
          <a:p>
            <a:r>
              <a:rPr lang="en-US" b="0" i="0" dirty="0">
                <a:solidFill>
                  <a:srgbClr val="61738E"/>
                </a:solidFill>
                <a:effectLst/>
                <a:highlight>
                  <a:srgbClr val="FAFBFC"/>
                </a:highlight>
                <a:latin typeface="__Source_Sans_Pro_fa6df0"/>
              </a:rPr>
              <a:t>If the value of </a:t>
            </a:r>
            <a:r>
              <a:rPr lang="en-US" b="0" i="0" dirty="0">
                <a:effectLst/>
                <a:highlight>
                  <a:srgbClr val="FAFBFC"/>
                </a:highlight>
                <a:latin typeface="__Source_Sans_Pro_fa6df0"/>
              </a:rPr>
              <a:t>K</a:t>
            </a:r>
            <a:r>
              <a:rPr lang="en-US" b="0" i="0" dirty="0">
                <a:solidFill>
                  <a:srgbClr val="61738E"/>
                </a:solidFill>
                <a:effectLst/>
                <a:highlight>
                  <a:srgbClr val="FAFBFC"/>
                </a:highlight>
                <a:latin typeface="__Source_Sans_Pro_fa6df0"/>
              </a:rPr>
              <a:t> is small, the model's error rate will be large, especially for new data points, since the number of votes is small. Hence, the model is overfitted and highly sensitive to noise in the input. Moreover, the boundaries for classification become too rigid, </a:t>
            </a:r>
          </a:p>
          <a:p>
            <a:r>
              <a:rPr lang="en-US" b="0" i="0" dirty="0">
                <a:solidFill>
                  <a:srgbClr val="61738E"/>
                </a:solidFill>
                <a:effectLst/>
                <a:highlight>
                  <a:srgbClr val="FAFBFC"/>
                </a:highlight>
                <a:latin typeface="__Source_Sans_Pro_fa6df0"/>
              </a:rPr>
              <a:t>On the other hand, if the value of </a:t>
            </a:r>
            <a:r>
              <a:rPr lang="en-US" b="0" i="0" dirty="0">
                <a:effectLst/>
                <a:highlight>
                  <a:srgbClr val="FAFBFC"/>
                </a:highlight>
                <a:latin typeface="__Source_Sans_Pro_fa6df0"/>
              </a:rPr>
              <a:t>K</a:t>
            </a:r>
            <a:r>
              <a:rPr lang="en-US" b="0" i="0" dirty="0">
                <a:solidFill>
                  <a:srgbClr val="61738E"/>
                </a:solidFill>
                <a:effectLst/>
                <a:highlight>
                  <a:srgbClr val="FAFBFC"/>
                </a:highlight>
                <a:latin typeface="__Source_Sans_Pro_fa6df0"/>
              </a:rPr>
              <a:t> is large, the model's boundaries become loose, and the number of misclassifications increases. In this case, the model is said to be underfitted.</a:t>
            </a:r>
            <a:endParaRPr lang="en-IN" dirty="0"/>
          </a:p>
        </p:txBody>
      </p:sp>
    </p:spTree>
    <p:extLst>
      <p:ext uri="{BB962C8B-B14F-4D97-AF65-F5344CB8AC3E}">
        <p14:creationId xmlns:p14="http://schemas.microsoft.com/office/powerpoint/2010/main" val="4241281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0876C-FA29-85EF-1E4E-F882402D5658}"/>
              </a:ext>
            </a:extLst>
          </p:cNvPr>
          <p:cNvSpPr>
            <a:spLocks noGrp="1"/>
          </p:cNvSpPr>
          <p:nvPr>
            <p:ph type="title"/>
          </p:nvPr>
        </p:nvSpPr>
        <p:spPr/>
        <p:txBody>
          <a:bodyPr/>
          <a:lstStyle/>
          <a:p>
            <a:pPr algn="ctr"/>
            <a:r>
              <a:rPr lang="en-IN" dirty="0"/>
              <a:t>Methods to find K</a:t>
            </a:r>
          </a:p>
        </p:txBody>
      </p:sp>
      <p:sp>
        <p:nvSpPr>
          <p:cNvPr id="3" name="Content Placeholder 2">
            <a:extLst>
              <a:ext uri="{FF2B5EF4-FFF2-40B4-BE49-F238E27FC236}">
                <a16:creationId xmlns:a16="http://schemas.microsoft.com/office/drawing/2014/main" id="{D78EF602-5B92-7CC2-A845-2324439A159F}"/>
              </a:ext>
            </a:extLst>
          </p:cNvPr>
          <p:cNvSpPr>
            <a:spLocks noGrp="1"/>
          </p:cNvSpPr>
          <p:nvPr>
            <p:ph idx="1"/>
          </p:nvPr>
        </p:nvSpPr>
        <p:spPr/>
        <p:txBody>
          <a:bodyPr/>
          <a:lstStyle/>
          <a:p>
            <a:r>
              <a:rPr lang="en-US" dirty="0">
                <a:effectLst/>
              </a:rPr>
              <a:t>There is no fixed method to find k, but the following points might help :</a:t>
            </a:r>
          </a:p>
          <a:p>
            <a:pPr>
              <a:buFont typeface="Arial" panose="020B0604020202020204" pitchFamily="34" charset="0"/>
              <a:buChar char="•"/>
            </a:pPr>
            <a:r>
              <a:rPr lang="en-US" dirty="0"/>
              <a:t>Set K as an odd number, so we have an extra point to settle tie-breakers in extreme cases.</a:t>
            </a:r>
          </a:p>
          <a:p>
            <a:pPr algn="l">
              <a:buFont typeface="Arial" panose="020B0604020202020204" pitchFamily="34" charset="0"/>
              <a:buChar char="•"/>
            </a:pPr>
            <a:r>
              <a:rPr lang="en-US" dirty="0"/>
              <a:t>Square Root Method: We can consider the square root of all data points in the training dataset as the optimal value of K.</a:t>
            </a:r>
          </a:p>
          <a:p>
            <a:pPr marL="0" indent="0">
              <a:buNone/>
            </a:pPr>
            <a:endParaRPr lang="en-IN" dirty="0"/>
          </a:p>
        </p:txBody>
      </p:sp>
    </p:spTree>
    <p:extLst>
      <p:ext uri="{BB962C8B-B14F-4D97-AF65-F5344CB8AC3E}">
        <p14:creationId xmlns:p14="http://schemas.microsoft.com/office/powerpoint/2010/main" val="1531308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9ECE9-3E91-C206-5107-D3E28D098AC4}"/>
              </a:ext>
            </a:extLst>
          </p:cNvPr>
          <p:cNvSpPr>
            <a:spLocks noGrp="1"/>
          </p:cNvSpPr>
          <p:nvPr>
            <p:ph type="title"/>
          </p:nvPr>
        </p:nvSpPr>
        <p:spPr/>
        <p:txBody>
          <a:bodyPr>
            <a:normAutofit fontScale="90000"/>
          </a:bodyPr>
          <a:lstStyle/>
          <a:p>
            <a:r>
              <a:rPr lang="en-US" b="1" i="0" dirty="0">
                <a:effectLst/>
                <a:highlight>
                  <a:srgbClr val="FAFBFC"/>
                </a:highlight>
                <a:latin typeface="__Source_Sans_Pro_fa6df0"/>
              </a:rPr>
              <a:t>Advantages of the KNN Algorithm in Machine Learning</a:t>
            </a:r>
            <a:br>
              <a:rPr lang="en-US" b="1" i="0" dirty="0">
                <a:effectLst/>
                <a:highlight>
                  <a:srgbClr val="FAFBFC"/>
                </a:highlight>
                <a:latin typeface="__Source_Sans_Pro_fa6df0"/>
              </a:rPr>
            </a:br>
            <a:endParaRPr lang="en-IN" dirty="0"/>
          </a:p>
        </p:txBody>
      </p:sp>
      <p:sp>
        <p:nvSpPr>
          <p:cNvPr id="3" name="Content Placeholder 2">
            <a:extLst>
              <a:ext uri="{FF2B5EF4-FFF2-40B4-BE49-F238E27FC236}">
                <a16:creationId xmlns:a16="http://schemas.microsoft.com/office/drawing/2014/main" id="{0E6604BF-17DC-F2D8-BC9A-15A29587730C}"/>
              </a:ext>
            </a:extLst>
          </p:cNvPr>
          <p:cNvSpPr>
            <a:spLocks noGrp="1"/>
          </p:cNvSpPr>
          <p:nvPr>
            <p:ph idx="1"/>
          </p:nvPr>
        </p:nvSpPr>
        <p:spPr/>
        <p:txBody>
          <a:bodyPr/>
          <a:lstStyle/>
          <a:p>
            <a:pPr algn="l">
              <a:buFont typeface="Arial" panose="020B0604020202020204" pitchFamily="34" charset="0"/>
              <a:buChar char="•"/>
            </a:pPr>
            <a:r>
              <a:rPr lang="en-US" b="0" i="0" dirty="0">
                <a:solidFill>
                  <a:srgbClr val="61738E"/>
                </a:solidFill>
                <a:effectLst/>
                <a:highlight>
                  <a:srgbClr val="FAFBFC"/>
                </a:highlight>
                <a:latin typeface="__Source_Sans_Pro_fa6df0"/>
              </a:rPr>
              <a:t>KNN is extremely useful in scenarios that require high accuracy and do not contain many unknown points to classify. The concept of learning does not apply to KNN. Hence, if we need a quick prediction for a limited number of data points, then KNN is the go-to algorithm since other models, like neural networks and logistic regression, require time for training.</a:t>
            </a:r>
          </a:p>
          <a:p>
            <a:pPr algn="l">
              <a:buFont typeface="Arial" panose="020B0604020202020204" pitchFamily="34" charset="0"/>
              <a:buChar char="•"/>
            </a:pPr>
            <a:r>
              <a:rPr lang="en-US" b="0" i="0" dirty="0">
                <a:solidFill>
                  <a:srgbClr val="61738E"/>
                </a:solidFill>
                <a:effectLst/>
                <a:highlight>
                  <a:srgbClr val="FAFBFC"/>
                </a:highlight>
                <a:latin typeface="__Source_Sans_Pro_fa6df0"/>
              </a:rPr>
              <a:t>Easy to implement</a:t>
            </a:r>
          </a:p>
          <a:p>
            <a:pPr algn="l">
              <a:buFont typeface="Arial" panose="020B0604020202020204" pitchFamily="34" charset="0"/>
              <a:buChar char="•"/>
            </a:pPr>
            <a:r>
              <a:rPr lang="en-US" b="0" i="0" dirty="0">
                <a:solidFill>
                  <a:srgbClr val="61738E"/>
                </a:solidFill>
                <a:effectLst/>
                <a:highlight>
                  <a:srgbClr val="FAFBFC"/>
                </a:highlight>
                <a:latin typeface="__Source_Sans_Pro_fa6df0"/>
              </a:rPr>
              <a:t>Simple hyperparameter tuning </a:t>
            </a:r>
          </a:p>
          <a:p>
            <a:pPr marL="0" indent="0">
              <a:buNone/>
            </a:pPr>
            <a:endParaRPr lang="en-IN" dirty="0"/>
          </a:p>
        </p:txBody>
      </p:sp>
    </p:spTree>
    <p:extLst>
      <p:ext uri="{BB962C8B-B14F-4D97-AF65-F5344CB8AC3E}">
        <p14:creationId xmlns:p14="http://schemas.microsoft.com/office/powerpoint/2010/main" val="1052661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43D5-48FE-0211-1243-EE8EB7F54464}"/>
              </a:ext>
            </a:extLst>
          </p:cNvPr>
          <p:cNvSpPr>
            <a:spLocks noGrp="1"/>
          </p:cNvSpPr>
          <p:nvPr>
            <p:ph type="title"/>
          </p:nvPr>
        </p:nvSpPr>
        <p:spPr/>
        <p:txBody>
          <a:bodyPr>
            <a:normAutofit fontScale="90000"/>
          </a:bodyPr>
          <a:lstStyle/>
          <a:p>
            <a:r>
              <a:rPr lang="en-US" b="1" i="0" dirty="0">
                <a:effectLst/>
                <a:highlight>
                  <a:srgbClr val="FAFBFC"/>
                </a:highlight>
                <a:latin typeface="__Source_Sans_Pro_fa6df0"/>
              </a:rPr>
              <a:t>Disadvantages of the KNN Algorithm in Machine Learning</a:t>
            </a:r>
            <a:br>
              <a:rPr lang="en-US" b="1" i="0" dirty="0">
                <a:effectLst/>
                <a:highlight>
                  <a:srgbClr val="FAFBFC"/>
                </a:highlight>
                <a:latin typeface="__Source_Sans_Pro_fa6df0"/>
              </a:rPr>
            </a:br>
            <a:endParaRPr lang="en-IN" dirty="0"/>
          </a:p>
        </p:txBody>
      </p:sp>
      <p:sp>
        <p:nvSpPr>
          <p:cNvPr id="3" name="Content Placeholder 2">
            <a:extLst>
              <a:ext uri="{FF2B5EF4-FFF2-40B4-BE49-F238E27FC236}">
                <a16:creationId xmlns:a16="http://schemas.microsoft.com/office/drawing/2014/main" id="{C6D10185-B2CF-1863-413F-13BEC13D02D6}"/>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US" b="0" i="0">
                <a:solidFill>
                  <a:srgbClr val="61738E"/>
                </a:solidFill>
                <a:effectLst/>
                <a:highlight>
                  <a:srgbClr val="FAFBFC"/>
                </a:highlight>
                <a:latin typeface="__Source_Sans_Pro_fa6df0"/>
              </a:rPr>
              <a:t>KNN </a:t>
            </a:r>
            <a:r>
              <a:rPr lang="en-US" b="0" i="0" dirty="0">
                <a:solidFill>
                  <a:srgbClr val="61738E"/>
                </a:solidFill>
                <a:effectLst/>
                <a:highlight>
                  <a:srgbClr val="FAFBFC"/>
                </a:highlight>
                <a:latin typeface="__Source_Sans_Pro_fa6df0"/>
              </a:rPr>
              <a:t>will confidently classify data points far beyond the dataset's actual scope.</a:t>
            </a:r>
          </a:p>
          <a:p>
            <a:pPr algn="l">
              <a:buFont typeface="Arial" panose="020B0604020202020204" pitchFamily="34" charset="0"/>
              <a:buChar char="•"/>
            </a:pPr>
            <a:r>
              <a:rPr lang="en-US" b="0" i="0" dirty="0">
                <a:solidFill>
                  <a:srgbClr val="61738E"/>
                </a:solidFill>
                <a:effectLst/>
                <a:highlight>
                  <a:srgbClr val="FAFBFC"/>
                </a:highlight>
                <a:latin typeface="__Source_Sans_Pro_fa6df0"/>
              </a:rPr>
              <a:t>KNN is sensitive to noise, so accurate data preprocessing must be done.</a:t>
            </a:r>
          </a:p>
          <a:p>
            <a:pPr algn="l">
              <a:buFont typeface="Arial" panose="020B0604020202020204" pitchFamily="34" charset="0"/>
              <a:buChar char="•"/>
            </a:pPr>
            <a:r>
              <a:rPr lang="en-US" b="0" i="0" dirty="0">
                <a:solidFill>
                  <a:srgbClr val="61738E"/>
                </a:solidFill>
                <a:effectLst/>
                <a:highlight>
                  <a:srgbClr val="FAFBFC"/>
                </a:highlight>
                <a:latin typeface="__Source_Sans_Pro_fa6df0"/>
              </a:rPr>
              <a:t>KNN employs instance-based learning and is a lazy algorithm that refers to an algorithm that does not learn anything from the dataset. Each time a new data point is supplied, it calculates the distance between that point and all other points in the dataset, which is computationally expensive. Essentially, the idea of training the KNN model does not exist because it makes a new decision by calculating the distances from a new point.</a:t>
            </a:r>
          </a:p>
          <a:p>
            <a:pPr algn="l">
              <a:buFont typeface="Arial" panose="020B0604020202020204" pitchFamily="34" charset="0"/>
              <a:buChar char="•"/>
            </a:pPr>
            <a:r>
              <a:rPr lang="en-US" b="0" i="0" dirty="0">
                <a:solidFill>
                  <a:srgbClr val="61738E"/>
                </a:solidFill>
                <a:effectLst/>
                <a:highlight>
                  <a:srgbClr val="FAFBFC"/>
                </a:highlight>
                <a:latin typeface="__Source_Sans_Pro_fa6df0"/>
              </a:rPr>
              <a:t>For large datasets, the program needs to be memory-optimized, else it will take too much memory to perform classification. There are many workarounds for many of these disadvantages, which makes KNN a powerful classification tool. For example, we can apply the Weighted KNN algorithm to improve the accuracy. </a:t>
            </a:r>
            <a:endParaRPr lang="en-IN" dirty="0"/>
          </a:p>
        </p:txBody>
      </p:sp>
    </p:spTree>
    <p:extLst>
      <p:ext uri="{BB962C8B-B14F-4D97-AF65-F5344CB8AC3E}">
        <p14:creationId xmlns:p14="http://schemas.microsoft.com/office/powerpoint/2010/main" val="1031611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848</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__Source_Sans_Pro_fa6df0</vt:lpstr>
      <vt:lpstr>Aptos</vt:lpstr>
      <vt:lpstr>Aptos Display</vt:lpstr>
      <vt:lpstr>Arial</vt:lpstr>
      <vt:lpstr>Calibri</vt:lpstr>
      <vt:lpstr>Inter</vt:lpstr>
      <vt:lpstr>Office Theme</vt:lpstr>
      <vt:lpstr>K-Nearest Neighbor (KNN) Algorithm in Machine Learning </vt:lpstr>
      <vt:lpstr>Introduction</vt:lpstr>
      <vt:lpstr>How does K-Nearest Neighbours Work? </vt:lpstr>
      <vt:lpstr>Working</vt:lpstr>
      <vt:lpstr>PowerPoint Presentation</vt:lpstr>
      <vt:lpstr>PowerPoint Presentation</vt:lpstr>
      <vt:lpstr>PowerPoint Presentation</vt:lpstr>
      <vt:lpstr>Types of Distance Metric </vt:lpstr>
      <vt:lpstr>How to Determine the K Value ? </vt:lpstr>
      <vt:lpstr>Methods to find K</vt:lpstr>
      <vt:lpstr>Advantages of the KNN Algorithm in Machine Learning </vt:lpstr>
      <vt:lpstr>Disadvantages of the KNN Algorithm in Machine Learning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PRITI PRAKASH JORVEKAR -X (pjorveka - CALSOFT PVT LTD at Cisco)</dc:creator>
  <cp:lastModifiedBy>PRITI PRAKASH JORVEKAR -X (pjorveka - CALSOFT PVT LTD at Cisco)</cp:lastModifiedBy>
  <cp:revision>2</cp:revision>
  <dcterms:created xsi:type="dcterms:W3CDTF">2024-08-02T20:34:04Z</dcterms:created>
  <dcterms:modified xsi:type="dcterms:W3CDTF">2024-08-02T22:18:07Z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2024-08-02T22:05:53Z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d6087e07-2992-4d95-a710-1cb325aca701</vt:lpwstr>
  </property>
  <property fmtid="{D5CDD505-2E9C-101B-9397-08002B2CF9AE}" pid="8" name="MSIP_Label_c8f49a32-fde3-48a5-9266-b5b0972a22dc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Cisco Confidential</vt:lpwstr>
  </property>
</Properties>
</file>