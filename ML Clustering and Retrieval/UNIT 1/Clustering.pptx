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12192000" cy="6858000"/>
  <p:embeddedFontLst>
    <p:embeddedFont>
      <p:font typeface="Calibri" panose="020F0502020204030204" pitchFamily="34" charset="0"/>
      <p:regular r:id="rId43"/>
      <p:bold r:id="rId44"/>
      <p:italic r:id="rId45"/>
      <p:boldItalic r:id="rId46"/>
    </p:embeddedFont>
    <p:embeddedFont>
      <p:font typeface="Helvetica Neue" panose="020B060402020202020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i9uN6ygGil5cY7B8jsmbgPUjyU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6" y="12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0" name="Google Shape;50;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 name="Google Shape;57;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 name="Google Shape;6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9" name="Google Shape;79;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6" name="Google Shape;116;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7" name="Google Shape;197;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p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9" name="Google Shape;219;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0" name="Google Shape;230;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1" name="Google Shape;241;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8" name="Google Shape;248;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p1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3" name="Google Shape;273;p2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cd13566cc6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cd13566cc6_0_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cd13566cc6_0_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cd13566cc6_0_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cd13566cc6_0_2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cd13566cc6_0_2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4" name="Google Shape;324;p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5" name="Google Shape;335;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6" name="Google Shape;346;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7" name="Google Shape;357;p2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9" name="Google Shape;369;p2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6ecb2f9fa9_1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26ecb2f9fa9_1_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9" name="Google Shape;389;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7" name="Google Shape;397;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9" name="Google Shape;409;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2" name="Google Shape;422;p3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4" name="Google Shape;434;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3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6" name="Google Shape;446;p3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3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7" name="Google Shape;457;p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3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69" name="Google Shape;469;p3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0" name="Google Shape;480;p3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3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1" name="Google Shape;491;p3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Only" type="obj">
  <p:cSld name="OBJECT">
    <p:bg>
      <p:bgPr>
        <a:solidFill>
          <a:schemeClr val="lt1"/>
        </a:solidFill>
        <a:effectLst/>
      </p:bgPr>
    </p:bg>
    <p:spTree>
      <p:nvGrpSpPr>
        <p:cNvPr id="1" name="Shape 12"/>
        <p:cNvGrpSpPr/>
        <p:nvPr/>
      </p:nvGrpSpPr>
      <p:grpSpPr>
        <a:xfrm>
          <a:off x="0" y="0"/>
          <a:ext cx="0" cy="0"/>
          <a:chOff x="0" y="0"/>
          <a:chExt cx="0" cy="0"/>
        </a:xfrm>
      </p:grpSpPr>
      <p:pic>
        <p:nvPicPr>
          <p:cNvPr id="13" name="Google Shape;13;p38"/>
          <p:cNvPicPr preferRelativeResize="0"/>
          <p:nvPr/>
        </p:nvPicPr>
        <p:blipFill rotWithShape="1">
          <a:blip r:embed="rId2">
            <a:alphaModFix/>
          </a:blip>
          <a:srcRect/>
          <a:stretch/>
        </p:blipFill>
        <p:spPr>
          <a:xfrm>
            <a:off x="0" y="0"/>
            <a:ext cx="12191999" cy="528866"/>
          </a:xfrm>
          <a:prstGeom prst="rect">
            <a:avLst/>
          </a:prstGeom>
          <a:noFill/>
          <a:ln>
            <a:noFill/>
          </a:ln>
        </p:spPr>
      </p:pic>
      <p:sp>
        <p:nvSpPr>
          <p:cNvPr id="14" name="Google Shape;14;p38"/>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 name="Google Shape;15;p38"/>
          <p:cNvSpPr txBox="1">
            <a:spLocks noGrp="1"/>
          </p:cNvSpPr>
          <p:nvPr>
            <p:ph type="title"/>
          </p:nvPr>
        </p:nvSpPr>
        <p:spPr>
          <a:xfrm>
            <a:off x="78739" y="23825"/>
            <a:ext cx="11406505" cy="39179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4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8"/>
          <p:cNvSpPr txBox="1">
            <a:spLocks noGrp="1"/>
          </p:cNvSpPr>
          <p:nvPr>
            <p:ph type="ftr" idx="11"/>
          </p:nvPr>
        </p:nvSpPr>
        <p:spPr>
          <a:xfrm>
            <a:off x="917244" y="6466738"/>
            <a:ext cx="641350" cy="177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38"/>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8"/>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9"/>
        <p:cNvGrpSpPr/>
        <p:nvPr/>
      </p:nvGrpSpPr>
      <p:grpSpPr>
        <a:xfrm>
          <a:off x="0" y="0"/>
          <a:ext cx="0" cy="0"/>
          <a:chOff x="0" y="0"/>
          <a:chExt cx="0" cy="0"/>
        </a:xfrm>
      </p:grpSpPr>
      <p:sp>
        <p:nvSpPr>
          <p:cNvPr id="20" name="Google Shape;20;p39"/>
          <p:cNvSpPr txBox="1">
            <a:spLocks noGrp="1"/>
          </p:cNvSpPr>
          <p:nvPr>
            <p:ph type="title"/>
          </p:nvPr>
        </p:nvSpPr>
        <p:spPr>
          <a:xfrm>
            <a:off x="78739" y="23825"/>
            <a:ext cx="11406505" cy="39179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4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body" idx="1"/>
          </p:nvPr>
        </p:nvSpPr>
        <p:spPr>
          <a:xfrm>
            <a:off x="47345" y="3331921"/>
            <a:ext cx="6026785" cy="304419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b="0" i="0">
                <a:solidFill>
                  <a:schemeClr val="dk1"/>
                </a:solidFill>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22" name="Google Shape;22;p39"/>
          <p:cNvSpPr txBox="1">
            <a:spLocks noGrp="1"/>
          </p:cNvSpPr>
          <p:nvPr>
            <p:ph type="ftr" idx="11"/>
          </p:nvPr>
        </p:nvSpPr>
        <p:spPr>
          <a:xfrm>
            <a:off x="917244" y="6466738"/>
            <a:ext cx="641350" cy="177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9"/>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5"/>
        <p:cNvGrpSpPr/>
        <p:nvPr/>
      </p:nvGrpSpPr>
      <p:grpSpPr>
        <a:xfrm>
          <a:off x="0" y="0"/>
          <a:ext cx="0" cy="0"/>
          <a:chOff x="0" y="0"/>
          <a:chExt cx="0" cy="0"/>
        </a:xfrm>
      </p:grpSpPr>
      <p:pic>
        <p:nvPicPr>
          <p:cNvPr id="26" name="Google Shape;26;p40"/>
          <p:cNvPicPr preferRelativeResize="0"/>
          <p:nvPr/>
        </p:nvPicPr>
        <p:blipFill rotWithShape="1">
          <a:blip r:embed="rId2">
            <a:alphaModFix/>
          </a:blip>
          <a:srcRect/>
          <a:stretch/>
        </p:blipFill>
        <p:spPr>
          <a:xfrm>
            <a:off x="0" y="0"/>
            <a:ext cx="12191999" cy="528866"/>
          </a:xfrm>
          <a:prstGeom prst="rect">
            <a:avLst/>
          </a:prstGeom>
          <a:noFill/>
          <a:ln>
            <a:noFill/>
          </a:ln>
        </p:spPr>
      </p:pic>
      <p:pic>
        <p:nvPicPr>
          <p:cNvPr id="27" name="Google Shape;27;p40"/>
          <p:cNvPicPr preferRelativeResize="0"/>
          <p:nvPr/>
        </p:nvPicPr>
        <p:blipFill rotWithShape="1">
          <a:blip r:embed="rId3">
            <a:alphaModFix/>
          </a:blip>
          <a:srcRect/>
          <a:stretch/>
        </p:blipFill>
        <p:spPr>
          <a:xfrm>
            <a:off x="0" y="0"/>
            <a:ext cx="3672840" cy="490727"/>
          </a:xfrm>
          <a:prstGeom prst="rect">
            <a:avLst/>
          </a:prstGeom>
          <a:noFill/>
          <a:ln>
            <a:noFill/>
          </a:ln>
        </p:spPr>
      </p:pic>
      <p:sp>
        <p:nvSpPr>
          <p:cNvPr id="28" name="Google Shape;28;p40"/>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 name="Google Shape;29;p40"/>
          <p:cNvSpPr txBox="1">
            <a:spLocks noGrp="1"/>
          </p:cNvSpPr>
          <p:nvPr>
            <p:ph type="ftr" idx="11"/>
          </p:nvPr>
        </p:nvSpPr>
        <p:spPr>
          <a:xfrm>
            <a:off x="917244" y="6466738"/>
            <a:ext cx="641350" cy="177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0"/>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0"/>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lt1"/>
        </a:solidFill>
        <a:effectLst/>
      </p:bgPr>
    </p:bg>
    <p:spTree>
      <p:nvGrpSpPr>
        <p:cNvPr id="1" name="Shape 32"/>
        <p:cNvGrpSpPr/>
        <p:nvPr/>
      </p:nvGrpSpPr>
      <p:grpSpPr>
        <a:xfrm>
          <a:off x="0" y="0"/>
          <a:ext cx="0" cy="0"/>
          <a:chOff x="0" y="0"/>
          <a:chExt cx="0" cy="0"/>
        </a:xfrm>
      </p:grpSpPr>
      <p:pic>
        <p:nvPicPr>
          <p:cNvPr id="33" name="Google Shape;33;p41"/>
          <p:cNvPicPr preferRelativeResize="0"/>
          <p:nvPr/>
        </p:nvPicPr>
        <p:blipFill rotWithShape="1">
          <a:blip r:embed="rId2">
            <a:alphaModFix/>
          </a:blip>
          <a:srcRect/>
          <a:stretch/>
        </p:blipFill>
        <p:spPr>
          <a:xfrm>
            <a:off x="0" y="0"/>
            <a:ext cx="12191999" cy="528866"/>
          </a:xfrm>
          <a:prstGeom prst="rect">
            <a:avLst/>
          </a:prstGeom>
          <a:noFill/>
          <a:ln>
            <a:noFill/>
          </a:ln>
        </p:spPr>
      </p:pic>
      <p:pic>
        <p:nvPicPr>
          <p:cNvPr id="34" name="Google Shape;34;p41"/>
          <p:cNvPicPr preferRelativeResize="0"/>
          <p:nvPr/>
        </p:nvPicPr>
        <p:blipFill rotWithShape="1">
          <a:blip r:embed="rId3">
            <a:alphaModFix/>
          </a:blip>
          <a:srcRect/>
          <a:stretch/>
        </p:blipFill>
        <p:spPr>
          <a:xfrm>
            <a:off x="0" y="0"/>
            <a:ext cx="7257288" cy="490727"/>
          </a:xfrm>
          <a:prstGeom prst="rect">
            <a:avLst/>
          </a:prstGeom>
          <a:noFill/>
          <a:ln>
            <a:noFill/>
          </a:ln>
        </p:spPr>
      </p:pic>
      <p:sp>
        <p:nvSpPr>
          <p:cNvPr id="35" name="Google Shape;35;p41"/>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41"/>
          <p:cNvSpPr txBox="1">
            <a:spLocks noGrp="1"/>
          </p:cNvSpPr>
          <p:nvPr>
            <p:ph type="ctrTitle"/>
          </p:nvPr>
        </p:nvSpPr>
        <p:spPr>
          <a:xfrm>
            <a:off x="78739" y="23825"/>
            <a:ext cx="6780530" cy="39179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4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b="0" i="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ftr" idx="11"/>
          </p:nvPr>
        </p:nvSpPr>
        <p:spPr>
          <a:xfrm>
            <a:off x="917244" y="6466738"/>
            <a:ext cx="641350" cy="177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1"/>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1"/>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1"/>
        <p:cNvGrpSpPr/>
        <p:nvPr/>
      </p:nvGrpSpPr>
      <p:grpSpPr>
        <a:xfrm>
          <a:off x="0" y="0"/>
          <a:ext cx="0" cy="0"/>
          <a:chOff x="0" y="0"/>
          <a:chExt cx="0" cy="0"/>
        </a:xfrm>
      </p:grpSpPr>
      <p:sp>
        <p:nvSpPr>
          <p:cNvPr id="42" name="Google Shape;42;p42"/>
          <p:cNvSpPr txBox="1">
            <a:spLocks noGrp="1"/>
          </p:cNvSpPr>
          <p:nvPr>
            <p:ph type="title"/>
          </p:nvPr>
        </p:nvSpPr>
        <p:spPr>
          <a:xfrm>
            <a:off x="78739" y="23825"/>
            <a:ext cx="11406505" cy="39179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2400" b="1" i="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42"/>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4" name="Google Shape;44;p42"/>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917244" y="6466738"/>
            <a:ext cx="641350" cy="177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00" b="0" i="0">
                <a:solidFill>
                  <a:srgbClr val="88888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2"/>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lvl1pPr marL="38100" marR="0" lvl="0"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37"/>
          <p:cNvPicPr preferRelativeResize="0"/>
          <p:nvPr/>
        </p:nvPicPr>
        <p:blipFill rotWithShape="1">
          <a:blip r:embed="rId7">
            <a:alphaModFix/>
          </a:blip>
          <a:srcRect/>
          <a:stretch/>
        </p:blipFill>
        <p:spPr>
          <a:xfrm>
            <a:off x="0" y="0"/>
            <a:ext cx="12191999" cy="528866"/>
          </a:xfrm>
          <a:prstGeom prst="rect">
            <a:avLst/>
          </a:prstGeom>
          <a:noFill/>
          <a:ln>
            <a:noFill/>
          </a:ln>
        </p:spPr>
      </p:pic>
      <p:sp>
        <p:nvSpPr>
          <p:cNvPr id="7" name="Google Shape;7;p37"/>
          <p:cNvSpPr txBox="1">
            <a:spLocks noGrp="1"/>
          </p:cNvSpPr>
          <p:nvPr>
            <p:ph type="title"/>
          </p:nvPr>
        </p:nvSpPr>
        <p:spPr>
          <a:xfrm>
            <a:off x="78739" y="23825"/>
            <a:ext cx="11406505" cy="391795"/>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2400" b="1"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37"/>
          <p:cNvSpPr txBox="1">
            <a:spLocks noGrp="1"/>
          </p:cNvSpPr>
          <p:nvPr>
            <p:ph type="body" idx="1"/>
          </p:nvPr>
        </p:nvSpPr>
        <p:spPr>
          <a:xfrm>
            <a:off x="47345" y="3331921"/>
            <a:ext cx="6026785" cy="304419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9" name="Google Shape;9;p37"/>
          <p:cNvSpPr txBox="1">
            <a:spLocks noGrp="1"/>
          </p:cNvSpPr>
          <p:nvPr>
            <p:ph type="ftr" idx="11"/>
          </p:nvPr>
        </p:nvSpPr>
        <p:spPr>
          <a:xfrm>
            <a:off x="917244" y="6466738"/>
            <a:ext cx="641350" cy="177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37"/>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37"/>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lvl1pPr marL="38100" marR="0" lvl="0"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38100" marR="0" lvl="1"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38100" marR="0" lvl="2"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38100" marR="0" lvl="3"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38100" marR="0" lvl="4"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38100" marR="0" lvl="5"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38100" marR="0" lvl="6"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38100" marR="0" lvl="7"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38100" marR="0" lvl="8" indent="0" algn="l" rtl="0">
              <a:lnSpc>
                <a:spcPct val="103333"/>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38100" lvl="0" indent="0" algn="l"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jp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3.jp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4.jp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7.jpg"/></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2.jp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44.jp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5.jp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6.jp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
        <p:cNvGrpSpPr/>
        <p:nvPr/>
      </p:nvGrpSpPr>
      <p:grpSpPr>
        <a:xfrm>
          <a:off x="0" y="0"/>
          <a:ext cx="0" cy="0"/>
          <a:chOff x="0" y="0"/>
          <a:chExt cx="0" cy="0"/>
        </a:xfrm>
      </p:grpSpPr>
      <p:sp>
        <p:nvSpPr>
          <p:cNvPr id="52" name="Google Shape;52;p1"/>
          <p:cNvSpPr txBox="1">
            <a:spLocks noGrp="1"/>
          </p:cNvSpPr>
          <p:nvPr>
            <p:ph type="title"/>
          </p:nvPr>
        </p:nvSpPr>
        <p:spPr>
          <a:xfrm>
            <a:off x="4436108" y="1671050"/>
            <a:ext cx="3964941" cy="1275927"/>
          </a:xfrm>
          <a:prstGeom prst="rect">
            <a:avLst/>
          </a:prstGeom>
          <a:noFill/>
          <a:ln>
            <a:noFill/>
          </a:ln>
        </p:spPr>
        <p:txBody>
          <a:bodyPr spcFirstLastPara="1" wrap="square" lIns="0" tIns="12700" rIns="0" bIns="0" anchor="t" anchorCtr="0">
            <a:spAutoFit/>
          </a:bodyPr>
          <a:lstStyle/>
          <a:p>
            <a:pPr marL="12700" marR="5080" lvl="0" indent="408305" algn="l" rtl="0">
              <a:lnSpc>
                <a:spcPct val="143900"/>
              </a:lnSpc>
              <a:spcBef>
                <a:spcPts val="0"/>
              </a:spcBef>
              <a:spcAft>
                <a:spcPts val="0"/>
              </a:spcAft>
              <a:buSzPts val="1400"/>
              <a:buNone/>
            </a:pPr>
            <a:r>
              <a:rPr lang="en-US" sz="5700" dirty="0">
                <a:solidFill>
                  <a:srgbClr val="000000"/>
                </a:solidFill>
                <a:latin typeface="Times New Roman"/>
                <a:ea typeface="Times New Roman"/>
                <a:cs typeface="Times New Roman"/>
                <a:sym typeface="Times New Roman"/>
              </a:rPr>
              <a:t>Clustering</a:t>
            </a:r>
            <a:endParaRPr sz="5700" dirty="0">
              <a:latin typeface="Times New Roman"/>
              <a:ea typeface="Times New Roman"/>
              <a:cs typeface="Times New Roman"/>
              <a:sym typeface="Times New Roman"/>
            </a:endParaRPr>
          </a:p>
        </p:txBody>
      </p:sp>
      <p:sp>
        <p:nvSpPr>
          <p:cNvPr id="54" name="Google Shape;54;p1"/>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grpSp>
        <p:nvGrpSpPr>
          <p:cNvPr id="59" name="Google Shape;59;p2"/>
          <p:cNvGrpSpPr/>
          <p:nvPr/>
        </p:nvGrpSpPr>
        <p:grpSpPr>
          <a:xfrm>
            <a:off x="0" y="-25"/>
            <a:ext cx="12192000" cy="490752"/>
            <a:chOff x="0" y="-25"/>
            <a:chExt cx="12192000" cy="490752"/>
          </a:xfrm>
        </p:grpSpPr>
        <p:pic>
          <p:nvPicPr>
            <p:cNvPr id="60" name="Google Shape;60;p2"/>
            <p:cNvPicPr preferRelativeResize="0"/>
            <p:nvPr/>
          </p:nvPicPr>
          <p:blipFill rotWithShape="1">
            <a:blip r:embed="rId3">
              <a:alphaModFix/>
            </a:blip>
            <a:srcRect/>
            <a:stretch/>
          </p:blipFill>
          <p:spPr>
            <a:xfrm>
              <a:off x="0" y="0"/>
              <a:ext cx="1344168" cy="490727"/>
            </a:xfrm>
            <a:prstGeom prst="rect">
              <a:avLst/>
            </a:prstGeom>
            <a:noFill/>
            <a:ln>
              <a:noFill/>
            </a:ln>
          </p:spPr>
        </p:pic>
        <p:sp>
          <p:nvSpPr>
            <p:cNvPr id="61" name="Google Shape;61;p2"/>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2" name="Google Shape;62;p2"/>
          <p:cNvSpPr txBox="1">
            <a:spLocks noGrp="1"/>
          </p:cNvSpPr>
          <p:nvPr>
            <p:ph type="title"/>
          </p:nvPr>
        </p:nvSpPr>
        <p:spPr>
          <a:xfrm>
            <a:off x="78739" y="23825"/>
            <a:ext cx="1140650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Outline</a:t>
            </a:r>
            <a:endParaRPr/>
          </a:p>
        </p:txBody>
      </p:sp>
      <p:sp>
        <p:nvSpPr>
          <p:cNvPr id="63" name="Google Shape;63;p2"/>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2</a:t>
            </a:fld>
            <a:endParaRPr/>
          </a:p>
        </p:txBody>
      </p:sp>
      <p:sp>
        <p:nvSpPr>
          <p:cNvPr id="64" name="Google Shape;64;p2"/>
          <p:cNvSpPr txBox="1"/>
          <p:nvPr/>
        </p:nvSpPr>
        <p:spPr>
          <a:xfrm>
            <a:off x="78738" y="449071"/>
            <a:ext cx="10843261" cy="5562262"/>
          </a:xfrm>
          <a:prstGeom prst="rect">
            <a:avLst/>
          </a:prstGeom>
          <a:noFill/>
          <a:ln>
            <a:noFill/>
          </a:ln>
        </p:spPr>
        <p:txBody>
          <a:bodyPr spcFirstLastPara="1" wrap="square" lIns="0" tIns="12700" rIns="0" bIns="0" anchor="t" anchorCtr="0">
            <a:spAutoFit/>
          </a:bodyPr>
          <a:lstStyle/>
          <a:p>
            <a:pPr marL="283210" marR="0" lvl="0" indent="-273050" algn="l" rtl="0">
              <a:lnSpc>
                <a:spcPct val="100000"/>
              </a:lnSpc>
              <a:spcBef>
                <a:spcPts val="0"/>
              </a:spcBef>
              <a:spcAft>
                <a:spcPts val="0"/>
              </a:spcAft>
              <a:buClr>
                <a:srgbClr val="001F5F"/>
              </a:buClr>
              <a:buSzPts val="2300"/>
              <a:buFont typeface="Noto Sans Symbols"/>
              <a:buChar char="❑"/>
            </a:pPr>
            <a:r>
              <a:rPr lang="en-US" sz="2400" b="0" i="0" u="none" strike="noStrike" cap="none">
                <a:solidFill>
                  <a:srgbClr val="001F5F"/>
                </a:solidFill>
                <a:latin typeface="Helvetica Neue"/>
                <a:ea typeface="Helvetica Neue"/>
                <a:cs typeface="Helvetica Neue"/>
                <a:sym typeface="Helvetica Neue"/>
              </a:rPr>
              <a:t>Introduction to Clustering</a:t>
            </a:r>
            <a:endParaRPr sz="24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165"/>
              </a:spcBef>
              <a:spcAft>
                <a:spcPts val="0"/>
              </a:spcAft>
              <a:buClr>
                <a:srgbClr val="001F5F"/>
              </a:buClr>
              <a:buSzPts val="2400"/>
              <a:buFont typeface="Noto Sans Symbols"/>
              <a:buNone/>
            </a:pPr>
            <a:endParaRPr sz="2400" b="0" i="0" u="none" strike="noStrike" cap="none">
              <a:solidFill>
                <a:srgbClr val="000000"/>
              </a:solidFill>
              <a:latin typeface="Helvetica Neue"/>
              <a:ea typeface="Helvetica Neue"/>
              <a:cs typeface="Helvetica Neue"/>
              <a:sym typeface="Helvetica Neue"/>
            </a:endParaRPr>
          </a:p>
          <a:p>
            <a:pPr marL="283210" marR="0" lvl="0" indent="-273050" algn="l" rtl="0">
              <a:lnSpc>
                <a:spcPct val="100000"/>
              </a:lnSpc>
              <a:spcBef>
                <a:spcPts val="0"/>
              </a:spcBef>
              <a:spcAft>
                <a:spcPts val="0"/>
              </a:spcAft>
              <a:buClr>
                <a:srgbClr val="001F5F"/>
              </a:buClr>
              <a:buSzPts val="2300"/>
              <a:buFont typeface="Noto Sans Symbols"/>
              <a:buChar char="❑"/>
            </a:pPr>
            <a:r>
              <a:rPr lang="en-US" sz="2400" b="0" i="0" u="none" strike="noStrike" cap="none">
                <a:solidFill>
                  <a:srgbClr val="001F5F"/>
                </a:solidFill>
                <a:latin typeface="Helvetica Neue"/>
                <a:ea typeface="Helvetica Neue"/>
                <a:cs typeface="Helvetica Neue"/>
                <a:sym typeface="Helvetica Neue"/>
              </a:rPr>
              <a:t>Types of data Partitioning methods</a:t>
            </a:r>
            <a:endParaRPr sz="24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5"/>
              </a:spcBef>
              <a:spcAft>
                <a:spcPts val="0"/>
              </a:spcAft>
              <a:buClr>
                <a:srgbClr val="001F5F"/>
              </a:buClr>
              <a:buSzPts val="2400"/>
              <a:buFont typeface="Noto Sans Symbols"/>
              <a:buNone/>
            </a:pPr>
            <a:endParaRPr sz="2400" b="0" i="0" u="none" strike="noStrike" cap="none">
              <a:solidFill>
                <a:srgbClr val="000000"/>
              </a:solidFill>
              <a:latin typeface="Helvetica Neue"/>
              <a:ea typeface="Helvetica Neue"/>
              <a:cs typeface="Helvetica Neue"/>
              <a:sym typeface="Helvetica Neue"/>
            </a:endParaRPr>
          </a:p>
          <a:p>
            <a:pPr marL="1054735" marR="0" lvl="1" indent="-133350" algn="l" rtl="0">
              <a:lnSpc>
                <a:spcPct val="100000"/>
              </a:lnSpc>
              <a:spcBef>
                <a:spcPts val="0"/>
              </a:spcBef>
              <a:spcAft>
                <a:spcPts val="0"/>
              </a:spcAft>
              <a:buClr>
                <a:srgbClr val="006FC0"/>
              </a:buClr>
              <a:buSzPts val="2100"/>
              <a:buFont typeface="Noto Sans Symbols"/>
              <a:buChar char="▪"/>
            </a:pPr>
            <a:r>
              <a:rPr lang="en-US" sz="2200" b="0" i="0" u="none" strike="noStrike" cap="none">
                <a:solidFill>
                  <a:srgbClr val="006FC0"/>
                </a:solidFill>
                <a:latin typeface="Helvetica Neue"/>
                <a:ea typeface="Helvetica Neue"/>
                <a:cs typeface="Helvetica Neue"/>
                <a:sym typeface="Helvetica Neue"/>
              </a:rPr>
              <a:t>k-Means</a:t>
            </a:r>
            <a:endParaRPr sz="2200" b="0" i="0" u="none" strike="noStrike" cap="none">
              <a:solidFill>
                <a:srgbClr val="000000"/>
              </a:solidFill>
              <a:latin typeface="Helvetica Neue"/>
              <a:ea typeface="Helvetica Neue"/>
              <a:cs typeface="Helvetica Neue"/>
              <a:sym typeface="Helvetica Neue"/>
            </a:endParaRPr>
          </a:p>
          <a:p>
            <a:pPr marL="0" marR="0" lvl="1" indent="0" algn="l" rtl="0">
              <a:lnSpc>
                <a:spcPct val="100000"/>
              </a:lnSpc>
              <a:spcBef>
                <a:spcPts val="150"/>
              </a:spcBef>
              <a:spcAft>
                <a:spcPts val="0"/>
              </a:spcAft>
              <a:buClr>
                <a:srgbClr val="006FC0"/>
              </a:buClr>
              <a:buSzPts val="2200"/>
              <a:buFont typeface="Noto Sans Symbols"/>
              <a:buNone/>
            </a:pPr>
            <a:endParaRPr sz="2200" b="0" i="0" u="none" strike="noStrike" cap="none">
              <a:solidFill>
                <a:srgbClr val="000000"/>
              </a:solidFill>
              <a:latin typeface="Helvetica Neue"/>
              <a:ea typeface="Helvetica Neue"/>
              <a:cs typeface="Helvetica Neue"/>
              <a:sym typeface="Helvetica Neue"/>
            </a:endParaRPr>
          </a:p>
          <a:p>
            <a:pPr marL="1054735" marR="0" lvl="1" indent="-133350" algn="l" rtl="0">
              <a:lnSpc>
                <a:spcPct val="100000"/>
              </a:lnSpc>
              <a:spcBef>
                <a:spcPts val="5"/>
              </a:spcBef>
              <a:spcAft>
                <a:spcPts val="0"/>
              </a:spcAft>
              <a:buClr>
                <a:srgbClr val="006FC0"/>
              </a:buClr>
              <a:buSzPts val="2100"/>
              <a:buFont typeface="Noto Sans Symbols"/>
              <a:buChar char="▪"/>
            </a:pPr>
            <a:r>
              <a:rPr lang="en-US" sz="2200" b="0" i="0" u="none" strike="noStrike" cap="none">
                <a:solidFill>
                  <a:srgbClr val="006FC0"/>
                </a:solidFill>
                <a:latin typeface="Helvetica Neue"/>
                <a:ea typeface="Helvetica Neue"/>
                <a:cs typeface="Helvetica Neue"/>
                <a:sym typeface="Helvetica Neue"/>
              </a:rPr>
              <a:t>Hierarchical clustering: BIRCH, CURE and Chameleon Clustering</a:t>
            </a:r>
            <a:endParaRPr sz="2200" b="0" i="0" u="none" strike="noStrike" cap="none">
              <a:solidFill>
                <a:srgbClr val="000000"/>
              </a:solidFill>
              <a:latin typeface="Helvetica Neue"/>
              <a:ea typeface="Helvetica Neue"/>
              <a:cs typeface="Helvetica Neue"/>
              <a:sym typeface="Helvetica Neue"/>
            </a:endParaRPr>
          </a:p>
          <a:p>
            <a:pPr marL="0" marR="0" lvl="1" indent="0" algn="l" rtl="0">
              <a:lnSpc>
                <a:spcPct val="100000"/>
              </a:lnSpc>
              <a:spcBef>
                <a:spcPts val="150"/>
              </a:spcBef>
              <a:spcAft>
                <a:spcPts val="0"/>
              </a:spcAft>
              <a:buClr>
                <a:srgbClr val="006FC0"/>
              </a:buClr>
              <a:buSzPts val="2200"/>
              <a:buFont typeface="Noto Sans Symbols"/>
              <a:buNone/>
            </a:pPr>
            <a:endParaRPr sz="2200" b="0" i="0" u="none" strike="noStrike" cap="none">
              <a:solidFill>
                <a:srgbClr val="000000"/>
              </a:solidFill>
              <a:latin typeface="Helvetica Neue"/>
              <a:ea typeface="Helvetica Neue"/>
              <a:cs typeface="Helvetica Neue"/>
              <a:sym typeface="Helvetica Neue"/>
            </a:endParaRPr>
          </a:p>
          <a:p>
            <a:pPr marL="1054735" marR="0" lvl="1" indent="-133350" algn="l" rtl="0">
              <a:lnSpc>
                <a:spcPct val="100000"/>
              </a:lnSpc>
              <a:spcBef>
                <a:spcPts val="0"/>
              </a:spcBef>
              <a:spcAft>
                <a:spcPts val="0"/>
              </a:spcAft>
              <a:buClr>
                <a:srgbClr val="006FC0"/>
              </a:buClr>
              <a:buSzPts val="2100"/>
              <a:buFont typeface="Noto Sans Symbols"/>
              <a:buChar char="▪"/>
            </a:pPr>
            <a:r>
              <a:rPr lang="en-US" sz="2200" b="0" i="0" u="none" strike="noStrike" cap="none">
                <a:solidFill>
                  <a:srgbClr val="006FC0"/>
                </a:solidFill>
                <a:latin typeface="Helvetica Neue"/>
                <a:ea typeface="Helvetica Neue"/>
                <a:cs typeface="Helvetica Neue"/>
                <a:sym typeface="Helvetica Neue"/>
              </a:rPr>
              <a:t>Density: DBSCAN, OPTICS, DENCLUE</a:t>
            </a:r>
            <a:endParaRPr sz="2200" b="0" i="0" u="none" strike="noStrike" cap="none">
              <a:solidFill>
                <a:srgbClr val="000000"/>
              </a:solidFill>
              <a:latin typeface="Helvetica Neue"/>
              <a:ea typeface="Helvetica Neue"/>
              <a:cs typeface="Helvetica Neue"/>
              <a:sym typeface="Helvetica Neue"/>
            </a:endParaRPr>
          </a:p>
          <a:p>
            <a:pPr marL="0" marR="0" lvl="1" indent="0" algn="l" rtl="0">
              <a:lnSpc>
                <a:spcPct val="100000"/>
              </a:lnSpc>
              <a:spcBef>
                <a:spcPts val="150"/>
              </a:spcBef>
              <a:spcAft>
                <a:spcPts val="0"/>
              </a:spcAft>
              <a:buClr>
                <a:srgbClr val="006FC0"/>
              </a:buClr>
              <a:buSzPts val="2200"/>
              <a:buFont typeface="Noto Sans Symbols"/>
              <a:buNone/>
            </a:pPr>
            <a:endParaRPr sz="2200" b="0" i="0" u="none" strike="noStrike" cap="none">
              <a:solidFill>
                <a:srgbClr val="000000"/>
              </a:solidFill>
              <a:latin typeface="Helvetica Neue"/>
              <a:ea typeface="Helvetica Neue"/>
              <a:cs typeface="Helvetica Neue"/>
              <a:sym typeface="Helvetica Neue"/>
            </a:endParaRPr>
          </a:p>
          <a:p>
            <a:pPr marL="1054735" marR="0" lvl="1" indent="-133350" algn="l" rtl="0">
              <a:lnSpc>
                <a:spcPct val="100000"/>
              </a:lnSpc>
              <a:spcBef>
                <a:spcPts val="5"/>
              </a:spcBef>
              <a:spcAft>
                <a:spcPts val="0"/>
              </a:spcAft>
              <a:buClr>
                <a:srgbClr val="006FC0"/>
              </a:buClr>
              <a:buSzPts val="2100"/>
              <a:buFont typeface="Noto Sans Symbols"/>
              <a:buChar char="▪"/>
            </a:pPr>
            <a:r>
              <a:rPr lang="en-US" sz="2200" b="0" i="0" u="none" strike="noStrike" cap="none">
                <a:solidFill>
                  <a:srgbClr val="006FC0"/>
                </a:solidFill>
                <a:latin typeface="Helvetica Neue"/>
                <a:ea typeface="Helvetica Neue"/>
                <a:cs typeface="Helvetica Neue"/>
                <a:sym typeface="Helvetica Neue"/>
              </a:rPr>
              <a:t>Grid :CLIQUE</a:t>
            </a:r>
            <a:endParaRPr sz="2200" b="0" i="0" u="none" strike="noStrike" cap="none">
              <a:solidFill>
                <a:srgbClr val="000000"/>
              </a:solidFill>
              <a:latin typeface="Helvetica Neue"/>
              <a:ea typeface="Helvetica Neue"/>
              <a:cs typeface="Helvetica Neue"/>
              <a:sym typeface="Helvetica Neue"/>
            </a:endParaRPr>
          </a:p>
          <a:p>
            <a:pPr marL="0" marR="0" lvl="1" indent="0" algn="l" rtl="0">
              <a:lnSpc>
                <a:spcPct val="100000"/>
              </a:lnSpc>
              <a:spcBef>
                <a:spcPts val="150"/>
              </a:spcBef>
              <a:spcAft>
                <a:spcPts val="0"/>
              </a:spcAft>
              <a:buClr>
                <a:srgbClr val="006FC0"/>
              </a:buClr>
              <a:buSzPts val="2200"/>
              <a:buFont typeface="Noto Sans Symbols"/>
              <a:buNone/>
            </a:pPr>
            <a:endParaRPr sz="2200" b="0" i="0" u="none" strike="noStrike" cap="none">
              <a:solidFill>
                <a:srgbClr val="000000"/>
              </a:solidFill>
              <a:latin typeface="Helvetica Neue"/>
              <a:ea typeface="Helvetica Neue"/>
              <a:cs typeface="Helvetica Neue"/>
              <a:sym typeface="Helvetica Neue"/>
            </a:endParaRPr>
          </a:p>
          <a:p>
            <a:pPr marL="1054735" marR="0" lvl="1" indent="-133350" algn="l" rtl="0">
              <a:lnSpc>
                <a:spcPct val="100000"/>
              </a:lnSpc>
              <a:spcBef>
                <a:spcPts val="0"/>
              </a:spcBef>
              <a:spcAft>
                <a:spcPts val="0"/>
              </a:spcAft>
              <a:buClr>
                <a:srgbClr val="006FC0"/>
              </a:buClr>
              <a:buSzPts val="2100"/>
              <a:buFont typeface="Noto Sans Symbols"/>
              <a:buChar char="▪"/>
            </a:pPr>
            <a:r>
              <a:rPr lang="en-US" sz="2200" b="0" i="0" u="none" strike="noStrike" cap="none">
                <a:solidFill>
                  <a:srgbClr val="006FC0"/>
                </a:solidFill>
                <a:latin typeface="Helvetica Neue"/>
                <a:ea typeface="Helvetica Neue"/>
                <a:cs typeface="Helvetica Neue"/>
                <a:sym typeface="Helvetica Neue"/>
              </a:rPr>
              <a:t>Model based clustering: Statistical and Neural network approach</a:t>
            </a:r>
            <a:endParaRPr sz="2200" b="0" i="0" u="none" strike="noStrike" cap="none">
              <a:solidFill>
                <a:srgbClr val="000000"/>
              </a:solidFill>
              <a:latin typeface="Helvetica Neue"/>
              <a:ea typeface="Helvetica Neue"/>
              <a:cs typeface="Helvetica Neue"/>
              <a:sym typeface="Helvetica Neue"/>
            </a:endParaRPr>
          </a:p>
          <a:p>
            <a:pPr marL="0" marR="0" lvl="1" indent="0" algn="l" rtl="0">
              <a:lnSpc>
                <a:spcPct val="100000"/>
              </a:lnSpc>
              <a:spcBef>
                <a:spcPts val="310"/>
              </a:spcBef>
              <a:spcAft>
                <a:spcPts val="0"/>
              </a:spcAft>
              <a:buClr>
                <a:srgbClr val="006FC0"/>
              </a:buClr>
              <a:buSzPts val="2200"/>
              <a:buFont typeface="Noto Sans Symbols"/>
              <a:buNone/>
            </a:pPr>
            <a:endParaRPr sz="2200" b="0" i="0" u="none" strike="noStrike" cap="none">
              <a:solidFill>
                <a:srgbClr val="000000"/>
              </a:solidFill>
              <a:latin typeface="Helvetica Neue"/>
              <a:ea typeface="Helvetica Neue"/>
              <a:cs typeface="Helvetica Neue"/>
              <a:sym typeface="Helvetica Neue"/>
            </a:endParaRPr>
          </a:p>
          <a:p>
            <a:pPr marL="283210" marR="0" lvl="0" indent="-273050" algn="l" rtl="0">
              <a:lnSpc>
                <a:spcPct val="100000"/>
              </a:lnSpc>
              <a:spcBef>
                <a:spcPts val="0"/>
              </a:spcBef>
              <a:spcAft>
                <a:spcPts val="0"/>
              </a:spcAft>
              <a:buClr>
                <a:srgbClr val="001F5F"/>
              </a:buClr>
              <a:buSzPts val="2300"/>
              <a:buFont typeface="Noto Sans Symbols"/>
              <a:buChar char="❑"/>
            </a:pPr>
            <a:r>
              <a:rPr lang="en-US" sz="2400" b="0" i="0" u="none" strike="noStrike" cap="none">
                <a:solidFill>
                  <a:srgbClr val="001F5F"/>
                </a:solidFill>
                <a:latin typeface="Helvetica Neue"/>
                <a:ea typeface="Helvetica Neue"/>
                <a:cs typeface="Helvetica Neue"/>
                <a:sym typeface="Helvetica Neue"/>
              </a:rPr>
              <a:t>Outlier Analysis: Statistical, Distance and Deviation-based Outlier detection</a:t>
            </a:r>
            <a:endParaRPr sz="2400" b="0" i="0" u="none" strike="noStrike" cap="none">
              <a:solidFill>
                <a:srgbClr val="000000"/>
              </a:solidFill>
              <a:latin typeface="Helvetica Neue"/>
              <a:ea typeface="Helvetica Neue"/>
              <a:cs typeface="Helvetica Neue"/>
              <a:sym typeface="Helvetica Neue"/>
            </a:endParaRPr>
          </a:p>
        </p:txBody>
      </p:sp>
      <p:sp>
        <p:nvSpPr>
          <p:cNvPr id="65" name="Google Shape;65;p2"/>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grpSp>
        <p:nvGrpSpPr>
          <p:cNvPr id="70" name="Google Shape;70;p3"/>
          <p:cNvGrpSpPr/>
          <p:nvPr/>
        </p:nvGrpSpPr>
        <p:grpSpPr>
          <a:xfrm>
            <a:off x="0" y="-25"/>
            <a:ext cx="12192000" cy="490752"/>
            <a:chOff x="0" y="-25"/>
            <a:chExt cx="12192000" cy="490752"/>
          </a:xfrm>
        </p:grpSpPr>
        <p:pic>
          <p:nvPicPr>
            <p:cNvPr id="71" name="Google Shape;71;p3"/>
            <p:cNvPicPr preferRelativeResize="0"/>
            <p:nvPr/>
          </p:nvPicPr>
          <p:blipFill rotWithShape="1">
            <a:blip r:embed="rId3">
              <a:alphaModFix/>
            </a:blip>
            <a:srcRect/>
            <a:stretch/>
          </p:blipFill>
          <p:spPr>
            <a:xfrm>
              <a:off x="0" y="0"/>
              <a:ext cx="4072128" cy="490727"/>
            </a:xfrm>
            <a:prstGeom prst="rect">
              <a:avLst/>
            </a:prstGeom>
            <a:noFill/>
            <a:ln>
              <a:noFill/>
            </a:ln>
          </p:spPr>
        </p:pic>
        <p:sp>
          <p:nvSpPr>
            <p:cNvPr id="72" name="Google Shape;72;p3"/>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
          <p:cNvSpPr txBox="1">
            <a:spLocks noGrp="1"/>
          </p:cNvSpPr>
          <p:nvPr>
            <p:ph type="title"/>
          </p:nvPr>
        </p:nvSpPr>
        <p:spPr>
          <a:xfrm>
            <a:off x="78739" y="23825"/>
            <a:ext cx="376237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Introduction to Clustering</a:t>
            </a:r>
            <a:endParaRPr/>
          </a:p>
        </p:txBody>
      </p:sp>
      <p:sp>
        <p:nvSpPr>
          <p:cNvPr id="74" name="Google Shape;74;p3"/>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3</a:t>
            </a:fld>
            <a:endParaRPr/>
          </a:p>
        </p:txBody>
      </p:sp>
      <p:sp>
        <p:nvSpPr>
          <p:cNvPr id="75" name="Google Shape;75;p3"/>
          <p:cNvSpPr txBox="1"/>
          <p:nvPr/>
        </p:nvSpPr>
        <p:spPr>
          <a:xfrm>
            <a:off x="75250" y="514550"/>
            <a:ext cx="11823300" cy="4994100"/>
          </a:xfrm>
          <a:prstGeom prst="rect">
            <a:avLst/>
          </a:prstGeom>
          <a:noFill/>
          <a:ln>
            <a:noFill/>
          </a:ln>
        </p:spPr>
        <p:txBody>
          <a:bodyPr spcFirstLastPara="1" wrap="square" lIns="0" tIns="12050" rIns="0" bIns="0" anchor="t" anchorCtr="0">
            <a:spAutoFit/>
          </a:bodyPr>
          <a:lstStyle/>
          <a:p>
            <a:pPr marL="285750" marR="10160" lvl="0" indent="-133350" algn="just" rtl="0">
              <a:lnSpc>
                <a:spcPct val="150100"/>
              </a:lnSpc>
              <a:spcBef>
                <a:spcPts val="0"/>
              </a:spcBef>
              <a:spcAft>
                <a:spcPts val="0"/>
              </a:spcAft>
              <a:buClr>
                <a:srgbClr val="000000"/>
              </a:buClr>
              <a:buSzPts val="2100"/>
              <a:buFont typeface="Noto Sans Symbols"/>
              <a:buChar char="❑"/>
            </a:pPr>
            <a:r>
              <a:rPr lang="en-US" sz="1800" b="0" i="0" u="none" strike="noStrike" cap="none">
                <a:solidFill>
                  <a:schemeClr val="dk1"/>
                </a:solidFill>
                <a:latin typeface="Helvetica Neue"/>
                <a:ea typeface="Helvetica Neue"/>
                <a:cs typeface="Helvetica Neue"/>
                <a:sym typeface="Helvetica Neue"/>
              </a:rPr>
              <a:t>When you're trying to learn about something, say music, one approach might be to look for meaningful groups or collections.</a:t>
            </a:r>
            <a:endParaRPr sz="1800" b="0" i="0" u="none" strike="noStrike" cap="none">
              <a:solidFill>
                <a:schemeClr val="dk1"/>
              </a:solidFill>
              <a:latin typeface="Helvetica Neue"/>
              <a:ea typeface="Helvetica Neue"/>
              <a:cs typeface="Helvetica Neue"/>
              <a:sym typeface="Helvetica Neue"/>
            </a:endParaRPr>
          </a:p>
          <a:p>
            <a:pPr marL="285750" marR="0" lvl="0" indent="-133350" algn="just" rtl="0">
              <a:lnSpc>
                <a:spcPct val="100000"/>
              </a:lnSpc>
              <a:spcBef>
                <a:spcPts val="1325"/>
              </a:spcBef>
              <a:spcAft>
                <a:spcPts val="0"/>
              </a:spcAft>
              <a:buClr>
                <a:srgbClr val="000000"/>
              </a:buClr>
              <a:buSzPts val="2100"/>
              <a:buFont typeface="Noto Sans Symbols"/>
              <a:buChar char="❑"/>
            </a:pPr>
            <a:r>
              <a:rPr lang="en-US" sz="1800" b="0" i="0" u="none" strike="noStrike" cap="none">
                <a:solidFill>
                  <a:schemeClr val="dk1"/>
                </a:solidFill>
                <a:latin typeface="Helvetica Neue"/>
                <a:ea typeface="Helvetica Neue"/>
                <a:cs typeface="Helvetica Neue"/>
                <a:sym typeface="Helvetica Neue"/>
              </a:rPr>
              <a:t>You might organize music by genre, while your friend might organize music by decade.</a:t>
            </a:r>
            <a:endParaRPr sz="1800" b="0" i="0" u="none" strike="noStrike" cap="none">
              <a:solidFill>
                <a:schemeClr val="dk1"/>
              </a:solidFill>
              <a:latin typeface="Helvetica Neue"/>
              <a:ea typeface="Helvetica Neue"/>
              <a:cs typeface="Helvetica Neue"/>
              <a:sym typeface="Helvetica Neue"/>
            </a:endParaRPr>
          </a:p>
          <a:p>
            <a:pPr marL="285750" marR="0" lvl="0" indent="-133350" algn="just" rtl="0">
              <a:lnSpc>
                <a:spcPct val="100000"/>
              </a:lnSpc>
              <a:spcBef>
                <a:spcPts val="1320"/>
              </a:spcBef>
              <a:spcAft>
                <a:spcPts val="0"/>
              </a:spcAft>
              <a:buClr>
                <a:srgbClr val="000000"/>
              </a:buClr>
              <a:buSzPts val="2100"/>
              <a:buFont typeface="Noto Sans Symbols"/>
              <a:buChar char="❑"/>
            </a:pPr>
            <a:r>
              <a:rPr lang="en-US" sz="1800" b="0" i="0" u="none" strike="noStrike" cap="none">
                <a:solidFill>
                  <a:schemeClr val="dk1"/>
                </a:solidFill>
                <a:latin typeface="Helvetica Neue"/>
                <a:ea typeface="Helvetica Neue"/>
                <a:cs typeface="Helvetica Neue"/>
                <a:sym typeface="Helvetica Neue"/>
              </a:rPr>
              <a:t>How you choose to group items helps you to understand more about them as individual pieces</a:t>
            </a:r>
            <a:endParaRPr sz="1800" b="0" i="0" u="none" strike="noStrike" cap="none">
              <a:solidFill>
                <a:schemeClr val="dk1"/>
              </a:solidFill>
              <a:latin typeface="Helvetica Neue"/>
              <a:ea typeface="Helvetica Neue"/>
              <a:cs typeface="Helvetica Neue"/>
              <a:sym typeface="Helvetica Neue"/>
            </a:endParaRPr>
          </a:p>
          <a:p>
            <a:pPr marL="285750" marR="0" lvl="0" indent="0" algn="just" rtl="0">
              <a:lnSpc>
                <a:spcPct val="100000"/>
              </a:lnSpc>
              <a:spcBef>
                <a:spcPts val="1325"/>
              </a:spcBef>
              <a:spcAft>
                <a:spcPts val="0"/>
              </a:spcAft>
              <a:buClr>
                <a:srgbClr val="000000"/>
              </a:buClr>
              <a:buSzPts val="1800"/>
              <a:buFont typeface="Arial"/>
              <a:buNone/>
            </a:pPr>
            <a:r>
              <a:rPr lang="en-US" sz="1800" b="0" i="0" u="none" strike="noStrike" cap="none">
                <a:solidFill>
                  <a:schemeClr val="dk1"/>
                </a:solidFill>
                <a:latin typeface="Helvetica Neue"/>
                <a:ea typeface="Helvetica Neue"/>
                <a:cs typeface="Helvetica Neue"/>
                <a:sym typeface="Helvetica Neue"/>
              </a:rPr>
              <a:t>of music.</a:t>
            </a:r>
            <a:endParaRPr sz="1800" b="0" i="0" u="none" strike="noStrike" cap="none">
              <a:solidFill>
                <a:schemeClr val="dk1"/>
              </a:solidFill>
              <a:latin typeface="Helvetica Neue"/>
              <a:ea typeface="Helvetica Neue"/>
              <a:cs typeface="Helvetica Neue"/>
              <a:sym typeface="Helvetica Neue"/>
            </a:endParaRPr>
          </a:p>
          <a:p>
            <a:pPr marL="285750" marR="0" lvl="0" indent="-133350" algn="just" rtl="0">
              <a:lnSpc>
                <a:spcPct val="100000"/>
              </a:lnSpc>
              <a:spcBef>
                <a:spcPts val="1320"/>
              </a:spcBef>
              <a:spcAft>
                <a:spcPts val="0"/>
              </a:spcAft>
              <a:buClr>
                <a:srgbClr val="000000"/>
              </a:buClr>
              <a:buSzPts val="2100"/>
              <a:buFont typeface="Noto Sans Symbols"/>
              <a:buChar char="❑"/>
            </a:pPr>
            <a:r>
              <a:rPr lang="en-US" sz="1800" b="0" i="0" u="none" strike="noStrike" cap="none">
                <a:solidFill>
                  <a:schemeClr val="dk1"/>
                </a:solidFill>
                <a:latin typeface="Helvetica Neue"/>
                <a:ea typeface="Helvetica Neue"/>
                <a:cs typeface="Helvetica Neue"/>
                <a:sym typeface="Helvetica Neue"/>
              </a:rPr>
              <a:t>You might find that you have a deep affinity for punk rock and further break down the genre</a:t>
            </a:r>
            <a:endParaRPr sz="1800" b="0" i="0" u="none" strike="noStrike" cap="none">
              <a:solidFill>
                <a:schemeClr val="dk1"/>
              </a:solidFill>
              <a:latin typeface="Helvetica Neue"/>
              <a:ea typeface="Helvetica Neue"/>
              <a:cs typeface="Helvetica Neue"/>
              <a:sym typeface="Helvetica Neue"/>
            </a:endParaRPr>
          </a:p>
          <a:p>
            <a:pPr marL="285750" marR="0" lvl="0" indent="0" algn="just" rtl="0">
              <a:lnSpc>
                <a:spcPct val="100000"/>
              </a:lnSpc>
              <a:spcBef>
                <a:spcPts val="1320"/>
              </a:spcBef>
              <a:spcAft>
                <a:spcPts val="0"/>
              </a:spcAft>
              <a:buClr>
                <a:srgbClr val="000000"/>
              </a:buClr>
              <a:buSzPts val="1800"/>
              <a:buFont typeface="Arial"/>
              <a:buNone/>
            </a:pPr>
            <a:r>
              <a:rPr lang="en-US" sz="1800" b="0" i="0" u="none" strike="noStrike" cap="none">
                <a:solidFill>
                  <a:schemeClr val="dk1"/>
                </a:solidFill>
                <a:latin typeface="Helvetica Neue"/>
                <a:ea typeface="Helvetica Neue"/>
                <a:cs typeface="Helvetica Neue"/>
                <a:sym typeface="Helvetica Neue"/>
              </a:rPr>
              <a:t>into different approaches or music from different locations.</a:t>
            </a:r>
            <a:endParaRPr sz="1800" b="0" i="0" u="none" strike="noStrike" cap="none">
              <a:solidFill>
                <a:schemeClr val="dk1"/>
              </a:solidFill>
              <a:latin typeface="Helvetica Neue"/>
              <a:ea typeface="Helvetica Neue"/>
              <a:cs typeface="Helvetica Neue"/>
              <a:sym typeface="Helvetica Neue"/>
            </a:endParaRPr>
          </a:p>
          <a:p>
            <a:pPr marL="285750" marR="0" lvl="0" indent="-133350" algn="just" rtl="0">
              <a:lnSpc>
                <a:spcPct val="100000"/>
              </a:lnSpc>
              <a:spcBef>
                <a:spcPts val="1325"/>
              </a:spcBef>
              <a:spcAft>
                <a:spcPts val="0"/>
              </a:spcAft>
              <a:buClr>
                <a:srgbClr val="000000"/>
              </a:buClr>
              <a:buSzPts val="2100"/>
              <a:buFont typeface="Noto Sans Symbols"/>
              <a:buChar char="❑"/>
            </a:pPr>
            <a:r>
              <a:rPr lang="en-US" sz="1800" b="0" i="0" u="none" strike="noStrike" cap="none">
                <a:solidFill>
                  <a:schemeClr val="dk1"/>
                </a:solidFill>
                <a:latin typeface="Helvetica Neue"/>
                <a:ea typeface="Helvetica Neue"/>
                <a:cs typeface="Helvetica Neue"/>
                <a:sym typeface="Helvetica Neue"/>
              </a:rPr>
              <a:t>On the other hand, your friend might look at music from the 1980's and be able to understand</a:t>
            </a:r>
            <a:endParaRPr sz="1800" b="0" i="0" u="none" strike="noStrike" cap="none">
              <a:solidFill>
                <a:schemeClr val="dk1"/>
              </a:solidFill>
              <a:latin typeface="Helvetica Neue"/>
              <a:ea typeface="Helvetica Neue"/>
              <a:cs typeface="Helvetica Neue"/>
              <a:sym typeface="Helvetica Neue"/>
            </a:endParaRPr>
          </a:p>
          <a:p>
            <a:pPr marL="285750" marR="0" lvl="0" indent="0" algn="just" rtl="0">
              <a:lnSpc>
                <a:spcPct val="100000"/>
              </a:lnSpc>
              <a:spcBef>
                <a:spcPts val="1320"/>
              </a:spcBef>
              <a:spcAft>
                <a:spcPts val="0"/>
              </a:spcAft>
              <a:buClr>
                <a:srgbClr val="000000"/>
              </a:buClr>
              <a:buSzPts val="1800"/>
              <a:buFont typeface="Arial"/>
              <a:buNone/>
            </a:pPr>
            <a:r>
              <a:rPr lang="en-US" sz="1800" b="0" i="0" u="none" strike="noStrike" cap="none">
                <a:solidFill>
                  <a:schemeClr val="dk1"/>
                </a:solidFill>
                <a:latin typeface="Helvetica Neue"/>
                <a:ea typeface="Helvetica Neue"/>
                <a:cs typeface="Helvetica Neue"/>
                <a:sym typeface="Helvetica Neue"/>
              </a:rPr>
              <a:t>how the music across genres at that time was influenced by the sociopolitical climate.</a:t>
            </a:r>
            <a:endParaRPr sz="1800" b="0" i="0" u="none" strike="noStrike" cap="none">
              <a:solidFill>
                <a:schemeClr val="dk1"/>
              </a:solidFill>
              <a:latin typeface="Helvetica Neue"/>
              <a:ea typeface="Helvetica Neue"/>
              <a:cs typeface="Helvetica Neue"/>
              <a:sym typeface="Helvetica Neue"/>
            </a:endParaRPr>
          </a:p>
          <a:p>
            <a:pPr marL="285750" marR="0" lvl="0" indent="-133350" algn="just" rtl="0">
              <a:lnSpc>
                <a:spcPct val="100000"/>
              </a:lnSpc>
              <a:spcBef>
                <a:spcPts val="1320"/>
              </a:spcBef>
              <a:spcAft>
                <a:spcPts val="0"/>
              </a:spcAft>
              <a:buClr>
                <a:srgbClr val="000000"/>
              </a:buClr>
              <a:buSzPts val="2100"/>
              <a:buFont typeface="Noto Sans Symbols"/>
              <a:buChar char="❑"/>
            </a:pPr>
            <a:r>
              <a:rPr lang="en-US" sz="1800" b="0" i="0" u="none" strike="noStrike" cap="none">
                <a:solidFill>
                  <a:schemeClr val="dk1"/>
                </a:solidFill>
                <a:latin typeface="Helvetica Neue"/>
                <a:ea typeface="Helvetica Neue"/>
                <a:cs typeface="Helvetica Neue"/>
                <a:sym typeface="Helvetica Neue"/>
              </a:rPr>
              <a:t>In	both	cases,	you	and	your	 friend	have	learned	something	interesting	about	music,	even though you took different approaches.</a:t>
            </a:r>
            <a:endParaRPr sz="1800" b="0" i="0" u="none" strike="noStrike" cap="none">
              <a:solidFill>
                <a:schemeClr val="dk1"/>
              </a:solidFill>
              <a:latin typeface="Helvetica Neue"/>
              <a:ea typeface="Helvetica Neue"/>
              <a:cs typeface="Helvetica Neue"/>
              <a:sym typeface="Helvetica Neue"/>
            </a:endParaRPr>
          </a:p>
        </p:txBody>
      </p:sp>
      <p:sp>
        <p:nvSpPr>
          <p:cNvPr id="76" name="Google Shape;76;p3"/>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grpSp>
        <p:nvGrpSpPr>
          <p:cNvPr id="81" name="Google Shape;81;p4"/>
          <p:cNvGrpSpPr/>
          <p:nvPr/>
        </p:nvGrpSpPr>
        <p:grpSpPr>
          <a:xfrm>
            <a:off x="0" y="-25"/>
            <a:ext cx="12192000" cy="490752"/>
            <a:chOff x="0" y="-25"/>
            <a:chExt cx="12192000" cy="490752"/>
          </a:xfrm>
        </p:grpSpPr>
        <p:pic>
          <p:nvPicPr>
            <p:cNvPr id="82" name="Google Shape;82;p4"/>
            <p:cNvPicPr preferRelativeResize="0"/>
            <p:nvPr/>
          </p:nvPicPr>
          <p:blipFill rotWithShape="1">
            <a:blip r:embed="rId3">
              <a:alphaModFix/>
            </a:blip>
            <a:srcRect/>
            <a:stretch/>
          </p:blipFill>
          <p:spPr>
            <a:xfrm>
              <a:off x="0" y="0"/>
              <a:ext cx="4072128" cy="490727"/>
            </a:xfrm>
            <a:prstGeom prst="rect">
              <a:avLst/>
            </a:prstGeom>
            <a:noFill/>
            <a:ln>
              <a:noFill/>
            </a:ln>
          </p:spPr>
        </p:pic>
        <p:sp>
          <p:nvSpPr>
            <p:cNvPr id="83" name="Google Shape;83;p4"/>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
          <p:cNvSpPr txBox="1">
            <a:spLocks noGrp="1"/>
          </p:cNvSpPr>
          <p:nvPr>
            <p:ph type="title"/>
          </p:nvPr>
        </p:nvSpPr>
        <p:spPr>
          <a:xfrm>
            <a:off x="78739" y="23825"/>
            <a:ext cx="376237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Introduction to Clustering</a:t>
            </a:r>
            <a:endParaRPr/>
          </a:p>
        </p:txBody>
      </p:sp>
      <p:sp>
        <p:nvSpPr>
          <p:cNvPr id="85" name="Google Shape;85;p4"/>
          <p:cNvSpPr txBox="1"/>
          <p:nvPr/>
        </p:nvSpPr>
        <p:spPr>
          <a:xfrm>
            <a:off x="47350" y="490725"/>
            <a:ext cx="5979900" cy="6078300"/>
          </a:xfrm>
          <a:prstGeom prst="rect">
            <a:avLst/>
          </a:prstGeom>
          <a:noFill/>
          <a:ln>
            <a:noFill/>
          </a:ln>
        </p:spPr>
        <p:txBody>
          <a:bodyPr spcFirstLastPara="1" wrap="square" lIns="0" tIns="12050" rIns="0" bIns="0" anchor="t" anchorCtr="0">
            <a:spAutoFit/>
          </a:bodyPr>
          <a:lstStyle/>
          <a:p>
            <a:pPr marL="171450" marR="5080" lvl="0" indent="-133350" algn="just" rtl="0">
              <a:lnSpc>
                <a:spcPct val="150100"/>
              </a:lnSpc>
              <a:spcBef>
                <a:spcPts val="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	In  machine  learning  too,  we  often  group examples as a first step to understand a subject (data set) in a machine learning system.</a:t>
            </a:r>
            <a:endParaRPr sz="2200" b="0" i="0" u="none" strike="noStrike" cap="none">
              <a:solidFill>
                <a:srgbClr val="000000"/>
              </a:solidFill>
              <a:latin typeface="Helvetica Neue"/>
              <a:ea typeface="Helvetica Neue"/>
              <a:cs typeface="Helvetica Neue"/>
              <a:sym typeface="Helvetica Neue"/>
            </a:endParaRPr>
          </a:p>
          <a:p>
            <a:pPr marL="171450" marR="0" lvl="0" indent="-133350" algn="just" rtl="0">
              <a:lnSpc>
                <a:spcPct val="100000"/>
              </a:lnSpc>
              <a:spcBef>
                <a:spcPts val="1320"/>
              </a:spcBef>
              <a:spcAft>
                <a:spcPts val="0"/>
              </a:spcAft>
              <a:buClr>
                <a:srgbClr val="FF0000"/>
              </a:buClr>
              <a:buSzPts val="2100"/>
              <a:buFont typeface="Noto Sans Symbols"/>
              <a:buChar char="❑"/>
            </a:pPr>
            <a:r>
              <a:rPr lang="en-US" sz="2200" b="0" i="0" u="none" strike="noStrike" cap="none">
                <a:solidFill>
                  <a:srgbClr val="FF0000"/>
                </a:solidFill>
                <a:latin typeface="Helvetica Neue"/>
                <a:ea typeface="Helvetica Neue"/>
                <a:cs typeface="Helvetica Neue"/>
                <a:sym typeface="Helvetica Neue"/>
              </a:rPr>
              <a:t>Grouping     </a:t>
            </a:r>
            <a:r>
              <a:rPr lang="en-US" sz="2200" b="1" i="0" u="none" strike="noStrike" cap="none">
                <a:solidFill>
                  <a:srgbClr val="FF0000"/>
                </a:solidFill>
                <a:latin typeface="Arial"/>
                <a:ea typeface="Arial"/>
                <a:cs typeface="Arial"/>
                <a:sym typeface="Arial"/>
              </a:rPr>
              <a:t>unlabeled    examples    </a:t>
            </a:r>
            <a:r>
              <a:rPr lang="en-US" sz="2200" b="0" i="0" u="none" strike="noStrike" cap="none">
                <a:solidFill>
                  <a:srgbClr val="FF0000"/>
                </a:solidFill>
                <a:latin typeface="Helvetica Neue"/>
                <a:ea typeface="Helvetica Neue"/>
                <a:cs typeface="Helvetica Neue"/>
                <a:sym typeface="Helvetica Neue"/>
              </a:rPr>
              <a:t>is</a:t>
            </a:r>
            <a:endParaRPr sz="2200" b="0" i="0" u="none" strike="noStrike" cap="none">
              <a:solidFill>
                <a:srgbClr val="000000"/>
              </a:solidFill>
              <a:latin typeface="Helvetica Neue"/>
              <a:ea typeface="Helvetica Neue"/>
              <a:cs typeface="Helvetica Neue"/>
              <a:sym typeface="Helvetica Neue"/>
            </a:endParaRPr>
          </a:p>
          <a:p>
            <a:pPr marL="171450" marR="0" lvl="0" indent="0" algn="l" rtl="0">
              <a:lnSpc>
                <a:spcPct val="100000"/>
              </a:lnSpc>
              <a:spcBef>
                <a:spcPts val="1325"/>
              </a:spcBef>
              <a:spcAft>
                <a:spcPts val="0"/>
              </a:spcAft>
              <a:buClr>
                <a:srgbClr val="000000"/>
              </a:buClr>
              <a:buSzPts val="2200"/>
              <a:buFont typeface="Arial"/>
              <a:buNone/>
            </a:pPr>
            <a:r>
              <a:rPr lang="en-US" sz="2200" b="0" i="0" u="none" strike="noStrike" cap="none">
                <a:solidFill>
                  <a:srgbClr val="FF0000"/>
                </a:solidFill>
                <a:latin typeface="Helvetica Neue"/>
                <a:ea typeface="Helvetica Neue"/>
                <a:cs typeface="Helvetica Neue"/>
                <a:sym typeface="Helvetica Neue"/>
              </a:rPr>
              <a:t>called </a:t>
            </a:r>
            <a:r>
              <a:rPr lang="en-US" sz="2200" b="1" i="0" u="none" strike="noStrike" cap="none">
                <a:solidFill>
                  <a:srgbClr val="FF0000"/>
                </a:solidFill>
                <a:latin typeface="Arial"/>
                <a:ea typeface="Arial"/>
                <a:cs typeface="Arial"/>
                <a:sym typeface="Arial"/>
              </a:rPr>
              <a:t>clustering</a:t>
            </a:r>
            <a:r>
              <a:rPr lang="en-US" sz="2200" b="0" i="0" u="none" strike="noStrike" cap="none">
                <a:solidFill>
                  <a:srgbClr val="FF0000"/>
                </a:solidFill>
                <a:latin typeface="Helvetica Neue"/>
                <a:ea typeface="Helvetica Neue"/>
                <a:cs typeface="Helvetica Neue"/>
                <a:sym typeface="Helvetica Neue"/>
              </a:rPr>
              <a:t>.</a:t>
            </a:r>
            <a:endParaRPr sz="2200" b="0" i="0" u="none" strike="noStrike" cap="none">
              <a:solidFill>
                <a:srgbClr val="000000"/>
              </a:solidFill>
              <a:latin typeface="Helvetica Neue"/>
              <a:ea typeface="Helvetica Neue"/>
              <a:cs typeface="Helvetica Neue"/>
              <a:sym typeface="Helvetica Neue"/>
            </a:endParaRPr>
          </a:p>
          <a:p>
            <a:pPr marL="171450" marR="7620" lvl="0" indent="-133350" algn="just" rtl="0">
              <a:lnSpc>
                <a:spcPct val="180000"/>
              </a:lnSpc>
              <a:spcBef>
                <a:spcPts val="350"/>
              </a:spcBef>
              <a:spcAft>
                <a:spcPts val="0"/>
              </a:spcAft>
              <a:buClr>
                <a:srgbClr val="FF0000"/>
              </a:buClr>
              <a:buSzPts val="2100"/>
              <a:buFont typeface="Noto Sans Symbols"/>
              <a:buChar char="❑"/>
            </a:pPr>
            <a:r>
              <a:rPr lang="en-US" sz="2200" b="0" i="0" u="none" strike="noStrike" cap="none">
                <a:solidFill>
                  <a:srgbClr val="FF0000"/>
                </a:solidFill>
                <a:latin typeface="Helvetica Neue"/>
                <a:ea typeface="Helvetica Neue"/>
                <a:cs typeface="Helvetica Neue"/>
                <a:sym typeface="Helvetica Neue"/>
              </a:rPr>
              <a:t>	As  the  examples  are  unlabeled,  clustering relies on unsupervised machine learning.</a:t>
            </a:r>
            <a:endParaRPr sz="2200" b="0" i="0" u="none" strike="noStrike" cap="none">
              <a:solidFill>
                <a:srgbClr val="FF0000"/>
              </a:solidFill>
              <a:latin typeface="Helvetica Neue"/>
              <a:ea typeface="Helvetica Neue"/>
              <a:cs typeface="Helvetica Neue"/>
              <a:sym typeface="Helvetica Neue"/>
            </a:endParaRPr>
          </a:p>
          <a:p>
            <a:pPr marL="171450" marR="0" lvl="0" indent="-133350" algn="just" rtl="0">
              <a:lnSpc>
                <a:spcPct val="100000"/>
              </a:lnSpc>
              <a:spcBef>
                <a:spcPts val="975"/>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If the examples are labeled, then clustering</a:t>
            </a:r>
            <a:r>
              <a:rPr lang="en-US" sz="2200">
                <a:solidFill>
                  <a:schemeClr val="dk1"/>
                </a:solidFill>
                <a:latin typeface="Helvetica Neue"/>
                <a:ea typeface="Helvetica Neue"/>
                <a:cs typeface="Helvetica Neue"/>
                <a:sym typeface="Helvetica Neue"/>
              </a:rPr>
              <a:t>becomes </a:t>
            </a:r>
            <a:r>
              <a:rPr lang="en-US" sz="2200" b="1">
                <a:solidFill>
                  <a:schemeClr val="dk1"/>
                </a:solidFill>
              </a:rPr>
              <a:t>classification</a:t>
            </a:r>
            <a:r>
              <a:rPr lang="en-US" sz="2200">
                <a:solidFill>
                  <a:schemeClr val="dk1"/>
                </a:solidFill>
                <a:latin typeface="Helvetica Neue"/>
                <a:ea typeface="Helvetica Neue"/>
                <a:cs typeface="Helvetica Neue"/>
                <a:sym typeface="Helvetica Neue"/>
              </a:rPr>
              <a:t>.</a:t>
            </a:r>
            <a:endParaRPr sz="2200">
              <a:solidFill>
                <a:schemeClr val="dk1"/>
              </a:solidFill>
              <a:latin typeface="Helvetica Neue"/>
              <a:ea typeface="Helvetica Neue"/>
              <a:cs typeface="Helvetica Neue"/>
              <a:sym typeface="Helvetica Neue"/>
            </a:endParaRPr>
          </a:p>
          <a:p>
            <a:pPr marL="171450" marR="0" lvl="0" indent="-88900" algn="just" rtl="0">
              <a:lnSpc>
                <a:spcPct val="100000"/>
              </a:lnSpc>
              <a:spcBef>
                <a:spcPts val="975"/>
              </a:spcBef>
              <a:spcAft>
                <a:spcPts val="0"/>
              </a:spcAft>
              <a:buSzPts val="1400"/>
              <a:buChar char="❑"/>
            </a:pPr>
            <a:endParaRPr/>
          </a:p>
        </p:txBody>
      </p:sp>
      <p:grpSp>
        <p:nvGrpSpPr>
          <p:cNvPr id="86" name="Google Shape;86;p4"/>
          <p:cNvGrpSpPr/>
          <p:nvPr/>
        </p:nvGrpSpPr>
        <p:grpSpPr>
          <a:xfrm>
            <a:off x="6670559" y="669036"/>
            <a:ext cx="5305021" cy="3991355"/>
            <a:chOff x="6670559" y="669036"/>
            <a:chExt cx="5305021" cy="3991355"/>
          </a:xfrm>
        </p:grpSpPr>
        <p:pic>
          <p:nvPicPr>
            <p:cNvPr id="87" name="Google Shape;87;p4"/>
            <p:cNvPicPr preferRelativeResize="0"/>
            <p:nvPr/>
          </p:nvPicPr>
          <p:blipFill rotWithShape="1">
            <a:blip r:embed="rId4">
              <a:alphaModFix/>
            </a:blip>
            <a:srcRect/>
            <a:stretch/>
          </p:blipFill>
          <p:spPr>
            <a:xfrm>
              <a:off x="6670559" y="669036"/>
              <a:ext cx="5305021" cy="3991355"/>
            </a:xfrm>
            <a:prstGeom prst="rect">
              <a:avLst/>
            </a:prstGeom>
            <a:noFill/>
            <a:ln>
              <a:noFill/>
            </a:ln>
          </p:spPr>
        </p:pic>
        <p:pic>
          <p:nvPicPr>
            <p:cNvPr id="88" name="Google Shape;88;p4"/>
            <p:cNvPicPr preferRelativeResize="0"/>
            <p:nvPr/>
          </p:nvPicPr>
          <p:blipFill rotWithShape="1">
            <a:blip r:embed="rId5">
              <a:alphaModFix/>
            </a:blip>
            <a:srcRect/>
            <a:stretch/>
          </p:blipFill>
          <p:spPr>
            <a:xfrm>
              <a:off x="6826503" y="825881"/>
              <a:ext cx="4792726" cy="3478022"/>
            </a:xfrm>
            <a:prstGeom prst="rect">
              <a:avLst/>
            </a:prstGeom>
            <a:noFill/>
            <a:ln>
              <a:noFill/>
            </a:ln>
          </p:spPr>
        </p:pic>
      </p:grpSp>
      <p:sp>
        <p:nvSpPr>
          <p:cNvPr id="89" name="Google Shape;89;p4"/>
          <p:cNvSpPr txBox="1"/>
          <p:nvPr/>
        </p:nvSpPr>
        <p:spPr>
          <a:xfrm>
            <a:off x="6656958" y="4692523"/>
            <a:ext cx="5322570" cy="27051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Fig. 1: Unlabeled examples grouped into three clusters</a:t>
            </a:r>
            <a:endParaRPr sz="1600" b="0" i="0" u="none" strike="noStrike" cap="none">
              <a:solidFill>
                <a:srgbClr val="000000"/>
              </a:solidFill>
              <a:latin typeface="Arial"/>
              <a:ea typeface="Arial"/>
              <a:cs typeface="Arial"/>
              <a:sym typeface="Arial"/>
            </a:endParaRPr>
          </a:p>
        </p:txBody>
      </p:sp>
      <p:sp>
        <p:nvSpPr>
          <p:cNvPr id="90" name="Google Shape;90;p4"/>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4</a:t>
            </a:fld>
            <a:endParaRPr/>
          </a:p>
        </p:txBody>
      </p:sp>
      <p:sp>
        <p:nvSpPr>
          <p:cNvPr id="91" name="Google Shape;91;p4"/>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grpSp>
        <p:nvGrpSpPr>
          <p:cNvPr id="96" name="Google Shape;96;p5"/>
          <p:cNvGrpSpPr/>
          <p:nvPr/>
        </p:nvGrpSpPr>
        <p:grpSpPr>
          <a:xfrm>
            <a:off x="0" y="-25"/>
            <a:ext cx="12192000" cy="490752"/>
            <a:chOff x="0" y="-25"/>
            <a:chExt cx="12192000" cy="490752"/>
          </a:xfrm>
        </p:grpSpPr>
        <p:pic>
          <p:nvPicPr>
            <p:cNvPr id="97" name="Google Shape;97;p5"/>
            <p:cNvPicPr preferRelativeResize="0"/>
            <p:nvPr/>
          </p:nvPicPr>
          <p:blipFill rotWithShape="1">
            <a:blip r:embed="rId3">
              <a:alphaModFix/>
            </a:blip>
            <a:srcRect/>
            <a:stretch/>
          </p:blipFill>
          <p:spPr>
            <a:xfrm>
              <a:off x="0" y="0"/>
              <a:ext cx="4035552" cy="490727"/>
            </a:xfrm>
            <a:prstGeom prst="rect">
              <a:avLst/>
            </a:prstGeom>
            <a:noFill/>
            <a:ln>
              <a:noFill/>
            </a:ln>
          </p:spPr>
        </p:pic>
        <p:sp>
          <p:nvSpPr>
            <p:cNvPr id="98" name="Google Shape;98;p5"/>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9" name="Google Shape;99;p5"/>
          <p:cNvSpPr txBox="1">
            <a:spLocks noGrp="1"/>
          </p:cNvSpPr>
          <p:nvPr>
            <p:ph type="title"/>
          </p:nvPr>
        </p:nvSpPr>
        <p:spPr>
          <a:xfrm>
            <a:off x="78739" y="23825"/>
            <a:ext cx="339090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Introduction Clustering</a:t>
            </a:r>
            <a:endParaRPr/>
          </a:p>
        </p:txBody>
      </p:sp>
      <p:sp>
        <p:nvSpPr>
          <p:cNvPr id="100" name="Google Shape;100;p5"/>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5</a:t>
            </a:fld>
            <a:endParaRPr/>
          </a:p>
        </p:txBody>
      </p:sp>
      <p:sp>
        <p:nvSpPr>
          <p:cNvPr id="101" name="Google Shape;101;p5"/>
          <p:cNvSpPr txBox="1"/>
          <p:nvPr/>
        </p:nvSpPr>
        <p:spPr>
          <a:xfrm>
            <a:off x="77182" y="617755"/>
            <a:ext cx="12040800" cy="3350700"/>
          </a:xfrm>
          <a:prstGeom prst="rect">
            <a:avLst/>
          </a:prstGeom>
          <a:noFill/>
          <a:ln>
            <a:noFill/>
          </a:ln>
        </p:spPr>
        <p:txBody>
          <a:bodyPr spcFirstLastPara="1" wrap="square" lIns="0" tIns="179700" rIns="0" bIns="0" anchor="t" anchorCtr="0">
            <a:spAutoFit/>
          </a:bodyPr>
          <a:lstStyle/>
          <a:p>
            <a:pPr marL="262255" marR="0" lvl="0" indent="-109854" algn="l" rtl="0">
              <a:lnSpc>
                <a:spcPct val="100000"/>
              </a:lnSpc>
              <a:spcBef>
                <a:spcPts val="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Before you can group similar examples, you first need to find similar examples.</a:t>
            </a:r>
            <a:endParaRPr sz="2200" b="0" i="0" u="none" strike="noStrike" cap="none">
              <a:solidFill>
                <a:srgbClr val="000000"/>
              </a:solidFill>
              <a:latin typeface="Helvetica Neue"/>
              <a:ea typeface="Helvetica Neue"/>
              <a:cs typeface="Helvetica Neue"/>
              <a:sym typeface="Helvetica Neue"/>
            </a:endParaRPr>
          </a:p>
          <a:p>
            <a:pPr marL="262255" marR="0" lvl="0" indent="-109854" algn="l" rtl="0">
              <a:lnSpc>
                <a:spcPct val="100000"/>
              </a:lnSpc>
              <a:spcBef>
                <a:spcPts val="132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You can measure similarity between examples by combining the examples' feature data into a metric, called a similarity measure.</a:t>
            </a:r>
            <a:endParaRPr sz="2200" b="0" i="0" u="none" strike="noStrike" cap="none">
              <a:solidFill>
                <a:srgbClr val="000000"/>
              </a:solidFill>
              <a:latin typeface="Helvetica Neue"/>
              <a:ea typeface="Helvetica Neue"/>
              <a:cs typeface="Helvetica Neue"/>
              <a:sym typeface="Helvetica Neue"/>
            </a:endParaRPr>
          </a:p>
          <a:p>
            <a:pPr marL="261620" marR="0" lvl="0" indent="-109220" algn="l" rtl="0">
              <a:lnSpc>
                <a:spcPct val="100000"/>
              </a:lnSpc>
              <a:spcBef>
                <a:spcPts val="132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When each example is defined by one or two features, it's easy to measure similarity.</a:t>
            </a:r>
            <a:endParaRPr sz="2200" b="0" i="0" u="none" strike="noStrike" cap="none">
              <a:solidFill>
                <a:srgbClr val="000000"/>
              </a:solidFill>
              <a:latin typeface="Helvetica Neue"/>
              <a:ea typeface="Helvetica Neue"/>
              <a:cs typeface="Helvetica Neue"/>
              <a:sym typeface="Helvetica Neue"/>
            </a:endParaRPr>
          </a:p>
          <a:p>
            <a:pPr marL="262255" marR="0" lvl="0" indent="-109854" algn="l" rtl="0">
              <a:lnSpc>
                <a:spcPct val="100000"/>
              </a:lnSpc>
              <a:spcBef>
                <a:spcPts val="1325"/>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For example, you can find similar books by their authors.</a:t>
            </a:r>
            <a:endParaRPr sz="2200" b="0" i="0" u="none" strike="noStrike" cap="none">
              <a:solidFill>
                <a:srgbClr val="000000"/>
              </a:solidFill>
              <a:latin typeface="Helvetica Neue"/>
              <a:ea typeface="Helvetica Neue"/>
              <a:cs typeface="Helvetica Neue"/>
              <a:sym typeface="Helvetica Neue"/>
            </a:endParaRPr>
          </a:p>
          <a:p>
            <a:pPr marL="12700" marR="9525" lvl="0" indent="139700" algn="l" rtl="0">
              <a:lnSpc>
                <a:spcPct val="180000"/>
              </a:lnSpc>
              <a:spcBef>
                <a:spcPts val="15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As the number of features increases, creating a similarity measure becomes more complex. We'll later see how to create a similarity measure in different scenarios.</a:t>
            </a:r>
            <a:endParaRPr sz="2200" b="0" i="0" u="none" strike="noStrike" cap="none">
              <a:solidFill>
                <a:srgbClr val="000000"/>
              </a:solidFill>
              <a:latin typeface="Helvetica Neue"/>
              <a:ea typeface="Helvetica Neue"/>
              <a:cs typeface="Helvetica Neue"/>
              <a:sym typeface="Helvetica Neue"/>
            </a:endParaRPr>
          </a:p>
        </p:txBody>
      </p:sp>
      <p:sp>
        <p:nvSpPr>
          <p:cNvPr id="102" name="Google Shape;102;p5"/>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pSp>
        <p:nvGrpSpPr>
          <p:cNvPr id="107" name="Google Shape;107;p6"/>
          <p:cNvGrpSpPr/>
          <p:nvPr/>
        </p:nvGrpSpPr>
        <p:grpSpPr>
          <a:xfrm>
            <a:off x="0" y="-25"/>
            <a:ext cx="12192000" cy="490752"/>
            <a:chOff x="0" y="-25"/>
            <a:chExt cx="12192000" cy="490752"/>
          </a:xfrm>
        </p:grpSpPr>
        <p:pic>
          <p:nvPicPr>
            <p:cNvPr id="108" name="Google Shape;108;p6"/>
            <p:cNvPicPr preferRelativeResize="0"/>
            <p:nvPr/>
          </p:nvPicPr>
          <p:blipFill rotWithShape="1">
            <a:blip r:embed="rId3">
              <a:alphaModFix/>
            </a:blip>
            <a:srcRect/>
            <a:stretch/>
          </p:blipFill>
          <p:spPr>
            <a:xfrm>
              <a:off x="0" y="0"/>
              <a:ext cx="6412992" cy="490727"/>
            </a:xfrm>
            <a:prstGeom prst="rect">
              <a:avLst/>
            </a:prstGeom>
            <a:noFill/>
            <a:ln>
              <a:noFill/>
            </a:ln>
          </p:spPr>
        </p:pic>
        <p:sp>
          <p:nvSpPr>
            <p:cNvPr id="109" name="Google Shape;109;p6"/>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0" name="Google Shape;110;p6"/>
          <p:cNvSpPr txBox="1">
            <a:spLocks noGrp="1"/>
          </p:cNvSpPr>
          <p:nvPr>
            <p:ph type="title"/>
          </p:nvPr>
        </p:nvSpPr>
        <p:spPr>
          <a:xfrm>
            <a:off x="78761" y="23825"/>
            <a:ext cx="11856300" cy="382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Clustering: Applications for the Retrieval</a:t>
            </a:r>
            <a:endParaRPr/>
          </a:p>
        </p:txBody>
      </p:sp>
      <p:sp>
        <p:nvSpPr>
          <p:cNvPr id="111" name="Google Shape;111;p6"/>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6</a:t>
            </a:fld>
            <a:endParaRPr/>
          </a:p>
        </p:txBody>
      </p:sp>
      <p:sp>
        <p:nvSpPr>
          <p:cNvPr id="112" name="Google Shape;112;p6"/>
          <p:cNvSpPr txBox="1"/>
          <p:nvPr/>
        </p:nvSpPr>
        <p:spPr>
          <a:xfrm>
            <a:off x="47350" y="680875"/>
            <a:ext cx="12034500" cy="6018900"/>
          </a:xfrm>
          <a:prstGeom prst="rect">
            <a:avLst/>
          </a:prstGeom>
          <a:noFill/>
          <a:ln>
            <a:noFill/>
          </a:ln>
        </p:spPr>
        <p:txBody>
          <a:bodyPr spcFirstLastPara="1" wrap="square" lIns="0" tIns="12700" rIns="0" bIns="0" anchor="t" anchorCtr="0">
            <a:spAutoFit/>
          </a:bodyPr>
          <a:lstStyle/>
          <a:p>
            <a:pPr marL="228600" marR="5080" lvl="0" indent="-120650" algn="l" rtl="0">
              <a:lnSpc>
                <a:spcPct val="150100"/>
              </a:lnSpc>
              <a:spcBef>
                <a:spcPts val="0"/>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	Clustering has a myriad of uses in a variety of data and information retrieval in </a:t>
            </a:r>
            <a:r>
              <a:rPr lang="en-US" sz="2000" b="1" i="0" u="none" strike="noStrike" cap="none">
                <a:solidFill>
                  <a:srgbClr val="000000"/>
                </a:solidFill>
                <a:latin typeface="Helvetica Neue"/>
                <a:ea typeface="Helvetica Neue"/>
                <a:cs typeface="Helvetica Neue"/>
                <a:sym typeface="Helvetica Neue"/>
              </a:rPr>
              <a:t>verities of	industries and scientific applications.</a:t>
            </a:r>
            <a:endParaRPr sz="2000" b="1" i="0" u="none" strike="noStrike" cap="none">
              <a:solidFill>
                <a:srgbClr val="000000"/>
              </a:solidFill>
              <a:latin typeface="Helvetica Neue"/>
              <a:ea typeface="Helvetica Neue"/>
              <a:cs typeface="Helvetica Neue"/>
              <a:sym typeface="Helvetica Neue"/>
            </a:endParaRPr>
          </a:p>
          <a:p>
            <a:pPr marL="228600" marR="0" lvl="0" indent="-120650" algn="l" rtl="0">
              <a:lnSpc>
                <a:spcPct val="100000"/>
              </a:lnSpc>
              <a:spcBef>
                <a:spcPts val="1205"/>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Some common applications for clustering include the following:</a:t>
            </a:r>
            <a:endParaRPr sz="2000" b="0" i="0" u="none" strike="noStrike" cap="none">
              <a:solidFill>
                <a:srgbClr val="000000"/>
              </a:solidFill>
              <a:latin typeface="Helvetica Neue"/>
              <a:ea typeface="Helvetica Neue"/>
              <a:cs typeface="Helvetica Neue"/>
              <a:sym typeface="Helvetica Neue"/>
            </a:endParaRPr>
          </a:p>
          <a:p>
            <a:pPr marL="228600" marR="0" lvl="0" indent="-127000" algn="l" rtl="0">
              <a:lnSpc>
                <a:spcPct val="100000"/>
              </a:lnSpc>
              <a:spcBef>
                <a:spcPts val="1200"/>
              </a:spcBef>
              <a:spcAft>
                <a:spcPts val="0"/>
              </a:spcAft>
              <a:buClr>
                <a:srgbClr val="000000"/>
              </a:buClr>
              <a:buSzPts val="2000"/>
              <a:buFont typeface="Helvetica Neue"/>
              <a:buAutoNum type="arabicPeriod"/>
            </a:pPr>
            <a:r>
              <a:rPr lang="en-US" sz="2000" b="0" i="0" u="none" strike="noStrike" cap="none">
                <a:solidFill>
                  <a:srgbClr val="000000"/>
                </a:solidFill>
                <a:latin typeface="Helvetica Neue"/>
                <a:ea typeface="Helvetica Neue"/>
                <a:cs typeface="Helvetica Neue"/>
                <a:sym typeface="Helvetica Neue"/>
              </a:rPr>
              <a:t>Market segmentation</a:t>
            </a:r>
            <a:endParaRPr sz="2000" b="0" i="0" u="none" strike="noStrike" cap="none">
              <a:solidFill>
                <a:srgbClr val="000000"/>
              </a:solidFill>
              <a:latin typeface="Helvetica Neue"/>
              <a:ea typeface="Helvetica Neue"/>
              <a:cs typeface="Helvetica Neue"/>
              <a:sym typeface="Helvetica Neue"/>
            </a:endParaRPr>
          </a:p>
          <a:p>
            <a:pPr marL="228600" marR="0" lvl="0" indent="-127000" algn="l" rtl="0">
              <a:lnSpc>
                <a:spcPct val="100000"/>
              </a:lnSpc>
              <a:spcBef>
                <a:spcPts val="1200"/>
              </a:spcBef>
              <a:spcAft>
                <a:spcPts val="0"/>
              </a:spcAft>
              <a:buClr>
                <a:srgbClr val="000000"/>
              </a:buClr>
              <a:buSzPts val="2000"/>
              <a:buFont typeface="Helvetica Neue"/>
              <a:buAutoNum type="arabicPeriod"/>
            </a:pPr>
            <a:r>
              <a:rPr lang="en-US" sz="2000" b="0" i="0" u="none" strike="noStrike" cap="none">
                <a:solidFill>
                  <a:srgbClr val="000000"/>
                </a:solidFill>
                <a:latin typeface="Helvetica Neue"/>
                <a:ea typeface="Helvetica Neue"/>
                <a:cs typeface="Helvetica Neue"/>
                <a:sym typeface="Helvetica Neue"/>
              </a:rPr>
              <a:t>Social network analysis</a:t>
            </a:r>
            <a:endParaRPr sz="2000" b="0" i="0" u="none" strike="noStrike" cap="none">
              <a:solidFill>
                <a:srgbClr val="000000"/>
              </a:solidFill>
              <a:latin typeface="Helvetica Neue"/>
              <a:ea typeface="Helvetica Neue"/>
              <a:cs typeface="Helvetica Neue"/>
              <a:sym typeface="Helvetica Neue"/>
            </a:endParaRPr>
          </a:p>
          <a:p>
            <a:pPr marL="228600" marR="0" lvl="0" indent="-127000" algn="l" rtl="0">
              <a:lnSpc>
                <a:spcPct val="100000"/>
              </a:lnSpc>
              <a:spcBef>
                <a:spcPts val="1200"/>
              </a:spcBef>
              <a:spcAft>
                <a:spcPts val="0"/>
              </a:spcAft>
              <a:buClr>
                <a:srgbClr val="000000"/>
              </a:buClr>
              <a:buSzPts val="2000"/>
              <a:buFont typeface="Helvetica Neue"/>
              <a:buAutoNum type="arabicPeriod"/>
            </a:pPr>
            <a:r>
              <a:rPr lang="en-US" sz="2000" b="0" i="0" u="none" strike="noStrike" cap="none">
                <a:solidFill>
                  <a:srgbClr val="000000"/>
                </a:solidFill>
                <a:latin typeface="Helvetica Neue"/>
                <a:ea typeface="Helvetica Neue"/>
                <a:cs typeface="Helvetica Neue"/>
                <a:sym typeface="Helvetica Neue"/>
              </a:rPr>
              <a:t>Search result grouping</a:t>
            </a:r>
            <a:endParaRPr sz="2000" b="0" i="0" u="none" strike="noStrike" cap="none">
              <a:solidFill>
                <a:srgbClr val="000000"/>
              </a:solidFill>
              <a:latin typeface="Helvetica Neue"/>
              <a:ea typeface="Helvetica Neue"/>
              <a:cs typeface="Helvetica Neue"/>
              <a:sym typeface="Helvetica Neue"/>
            </a:endParaRPr>
          </a:p>
          <a:p>
            <a:pPr marL="228600" marR="0" lvl="0" indent="-127000" algn="l" rtl="0">
              <a:lnSpc>
                <a:spcPct val="100000"/>
              </a:lnSpc>
              <a:spcBef>
                <a:spcPts val="1205"/>
              </a:spcBef>
              <a:spcAft>
                <a:spcPts val="0"/>
              </a:spcAft>
              <a:buClr>
                <a:srgbClr val="000000"/>
              </a:buClr>
              <a:buSzPts val="2000"/>
              <a:buFont typeface="Helvetica Neue"/>
              <a:buAutoNum type="arabicPeriod"/>
            </a:pPr>
            <a:r>
              <a:rPr lang="en-US" sz="2000" b="0" i="0" u="none" strike="noStrike" cap="none">
                <a:solidFill>
                  <a:srgbClr val="000000"/>
                </a:solidFill>
                <a:latin typeface="Helvetica Neue"/>
                <a:ea typeface="Helvetica Neue"/>
                <a:cs typeface="Helvetica Neue"/>
                <a:sym typeface="Helvetica Neue"/>
              </a:rPr>
              <a:t>Medical imaging</a:t>
            </a:r>
            <a:endParaRPr sz="2000" b="0" i="0" u="none" strike="noStrike" cap="none">
              <a:solidFill>
                <a:srgbClr val="000000"/>
              </a:solidFill>
              <a:latin typeface="Helvetica Neue"/>
              <a:ea typeface="Helvetica Neue"/>
              <a:cs typeface="Helvetica Neue"/>
              <a:sym typeface="Helvetica Neue"/>
            </a:endParaRPr>
          </a:p>
          <a:p>
            <a:pPr marL="228600" marR="0" lvl="0" indent="-127000" algn="l" rtl="0">
              <a:lnSpc>
                <a:spcPct val="100000"/>
              </a:lnSpc>
              <a:spcBef>
                <a:spcPts val="1200"/>
              </a:spcBef>
              <a:spcAft>
                <a:spcPts val="0"/>
              </a:spcAft>
              <a:buClr>
                <a:srgbClr val="000000"/>
              </a:buClr>
              <a:buSzPts val="2000"/>
              <a:buFont typeface="Helvetica Neue"/>
              <a:buAutoNum type="arabicPeriod"/>
            </a:pPr>
            <a:r>
              <a:rPr lang="en-US" sz="2000" b="0" i="0" u="none" strike="noStrike" cap="none">
                <a:solidFill>
                  <a:srgbClr val="000000"/>
                </a:solidFill>
                <a:latin typeface="Helvetica Neue"/>
                <a:ea typeface="Helvetica Neue"/>
                <a:cs typeface="Helvetica Neue"/>
                <a:sym typeface="Helvetica Neue"/>
              </a:rPr>
              <a:t>Image segmentation</a:t>
            </a:r>
            <a:endParaRPr sz="2000" b="0" i="0" u="none" strike="noStrike" cap="none">
              <a:solidFill>
                <a:srgbClr val="000000"/>
              </a:solidFill>
              <a:latin typeface="Helvetica Neue"/>
              <a:ea typeface="Helvetica Neue"/>
              <a:cs typeface="Helvetica Neue"/>
              <a:sym typeface="Helvetica Neue"/>
            </a:endParaRPr>
          </a:p>
          <a:p>
            <a:pPr marL="228600" marR="0" lvl="0" indent="-127000" algn="l" rtl="0">
              <a:lnSpc>
                <a:spcPct val="100000"/>
              </a:lnSpc>
              <a:spcBef>
                <a:spcPts val="1200"/>
              </a:spcBef>
              <a:spcAft>
                <a:spcPts val="0"/>
              </a:spcAft>
              <a:buClr>
                <a:srgbClr val="000000"/>
              </a:buClr>
              <a:buSzPts val="2000"/>
              <a:buFont typeface="Helvetica Neue"/>
              <a:buAutoNum type="arabicPeriod"/>
            </a:pPr>
            <a:r>
              <a:rPr lang="en-US" sz="2000" b="0" i="0" u="none" strike="noStrike" cap="none">
                <a:solidFill>
                  <a:srgbClr val="000000"/>
                </a:solidFill>
                <a:latin typeface="Helvetica Neue"/>
                <a:ea typeface="Helvetica Neue"/>
                <a:cs typeface="Helvetica Neue"/>
                <a:sym typeface="Helvetica Neue"/>
              </a:rPr>
              <a:t>Anomaly detection</a:t>
            </a:r>
            <a:endParaRPr sz="2000" b="0" i="0" u="none" strike="noStrike" cap="none">
              <a:solidFill>
                <a:srgbClr val="000000"/>
              </a:solidFill>
              <a:latin typeface="Helvetica Neue"/>
              <a:ea typeface="Helvetica Neue"/>
              <a:cs typeface="Helvetica Neue"/>
              <a:sym typeface="Helvetica Neue"/>
            </a:endParaRPr>
          </a:p>
          <a:p>
            <a:pPr marL="228600" marR="0" lvl="1" indent="-120650" algn="l" rtl="0">
              <a:lnSpc>
                <a:spcPct val="100000"/>
              </a:lnSpc>
              <a:spcBef>
                <a:spcPts val="1205"/>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After clustering, each cluster is assigned a number called a </a:t>
            </a:r>
            <a:r>
              <a:rPr lang="en-US" sz="2000" b="1" i="0" u="none" strike="noStrike" cap="none">
                <a:solidFill>
                  <a:srgbClr val="000000"/>
                </a:solidFill>
                <a:latin typeface="Arial"/>
                <a:ea typeface="Arial"/>
                <a:cs typeface="Arial"/>
                <a:sym typeface="Arial"/>
              </a:rPr>
              <a:t>cluster ID</a:t>
            </a:r>
            <a:r>
              <a:rPr lang="en-US" sz="2000" b="0" i="0" u="none" strike="noStrike" cap="none">
                <a:solidFill>
                  <a:srgbClr val="000000"/>
                </a:solidFill>
                <a:latin typeface="Helvetica Neue"/>
                <a:ea typeface="Helvetica Neue"/>
                <a:cs typeface="Helvetica Neue"/>
                <a:sym typeface="Helvetica Neue"/>
              </a:rPr>
              <a:t>.</a:t>
            </a:r>
            <a:endParaRPr sz="2000" b="0" i="0" u="none" strike="noStrike" cap="none">
              <a:solidFill>
                <a:srgbClr val="000000"/>
              </a:solidFill>
              <a:latin typeface="Helvetica Neue"/>
              <a:ea typeface="Helvetica Neue"/>
              <a:cs typeface="Helvetica Neue"/>
              <a:sym typeface="Helvetica Neue"/>
            </a:endParaRPr>
          </a:p>
          <a:p>
            <a:pPr marL="228600" marR="0" lvl="1" indent="-120650" algn="l" rtl="0">
              <a:lnSpc>
                <a:spcPct val="100000"/>
              </a:lnSpc>
              <a:spcBef>
                <a:spcPts val="1200"/>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Now, you can condense the entire feature set for an example into its cluster ID.</a:t>
            </a:r>
            <a:endParaRPr sz="2000" b="0" i="0" u="none" strike="noStrike" cap="none">
              <a:solidFill>
                <a:srgbClr val="000000"/>
              </a:solidFill>
              <a:latin typeface="Helvetica Neue"/>
              <a:ea typeface="Helvetica Neue"/>
              <a:cs typeface="Helvetica Neue"/>
              <a:sym typeface="Helvetica Neue"/>
            </a:endParaRPr>
          </a:p>
          <a:p>
            <a:pPr marL="228600" marR="0" lvl="1" indent="-120650" algn="l" rtl="0">
              <a:lnSpc>
                <a:spcPct val="100000"/>
              </a:lnSpc>
              <a:spcBef>
                <a:spcPts val="1200"/>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Representing a complex example by a simple cluster ID makes clustering powerful.</a:t>
            </a:r>
            <a:endParaRPr sz="2000" b="0" i="0" u="none" strike="noStrike" cap="none">
              <a:solidFill>
                <a:srgbClr val="000000"/>
              </a:solidFill>
              <a:latin typeface="Helvetica Neue"/>
              <a:ea typeface="Helvetica Neue"/>
              <a:cs typeface="Helvetica Neue"/>
              <a:sym typeface="Helvetica Neue"/>
            </a:endParaRPr>
          </a:p>
          <a:p>
            <a:pPr marL="228600" marR="0" lvl="1" indent="-120650" algn="l" rtl="0">
              <a:lnSpc>
                <a:spcPct val="100000"/>
              </a:lnSpc>
              <a:spcBef>
                <a:spcPts val="1205"/>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Extending the idea, clustering data can simplify large datasets.</a:t>
            </a:r>
            <a:endParaRPr sz="2000" b="0" i="0" u="none" strike="noStrike" cap="none">
              <a:solidFill>
                <a:srgbClr val="000000"/>
              </a:solidFill>
              <a:latin typeface="Helvetica Neue"/>
              <a:ea typeface="Helvetica Neue"/>
              <a:cs typeface="Helvetica Neue"/>
              <a:sym typeface="Helvetica Neue"/>
            </a:endParaRPr>
          </a:p>
        </p:txBody>
      </p:sp>
      <p:sp>
        <p:nvSpPr>
          <p:cNvPr id="113" name="Google Shape;113;p6"/>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grpSp>
        <p:nvGrpSpPr>
          <p:cNvPr id="118" name="Google Shape;118;p7"/>
          <p:cNvGrpSpPr/>
          <p:nvPr/>
        </p:nvGrpSpPr>
        <p:grpSpPr>
          <a:xfrm>
            <a:off x="0" y="-25"/>
            <a:ext cx="12192000" cy="490752"/>
            <a:chOff x="0" y="-25"/>
            <a:chExt cx="12192000" cy="490752"/>
          </a:xfrm>
        </p:grpSpPr>
        <p:pic>
          <p:nvPicPr>
            <p:cNvPr id="119" name="Google Shape;119;p7"/>
            <p:cNvPicPr preferRelativeResize="0"/>
            <p:nvPr/>
          </p:nvPicPr>
          <p:blipFill rotWithShape="1">
            <a:blip r:embed="rId3">
              <a:alphaModFix/>
            </a:blip>
            <a:srcRect/>
            <a:stretch/>
          </p:blipFill>
          <p:spPr>
            <a:xfrm>
              <a:off x="0" y="0"/>
              <a:ext cx="11713464" cy="490727"/>
            </a:xfrm>
            <a:prstGeom prst="rect">
              <a:avLst/>
            </a:prstGeom>
            <a:noFill/>
            <a:ln>
              <a:noFill/>
            </a:ln>
          </p:spPr>
        </p:pic>
        <p:sp>
          <p:nvSpPr>
            <p:cNvPr id="120" name="Google Shape;120;p7"/>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21" name="Google Shape;121;p7"/>
          <p:cNvSpPr txBox="1">
            <a:spLocks noGrp="1"/>
          </p:cNvSpPr>
          <p:nvPr>
            <p:ph type="title"/>
          </p:nvPr>
        </p:nvSpPr>
        <p:spPr>
          <a:xfrm>
            <a:off x="78739" y="23825"/>
            <a:ext cx="11406600" cy="7518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Clustering :</a:t>
            </a:r>
            <a:r>
              <a:rPr lang="en-US">
                <a:solidFill>
                  <a:srgbClr val="FF0000"/>
                </a:solidFill>
              </a:rPr>
              <a:t>Types of Clustering Algorithm </a:t>
            </a:r>
            <a:r>
              <a:rPr lang="en-US"/>
              <a:t>(Types of data Partitioning ) methods)</a:t>
            </a:r>
            <a:endParaRPr/>
          </a:p>
        </p:txBody>
      </p:sp>
      <p:sp>
        <p:nvSpPr>
          <p:cNvPr id="122" name="Google Shape;122;p7"/>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7</a:t>
            </a:fld>
            <a:endParaRPr/>
          </a:p>
        </p:txBody>
      </p:sp>
      <p:sp>
        <p:nvSpPr>
          <p:cNvPr id="123" name="Google Shape;123;p7"/>
          <p:cNvSpPr txBox="1"/>
          <p:nvPr/>
        </p:nvSpPr>
        <p:spPr>
          <a:xfrm>
            <a:off x="383676" y="775623"/>
            <a:ext cx="5127600" cy="2935500"/>
          </a:xfrm>
          <a:prstGeom prst="rect">
            <a:avLst/>
          </a:prstGeom>
          <a:noFill/>
          <a:ln>
            <a:noFill/>
          </a:ln>
        </p:spPr>
        <p:txBody>
          <a:bodyPr spcFirstLastPara="1" wrap="square" lIns="0" tIns="13325" rIns="0" bIns="0" anchor="t" anchorCtr="0">
            <a:spAutoFit/>
          </a:bodyPr>
          <a:lstStyle/>
          <a:p>
            <a:pPr marL="262255" marR="0" lvl="0" indent="-250825" algn="l" rtl="0">
              <a:lnSpc>
                <a:spcPct val="100000"/>
              </a:lnSpc>
              <a:spcBef>
                <a:spcPts val="0"/>
              </a:spcBef>
              <a:spcAft>
                <a:spcPts val="0"/>
              </a:spcAft>
              <a:buClr>
                <a:srgbClr val="1F3863"/>
              </a:buClr>
              <a:buSzPts val="2100"/>
              <a:buFont typeface="Noto Sans Symbols"/>
              <a:buChar char="❑"/>
            </a:pPr>
            <a:r>
              <a:rPr lang="en-US" sz="2200" b="1" i="0" u="none" strike="noStrike" cap="none">
                <a:solidFill>
                  <a:srgbClr val="1F3863"/>
                </a:solidFill>
                <a:latin typeface="Arial"/>
                <a:ea typeface="Arial"/>
                <a:cs typeface="Arial"/>
                <a:sym typeface="Arial"/>
              </a:rPr>
              <a:t>Centroid-Based Clustering</a:t>
            </a: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1435"/>
              </a:spcBef>
              <a:spcAft>
                <a:spcPts val="0"/>
              </a:spcAft>
              <a:buClr>
                <a:srgbClr val="1F3863"/>
              </a:buClr>
              <a:buSzPts val="2200"/>
              <a:buFont typeface="Noto Sans Symbols"/>
              <a:buNone/>
            </a:pPr>
            <a:endParaRPr sz="2200" b="0" i="0" u="none" strike="noStrike" cap="none">
              <a:solidFill>
                <a:srgbClr val="000000"/>
              </a:solidFill>
              <a:latin typeface="Arial"/>
              <a:ea typeface="Arial"/>
              <a:cs typeface="Arial"/>
              <a:sym typeface="Arial"/>
            </a:endParaRPr>
          </a:p>
          <a:p>
            <a:pPr marL="261620" marR="0" lvl="0" indent="-250825" algn="l" rtl="0">
              <a:lnSpc>
                <a:spcPct val="100000"/>
              </a:lnSpc>
              <a:spcBef>
                <a:spcPts val="0"/>
              </a:spcBef>
              <a:spcAft>
                <a:spcPts val="0"/>
              </a:spcAft>
              <a:buClr>
                <a:srgbClr val="1F3863"/>
              </a:buClr>
              <a:buSzPts val="2100"/>
              <a:buFont typeface="Noto Sans Symbols"/>
              <a:buChar char="❑"/>
            </a:pPr>
            <a:r>
              <a:rPr lang="en-US" sz="2200" b="1" i="0" u="none" strike="noStrike" cap="none">
                <a:solidFill>
                  <a:srgbClr val="1F3863"/>
                </a:solidFill>
                <a:latin typeface="Arial"/>
                <a:ea typeface="Arial"/>
                <a:cs typeface="Arial"/>
                <a:sym typeface="Arial"/>
              </a:rPr>
              <a:t>Density-Based Clustering</a:t>
            </a: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1430"/>
              </a:spcBef>
              <a:spcAft>
                <a:spcPts val="0"/>
              </a:spcAft>
              <a:buClr>
                <a:srgbClr val="1F3863"/>
              </a:buClr>
              <a:buSzPts val="2200"/>
              <a:buFont typeface="Noto Sans Symbols"/>
              <a:buNone/>
            </a:pPr>
            <a:endParaRPr sz="2200" b="0" i="0" u="none" strike="noStrike" cap="none">
              <a:solidFill>
                <a:srgbClr val="000000"/>
              </a:solidFill>
              <a:latin typeface="Arial"/>
              <a:ea typeface="Arial"/>
              <a:cs typeface="Arial"/>
              <a:sym typeface="Arial"/>
            </a:endParaRPr>
          </a:p>
          <a:p>
            <a:pPr marL="261620" marR="0" lvl="0" indent="-250825" algn="l" rtl="0">
              <a:lnSpc>
                <a:spcPct val="100000"/>
              </a:lnSpc>
              <a:spcBef>
                <a:spcPts val="0"/>
              </a:spcBef>
              <a:spcAft>
                <a:spcPts val="0"/>
              </a:spcAft>
              <a:buClr>
                <a:srgbClr val="1F3863"/>
              </a:buClr>
              <a:buSzPts val="2100"/>
              <a:buFont typeface="Noto Sans Symbols"/>
              <a:buChar char="❑"/>
            </a:pPr>
            <a:r>
              <a:rPr lang="en-US" sz="2200" b="1" i="0" u="none" strike="noStrike" cap="none">
                <a:solidFill>
                  <a:srgbClr val="1F3863"/>
                </a:solidFill>
                <a:latin typeface="Arial"/>
                <a:ea typeface="Arial"/>
                <a:cs typeface="Arial"/>
                <a:sym typeface="Arial"/>
              </a:rPr>
              <a:t>Distribution-Based Clustering</a:t>
            </a:r>
            <a:endParaRPr sz="2200" b="0" i="0" u="none" strike="noStrike" cap="none">
              <a:solidFill>
                <a:srgbClr val="000000"/>
              </a:solidFill>
              <a:latin typeface="Arial"/>
              <a:ea typeface="Arial"/>
              <a:cs typeface="Arial"/>
              <a:sym typeface="Arial"/>
            </a:endParaRPr>
          </a:p>
          <a:p>
            <a:pPr marL="0" marR="0" lvl="0" indent="0" algn="l" rtl="0">
              <a:lnSpc>
                <a:spcPct val="100000"/>
              </a:lnSpc>
              <a:spcBef>
                <a:spcPts val="1435"/>
              </a:spcBef>
              <a:spcAft>
                <a:spcPts val="0"/>
              </a:spcAft>
              <a:buClr>
                <a:srgbClr val="1F3863"/>
              </a:buClr>
              <a:buSzPts val="2200"/>
              <a:buFont typeface="Noto Sans Symbols"/>
              <a:buNone/>
            </a:pPr>
            <a:endParaRPr sz="2200" b="0" i="0" u="none" strike="noStrike" cap="none">
              <a:solidFill>
                <a:srgbClr val="000000"/>
              </a:solidFill>
              <a:latin typeface="Arial"/>
              <a:ea typeface="Arial"/>
              <a:cs typeface="Arial"/>
              <a:sym typeface="Arial"/>
            </a:endParaRPr>
          </a:p>
          <a:p>
            <a:pPr marL="262255" marR="0" lvl="0" indent="-250825" algn="l" rtl="0">
              <a:lnSpc>
                <a:spcPct val="100000"/>
              </a:lnSpc>
              <a:spcBef>
                <a:spcPts val="0"/>
              </a:spcBef>
              <a:spcAft>
                <a:spcPts val="0"/>
              </a:spcAft>
              <a:buClr>
                <a:srgbClr val="1F3863"/>
              </a:buClr>
              <a:buSzPts val="2100"/>
              <a:buFont typeface="Noto Sans Symbols"/>
              <a:buChar char="❑"/>
            </a:pPr>
            <a:r>
              <a:rPr lang="en-US" sz="2200" b="1" i="0" u="none" strike="noStrike" cap="none">
                <a:solidFill>
                  <a:srgbClr val="1F3863"/>
                </a:solidFill>
                <a:latin typeface="Arial"/>
                <a:ea typeface="Arial"/>
                <a:cs typeface="Arial"/>
                <a:sym typeface="Arial"/>
              </a:rPr>
              <a:t>Hierarchical Clustering</a:t>
            </a:r>
            <a:endParaRPr sz="2200" b="0" i="0" u="none" strike="noStrike" cap="none">
              <a:solidFill>
                <a:srgbClr val="000000"/>
              </a:solidFill>
              <a:latin typeface="Arial"/>
              <a:ea typeface="Arial"/>
              <a:cs typeface="Arial"/>
              <a:sym typeface="Arial"/>
            </a:endParaRPr>
          </a:p>
        </p:txBody>
      </p:sp>
      <p:sp>
        <p:nvSpPr>
          <p:cNvPr id="124" name="Google Shape;124;p7"/>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grpSp>
        <p:nvGrpSpPr>
          <p:cNvPr id="129" name="Google Shape;129;p8"/>
          <p:cNvGrpSpPr/>
          <p:nvPr/>
        </p:nvGrpSpPr>
        <p:grpSpPr>
          <a:xfrm>
            <a:off x="0" y="-25"/>
            <a:ext cx="12192000" cy="490752"/>
            <a:chOff x="0" y="-25"/>
            <a:chExt cx="12192000" cy="490752"/>
          </a:xfrm>
        </p:grpSpPr>
        <p:pic>
          <p:nvPicPr>
            <p:cNvPr id="130" name="Google Shape;130;p8"/>
            <p:cNvPicPr preferRelativeResize="0"/>
            <p:nvPr/>
          </p:nvPicPr>
          <p:blipFill rotWithShape="1">
            <a:blip r:embed="rId3">
              <a:alphaModFix/>
            </a:blip>
            <a:srcRect/>
            <a:stretch/>
          </p:blipFill>
          <p:spPr>
            <a:xfrm>
              <a:off x="0" y="0"/>
              <a:ext cx="7196328" cy="490727"/>
            </a:xfrm>
            <a:prstGeom prst="rect">
              <a:avLst/>
            </a:prstGeom>
            <a:noFill/>
            <a:ln>
              <a:noFill/>
            </a:ln>
          </p:spPr>
        </p:pic>
        <p:sp>
          <p:nvSpPr>
            <p:cNvPr id="131" name="Google Shape;131;p8"/>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2" name="Google Shape;132;p8"/>
          <p:cNvSpPr txBox="1">
            <a:spLocks noGrp="1"/>
          </p:cNvSpPr>
          <p:nvPr>
            <p:ph type="title"/>
          </p:nvPr>
        </p:nvSpPr>
        <p:spPr>
          <a:xfrm>
            <a:off x="78739" y="23825"/>
            <a:ext cx="10882631"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dirty="0"/>
              <a:t>Clustering and Retrieval </a:t>
            </a:r>
            <a:r>
              <a:rPr lang="en-US" dirty="0">
                <a:solidFill>
                  <a:srgbClr val="FF0000"/>
                </a:solidFill>
              </a:rPr>
              <a:t>(Types of Clustering)</a:t>
            </a:r>
            <a:endParaRPr dirty="0"/>
          </a:p>
        </p:txBody>
      </p:sp>
      <p:sp>
        <p:nvSpPr>
          <p:cNvPr id="133" name="Google Shape;133;p8"/>
          <p:cNvSpPr txBox="1"/>
          <p:nvPr/>
        </p:nvSpPr>
        <p:spPr>
          <a:xfrm>
            <a:off x="47345" y="300846"/>
            <a:ext cx="6370200" cy="5677800"/>
          </a:xfrm>
          <a:prstGeom prst="rect">
            <a:avLst/>
          </a:prstGeom>
          <a:noFill/>
          <a:ln>
            <a:noFill/>
          </a:ln>
        </p:spPr>
        <p:txBody>
          <a:bodyPr spcFirstLastPara="1" wrap="square" lIns="0" tIns="201925"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rgbClr val="FF0000"/>
                </a:solidFill>
                <a:latin typeface="Arial"/>
                <a:ea typeface="Arial"/>
                <a:cs typeface="Arial"/>
                <a:sym typeface="Arial"/>
              </a:rPr>
              <a:t>Centroid-Based Clustering:</a:t>
            </a:r>
            <a:endParaRPr sz="2400" b="1" i="0" u="none" strike="noStrike" cap="none" dirty="0">
              <a:solidFill>
                <a:srgbClr val="FF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2400"/>
              <a:buFont typeface="Arial"/>
              <a:buNone/>
            </a:pPr>
            <a:endParaRPr sz="2400" b="1" dirty="0">
              <a:solidFill>
                <a:srgbClr val="FF0000"/>
              </a:solidFill>
            </a:endParaRPr>
          </a:p>
          <a:p>
            <a:pPr marL="228600" marR="5080" lvl="0" indent="-133350" algn="just" rtl="0">
              <a:lnSpc>
                <a:spcPct val="150100"/>
              </a:lnSpc>
              <a:spcBef>
                <a:spcPts val="55"/>
              </a:spcBef>
              <a:spcAft>
                <a:spcPts val="0"/>
              </a:spcAft>
              <a:buClr>
                <a:srgbClr val="000000"/>
              </a:buClr>
              <a:buSzPts val="2100"/>
              <a:buFont typeface="Noto Sans Symbols"/>
              <a:buChar char="❑"/>
            </a:pPr>
            <a:r>
              <a:rPr lang="en-US" sz="2200" b="0" i="0" u="none" strike="noStrike" cap="none" dirty="0">
                <a:solidFill>
                  <a:srgbClr val="000000"/>
                </a:solidFill>
                <a:latin typeface="Helvetica Neue"/>
                <a:ea typeface="Helvetica Neue"/>
                <a:cs typeface="Helvetica Neue"/>
                <a:sym typeface="Helvetica Neue"/>
              </a:rPr>
              <a:t>	Centroid-based  clustering  organizes  the  data into  non-hierarchical  clusters,  in  contrast  to hierarchical clustering defined below.</a:t>
            </a:r>
            <a:endParaRPr sz="2200" b="0" i="0" u="none" strike="noStrike" cap="none" dirty="0">
              <a:solidFill>
                <a:srgbClr val="000000"/>
              </a:solidFill>
              <a:latin typeface="Helvetica Neue"/>
              <a:ea typeface="Helvetica Neue"/>
              <a:cs typeface="Helvetica Neue"/>
              <a:sym typeface="Helvetica Neue"/>
            </a:endParaRPr>
          </a:p>
          <a:p>
            <a:pPr marL="228600" marR="6350" lvl="0" indent="-133350" algn="just" rtl="0">
              <a:lnSpc>
                <a:spcPct val="180000"/>
              </a:lnSpc>
              <a:spcBef>
                <a:spcPts val="350"/>
              </a:spcBef>
              <a:spcAft>
                <a:spcPts val="0"/>
              </a:spcAft>
              <a:buClr>
                <a:srgbClr val="6F2F9F"/>
              </a:buClr>
              <a:buSzPts val="2100"/>
              <a:buFont typeface="Noto Sans Symbols"/>
              <a:buChar char="❑"/>
            </a:pPr>
            <a:r>
              <a:rPr lang="en-US" sz="2200" b="1" i="0" u="none" strike="noStrike" cap="none" dirty="0">
                <a:solidFill>
                  <a:srgbClr val="6F2F9F"/>
                </a:solidFill>
                <a:latin typeface="Arial"/>
                <a:ea typeface="Arial"/>
                <a:cs typeface="Arial"/>
                <a:sym typeface="Arial"/>
              </a:rPr>
              <a:t>	k-means  is  the  most  widely-used  centroid- based clustering algorithm.</a:t>
            </a:r>
            <a:endParaRPr sz="2200" b="0" i="0" u="none" strike="noStrike" cap="none" dirty="0">
              <a:solidFill>
                <a:srgbClr val="000000"/>
              </a:solidFill>
              <a:latin typeface="Arial"/>
              <a:ea typeface="Arial"/>
              <a:cs typeface="Arial"/>
              <a:sym typeface="Arial"/>
            </a:endParaRPr>
          </a:p>
          <a:p>
            <a:pPr marL="228600" marR="0" lvl="0" indent="-133350" algn="just" rtl="0">
              <a:lnSpc>
                <a:spcPct val="100000"/>
              </a:lnSpc>
              <a:spcBef>
                <a:spcPts val="975"/>
              </a:spcBef>
              <a:spcAft>
                <a:spcPts val="0"/>
              </a:spcAft>
              <a:buClr>
                <a:srgbClr val="000000"/>
              </a:buClr>
              <a:buSzPts val="2100"/>
              <a:buFont typeface="Noto Sans Symbols"/>
              <a:buChar char="❑"/>
            </a:pPr>
            <a:r>
              <a:rPr lang="en-US" sz="2200" b="0" i="0" u="none" strike="noStrike" cap="none" dirty="0">
                <a:solidFill>
                  <a:srgbClr val="000000"/>
                </a:solidFill>
                <a:latin typeface="Helvetica Neue"/>
                <a:ea typeface="Helvetica Neue"/>
                <a:cs typeface="Helvetica Neue"/>
                <a:sym typeface="Helvetica Neue"/>
              </a:rPr>
              <a:t>Centroid-based  algorithms  are  efficient  but</a:t>
            </a:r>
            <a:endParaRPr sz="2200" b="0" i="0" u="none" strike="noStrike" cap="none" dirty="0">
              <a:solidFill>
                <a:srgbClr val="000000"/>
              </a:solidFill>
              <a:latin typeface="Helvetica Neue"/>
              <a:ea typeface="Helvetica Neue"/>
              <a:cs typeface="Helvetica Neue"/>
              <a:sym typeface="Helvetica Neue"/>
            </a:endParaRPr>
          </a:p>
          <a:p>
            <a:pPr marL="228600" marR="0" lvl="0" indent="0" algn="l" rtl="0">
              <a:lnSpc>
                <a:spcPct val="100000"/>
              </a:lnSpc>
              <a:spcBef>
                <a:spcPts val="1320"/>
              </a:spcBef>
              <a:spcAft>
                <a:spcPts val="0"/>
              </a:spcAft>
              <a:buClr>
                <a:srgbClr val="000000"/>
              </a:buClr>
              <a:buSzPts val="2200"/>
              <a:buFont typeface="Arial"/>
              <a:buNone/>
            </a:pPr>
            <a:r>
              <a:rPr lang="en-US" sz="2200" b="0" i="0" u="none" strike="noStrike" cap="none" dirty="0">
                <a:solidFill>
                  <a:srgbClr val="000000"/>
                </a:solidFill>
                <a:latin typeface="Helvetica Neue"/>
                <a:ea typeface="Helvetica Neue"/>
                <a:cs typeface="Helvetica Neue"/>
                <a:sym typeface="Helvetica Neue"/>
              </a:rPr>
              <a:t>sensitive to initial conditions and outliers.</a:t>
            </a:r>
            <a:endParaRPr sz="2200" b="0" i="0" u="none" strike="noStrike" cap="none" dirty="0">
              <a:solidFill>
                <a:srgbClr val="000000"/>
              </a:solidFill>
              <a:latin typeface="Helvetica Neue"/>
              <a:ea typeface="Helvetica Neue"/>
              <a:cs typeface="Helvetica Neue"/>
              <a:sym typeface="Helvetica Neue"/>
            </a:endParaRPr>
          </a:p>
          <a:p>
            <a:pPr marL="228600" marR="5080" lvl="0" indent="-133350" algn="just" rtl="0">
              <a:lnSpc>
                <a:spcPct val="180000"/>
              </a:lnSpc>
              <a:spcBef>
                <a:spcPts val="150"/>
              </a:spcBef>
              <a:spcAft>
                <a:spcPts val="0"/>
              </a:spcAft>
              <a:buClr>
                <a:srgbClr val="000000"/>
              </a:buClr>
              <a:buSzPts val="2100"/>
              <a:buFont typeface="Noto Sans Symbols"/>
              <a:buChar char="❑"/>
            </a:pPr>
            <a:r>
              <a:rPr lang="en-US" sz="2200" b="0" i="0" u="none" strike="noStrike" cap="none" dirty="0">
                <a:solidFill>
                  <a:srgbClr val="000000"/>
                </a:solidFill>
                <a:latin typeface="Helvetica Neue"/>
                <a:ea typeface="Helvetica Neue"/>
                <a:cs typeface="Helvetica Neue"/>
                <a:sym typeface="Helvetica Neue"/>
              </a:rPr>
              <a:t>	</a:t>
            </a:r>
            <a:r>
              <a:rPr lang="en-US" sz="2200" dirty="0" err="1">
                <a:latin typeface="Helvetica Neue"/>
                <a:ea typeface="Helvetica Neue"/>
                <a:cs typeface="Helvetica Neue"/>
                <a:sym typeface="Helvetica Neue"/>
              </a:rPr>
              <a:t>F</a:t>
            </a:r>
            <a:r>
              <a:rPr lang="en-US" sz="2200" b="0" i="0" u="none" strike="noStrike" cap="none" dirty="0" err="1">
                <a:solidFill>
                  <a:srgbClr val="000000"/>
                </a:solidFill>
                <a:latin typeface="Helvetica Neue"/>
                <a:ea typeface="Helvetica Neue"/>
                <a:cs typeface="Helvetica Neue"/>
                <a:sym typeface="Helvetica Neue"/>
              </a:rPr>
              <a:t>ocuse</a:t>
            </a:r>
            <a:r>
              <a:rPr lang="en-US" sz="2200" b="0" i="0" u="none" strike="noStrike" cap="none" dirty="0">
                <a:solidFill>
                  <a:srgbClr val="000000"/>
                </a:solidFill>
                <a:latin typeface="Helvetica Neue"/>
                <a:ea typeface="Helvetica Neue"/>
                <a:cs typeface="Helvetica Neue"/>
                <a:sym typeface="Helvetica Neue"/>
              </a:rPr>
              <a:t> on k-means because it is an efficient, effective, and simple clustering algorithm.</a:t>
            </a:r>
            <a:endParaRPr sz="2200" b="0" i="0" u="none" strike="noStrike" cap="none" dirty="0">
              <a:solidFill>
                <a:srgbClr val="000000"/>
              </a:solidFill>
              <a:latin typeface="Helvetica Neue"/>
              <a:ea typeface="Helvetica Neue"/>
              <a:cs typeface="Helvetica Neue"/>
              <a:sym typeface="Helvetica Neue"/>
            </a:endParaRPr>
          </a:p>
        </p:txBody>
      </p:sp>
      <p:grpSp>
        <p:nvGrpSpPr>
          <p:cNvPr id="134" name="Google Shape;134;p8"/>
          <p:cNvGrpSpPr/>
          <p:nvPr/>
        </p:nvGrpSpPr>
        <p:grpSpPr>
          <a:xfrm>
            <a:off x="6556227" y="724665"/>
            <a:ext cx="5388879" cy="4575066"/>
            <a:chOff x="6556240" y="685790"/>
            <a:chExt cx="5388879" cy="4575066"/>
          </a:xfrm>
        </p:grpSpPr>
        <p:pic>
          <p:nvPicPr>
            <p:cNvPr id="135" name="Google Shape;135;p8"/>
            <p:cNvPicPr preferRelativeResize="0"/>
            <p:nvPr/>
          </p:nvPicPr>
          <p:blipFill rotWithShape="1">
            <a:blip r:embed="rId4">
              <a:alphaModFix/>
            </a:blip>
            <a:srcRect/>
            <a:stretch/>
          </p:blipFill>
          <p:spPr>
            <a:xfrm>
              <a:off x="6556240" y="685790"/>
              <a:ext cx="5388879" cy="4575066"/>
            </a:xfrm>
            <a:prstGeom prst="rect">
              <a:avLst/>
            </a:prstGeom>
            <a:noFill/>
            <a:ln>
              <a:noFill/>
            </a:ln>
          </p:spPr>
        </p:pic>
        <p:pic>
          <p:nvPicPr>
            <p:cNvPr id="136" name="Google Shape;136;p8"/>
            <p:cNvPicPr preferRelativeResize="0"/>
            <p:nvPr/>
          </p:nvPicPr>
          <p:blipFill rotWithShape="1">
            <a:blip r:embed="rId5">
              <a:alphaModFix/>
            </a:blip>
            <a:srcRect/>
            <a:stretch/>
          </p:blipFill>
          <p:spPr>
            <a:xfrm>
              <a:off x="6723633" y="854710"/>
              <a:ext cx="5053203" cy="4237609"/>
            </a:xfrm>
            <a:prstGeom prst="rect">
              <a:avLst/>
            </a:prstGeom>
            <a:noFill/>
            <a:ln>
              <a:noFill/>
            </a:ln>
          </p:spPr>
        </p:pic>
      </p:grpSp>
      <p:sp>
        <p:nvSpPr>
          <p:cNvPr id="137" name="Google Shape;137;p8"/>
          <p:cNvSpPr txBox="1"/>
          <p:nvPr/>
        </p:nvSpPr>
        <p:spPr>
          <a:xfrm>
            <a:off x="7650168" y="5533671"/>
            <a:ext cx="3201000" cy="260400"/>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Fig. 1: Centroid-based clustering</a:t>
            </a:r>
            <a:endParaRPr sz="1600" b="0" i="0" u="none" strike="noStrike" cap="none">
              <a:solidFill>
                <a:srgbClr val="000000"/>
              </a:solidFill>
              <a:latin typeface="Arial"/>
              <a:ea typeface="Arial"/>
              <a:cs typeface="Arial"/>
              <a:sym typeface="Arial"/>
            </a:endParaRPr>
          </a:p>
        </p:txBody>
      </p:sp>
      <p:sp>
        <p:nvSpPr>
          <p:cNvPr id="138" name="Google Shape;138;p8"/>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8</a:t>
            </a:fld>
            <a:endParaRPr/>
          </a:p>
        </p:txBody>
      </p:sp>
      <p:sp>
        <p:nvSpPr>
          <p:cNvPr id="139" name="Google Shape;139;p8"/>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grpSp>
        <p:nvGrpSpPr>
          <p:cNvPr id="144" name="Google Shape;144;p9"/>
          <p:cNvGrpSpPr/>
          <p:nvPr/>
        </p:nvGrpSpPr>
        <p:grpSpPr>
          <a:xfrm>
            <a:off x="0" y="-25"/>
            <a:ext cx="12192000" cy="490752"/>
            <a:chOff x="0" y="-25"/>
            <a:chExt cx="12192000" cy="490752"/>
          </a:xfrm>
        </p:grpSpPr>
        <p:pic>
          <p:nvPicPr>
            <p:cNvPr id="145" name="Google Shape;145;p9"/>
            <p:cNvPicPr preferRelativeResize="0"/>
            <p:nvPr/>
          </p:nvPicPr>
          <p:blipFill rotWithShape="1">
            <a:blip r:embed="rId3">
              <a:alphaModFix/>
            </a:blip>
            <a:srcRect/>
            <a:stretch/>
          </p:blipFill>
          <p:spPr>
            <a:xfrm>
              <a:off x="0" y="0"/>
              <a:ext cx="7114032" cy="490727"/>
            </a:xfrm>
            <a:prstGeom prst="rect">
              <a:avLst/>
            </a:prstGeom>
            <a:noFill/>
            <a:ln>
              <a:noFill/>
            </a:ln>
          </p:spPr>
        </p:pic>
        <p:sp>
          <p:nvSpPr>
            <p:cNvPr id="146" name="Google Shape;146;p9"/>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7" name="Google Shape;147;p9"/>
          <p:cNvSpPr txBox="1">
            <a:spLocks noGrp="1"/>
          </p:cNvSpPr>
          <p:nvPr>
            <p:ph type="title"/>
          </p:nvPr>
        </p:nvSpPr>
        <p:spPr>
          <a:xfrm>
            <a:off x="78739" y="23825"/>
            <a:ext cx="7225031"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dirty="0"/>
              <a:t>Clustering and Retrieval </a:t>
            </a:r>
            <a:r>
              <a:rPr lang="en-US" dirty="0">
                <a:solidFill>
                  <a:srgbClr val="FF0000"/>
                </a:solidFill>
              </a:rPr>
              <a:t>(Types of Clustering)</a:t>
            </a:r>
            <a:endParaRPr dirty="0"/>
          </a:p>
        </p:txBody>
      </p:sp>
      <p:sp>
        <p:nvSpPr>
          <p:cNvPr id="148" name="Google Shape;148;p9"/>
          <p:cNvSpPr txBox="1"/>
          <p:nvPr/>
        </p:nvSpPr>
        <p:spPr>
          <a:xfrm>
            <a:off x="0" y="538950"/>
            <a:ext cx="6798900" cy="4536600"/>
          </a:xfrm>
          <a:prstGeom prst="rect">
            <a:avLst/>
          </a:prstGeom>
          <a:noFill/>
          <a:ln>
            <a:noFill/>
          </a:ln>
        </p:spPr>
        <p:txBody>
          <a:bodyPr spcFirstLastPara="1" wrap="square" lIns="0" tIns="195575"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1900" b="1" i="0" u="none" strike="noStrike" cap="none" dirty="0">
                <a:solidFill>
                  <a:srgbClr val="FF0000"/>
                </a:solidFill>
                <a:latin typeface="Arial"/>
                <a:ea typeface="Arial"/>
                <a:cs typeface="Arial"/>
                <a:sym typeface="Arial"/>
              </a:rPr>
              <a:t>Density-Based Clustering</a:t>
            </a:r>
            <a:endParaRPr sz="1900" b="1" i="0" u="none" strike="noStrike" cap="none" dirty="0">
              <a:solidFill>
                <a:srgbClr val="FF0000"/>
              </a:solidFill>
              <a:latin typeface="Arial"/>
              <a:ea typeface="Arial"/>
              <a:cs typeface="Arial"/>
              <a:sym typeface="Arial"/>
            </a:endParaRPr>
          </a:p>
          <a:p>
            <a:pPr marL="12700" marR="0" lvl="0" indent="0" algn="l" rtl="0">
              <a:lnSpc>
                <a:spcPct val="100000"/>
              </a:lnSpc>
              <a:spcBef>
                <a:spcPts val="0"/>
              </a:spcBef>
              <a:spcAft>
                <a:spcPts val="0"/>
              </a:spcAft>
              <a:buClr>
                <a:srgbClr val="000000"/>
              </a:buClr>
              <a:buSzPts val="2400"/>
              <a:buFont typeface="Arial"/>
              <a:buNone/>
            </a:pPr>
            <a:endParaRPr sz="1900" b="1" dirty="0">
              <a:solidFill>
                <a:srgbClr val="FF0000"/>
              </a:solidFill>
            </a:endParaRPr>
          </a:p>
          <a:p>
            <a:pPr marL="228600" marR="8890" lvl="0" indent="-114300" algn="l" rtl="0">
              <a:lnSpc>
                <a:spcPct val="150100"/>
              </a:lnSpc>
              <a:spcBef>
                <a:spcPts val="0"/>
              </a:spcBef>
              <a:spcAft>
                <a:spcPts val="0"/>
              </a:spcAft>
              <a:buClr>
                <a:srgbClr val="000000"/>
              </a:buClr>
              <a:buSzPts val="1800"/>
              <a:buFont typeface="Noto Sans Symbols"/>
              <a:buChar char="❑"/>
            </a:pPr>
            <a:r>
              <a:rPr lang="en-US" sz="1900" b="0" i="0" u="none" strike="noStrike" cap="none" dirty="0">
                <a:solidFill>
                  <a:srgbClr val="000000"/>
                </a:solidFill>
                <a:latin typeface="Helvetica Neue"/>
                <a:ea typeface="Helvetica Neue"/>
                <a:cs typeface="Helvetica Neue"/>
                <a:sym typeface="Helvetica Neue"/>
              </a:rPr>
              <a:t>	Density-based	clustering	connects	areas	of high example density into clusters.</a:t>
            </a:r>
            <a:endParaRPr sz="1900" b="0" i="0" u="none" strike="noStrike" cap="none" dirty="0">
              <a:solidFill>
                <a:srgbClr val="000000"/>
              </a:solidFill>
              <a:latin typeface="Helvetica Neue"/>
              <a:ea typeface="Helvetica Neue"/>
              <a:cs typeface="Helvetica Neue"/>
              <a:sym typeface="Helvetica Neue"/>
            </a:endParaRPr>
          </a:p>
          <a:p>
            <a:pPr marL="228600" marR="0" lvl="0" indent="-114300" algn="l" rtl="0">
              <a:lnSpc>
                <a:spcPct val="100000"/>
              </a:lnSpc>
              <a:spcBef>
                <a:spcPts val="1445"/>
              </a:spcBef>
              <a:spcAft>
                <a:spcPts val="0"/>
              </a:spcAft>
              <a:buClr>
                <a:srgbClr val="000000"/>
              </a:buClr>
              <a:buSzPts val="1800"/>
              <a:buFont typeface="Noto Sans Symbols"/>
              <a:buChar char="❑"/>
            </a:pPr>
            <a:r>
              <a:rPr lang="en-US" sz="1900" b="0" i="0" u="none" strike="noStrike" cap="none" dirty="0">
                <a:solidFill>
                  <a:srgbClr val="000000"/>
                </a:solidFill>
                <a:latin typeface="Helvetica Neue"/>
                <a:ea typeface="Helvetica Neue"/>
                <a:cs typeface="Helvetica Neue"/>
                <a:sym typeface="Helvetica Neue"/>
              </a:rPr>
              <a:t>This allows for arbitrary-shaped	distributions</a:t>
            </a:r>
            <a:endParaRPr sz="1900" b="0" i="0" u="none" strike="noStrike" cap="none" dirty="0">
              <a:solidFill>
                <a:srgbClr val="000000"/>
              </a:solidFill>
              <a:latin typeface="Helvetica Neue"/>
              <a:ea typeface="Helvetica Neue"/>
              <a:cs typeface="Helvetica Neue"/>
              <a:sym typeface="Helvetica Neue"/>
            </a:endParaRPr>
          </a:p>
          <a:p>
            <a:pPr marL="228600" marR="0" lvl="0" indent="0" algn="l" rtl="0">
              <a:lnSpc>
                <a:spcPct val="100000"/>
              </a:lnSpc>
              <a:spcBef>
                <a:spcPts val="1440"/>
              </a:spcBef>
              <a:spcAft>
                <a:spcPts val="0"/>
              </a:spcAft>
              <a:buClr>
                <a:srgbClr val="000000"/>
              </a:buClr>
              <a:buSzPts val="2400"/>
              <a:buFont typeface="Arial"/>
              <a:buNone/>
            </a:pPr>
            <a:r>
              <a:rPr lang="en-US" sz="1900" b="0" i="0" u="none" strike="noStrike" cap="none" dirty="0">
                <a:solidFill>
                  <a:srgbClr val="000000"/>
                </a:solidFill>
                <a:latin typeface="Helvetica Neue"/>
                <a:ea typeface="Helvetica Neue"/>
                <a:cs typeface="Helvetica Neue"/>
                <a:sym typeface="Helvetica Neue"/>
              </a:rPr>
              <a:t>as long as dense areas can be connected.</a:t>
            </a:r>
            <a:endParaRPr sz="1900" b="0" i="0" u="none" strike="noStrike" cap="none" dirty="0">
              <a:solidFill>
                <a:srgbClr val="000000"/>
              </a:solidFill>
              <a:latin typeface="Helvetica Neue"/>
              <a:ea typeface="Helvetica Neue"/>
              <a:cs typeface="Helvetica Neue"/>
              <a:sym typeface="Helvetica Neue"/>
            </a:endParaRPr>
          </a:p>
          <a:p>
            <a:pPr marL="228600" marR="8890" lvl="0" indent="-114300" algn="l" rtl="0">
              <a:lnSpc>
                <a:spcPct val="180000"/>
              </a:lnSpc>
              <a:spcBef>
                <a:spcPts val="385"/>
              </a:spcBef>
              <a:spcAft>
                <a:spcPts val="0"/>
              </a:spcAft>
              <a:buClr>
                <a:srgbClr val="000000"/>
              </a:buClr>
              <a:buSzPts val="1800"/>
              <a:buFont typeface="Noto Sans Symbols"/>
              <a:buChar char="❑"/>
            </a:pPr>
            <a:r>
              <a:rPr lang="en-US" sz="1900" b="0" i="0" u="none" strike="noStrike" cap="none" dirty="0">
                <a:solidFill>
                  <a:srgbClr val="000000"/>
                </a:solidFill>
                <a:latin typeface="Helvetica Neue"/>
                <a:ea typeface="Helvetica Neue"/>
                <a:cs typeface="Helvetica Neue"/>
                <a:sym typeface="Helvetica Neue"/>
              </a:rPr>
              <a:t>	These algorithms have difficulty with data of varying densities and high dimensions.</a:t>
            </a:r>
            <a:endParaRPr sz="1900" b="0" i="0" u="none" strike="noStrike" cap="none" dirty="0">
              <a:solidFill>
                <a:srgbClr val="000000"/>
              </a:solidFill>
              <a:latin typeface="Helvetica Neue"/>
              <a:ea typeface="Helvetica Neue"/>
              <a:cs typeface="Helvetica Neue"/>
              <a:sym typeface="Helvetica Neue"/>
            </a:endParaRPr>
          </a:p>
          <a:p>
            <a:pPr marL="228600" marR="5080" lvl="0" indent="-114300" algn="l" rtl="0">
              <a:lnSpc>
                <a:spcPct val="180000"/>
              </a:lnSpc>
              <a:spcBef>
                <a:spcPts val="0"/>
              </a:spcBef>
              <a:spcAft>
                <a:spcPts val="0"/>
              </a:spcAft>
              <a:buClr>
                <a:srgbClr val="000000"/>
              </a:buClr>
              <a:buSzPts val="1800"/>
              <a:buFont typeface="Noto Sans Symbols"/>
              <a:buChar char="❑"/>
            </a:pPr>
            <a:r>
              <a:rPr lang="en-US" sz="1900" b="0" i="0" u="none" strike="noStrike" cap="none" dirty="0">
                <a:solidFill>
                  <a:srgbClr val="000000"/>
                </a:solidFill>
                <a:latin typeface="Helvetica Neue"/>
                <a:ea typeface="Helvetica Neue"/>
                <a:cs typeface="Helvetica Neue"/>
                <a:sym typeface="Helvetica Neue"/>
              </a:rPr>
              <a:t>	Further,	by	design,	these	algorithms	do	not assign outliers to clusters.</a:t>
            </a:r>
            <a:endParaRPr sz="1900" b="0" i="0" u="none" strike="noStrike" cap="none" dirty="0">
              <a:solidFill>
                <a:srgbClr val="000000"/>
              </a:solidFill>
              <a:latin typeface="Helvetica Neue"/>
              <a:ea typeface="Helvetica Neue"/>
              <a:cs typeface="Helvetica Neue"/>
              <a:sym typeface="Helvetica Neue"/>
            </a:endParaRPr>
          </a:p>
        </p:txBody>
      </p:sp>
      <p:sp>
        <p:nvSpPr>
          <p:cNvPr id="149" name="Google Shape;149;p9"/>
          <p:cNvSpPr txBox="1"/>
          <p:nvPr/>
        </p:nvSpPr>
        <p:spPr>
          <a:xfrm>
            <a:off x="7698105" y="5402071"/>
            <a:ext cx="3100705" cy="27114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Fig. 2: Density-based clustering</a:t>
            </a:r>
            <a:endParaRPr sz="1600" b="0" i="0" u="none" strike="noStrike" cap="none">
              <a:solidFill>
                <a:srgbClr val="000000"/>
              </a:solidFill>
              <a:latin typeface="Arial"/>
              <a:ea typeface="Arial"/>
              <a:cs typeface="Arial"/>
              <a:sym typeface="Arial"/>
            </a:endParaRPr>
          </a:p>
        </p:txBody>
      </p:sp>
      <p:grpSp>
        <p:nvGrpSpPr>
          <p:cNvPr id="150" name="Google Shape;150;p9"/>
          <p:cNvGrpSpPr/>
          <p:nvPr/>
        </p:nvGrpSpPr>
        <p:grpSpPr>
          <a:xfrm>
            <a:off x="6673605" y="635497"/>
            <a:ext cx="5323315" cy="4552207"/>
            <a:chOff x="6673605" y="635497"/>
            <a:chExt cx="5323315" cy="4552207"/>
          </a:xfrm>
        </p:grpSpPr>
        <p:pic>
          <p:nvPicPr>
            <p:cNvPr id="151" name="Google Shape;151;p9"/>
            <p:cNvPicPr preferRelativeResize="0"/>
            <p:nvPr/>
          </p:nvPicPr>
          <p:blipFill rotWithShape="1">
            <a:blip r:embed="rId4">
              <a:alphaModFix/>
            </a:blip>
            <a:srcRect/>
            <a:stretch/>
          </p:blipFill>
          <p:spPr>
            <a:xfrm>
              <a:off x="6673605" y="635497"/>
              <a:ext cx="5323315" cy="4552207"/>
            </a:xfrm>
            <a:prstGeom prst="rect">
              <a:avLst/>
            </a:prstGeom>
            <a:noFill/>
            <a:ln>
              <a:noFill/>
            </a:ln>
          </p:spPr>
        </p:pic>
        <p:pic>
          <p:nvPicPr>
            <p:cNvPr id="152" name="Google Shape;152;p9"/>
            <p:cNvPicPr preferRelativeResize="0"/>
            <p:nvPr/>
          </p:nvPicPr>
          <p:blipFill rotWithShape="1">
            <a:blip r:embed="rId5">
              <a:alphaModFix/>
            </a:blip>
            <a:srcRect/>
            <a:stretch/>
          </p:blipFill>
          <p:spPr>
            <a:xfrm>
              <a:off x="6835774" y="797687"/>
              <a:ext cx="4993640" cy="4222115"/>
            </a:xfrm>
            <a:prstGeom prst="rect">
              <a:avLst/>
            </a:prstGeom>
            <a:noFill/>
            <a:ln>
              <a:noFill/>
            </a:ln>
          </p:spPr>
        </p:pic>
      </p:grpSp>
      <p:sp>
        <p:nvSpPr>
          <p:cNvPr id="153" name="Google Shape;153;p9"/>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9</a:t>
            </a:fld>
            <a:endParaRPr/>
          </a:p>
        </p:txBody>
      </p:sp>
      <p:sp>
        <p:nvSpPr>
          <p:cNvPr id="154" name="Google Shape;154;p9"/>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grpSp>
        <p:nvGrpSpPr>
          <p:cNvPr id="159" name="Google Shape;159;p10"/>
          <p:cNvGrpSpPr/>
          <p:nvPr/>
        </p:nvGrpSpPr>
        <p:grpSpPr>
          <a:xfrm>
            <a:off x="0" y="-25"/>
            <a:ext cx="12192000" cy="490752"/>
            <a:chOff x="0" y="-25"/>
            <a:chExt cx="12192000" cy="490752"/>
          </a:xfrm>
        </p:grpSpPr>
        <p:pic>
          <p:nvPicPr>
            <p:cNvPr id="160" name="Google Shape;160;p10"/>
            <p:cNvPicPr preferRelativeResize="0"/>
            <p:nvPr/>
          </p:nvPicPr>
          <p:blipFill rotWithShape="1">
            <a:blip r:embed="rId3">
              <a:alphaModFix/>
            </a:blip>
            <a:srcRect/>
            <a:stretch/>
          </p:blipFill>
          <p:spPr>
            <a:xfrm>
              <a:off x="0" y="0"/>
              <a:ext cx="7114032" cy="490727"/>
            </a:xfrm>
            <a:prstGeom prst="rect">
              <a:avLst/>
            </a:prstGeom>
            <a:noFill/>
            <a:ln>
              <a:noFill/>
            </a:ln>
          </p:spPr>
        </p:pic>
        <p:sp>
          <p:nvSpPr>
            <p:cNvPr id="161" name="Google Shape;161;p10"/>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2" name="Google Shape;162;p10"/>
          <p:cNvSpPr txBox="1">
            <a:spLocks noGrp="1"/>
          </p:cNvSpPr>
          <p:nvPr>
            <p:ph type="title"/>
          </p:nvPr>
        </p:nvSpPr>
        <p:spPr>
          <a:xfrm>
            <a:off x="78739" y="23825"/>
            <a:ext cx="7619366"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dirty="0"/>
              <a:t>Clustering and Retrieval </a:t>
            </a:r>
            <a:r>
              <a:rPr lang="en-US" dirty="0">
                <a:solidFill>
                  <a:srgbClr val="FF0000"/>
                </a:solidFill>
              </a:rPr>
              <a:t>(Types of Clustering)</a:t>
            </a:r>
            <a:endParaRPr dirty="0"/>
          </a:p>
        </p:txBody>
      </p:sp>
      <p:sp>
        <p:nvSpPr>
          <p:cNvPr id="163" name="Google Shape;163;p10"/>
          <p:cNvSpPr txBox="1"/>
          <p:nvPr/>
        </p:nvSpPr>
        <p:spPr>
          <a:xfrm>
            <a:off x="47350" y="253700"/>
            <a:ext cx="6026100" cy="3327900"/>
          </a:xfrm>
          <a:prstGeom prst="rect">
            <a:avLst/>
          </a:prstGeom>
          <a:noFill/>
          <a:ln>
            <a:noFill/>
          </a:ln>
        </p:spPr>
        <p:txBody>
          <a:bodyPr spcFirstLastPara="1" wrap="square" lIns="0" tIns="201275"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300" b="1" i="0" u="none" strike="noStrike" cap="none" dirty="0">
                <a:solidFill>
                  <a:srgbClr val="FF0000"/>
                </a:solidFill>
                <a:latin typeface="Arial"/>
                <a:ea typeface="Arial"/>
                <a:cs typeface="Arial"/>
                <a:sym typeface="Arial"/>
              </a:rPr>
              <a:t>Distribution-Based Clustering</a:t>
            </a:r>
            <a:endParaRPr sz="2300" b="0" i="0" u="none" strike="noStrike" cap="none" dirty="0">
              <a:solidFill>
                <a:srgbClr val="000000"/>
              </a:solidFill>
              <a:latin typeface="Arial"/>
              <a:ea typeface="Arial"/>
              <a:cs typeface="Arial"/>
              <a:sym typeface="Arial"/>
            </a:endParaRPr>
          </a:p>
          <a:p>
            <a:pPr marL="171450" marR="5080" lvl="0" indent="-127000" algn="just" rtl="0">
              <a:lnSpc>
                <a:spcPct val="150000"/>
              </a:lnSpc>
              <a:spcBef>
                <a:spcPts val="60"/>
              </a:spcBef>
              <a:spcAft>
                <a:spcPts val="0"/>
              </a:spcAft>
              <a:buClr>
                <a:srgbClr val="000000"/>
              </a:buClr>
              <a:buSzPts val="2000"/>
              <a:buFont typeface="Noto Sans Symbols"/>
              <a:buChar char="❑"/>
            </a:pPr>
            <a:r>
              <a:rPr lang="en-US" sz="2100" b="0" i="0" u="none" strike="noStrike" cap="none" dirty="0">
                <a:solidFill>
                  <a:srgbClr val="000000"/>
                </a:solidFill>
                <a:latin typeface="Helvetica Neue"/>
                <a:ea typeface="Helvetica Neue"/>
                <a:cs typeface="Helvetica Neue"/>
                <a:sym typeface="Helvetica Neue"/>
              </a:rPr>
              <a:t>	This  clustering  approach  assumes  data  is composed  of  distributions,  such  as  Gaussian distributions.</a:t>
            </a:r>
            <a:endParaRPr sz="2100" dirty="0">
              <a:latin typeface="Helvetica Neue"/>
              <a:ea typeface="Helvetica Neue"/>
              <a:cs typeface="Helvetica Neue"/>
              <a:sym typeface="Helvetica Neue"/>
            </a:endParaRPr>
          </a:p>
          <a:p>
            <a:pPr marL="171450" marR="5080" lvl="0" indent="-127000" algn="just" rtl="0">
              <a:lnSpc>
                <a:spcPct val="150000"/>
              </a:lnSpc>
              <a:spcBef>
                <a:spcPts val="60"/>
              </a:spcBef>
              <a:spcAft>
                <a:spcPts val="0"/>
              </a:spcAft>
              <a:buClr>
                <a:srgbClr val="000000"/>
              </a:buClr>
              <a:buSzPts val="2000"/>
              <a:buFont typeface="Noto Sans Symbols"/>
              <a:buChar char="❑"/>
            </a:pPr>
            <a:r>
              <a:rPr lang="en-US" sz="2100" b="0" i="0" u="none" strike="noStrike" cap="none" dirty="0">
                <a:solidFill>
                  <a:srgbClr val="000000"/>
                </a:solidFill>
                <a:latin typeface="Helvetica Neue"/>
                <a:ea typeface="Helvetica Neue"/>
                <a:cs typeface="Helvetica Neue"/>
                <a:sym typeface="Helvetica Neue"/>
              </a:rPr>
              <a:t>In  Fig.  4,  the  distribution-based  algorithm</a:t>
            </a:r>
            <a:endParaRPr sz="2100" b="0" i="0" u="none" strike="noStrike" cap="none" dirty="0">
              <a:solidFill>
                <a:srgbClr val="000000"/>
              </a:solidFill>
              <a:latin typeface="Helvetica Neue"/>
              <a:ea typeface="Helvetica Neue"/>
              <a:cs typeface="Helvetica Neue"/>
              <a:sym typeface="Helvetica Neue"/>
            </a:endParaRPr>
          </a:p>
          <a:p>
            <a:pPr marL="171450" marR="0" lvl="0" indent="0" algn="l" rtl="0">
              <a:lnSpc>
                <a:spcPct val="100000"/>
              </a:lnSpc>
              <a:spcBef>
                <a:spcPts val="1320"/>
              </a:spcBef>
              <a:spcAft>
                <a:spcPts val="0"/>
              </a:spcAft>
              <a:buClr>
                <a:srgbClr val="000000"/>
              </a:buClr>
              <a:buSzPts val="2200"/>
              <a:buFont typeface="Arial"/>
              <a:buNone/>
            </a:pPr>
            <a:r>
              <a:rPr lang="en-US" sz="2100" b="0" i="0" u="none" strike="noStrike" cap="none" dirty="0">
                <a:solidFill>
                  <a:srgbClr val="000000"/>
                </a:solidFill>
                <a:latin typeface="Helvetica Neue"/>
                <a:ea typeface="Helvetica Neue"/>
                <a:cs typeface="Helvetica Neue"/>
                <a:sym typeface="Helvetica Neue"/>
              </a:rPr>
              <a:t>clusters	data	into	 three Gaussian	distributions.</a:t>
            </a:r>
            <a:endParaRPr sz="2100" b="0" i="0" u="none" strike="noStrike" cap="none" dirty="0">
              <a:solidFill>
                <a:srgbClr val="000000"/>
              </a:solidFill>
              <a:latin typeface="Helvetica Neue"/>
              <a:ea typeface="Helvetica Neue"/>
              <a:cs typeface="Helvetica Neue"/>
              <a:sym typeface="Helvetica Neue"/>
            </a:endParaRPr>
          </a:p>
        </p:txBody>
      </p:sp>
      <p:sp>
        <p:nvSpPr>
          <p:cNvPr id="164" name="Google Shape;164;p10"/>
          <p:cNvSpPr txBox="1"/>
          <p:nvPr/>
        </p:nvSpPr>
        <p:spPr>
          <a:xfrm>
            <a:off x="47350" y="3649800"/>
            <a:ext cx="6026700" cy="2760300"/>
          </a:xfrm>
          <a:prstGeom prst="rect">
            <a:avLst/>
          </a:prstGeom>
          <a:noFill/>
          <a:ln>
            <a:noFill/>
          </a:ln>
        </p:spPr>
        <p:txBody>
          <a:bodyPr spcFirstLastPara="1" wrap="square" lIns="0" tIns="12050" rIns="0" bIns="0" anchor="t" anchorCtr="0">
            <a:spAutoFit/>
          </a:bodyPr>
          <a:lstStyle/>
          <a:p>
            <a:pPr marL="114300" marR="5080" lvl="0" indent="0" algn="just" rtl="0">
              <a:lnSpc>
                <a:spcPct val="150000"/>
              </a:lnSpc>
              <a:spcBef>
                <a:spcPts val="0"/>
              </a:spcBef>
              <a:spcAft>
                <a:spcPts val="0"/>
              </a:spcAft>
              <a:buClr>
                <a:srgbClr val="000000"/>
              </a:buClr>
              <a:buSzPts val="2200"/>
              <a:buFont typeface="Arial"/>
              <a:buNone/>
            </a:pPr>
            <a:r>
              <a:rPr lang="en-US" sz="2100" b="0" i="0" u="none" strike="noStrike" cap="none">
                <a:solidFill>
                  <a:srgbClr val="000000"/>
                </a:solidFill>
                <a:latin typeface="Helvetica Neue"/>
                <a:ea typeface="Helvetica Neue"/>
                <a:cs typeface="Helvetica Neue"/>
                <a:sym typeface="Helvetica Neue"/>
              </a:rPr>
              <a:t>As  distance  from  the  distribution's  center increases, the probability that a point belongs to the distribution decreases.</a:t>
            </a:r>
            <a:endParaRPr sz="2100" b="0" i="0" u="none" strike="noStrike" cap="none">
              <a:solidFill>
                <a:srgbClr val="000000"/>
              </a:solidFill>
              <a:latin typeface="Helvetica Neue"/>
              <a:ea typeface="Helvetica Neue"/>
              <a:cs typeface="Helvetica Neue"/>
              <a:sym typeface="Helvetica Neue"/>
            </a:endParaRPr>
          </a:p>
          <a:p>
            <a:pPr marL="114300" marR="6985" lvl="0" indent="-127000" algn="just" rtl="0">
              <a:lnSpc>
                <a:spcPct val="150100"/>
              </a:lnSpc>
              <a:spcBef>
                <a:spcPts val="0"/>
              </a:spcBef>
              <a:spcAft>
                <a:spcPts val="0"/>
              </a:spcAft>
              <a:buClr>
                <a:srgbClr val="000000"/>
              </a:buClr>
              <a:buSzPts val="2000"/>
              <a:buFont typeface="Noto Sans Symbols"/>
              <a:buChar char="❑"/>
            </a:pPr>
            <a:r>
              <a:rPr lang="en-US" sz="2100" b="0" i="0" u="none" strike="noStrike" cap="none">
                <a:solidFill>
                  <a:srgbClr val="000000"/>
                </a:solidFill>
                <a:latin typeface="Helvetica Neue"/>
                <a:ea typeface="Helvetica Neue"/>
                <a:cs typeface="Helvetica Neue"/>
                <a:sym typeface="Helvetica Neue"/>
              </a:rPr>
              <a:t>The bands show that decrease in probability. When you do not know the type of distribution in your data, you should use a different algorithm.</a:t>
            </a:r>
            <a:endParaRPr sz="2100" b="0" i="0" u="none" strike="noStrike" cap="none">
              <a:solidFill>
                <a:srgbClr val="000000"/>
              </a:solidFill>
              <a:latin typeface="Helvetica Neue"/>
              <a:ea typeface="Helvetica Neue"/>
              <a:cs typeface="Helvetica Neue"/>
              <a:sym typeface="Helvetica Neue"/>
            </a:endParaRPr>
          </a:p>
        </p:txBody>
      </p:sp>
      <p:sp>
        <p:nvSpPr>
          <p:cNvPr id="165" name="Google Shape;165;p10"/>
          <p:cNvSpPr txBox="1"/>
          <p:nvPr/>
        </p:nvSpPr>
        <p:spPr>
          <a:xfrm>
            <a:off x="7698105" y="5402071"/>
            <a:ext cx="3506470" cy="271145"/>
          </a:xfrm>
          <a:prstGeom prst="rect">
            <a:avLst/>
          </a:prstGeom>
          <a:noFill/>
          <a:ln>
            <a:noFill/>
          </a:ln>
        </p:spPr>
        <p:txBody>
          <a:bodyPr spcFirstLastPara="1" wrap="square" lIns="0" tIns="139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Fig. 4: Distribution-based clustering</a:t>
            </a:r>
            <a:endParaRPr sz="1600" b="0" i="0" u="none" strike="noStrike" cap="none">
              <a:solidFill>
                <a:srgbClr val="000000"/>
              </a:solidFill>
              <a:latin typeface="Arial"/>
              <a:ea typeface="Arial"/>
              <a:cs typeface="Arial"/>
              <a:sym typeface="Arial"/>
            </a:endParaRPr>
          </a:p>
        </p:txBody>
      </p:sp>
      <p:grpSp>
        <p:nvGrpSpPr>
          <p:cNvPr id="166" name="Google Shape;166;p10"/>
          <p:cNvGrpSpPr/>
          <p:nvPr/>
        </p:nvGrpSpPr>
        <p:grpSpPr>
          <a:xfrm>
            <a:off x="6475484" y="1502663"/>
            <a:ext cx="5693649" cy="3589020"/>
            <a:chOff x="6475484" y="1502663"/>
            <a:chExt cx="5693649" cy="3589020"/>
          </a:xfrm>
        </p:grpSpPr>
        <p:pic>
          <p:nvPicPr>
            <p:cNvPr id="167" name="Google Shape;167;p10"/>
            <p:cNvPicPr preferRelativeResize="0"/>
            <p:nvPr/>
          </p:nvPicPr>
          <p:blipFill rotWithShape="1">
            <a:blip r:embed="rId4">
              <a:alphaModFix/>
            </a:blip>
            <a:srcRect/>
            <a:stretch/>
          </p:blipFill>
          <p:spPr>
            <a:xfrm>
              <a:off x="6475484" y="1502663"/>
              <a:ext cx="5693649" cy="3589020"/>
            </a:xfrm>
            <a:prstGeom prst="rect">
              <a:avLst/>
            </a:prstGeom>
            <a:noFill/>
            <a:ln>
              <a:noFill/>
            </a:ln>
          </p:spPr>
        </p:pic>
        <p:pic>
          <p:nvPicPr>
            <p:cNvPr id="168" name="Google Shape;168;p10"/>
            <p:cNvPicPr preferRelativeResize="0"/>
            <p:nvPr/>
          </p:nvPicPr>
          <p:blipFill rotWithShape="1">
            <a:blip r:embed="rId5">
              <a:alphaModFix/>
            </a:blip>
            <a:srcRect/>
            <a:stretch/>
          </p:blipFill>
          <p:spPr>
            <a:xfrm>
              <a:off x="6637274" y="1671065"/>
              <a:ext cx="5362956" cy="3249422"/>
            </a:xfrm>
            <a:prstGeom prst="rect">
              <a:avLst/>
            </a:prstGeom>
            <a:noFill/>
            <a:ln>
              <a:noFill/>
            </a:ln>
          </p:spPr>
        </p:pic>
      </p:grpSp>
      <p:sp>
        <p:nvSpPr>
          <p:cNvPr id="169" name="Google Shape;169;p10"/>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10</a:t>
            </a:fld>
            <a:endParaRPr/>
          </a:p>
        </p:txBody>
      </p:sp>
      <p:sp>
        <p:nvSpPr>
          <p:cNvPr id="170" name="Google Shape;170;p10"/>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grpSp>
        <p:nvGrpSpPr>
          <p:cNvPr id="175" name="Google Shape;175;p11"/>
          <p:cNvGrpSpPr/>
          <p:nvPr/>
        </p:nvGrpSpPr>
        <p:grpSpPr>
          <a:xfrm>
            <a:off x="0" y="-25"/>
            <a:ext cx="12192000" cy="490752"/>
            <a:chOff x="0" y="-25"/>
            <a:chExt cx="12192000" cy="490752"/>
          </a:xfrm>
        </p:grpSpPr>
        <p:pic>
          <p:nvPicPr>
            <p:cNvPr id="176" name="Google Shape;176;p11"/>
            <p:cNvPicPr preferRelativeResize="0"/>
            <p:nvPr/>
          </p:nvPicPr>
          <p:blipFill rotWithShape="1">
            <a:blip r:embed="rId3">
              <a:alphaModFix/>
            </a:blip>
            <a:srcRect/>
            <a:stretch/>
          </p:blipFill>
          <p:spPr>
            <a:xfrm>
              <a:off x="0" y="0"/>
              <a:ext cx="7114032" cy="490727"/>
            </a:xfrm>
            <a:prstGeom prst="rect">
              <a:avLst/>
            </a:prstGeom>
            <a:noFill/>
            <a:ln>
              <a:noFill/>
            </a:ln>
          </p:spPr>
        </p:pic>
        <p:sp>
          <p:nvSpPr>
            <p:cNvPr id="177" name="Google Shape;177;p11"/>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8" name="Google Shape;178;p11"/>
          <p:cNvSpPr txBox="1">
            <a:spLocks noGrp="1"/>
          </p:cNvSpPr>
          <p:nvPr>
            <p:ph type="title"/>
          </p:nvPr>
        </p:nvSpPr>
        <p:spPr>
          <a:xfrm>
            <a:off x="78739" y="23825"/>
            <a:ext cx="7407911"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dirty="0"/>
              <a:t>Clustering and Retrieval </a:t>
            </a:r>
            <a:r>
              <a:rPr lang="en-US" dirty="0">
                <a:solidFill>
                  <a:srgbClr val="FF0000"/>
                </a:solidFill>
              </a:rPr>
              <a:t>(Types of Clustering)</a:t>
            </a:r>
            <a:endParaRPr dirty="0"/>
          </a:p>
        </p:txBody>
      </p:sp>
      <p:sp>
        <p:nvSpPr>
          <p:cNvPr id="179" name="Google Shape;179;p11"/>
          <p:cNvSpPr txBox="1"/>
          <p:nvPr/>
        </p:nvSpPr>
        <p:spPr>
          <a:xfrm>
            <a:off x="47345" y="268784"/>
            <a:ext cx="12069300" cy="1266000"/>
          </a:xfrm>
          <a:prstGeom prst="rect">
            <a:avLst/>
          </a:prstGeom>
          <a:noFill/>
          <a:ln>
            <a:noFill/>
          </a:ln>
        </p:spPr>
        <p:txBody>
          <a:bodyPr spcFirstLastPara="1" wrap="square" lIns="0" tIns="201925"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100" b="1" i="0" u="none" strike="noStrike" cap="none" dirty="0">
                <a:solidFill>
                  <a:srgbClr val="FF0000"/>
                </a:solidFill>
                <a:latin typeface="Arial"/>
                <a:ea typeface="Arial"/>
                <a:cs typeface="Arial"/>
                <a:sym typeface="Arial"/>
              </a:rPr>
              <a:t>Hierarchical Clustering:</a:t>
            </a:r>
            <a:endParaRPr sz="2100" b="0" i="0" u="none" strike="noStrike" cap="none" dirty="0">
              <a:solidFill>
                <a:srgbClr val="000000"/>
              </a:solidFill>
              <a:latin typeface="Arial"/>
              <a:ea typeface="Arial"/>
              <a:cs typeface="Arial"/>
              <a:sym typeface="Arial"/>
            </a:endParaRPr>
          </a:p>
          <a:p>
            <a:pPr marL="12700" marR="5080" lvl="0" indent="-114300" algn="l" rtl="0">
              <a:lnSpc>
                <a:spcPct val="150000"/>
              </a:lnSpc>
              <a:spcBef>
                <a:spcPts val="60"/>
              </a:spcBef>
              <a:spcAft>
                <a:spcPts val="0"/>
              </a:spcAft>
              <a:buClr>
                <a:srgbClr val="000000"/>
              </a:buClr>
              <a:buSzPts val="1800"/>
              <a:buFont typeface="Noto Sans Symbols"/>
              <a:buChar char="❑"/>
            </a:pPr>
            <a:r>
              <a:rPr lang="en-US" sz="1900" b="0" i="0" u="none" strike="noStrike" cap="none" dirty="0">
                <a:solidFill>
                  <a:srgbClr val="000000"/>
                </a:solidFill>
                <a:latin typeface="Helvetica Neue"/>
                <a:ea typeface="Helvetica Neue"/>
                <a:cs typeface="Helvetica Neue"/>
                <a:sym typeface="Helvetica Neue"/>
              </a:rPr>
              <a:t>Hierarchical clustering creates a tree of clusters. Hierarchical clustering, not surprisingly, is well suited to hierarchical data, such as taxonomies.</a:t>
            </a:r>
            <a:endParaRPr sz="1900" b="0" i="0" u="none" strike="noStrike" cap="none" dirty="0">
              <a:solidFill>
                <a:srgbClr val="000000"/>
              </a:solidFill>
              <a:latin typeface="Helvetica Neue"/>
              <a:ea typeface="Helvetica Neue"/>
              <a:cs typeface="Helvetica Neue"/>
              <a:sym typeface="Helvetica Neue"/>
            </a:endParaRPr>
          </a:p>
        </p:txBody>
      </p:sp>
      <p:sp>
        <p:nvSpPr>
          <p:cNvPr id="180" name="Google Shape;180;p11"/>
          <p:cNvSpPr txBox="1"/>
          <p:nvPr/>
        </p:nvSpPr>
        <p:spPr>
          <a:xfrm>
            <a:off x="9920595" y="5519369"/>
            <a:ext cx="2271300" cy="506700"/>
          </a:xfrm>
          <a:prstGeom prst="rect">
            <a:avLst/>
          </a:prstGeom>
          <a:noFill/>
          <a:ln>
            <a:noFill/>
          </a:ln>
        </p:spPr>
        <p:txBody>
          <a:bodyPr spcFirstLastPara="1" wrap="square" lIns="0" tIns="13950" rIns="0" bIns="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Fig. 5: Hierarchical tree</a:t>
            </a:r>
            <a:endParaRPr sz="1600" b="0" i="0" u="none" strike="noStrike" cap="none">
              <a:solidFill>
                <a:srgbClr val="000000"/>
              </a:solidFill>
              <a:latin typeface="Arial"/>
              <a:ea typeface="Arial"/>
              <a:cs typeface="Arial"/>
              <a:sym typeface="Arial"/>
            </a:endParaRPr>
          </a:p>
          <a:p>
            <a:pPr marL="58419" marR="0" lvl="0" indent="0" algn="ctr" rtl="0">
              <a:lnSpc>
                <a:spcPct val="100000"/>
              </a:lnSpc>
              <a:spcBef>
                <a:spcPts val="0"/>
              </a:spcBef>
              <a:spcAft>
                <a:spcPts val="0"/>
              </a:spcAft>
              <a:buClr>
                <a:srgbClr val="000000"/>
              </a:buClr>
              <a:buSzPts val="1600"/>
              <a:buFont typeface="Arial"/>
              <a:buNone/>
            </a:pPr>
            <a:r>
              <a:rPr lang="en-US" sz="1600" b="1" i="0" u="none" strike="noStrike" cap="none">
                <a:solidFill>
                  <a:srgbClr val="000000"/>
                </a:solidFill>
                <a:latin typeface="Arial"/>
                <a:ea typeface="Arial"/>
                <a:cs typeface="Arial"/>
                <a:sym typeface="Arial"/>
              </a:rPr>
              <a:t>clustering of animals</a:t>
            </a:r>
            <a:endParaRPr sz="1600" b="0" i="0" u="none" strike="noStrike" cap="none">
              <a:solidFill>
                <a:srgbClr val="000000"/>
              </a:solidFill>
              <a:latin typeface="Arial"/>
              <a:ea typeface="Arial"/>
              <a:cs typeface="Arial"/>
              <a:sym typeface="Arial"/>
            </a:endParaRPr>
          </a:p>
        </p:txBody>
      </p:sp>
      <p:pic>
        <p:nvPicPr>
          <p:cNvPr id="181" name="Google Shape;181;p11"/>
          <p:cNvPicPr preferRelativeResize="0"/>
          <p:nvPr/>
        </p:nvPicPr>
        <p:blipFill rotWithShape="1">
          <a:blip r:embed="rId4">
            <a:alphaModFix/>
          </a:blip>
          <a:srcRect/>
          <a:stretch/>
        </p:blipFill>
        <p:spPr>
          <a:xfrm>
            <a:off x="515625" y="1897380"/>
            <a:ext cx="8765535" cy="4960620"/>
          </a:xfrm>
          <a:prstGeom prst="rect">
            <a:avLst/>
          </a:prstGeom>
          <a:noFill/>
          <a:ln>
            <a:noFill/>
          </a:ln>
        </p:spPr>
      </p:pic>
      <p:sp>
        <p:nvSpPr>
          <p:cNvPr id="182" name="Google Shape;182;p11"/>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11</a:t>
            </a:fld>
            <a:endParaRPr/>
          </a:p>
        </p:txBody>
      </p:sp>
      <p:sp>
        <p:nvSpPr>
          <p:cNvPr id="183" name="Google Shape;183;p11"/>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grpSp>
        <p:nvGrpSpPr>
          <p:cNvPr id="188" name="Google Shape;188;p12"/>
          <p:cNvGrpSpPr/>
          <p:nvPr/>
        </p:nvGrpSpPr>
        <p:grpSpPr>
          <a:xfrm>
            <a:off x="0" y="-25"/>
            <a:ext cx="12192000" cy="490752"/>
            <a:chOff x="0" y="-25"/>
            <a:chExt cx="12192000" cy="490752"/>
          </a:xfrm>
        </p:grpSpPr>
        <p:pic>
          <p:nvPicPr>
            <p:cNvPr id="189" name="Google Shape;189;p12"/>
            <p:cNvPicPr preferRelativeResize="0"/>
            <p:nvPr/>
          </p:nvPicPr>
          <p:blipFill rotWithShape="1">
            <a:blip r:embed="rId3">
              <a:alphaModFix/>
            </a:blip>
            <a:srcRect/>
            <a:stretch/>
          </p:blipFill>
          <p:spPr>
            <a:xfrm>
              <a:off x="0" y="0"/>
              <a:ext cx="3145536" cy="490727"/>
            </a:xfrm>
            <a:prstGeom prst="rect">
              <a:avLst/>
            </a:prstGeom>
            <a:noFill/>
            <a:ln>
              <a:noFill/>
            </a:ln>
          </p:spPr>
        </p:pic>
        <p:sp>
          <p:nvSpPr>
            <p:cNvPr id="190" name="Google Shape;190;p12"/>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1" name="Google Shape;191;p12"/>
          <p:cNvSpPr txBox="1">
            <a:spLocks noGrp="1"/>
          </p:cNvSpPr>
          <p:nvPr>
            <p:ph type="title"/>
          </p:nvPr>
        </p:nvSpPr>
        <p:spPr>
          <a:xfrm>
            <a:off x="78739" y="23825"/>
            <a:ext cx="283591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k-Means Clustering</a:t>
            </a:r>
            <a:endParaRPr/>
          </a:p>
        </p:txBody>
      </p:sp>
      <p:sp>
        <p:nvSpPr>
          <p:cNvPr id="192" name="Google Shape;192;p12"/>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12</a:t>
            </a:fld>
            <a:endParaRPr/>
          </a:p>
        </p:txBody>
      </p:sp>
      <p:sp>
        <p:nvSpPr>
          <p:cNvPr id="193" name="Google Shape;193;p12"/>
          <p:cNvSpPr txBox="1"/>
          <p:nvPr/>
        </p:nvSpPr>
        <p:spPr>
          <a:xfrm>
            <a:off x="47350" y="490725"/>
            <a:ext cx="12067500" cy="6019500"/>
          </a:xfrm>
          <a:prstGeom prst="rect">
            <a:avLst/>
          </a:prstGeom>
          <a:noFill/>
          <a:ln>
            <a:noFill/>
          </a:ln>
        </p:spPr>
        <p:txBody>
          <a:bodyPr spcFirstLastPara="1" wrap="square" lIns="0" tIns="12700" rIns="0" bIns="0" anchor="t" anchorCtr="0">
            <a:spAutoFit/>
          </a:bodyPr>
          <a:lstStyle/>
          <a:p>
            <a:pPr marL="12700" marR="7620" lvl="0" indent="-117475" algn="just" rtl="0">
              <a:lnSpc>
                <a:spcPct val="150100"/>
              </a:lnSpc>
              <a:spcBef>
                <a:spcPts val="0"/>
              </a:spcBef>
              <a:spcAft>
                <a:spcPts val="0"/>
              </a:spcAft>
              <a:buClr>
                <a:srgbClr val="FF0000"/>
              </a:buClr>
              <a:buSzPts val="1850"/>
              <a:buFont typeface="Noto Sans Symbols"/>
              <a:buChar char="❑"/>
            </a:pPr>
            <a:r>
              <a:rPr lang="en-US" sz="2000" b="1" i="0" u="none" strike="noStrike" cap="none">
                <a:solidFill>
                  <a:srgbClr val="FF0000"/>
                </a:solidFill>
                <a:latin typeface="Arial"/>
                <a:ea typeface="Arial"/>
                <a:cs typeface="Arial"/>
                <a:sym typeface="Arial"/>
              </a:rPr>
              <a:t>K-Means Clustering</a:t>
            </a:r>
            <a:r>
              <a:rPr lang="en-US" sz="2000" b="1" i="0" u="none" strike="noStrike" cap="none">
                <a:solidFill>
                  <a:srgbClr val="000000"/>
                </a:solidFill>
                <a:latin typeface="Arial"/>
                <a:ea typeface="Arial"/>
                <a:cs typeface="Arial"/>
                <a:sym typeface="Arial"/>
              </a:rPr>
              <a:t>: </a:t>
            </a:r>
            <a:r>
              <a:rPr lang="en-US" sz="2000" b="0" i="0" u="none" strike="noStrike" cap="none">
                <a:solidFill>
                  <a:srgbClr val="000000"/>
                </a:solidFill>
                <a:latin typeface="Helvetica Neue"/>
                <a:ea typeface="Helvetica Neue"/>
                <a:cs typeface="Helvetica Neue"/>
                <a:sym typeface="Helvetica Neue"/>
              </a:rPr>
              <a:t>K-means is clustering technique based on mean of the cluster and the number of cluster K, in this method distance measure play an important role, it can be applied to create and adjust cluster.</a:t>
            </a:r>
            <a:endParaRPr sz="2000" b="0" i="0" u="none" strike="noStrike" cap="none">
              <a:solidFill>
                <a:srgbClr val="000000"/>
              </a:solidFill>
              <a:latin typeface="Helvetica Neue"/>
              <a:ea typeface="Helvetica Neue"/>
              <a:cs typeface="Helvetica Neue"/>
              <a:sym typeface="Helvetica Neue"/>
            </a:endParaRPr>
          </a:p>
          <a:p>
            <a:pPr marL="237490" marR="0" lvl="0" indent="-233679" algn="just" rtl="0">
              <a:lnSpc>
                <a:spcPct val="100000"/>
              </a:lnSpc>
              <a:spcBef>
                <a:spcPts val="1205"/>
              </a:spcBef>
              <a:spcAft>
                <a:spcPts val="0"/>
              </a:spcAft>
              <a:buClr>
                <a:srgbClr val="FF0000"/>
              </a:buClr>
              <a:buSzPts val="1850"/>
              <a:buFont typeface="Noto Sans Symbols"/>
              <a:buChar char="❑"/>
            </a:pPr>
            <a:r>
              <a:rPr lang="en-US" sz="2000" b="1" i="0" u="none" strike="noStrike" cap="none">
                <a:solidFill>
                  <a:srgbClr val="FF0000"/>
                </a:solidFill>
                <a:latin typeface="Arial"/>
                <a:ea typeface="Arial"/>
                <a:cs typeface="Arial"/>
                <a:sym typeface="Arial"/>
              </a:rPr>
              <a:t>Clustering</a:t>
            </a:r>
            <a:r>
              <a:rPr lang="en-US" sz="2000" b="1" i="0" u="none" strike="noStrike" cap="none">
                <a:solidFill>
                  <a:srgbClr val="000000"/>
                </a:solidFill>
                <a:latin typeface="Arial"/>
                <a:ea typeface="Arial"/>
                <a:cs typeface="Arial"/>
                <a:sym typeface="Arial"/>
              </a:rPr>
              <a:t>: </a:t>
            </a:r>
            <a:r>
              <a:rPr lang="en-US" sz="2000" b="0" i="0" u="none" strike="noStrike" cap="none">
                <a:solidFill>
                  <a:srgbClr val="000000"/>
                </a:solidFill>
                <a:latin typeface="Helvetica Neue"/>
                <a:ea typeface="Helvetica Neue"/>
                <a:cs typeface="Helvetica Neue"/>
                <a:sym typeface="Helvetica Neue"/>
              </a:rPr>
              <a:t>When we collect, capture, generate, or create (through experiment, from  archives) the</a:t>
            </a:r>
            <a:endParaRPr sz="20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200"/>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dataset, our primary focus is on the attributes and behavior of the data.</a:t>
            </a:r>
            <a:endParaRPr sz="2000" b="0" i="0" u="none" strike="noStrike" cap="none">
              <a:solidFill>
                <a:srgbClr val="000000"/>
              </a:solidFill>
              <a:latin typeface="Helvetica Neue"/>
              <a:ea typeface="Helvetica Neue"/>
              <a:cs typeface="Helvetica Neue"/>
              <a:sym typeface="Helvetica Neue"/>
            </a:endParaRPr>
          </a:p>
          <a:p>
            <a:pPr marL="238125" marR="0" lvl="0" indent="-233678" algn="just" rtl="0">
              <a:lnSpc>
                <a:spcPct val="100000"/>
              </a:lnSpc>
              <a:spcBef>
                <a:spcPts val="1200"/>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Generally we choose specific dataset to solve the issues on that particular area (i.e. medical, signals,</a:t>
            </a:r>
            <a:endParaRPr sz="20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205"/>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recommender system, business analytics).</a:t>
            </a:r>
            <a:endParaRPr sz="2000" b="0" i="0" u="none" strike="noStrike" cap="none">
              <a:solidFill>
                <a:srgbClr val="000000"/>
              </a:solidFill>
              <a:latin typeface="Helvetica Neue"/>
              <a:ea typeface="Helvetica Neue"/>
              <a:cs typeface="Helvetica Neue"/>
              <a:sym typeface="Helvetica Neue"/>
            </a:endParaRPr>
          </a:p>
          <a:p>
            <a:pPr marL="238125" marR="0" lvl="0" indent="-233679" algn="just" rtl="0">
              <a:lnSpc>
                <a:spcPct val="100000"/>
              </a:lnSpc>
              <a:spcBef>
                <a:spcPts val="1200"/>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The focused attributes of dataset are known as the features.</a:t>
            </a:r>
            <a:endParaRPr sz="2000" b="0" i="0" u="none" strike="noStrike" cap="none">
              <a:solidFill>
                <a:srgbClr val="000000"/>
              </a:solidFill>
              <a:latin typeface="Helvetica Neue"/>
              <a:ea typeface="Helvetica Neue"/>
              <a:cs typeface="Helvetica Neue"/>
              <a:sym typeface="Helvetica Neue"/>
            </a:endParaRPr>
          </a:p>
          <a:p>
            <a:pPr marL="238125" marR="0" lvl="0" indent="-233679" algn="just" rtl="0">
              <a:lnSpc>
                <a:spcPct val="100000"/>
              </a:lnSpc>
              <a:spcBef>
                <a:spcPts val="1200"/>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From the dataset we study and observe the data for learning.</a:t>
            </a:r>
            <a:endParaRPr sz="2000" b="0" i="0" u="none" strike="noStrike" cap="none">
              <a:solidFill>
                <a:srgbClr val="000000"/>
              </a:solidFill>
              <a:latin typeface="Helvetica Neue"/>
              <a:ea typeface="Helvetica Neue"/>
              <a:cs typeface="Helvetica Neue"/>
              <a:sym typeface="Helvetica Neue"/>
            </a:endParaRPr>
          </a:p>
          <a:p>
            <a:pPr marL="237490" marR="0" lvl="0" indent="-233679" algn="just" rtl="0">
              <a:lnSpc>
                <a:spcPct val="100000"/>
              </a:lnSpc>
              <a:spcBef>
                <a:spcPts val="1205"/>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If the features of the dataset are with labels (like yes/no, 0/1) then we applied supervised technique for</a:t>
            </a:r>
            <a:endParaRPr sz="20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200"/>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learning.</a:t>
            </a:r>
            <a:endParaRPr sz="2000" b="0" i="0" u="none" strike="noStrike" cap="none">
              <a:solidFill>
                <a:srgbClr val="000000"/>
              </a:solidFill>
              <a:latin typeface="Helvetica Neue"/>
              <a:ea typeface="Helvetica Neue"/>
              <a:cs typeface="Helvetica Neue"/>
              <a:sym typeface="Helvetica Neue"/>
            </a:endParaRPr>
          </a:p>
          <a:p>
            <a:pPr marL="238125" marR="0" lvl="0" indent="-233679" algn="just" rtl="0">
              <a:lnSpc>
                <a:spcPct val="100000"/>
              </a:lnSpc>
              <a:spcBef>
                <a:spcPts val="1200"/>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If label is absent in feature vector then unsupervised techniques (clustering) can be applied for machine</a:t>
            </a:r>
            <a:endParaRPr sz="20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205"/>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learning.</a:t>
            </a:r>
            <a:endParaRPr sz="2000" b="0" i="0" u="none" strike="noStrike" cap="none">
              <a:solidFill>
                <a:srgbClr val="000000"/>
              </a:solidFill>
              <a:latin typeface="Helvetica Neue"/>
              <a:ea typeface="Helvetica Neue"/>
              <a:cs typeface="Helvetica Neue"/>
              <a:sym typeface="Helvetica Neue"/>
            </a:endParaRPr>
          </a:p>
        </p:txBody>
      </p:sp>
      <p:sp>
        <p:nvSpPr>
          <p:cNvPr id="194" name="Google Shape;194;p12"/>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grpSp>
        <p:nvGrpSpPr>
          <p:cNvPr id="199" name="Google Shape;199;p13"/>
          <p:cNvGrpSpPr/>
          <p:nvPr/>
        </p:nvGrpSpPr>
        <p:grpSpPr>
          <a:xfrm>
            <a:off x="0" y="-25"/>
            <a:ext cx="12192000" cy="490752"/>
            <a:chOff x="0" y="-25"/>
            <a:chExt cx="12192000" cy="490752"/>
          </a:xfrm>
        </p:grpSpPr>
        <p:pic>
          <p:nvPicPr>
            <p:cNvPr id="200" name="Google Shape;200;p13"/>
            <p:cNvPicPr preferRelativeResize="0"/>
            <p:nvPr/>
          </p:nvPicPr>
          <p:blipFill rotWithShape="1">
            <a:blip r:embed="rId3">
              <a:alphaModFix/>
            </a:blip>
            <a:srcRect/>
            <a:stretch/>
          </p:blipFill>
          <p:spPr>
            <a:xfrm>
              <a:off x="0" y="0"/>
              <a:ext cx="3145536" cy="490727"/>
            </a:xfrm>
            <a:prstGeom prst="rect">
              <a:avLst/>
            </a:prstGeom>
            <a:noFill/>
            <a:ln>
              <a:noFill/>
            </a:ln>
          </p:spPr>
        </p:pic>
        <p:sp>
          <p:nvSpPr>
            <p:cNvPr id="201" name="Google Shape;201;p13"/>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02" name="Google Shape;202;p13"/>
          <p:cNvSpPr txBox="1">
            <a:spLocks noGrp="1"/>
          </p:cNvSpPr>
          <p:nvPr>
            <p:ph type="title"/>
          </p:nvPr>
        </p:nvSpPr>
        <p:spPr>
          <a:xfrm>
            <a:off x="78739" y="23825"/>
            <a:ext cx="283591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k-Means Clustering</a:t>
            </a:r>
            <a:endParaRPr/>
          </a:p>
        </p:txBody>
      </p:sp>
      <p:sp>
        <p:nvSpPr>
          <p:cNvPr id="203" name="Google Shape;203;p13"/>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13</a:t>
            </a:fld>
            <a:endParaRPr/>
          </a:p>
        </p:txBody>
      </p:sp>
      <p:sp>
        <p:nvSpPr>
          <p:cNvPr id="204" name="Google Shape;204;p13"/>
          <p:cNvSpPr txBox="1"/>
          <p:nvPr/>
        </p:nvSpPr>
        <p:spPr>
          <a:xfrm>
            <a:off x="47345" y="266859"/>
            <a:ext cx="12072620" cy="3548379"/>
          </a:xfrm>
          <a:prstGeom prst="rect">
            <a:avLst/>
          </a:prstGeom>
          <a:noFill/>
          <a:ln>
            <a:noFill/>
          </a:ln>
        </p:spPr>
        <p:txBody>
          <a:bodyPr spcFirstLastPara="1" wrap="square" lIns="0" tIns="180975" rIns="0" bIns="0" anchor="t" anchorCtr="0">
            <a:spAutoFit/>
          </a:bodyPr>
          <a:lstStyle/>
          <a:p>
            <a:pPr marL="261620" marR="0" lvl="0" indent="-250825" algn="l" rtl="0">
              <a:lnSpc>
                <a:spcPct val="100000"/>
              </a:lnSpc>
              <a:spcBef>
                <a:spcPts val="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Clustering in the process of organizing the objects (data points) in a collection, on the basis of</a:t>
            </a:r>
            <a:endParaRPr sz="22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320"/>
              </a:spcBef>
              <a:spcAft>
                <a:spcPts val="0"/>
              </a:spcAft>
              <a:buClr>
                <a:srgbClr val="000000"/>
              </a:buClr>
              <a:buSzPts val="2200"/>
              <a:buFont typeface="Arial"/>
              <a:buNone/>
            </a:pPr>
            <a:r>
              <a:rPr lang="en-US" sz="2200" b="0" i="0" u="none" strike="noStrike" cap="none">
                <a:solidFill>
                  <a:srgbClr val="000000"/>
                </a:solidFill>
                <a:latin typeface="Helvetica Neue"/>
                <a:ea typeface="Helvetica Neue"/>
                <a:cs typeface="Helvetica Neue"/>
                <a:sym typeface="Helvetica Neue"/>
              </a:rPr>
              <a:t>similarities of the features.</a:t>
            </a:r>
            <a:endParaRPr sz="2200" b="0" i="0" u="none" strike="noStrike" cap="none">
              <a:solidFill>
                <a:srgbClr val="000000"/>
              </a:solidFill>
              <a:latin typeface="Helvetica Neue"/>
              <a:ea typeface="Helvetica Neue"/>
              <a:cs typeface="Helvetica Neue"/>
              <a:sym typeface="Helvetica Neue"/>
            </a:endParaRPr>
          </a:p>
          <a:p>
            <a:pPr marL="262255" marR="0" lvl="0" indent="-250825" algn="l" rtl="0">
              <a:lnSpc>
                <a:spcPct val="100000"/>
              </a:lnSpc>
              <a:spcBef>
                <a:spcPts val="132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We can create the cluster according to the similar properties of instances in dataset.</a:t>
            </a:r>
            <a:endParaRPr sz="2200" b="0" i="0" u="none" strike="noStrike" cap="none">
              <a:solidFill>
                <a:srgbClr val="000000"/>
              </a:solidFill>
              <a:latin typeface="Helvetica Neue"/>
              <a:ea typeface="Helvetica Neue"/>
              <a:cs typeface="Helvetica Neue"/>
              <a:sym typeface="Helvetica Neue"/>
            </a:endParaRPr>
          </a:p>
          <a:p>
            <a:pPr marL="12700" marR="5080" lvl="0" indent="-133350" algn="l" rtl="0">
              <a:lnSpc>
                <a:spcPct val="150100"/>
              </a:lnSpc>
              <a:spcBef>
                <a:spcPts val="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	Before crating cluster, first we observe the dataset for its attributes and instances, according to observed similarities and dissimilarities we are able to define the number of clusters primarily.</a:t>
            </a:r>
            <a:endParaRPr sz="2200" b="0" i="0" u="none" strike="noStrike" cap="none">
              <a:solidFill>
                <a:srgbClr val="000000"/>
              </a:solidFill>
              <a:latin typeface="Helvetica Neue"/>
              <a:ea typeface="Helvetica Neue"/>
              <a:cs typeface="Helvetica Neue"/>
              <a:sym typeface="Helvetica Neue"/>
            </a:endParaRPr>
          </a:p>
          <a:p>
            <a:pPr marL="12700" marR="7620" lvl="0" indent="-133350" algn="l" rtl="0">
              <a:lnSpc>
                <a:spcPct val="150000"/>
              </a:lnSpc>
              <a:spcBef>
                <a:spcPts val="5"/>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	After that we need to adjust the cluster using distance matrix, centroid, inter-cluster similarities and intra-cluster dissimilarities.</a:t>
            </a:r>
            <a:endParaRPr sz="2200" b="0" i="0" u="none" strike="noStrike" cap="none">
              <a:solidFill>
                <a:srgbClr val="000000"/>
              </a:solidFill>
              <a:latin typeface="Helvetica Neue"/>
              <a:ea typeface="Helvetica Neue"/>
              <a:cs typeface="Helvetica Neue"/>
              <a:sym typeface="Helvetica Neue"/>
            </a:endParaRPr>
          </a:p>
        </p:txBody>
      </p:sp>
      <p:sp>
        <p:nvSpPr>
          <p:cNvPr id="205" name="Google Shape;205;p13"/>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pSp>
        <p:nvGrpSpPr>
          <p:cNvPr id="210" name="Google Shape;210;p14"/>
          <p:cNvGrpSpPr/>
          <p:nvPr/>
        </p:nvGrpSpPr>
        <p:grpSpPr>
          <a:xfrm>
            <a:off x="0" y="-25"/>
            <a:ext cx="12192000" cy="490752"/>
            <a:chOff x="0" y="-25"/>
            <a:chExt cx="12192000" cy="490752"/>
          </a:xfrm>
        </p:grpSpPr>
        <p:pic>
          <p:nvPicPr>
            <p:cNvPr id="211" name="Google Shape;211;p14"/>
            <p:cNvPicPr preferRelativeResize="0"/>
            <p:nvPr/>
          </p:nvPicPr>
          <p:blipFill rotWithShape="1">
            <a:blip r:embed="rId3">
              <a:alphaModFix/>
            </a:blip>
            <a:srcRect/>
            <a:stretch/>
          </p:blipFill>
          <p:spPr>
            <a:xfrm>
              <a:off x="0" y="0"/>
              <a:ext cx="3145536" cy="490727"/>
            </a:xfrm>
            <a:prstGeom prst="rect">
              <a:avLst/>
            </a:prstGeom>
            <a:noFill/>
            <a:ln>
              <a:noFill/>
            </a:ln>
          </p:spPr>
        </p:pic>
        <p:sp>
          <p:nvSpPr>
            <p:cNvPr id="212" name="Google Shape;212;p14"/>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3" name="Google Shape;213;p14"/>
          <p:cNvSpPr txBox="1">
            <a:spLocks noGrp="1"/>
          </p:cNvSpPr>
          <p:nvPr>
            <p:ph type="title"/>
          </p:nvPr>
        </p:nvSpPr>
        <p:spPr>
          <a:xfrm>
            <a:off x="78739" y="23825"/>
            <a:ext cx="283591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k-Means Clustering</a:t>
            </a:r>
            <a:endParaRPr/>
          </a:p>
        </p:txBody>
      </p:sp>
      <p:sp>
        <p:nvSpPr>
          <p:cNvPr id="214" name="Google Shape;214;p14"/>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14</a:t>
            </a:fld>
            <a:endParaRPr/>
          </a:p>
        </p:txBody>
      </p:sp>
      <p:sp>
        <p:nvSpPr>
          <p:cNvPr id="215" name="Google Shape;215;p14"/>
          <p:cNvSpPr txBox="1"/>
          <p:nvPr/>
        </p:nvSpPr>
        <p:spPr>
          <a:xfrm>
            <a:off x="47345" y="266859"/>
            <a:ext cx="12071985" cy="4554855"/>
          </a:xfrm>
          <a:prstGeom prst="rect">
            <a:avLst/>
          </a:prstGeom>
          <a:noFill/>
          <a:ln>
            <a:noFill/>
          </a:ln>
        </p:spPr>
        <p:txBody>
          <a:bodyPr spcFirstLastPara="1" wrap="square" lIns="0" tIns="180975" rIns="0" bIns="0" anchor="t" anchorCtr="0">
            <a:spAutoFit/>
          </a:bodyPr>
          <a:lstStyle/>
          <a:p>
            <a:pPr marL="261620" marR="0" lvl="0" indent="-261620" algn="l" rtl="0">
              <a:lnSpc>
                <a:spcPct val="100000"/>
              </a:lnSpc>
              <a:spcBef>
                <a:spcPts val="0"/>
              </a:spcBef>
              <a:spcAft>
                <a:spcPts val="0"/>
              </a:spcAft>
              <a:buClr>
                <a:srgbClr val="FF0000"/>
              </a:buClr>
              <a:buSzPts val="2100"/>
              <a:buFont typeface="Noto Sans Symbols"/>
              <a:buChar char="❑"/>
            </a:pPr>
            <a:r>
              <a:rPr lang="en-US" sz="2200" b="1" i="0" u="none" strike="noStrike" cap="none">
                <a:solidFill>
                  <a:srgbClr val="FF0000"/>
                </a:solidFill>
                <a:latin typeface="Arial"/>
                <a:ea typeface="Arial"/>
                <a:cs typeface="Arial"/>
                <a:sym typeface="Arial"/>
              </a:rPr>
              <a:t>K-Means	Clustering</a:t>
            </a:r>
            <a:r>
              <a:rPr lang="en-US" sz="2200" b="1" i="0" u="none" strike="noStrike" cap="none">
                <a:solidFill>
                  <a:srgbClr val="000000"/>
                </a:solidFill>
                <a:latin typeface="Arial"/>
                <a:ea typeface="Arial"/>
                <a:cs typeface="Arial"/>
                <a:sym typeface="Arial"/>
              </a:rPr>
              <a:t>:	</a:t>
            </a:r>
            <a:r>
              <a:rPr lang="en-US" sz="2200" b="0" i="0" u="none" strike="noStrike" cap="none">
                <a:solidFill>
                  <a:srgbClr val="000000"/>
                </a:solidFill>
                <a:latin typeface="Helvetica Neue"/>
                <a:ea typeface="Helvetica Neue"/>
                <a:cs typeface="Helvetica Neue"/>
                <a:sym typeface="Helvetica Neue"/>
              </a:rPr>
              <a:t>K-means	clustering	has	been	applied	for	clustering	of	the	unlabeled</a:t>
            </a:r>
            <a:endParaRPr sz="22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320"/>
              </a:spcBef>
              <a:spcAft>
                <a:spcPts val="0"/>
              </a:spcAft>
              <a:buClr>
                <a:srgbClr val="000000"/>
              </a:buClr>
              <a:buSzPts val="2200"/>
              <a:buFont typeface="Arial"/>
              <a:buNone/>
            </a:pPr>
            <a:r>
              <a:rPr lang="en-US" sz="2200" b="0" i="0" u="none" strike="noStrike" cap="none">
                <a:solidFill>
                  <a:srgbClr val="000000"/>
                </a:solidFill>
                <a:latin typeface="Helvetica Neue"/>
                <a:ea typeface="Helvetica Neue"/>
                <a:cs typeface="Helvetica Neue"/>
                <a:sym typeface="Helvetica Neue"/>
              </a:rPr>
              <a:t>dataset with proper dimension.</a:t>
            </a:r>
            <a:endParaRPr sz="2200" b="0" i="0" u="none" strike="noStrike" cap="none">
              <a:solidFill>
                <a:srgbClr val="000000"/>
              </a:solidFill>
              <a:latin typeface="Helvetica Neue"/>
              <a:ea typeface="Helvetica Neue"/>
              <a:cs typeface="Helvetica Neue"/>
              <a:sym typeface="Helvetica Neue"/>
            </a:endParaRPr>
          </a:p>
          <a:p>
            <a:pPr marL="262255" marR="0" lvl="0" indent="-261619" algn="l" rtl="0">
              <a:lnSpc>
                <a:spcPct val="100000"/>
              </a:lnSpc>
              <a:spcBef>
                <a:spcPts val="132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According to name of this algorithm, k is the number of cluster and mean is the centroid of the</a:t>
            </a:r>
            <a:endParaRPr sz="22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325"/>
              </a:spcBef>
              <a:spcAft>
                <a:spcPts val="0"/>
              </a:spcAft>
              <a:buClr>
                <a:srgbClr val="000000"/>
              </a:buClr>
              <a:buSzPts val="2200"/>
              <a:buFont typeface="Arial"/>
              <a:buNone/>
            </a:pPr>
            <a:r>
              <a:rPr lang="en-US" sz="2200" b="0" i="0" u="none" strike="noStrike" cap="none">
                <a:solidFill>
                  <a:srgbClr val="000000"/>
                </a:solidFill>
                <a:latin typeface="Helvetica Neue"/>
                <a:ea typeface="Helvetica Neue"/>
                <a:cs typeface="Helvetica Neue"/>
                <a:sym typeface="Helvetica Neue"/>
              </a:rPr>
              <a:t>cluster.</a:t>
            </a:r>
            <a:endParaRPr sz="2200" b="0" i="0" u="none" strike="noStrike" cap="none">
              <a:solidFill>
                <a:srgbClr val="000000"/>
              </a:solidFill>
              <a:latin typeface="Helvetica Neue"/>
              <a:ea typeface="Helvetica Neue"/>
              <a:cs typeface="Helvetica Neue"/>
              <a:sym typeface="Helvetica Neue"/>
            </a:endParaRPr>
          </a:p>
          <a:p>
            <a:pPr marL="261620" marR="0" lvl="0" indent="-261620" algn="l" rtl="0">
              <a:lnSpc>
                <a:spcPct val="100000"/>
              </a:lnSpc>
              <a:spcBef>
                <a:spcPts val="132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Two important criterion of K-means algorithm are, number of cluster k and mean of the data</a:t>
            </a:r>
            <a:endParaRPr sz="22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325"/>
              </a:spcBef>
              <a:spcAft>
                <a:spcPts val="0"/>
              </a:spcAft>
              <a:buClr>
                <a:srgbClr val="000000"/>
              </a:buClr>
              <a:buSzPts val="2200"/>
              <a:buFont typeface="Arial"/>
              <a:buNone/>
            </a:pPr>
            <a:r>
              <a:rPr lang="en-US" sz="2200" b="0" i="0" u="none" strike="noStrike" cap="none">
                <a:solidFill>
                  <a:srgbClr val="000000"/>
                </a:solidFill>
                <a:latin typeface="Helvetica Neue"/>
                <a:ea typeface="Helvetica Neue"/>
                <a:cs typeface="Helvetica Neue"/>
                <a:sym typeface="Helvetica Neue"/>
              </a:rPr>
              <a:t>points within the cluster, known as centroid (for each clusters there is individual centroid).</a:t>
            </a:r>
            <a:endParaRPr sz="2200" b="0" i="0" u="none" strike="noStrike" cap="none">
              <a:solidFill>
                <a:srgbClr val="000000"/>
              </a:solidFill>
              <a:latin typeface="Helvetica Neue"/>
              <a:ea typeface="Helvetica Neue"/>
              <a:cs typeface="Helvetica Neue"/>
              <a:sym typeface="Helvetica Neue"/>
            </a:endParaRPr>
          </a:p>
          <a:p>
            <a:pPr marL="262255" marR="0" lvl="0" indent="-261619" algn="l" rtl="0">
              <a:lnSpc>
                <a:spcPct val="100000"/>
              </a:lnSpc>
              <a:spcBef>
                <a:spcPts val="132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Third important criterion for this method is distance matrix.</a:t>
            </a:r>
            <a:endParaRPr sz="2200" b="0" i="0" u="none" strike="noStrike" cap="none">
              <a:solidFill>
                <a:srgbClr val="000000"/>
              </a:solidFill>
              <a:latin typeface="Helvetica Neue"/>
              <a:ea typeface="Helvetica Neue"/>
              <a:cs typeface="Helvetica Neue"/>
              <a:sym typeface="Helvetica Neue"/>
            </a:endParaRPr>
          </a:p>
          <a:p>
            <a:pPr marL="12700" marR="13334" lvl="0" indent="-133350" algn="l" rtl="0">
              <a:lnSpc>
                <a:spcPct val="150100"/>
              </a:lnSpc>
              <a:spcBef>
                <a:spcPts val="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	To	create	cluster	at	initial	stage	we	can	measure	the	similarity	between	the	instances	of dataset, using distance matrix or similarity measures.</a:t>
            </a:r>
            <a:endParaRPr sz="2200" b="0" i="0" u="none" strike="noStrike" cap="none">
              <a:solidFill>
                <a:srgbClr val="000000"/>
              </a:solidFill>
              <a:latin typeface="Helvetica Neue"/>
              <a:ea typeface="Helvetica Neue"/>
              <a:cs typeface="Helvetica Neue"/>
              <a:sym typeface="Helvetica Neue"/>
            </a:endParaRPr>
          </a:p>
        </p:txBody>
      </p:sp>
      <p:sp>
        <p:nvSpPr>
          <p:cNvPr id="216" name="Google Shape;216;p14"/>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grpSp>
        <p:nvGrpSpPr>
          <p:cNvPr id="221" name="Google Shape;221;p15"/>
          <p:cNvGrpSpPr/>
          <p:nvPr/>
        </p:nvGrpSpPr>
        <p:grpSpPr>
          <a:xfrm>
            <a:off x="0" y="-25"/>
            <a:ext cx="12192000" cy="490752"/>
            <a:chOff x="0" y="-25"/>
            <a:chExt cx="12192000" cy="490752"/>
          </a:xfrm>
        </p:grpSpPr>
        <p:pic>
          <p:nvPicPr>
            <p:cNvPr id="222" name="Google Shape;222;p15"/>
            <p:cNvPicPr preferRelativeResize="0"/>
            <p:nvPr/>
          </p:nvPicPr>
          <p:blipFill rotWithShape="1">
            <a:blip r:embed="rId3">
              <a:alphaModFix/>
            </a:blip>
            <a:srcRect/>
            <a:stretch/>
          </p:blipFill>
          <p:spPr>
            <a:xfrm>
              <a:off x="0" y="0"/>
              <a:ext cx="3145536" cy="490727"/>
            </a:xfrm>
            <a:prstGeom prst="rect">
              <a:avLst/>
            </a:prstGeom>
            <a:noFill/>
            <a:ln>
              <a:noFill/>
            </a:ln>
          </p:spPr>
        </p:pic>
        <p:sp>
          <p:nvSpPr>
            <p:cNvPr id="223" name="Google Shape;223;p15"/>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4" name="Google Shape;224;p15"/>
          <p:cNvSpPr txBox="1">
            <a:spLocks noGrp="1"/>
          </p:cNvSpPr>
          <p:nvPr>
            <p:ph type="title"/>
          </p:nvPr>
        </p:nvSpPr>
        <p:spPr>
          <a:xfrm>
            <a:off x="78739" y="23825"/>
            <a:ext cx="283591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k-Means Clustering</a:t>
            </a:r>
            <a:endParaRPr/>
          </a:p>
        </p:txBody>
      </p:sp>
      <p:sp>
        <p:nvSpPr>
          <p:cNvPr id="225" name="Google Shape;225;p15"/>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15</a:t>
            </a:fld>
            <a:endParaRPr/>
          </a:p>
        </p:txBody>
      </p:sp>
      <p:sp>
        <p:nvSpPr>
          <p:cNvPr id="226" name="Google Shape;226;p15"/>
          <p:cNvSpPr txBox="1"/>
          <p:nvPr/>
        </p:nvSpPr>
        <p:spPr>
          <a:xfrm>
            <a:off x="53339" y="288620"/>
            <a:ext cx="11919585" cy="5560695"/>
          </a:xfrm>
          <a:prstGeom prst="rect">
            <a:avLst/>
          </a:prstGeom>
          <a:noFill/>
          <a:ln>
            <a:noFill/>
          </a:ln>
        </p:spPr>
        <p:txBody>
          <a:bodyPr spcFirstLastPara="1" wrap="square" lIns="0" tIns="180325" rIns="0" bIns="0" anchor="t" anchorCtr="0">
            <a:spAutoFit/>
          </a:bodyPr>
          <a:lstStyle/>
          <a:p>
            <a:pPr marL="287655" marR="0" lvl="0" indent="-250825" algn="l" rtl="0">
              <a:lnSpc>
                <a:spcPct val="100000"/>
              </a:lnSpc>
              <a:spcBef>
                <a:spcPts val="0"/>
              </a:spcBef>
              <a:spcAft>
                <a:spcPts val="0"/>
              </a:spcAft>
              <a:buClr>
                <a:srgbClr val="FF0000"/>
              </a:buClr>
              <a:buSzPts val="2100"/>
              <a:buFont typeface="Noto Sans Symbols"/>
              <a:buChar char="❑"/>
            </a:pPr>
            <a:r>
              <a:rPr lang="en-US" sz="2200" b="0" i="0" u="none" strike="noStrike" cap="none">
                <a:solidFill>
                  <a:srgbClr val="FF0000"/>
                </a:solidFill>
                <a:latin typeface="Helvetica Neue"/>
                <a:ea typeface="Helvetica Neue"/>
                <a:cs typeface="Helvetica Neue"/>
                <a:sym typeface="Helvetica Neue"/>
              </a:rPr>
              <a:t>Following steps can be applied for K-Means clustering</a:t>
            </a:r>
            <a:r>
              <a:rPr lang="en-US" sz="2200" b="0" i="0" u="none" strike="noStrike" cap="none">
                <a:solidFill>
                  <a:srgbClr val="000000"/>
                </a:solidFill>
                <a:latin typeface="Helvetica Neue"/>
                <a:ea typeface="Helvetica Neue"/>
                <a:cs typeface="Helvetica Neue"/>
                <a:sym typeface="Helvetica Neue"/>
              </a:rPr>
              <a:t>:</a:t>
            </a:r>
            <a:endParaRPr sz="2200" b="0" i="0" u="none" strike="noStrike" cap="none">
              <a:solidFill>
                <a:srgbClr val="000000"/>
              </a:solidFill>
              <a:latin typeface="Helvetica Neue"/>
              <a:ea typeface="Helvetica Neue"/>
              <a:cs typeface="Helvetica Neue"/>
              <a:sym typeface="Helvetica Neue"/>
            </a:endParaRPr>
          </a:p>
          <a:p>
            <a:pPr marL="38100" marR="0" lvl="0" indent="0" algn="l" rtl="0">
              <a:lnSpc>
                <a:spcPct val="100000"/>
              </a:lnSpc>
              <a:spcBef>
                <a:spcPts val="1325"/>
              </a:spcBef>
              <a:spcAft>
                <a:spcPts val="0"/>
              </a:spcAft>
              <a:buClr>
                <a:srgbClr val="000000"/>
              </a:buClr>
              <a:buSzPts val="2200"/>
              <a:buFont typeface="Arial"/>
              <a:buNone/>
            </a:pPr>
            <a:r>
              <a:rPr lang="en-US" sz="2200" b="1" i="0" u="none" strike="noStrike" cap="none">
                <a:solidFill>
                  <a:srgbClr val="000000"/>
                </a:solidFill>
                <a:latin typeface="Arial"/>
                <a:ea typeface="Arial"/>
                <a:cs typeface="Arial"/>
                <a:sym typeface="Arial"/>
              </a:rPr>
              <a:t>Step 1: </a:t>
            </a:r>
            <a:r>
              <a:rPr lang="en-US" sz="2200" b="0" i="0" u="none" strike="noStrike" cap="none">
                <a:solidFill>
                  <a:srgbClr val="000000"/>
                </a:solidFill>
                <a:latin typeface="Helvetica Neue"/>
                <a:ea typeface="Helvetica Neue"/>
                <a:cs typeface="Helvetica Neue"/>
                <a:sym typeface="Helvetica Neue"/>
              </a:rPr>
              <a:t>Fix on the number K(cluster), based on behavior size and properties of dataset.</a:t>
            </a:r>
            <a:endParaRPr sz="2200" b="0" i="0" u="none" strike="noStrike" cap="none">
              <a:solidFill>
                <a:srgbClr val="000000"/>
              </a:solidFill>
              <a:latin typeface="Helvetica Neue"/>
              <a:ea typeface="Helvetica Neue"/>
              <a:cs typeface="Helvetica Neue"/>
              <a:sym typeface="Helvetica Neue"/>
            </a:endParaRPr>
          </a:p>
          <a:p>
            <a:pPr marL="38100" marR="0" lvl="0" indent="0" algn="l" rtl="0">
              <a:lnSpc>
                <a:spcPct val="100000"/>
              </a:lnSpc>
              <a:spcBef>
                <a:spcPts val="1320"/>
              </a:spcBef>
              <a:spcAft>
                <a:spcPts val="0"/>
              </a:spcAft>
              <a:buClr>
                <a:srgbClr val="000000"/>
              </a:buClr>
              <a:buSzPts val="2200"/>
              <a:buFont typeface="Arial"/>
              <a:buNone/>
            </a:pPr>
            <a:r>
              <a:rPr lang="en-US" sz="2200" b="1" i="0" u="none" strike="noStrike" cap="none">
                <a:solidFill>
                  <a:srgbClr val="000000"/>
                </a:solidFill>
                <a:latin typeface="Arial"/>
                <a:ea typeface="Arial"/>
                <a:cs typeface="Arial"/>
                <a:sym typeface="Arial"/>
              </a:rPr>
              <a:t>Step 2: </a:t>
            </a:r>
            <a:r>
              <a:rPr lang="en-US" sz="2200" b="0" i="0" u="none" strike="noStrike" cap="none">
                <a:solidFill>
                  <a:srgbClr val="000000"/>
                </a:solidFill>
                <a:latin typeface="Helvetica Neue"/>
                <a:ea typeface="Helvetica Neue"/>
                <a:cs typeface="Helvetica Neue"/>
                <a:sym typeface="Helvetica Neue"/>
              </a:rPr>
              <a:t>For each cluster (K</a:t>
            </a:r>
            <a:r>
              <a:rPr lang="en-US" sz="2175" b="0" i="0" u="none" strike="noStrike" cap="none" baseline="-25000">
                <a:solidFill>
                  <a:srgbClr val="000000"/>
                </a:solidFill>
                <a:latin typeface="Helvetica Neue"/>
                <a:ea typeface="Helvetica Neue"/>
                <a:cs typeface="Helvetica Neue"/>
                <a:sym typeface="Helvetica Neue"/>
              </a:rPr>
              <a:t>1</a:t>
            </a:r>
            <a:r>
              <a:rPr lang="en-US" sz="2200" b="0" i="0" u="none" strike="noStrike" cap="none">
                <a:solidFill>
                  <a:srgbClr val="000000"/>
                </a:solidFill>
                <a:latin typeface="Helvetica Neue"/>
                <a:ea typeface="Helvetica Neue"/>
                <a:cs typeface="Helvetica Neue"/>
                <a:sym typeface="Helvetica Neue"/>
              </a:rPr>
              <a:t>, K</a:t>
            </a:r>
            <a:r>
              <a:rPr lang="en-US" sz="2175" b="0" i="0" u="none" strike="noStrike" cap="none" baseline="-25000">
                <a:solidFill>
                  <a:srgbClr val="000000"/>
                </a:solidFill>
                <a:latin typeface="Helvetica Neue"/>
                <a:ea typeface="Helvetica Neue"/>
                <a:cs typeface="Helvetica Neue"/>
                <a:sym typeface="Helvetica Neue"/>
              </a:rPr>
              <a:t>2</a:t>
            </a:r>
            <a:r>
              <a:rPr lang="en-US" sz="2200" b="0" i="0" u="none" strike="noStrike" cap="none">
                <a:solidFill>
                  <a:srgbClr val="000000"/>
                </a:solidFill>
                <a:latin typeface="Helvetica Neue"/>
                <a:ea typeface="Helvetica Neue"/>
                <a:cs typeface="Helvetica Neue"/>
                <a:sym typeface="Helvetica Neue"/>
              </a:rPr>
              <a:t>, K</a:t>
            </a:r>
            <a:r>
              <a:rPr lang="en-US" sz="2175" b="0" i="0" u="none" strike="noStrike" cap="none" baseline="-25000">
                <a:solidFill>
                  <a:srgbClr val="000000"/>
                </a:solidFill>
                <a:latin typeface="Helvetica Neue"/>
                <a:ea typeface="Helvetica Neue"/>
                <a:cs typeface="Helvetica Neue"/>
                <a:sym typeface="Helvetica Neue"/>
              </a:rPr>
              <a:t>3</a:t>
            </a:r>
            <a:r>
              <a:rPr lang="en-US" sz="2200" b="0" i="0" u="none" strike="noStrike" cap="none">
                <a:solidFill>
                  <a:srgbClr val="000000"/>
                </a:solidFill>
                <a:latin typeface="Helvetica Neue"/>
                <a:ea typeface="Helvetica Neue"/>
                <a:cs typeface="Helvetica Neue"/>
                <a:sym typeface="Helvetica Neue"/>
              </a:rPr>
              <a:t>,……, K</a:t>
            </a:r>
            <a:r>
              <a:rPr lang="en-US" sz="2175" b="0" i="0" u="none" strike="noStrike" cap="none" baseline="-25000">
                <a:solidFill>
                  <a:srgbClr val="000000"/>
                </a:solidFill>
                <a:latin typeface="Helvetica Neue"/>
                <a:ea typeface="Helvetica Neue"/>
                <a:cs typeface="Helvetica Neue"/>
                <a:sym typeface="Helvetica Neue"/>
              </a:rPr>
              <a:t>k</a:t>
            </a:r>
            <a:r>
              <a:rPr lang="en-US" sz="2200" b="0" i="0" u="none" strike="noStrike" cap="none">
                <a:solidFill>
                  <a:srgbClr val="000000"/>
                </a:solidFill>
                <a:latin typeface="Helvetica Neue"/>
                <a:ea typeface="Helvetica Neue"/>
                <a:cs typeface="Helvetica Neue"/>
                <a:sym typeface="Helvetica Neue"/>
              </a:rPr>
              <a:t>), place the centroids (C</a:t>
            </a:r>
            <a:r>
              <a:rPr lang="en-US" sz="2175" b="0" i="0" u="none" strike="noStrike" cap="none" baseline="-25000">
                <a:solidFill>
                  <a:srgbClr val="000000"/>
                </a:solidFill>
                <a:latin typeface="Helvetica Neue"/>
                <a:ea typeface="Helvetica Neue"/>
                <a:cs typeface="Helvetica Neue"/>
                <a:sym typeface="Helvetica Neue"/>
              </a:rPr>
              <a:t>1</a:t>
            </a:r>
            <a:r>
              <a:rPr lang="en-US" sz="2200" b="0" i="0" u="none" strike="noStrike" cap="none">
                <a:solidFill>
                  <a:srgbClr val="000000"/>
                </a:solidFill>
                <a:latin typeface="Helvetica Neue"/>
                <a:ea typeface="Helvetica Neue"/>
                <a:cs typeface="Helvetica Neue"/>
                <a:sym typeface="Helvetica Neue"/>
              </a:rPr>
              <a:t>, C</a:t>
            </a:r>
            <a:r>
              <a:rPr lang="en-US" sz="2175" b="0" i="0" u="none" strike="noStrike" cap="none" baseline="-25000">
                <a:solidFill>
                  <a:srgbClr val="000000"/>
                </a:solidFill>
                <a:latin typeface="Helvetica Neue"/>
                <a:ea typeface="Helvetica Neue"/>
                <a:cs typeface="Helvetica Neue"/>
                <a:sym typeface="Helvetica Neue"/>
              </a:rPr>
              <a:t>2</a:t>
            </a:r>
            <a:r>
              <a:rPr lang="en-US" sz="2200" b="0" i="0" u="none" strike="noStrike" cap="none">
                <a:solidFill>
                  <a:srgbClr val="000000"/>
                </a:solidFill>
                <a:latin typeface="Helvetica Neue"/>
                <a:ea typeface="Helvetica Neue"/>
                <a:cs typeface="Helvetica Neue"/>
                <a:sym typeface="Helvetica Neue"/>
              </a:rPr>
              <a:t>, C</a:t>
            </a:r>
            <a:r>
              <a:rPr lang="en-US" sz="2175" b="0" i="0" u="none" strike="noStrike" cap="none" baseline="-25000">
                <a:solidFill>
                  <a:srgbClr val="000000"/>
                </a:solidFill>
                <a:latin typeface="Helvetica Neue"/>
                <a:ea typeface="Helvetica Neue"/>
                <a:cs typeface="Helvetica Neue"/>
                <a:sym typeface="Helvetica Neue"/>
              </a:rPr>
              <a:t>3</a:t>
            </a:r>
            <a:r>
              <a:rPr lang="en-US" sz="2200" b="0" i="0" u="none" strike="noStrike" cap="none">
                <a:solidFill>
                  <a:srgbClr val="000000"/>
                </a:solidFill>
                <a:latin typeface="Helvetica Neue"/>
                <a:ea typeface="Helvetica Neue"/>
                <a:cs typeface="Helvetica Neue"/>
                <a:sym typeface="Helvetica Neue"/>
              </a:rPr>
              <a:t>,……, C</a:t>
            </a:r>
            <a:r>
              <a:rPr lang="en-US" sz="2175" b="0" i="0" u="none" strike="noStrike" cap="none" baseline="-25000">
                <a:solidFill>
                  <a:srgbClr val="000000"/>
                </a:solidFill>
                <a:latin typeface="Helvetica Neue"/>
                <a:ea typeface="Helvetica Neue"/>
                <a:cs typeface="Helvetica Neue"/>
                <a:sym typeface="Helvetica Neue"/>
              </a:rPr>
              <a:t>k</a:t>
            </a:r>
            <a:r>
              <a:rPr lang="en-US" sz="2200" b="0" i="0" u="none" strike="noStrike" cap="none">
                <a:solidFill>
                  <a:srgbClr val="000000"/>
                </a:solidFill>
                <a:latin typeface="Helvetica Neue"/>
                <a:ea typeface="Helvetica Neue"/>
                <a:cs typeface="Helvetica Neue"/>
                <a:sym typeface="Helvetica Neue"/>
              </a:rPr>
              <a:t>) randomly</a:t>
            </a:r>
            <a:endParaRPr sz="2200" b="0" i="0" u="none" strike="noStrike" cap="none">
              <a:solidFill>
                <a:srgbClr val="000000"/>
              </a:solidFill>
              <a:latin typeface="Helvetica Neue"/>
              <a:ea typeface="Helvetica Neue"/>
              <a:cs typeface="Helvetica Neue"/>
              <a:sym typeface="Helvetica Neue"/>
            </a:endParaRPr>
          </a:p>
          <a:p>
            <a:pPr marL="38100" marR="0" lvl="0" indent="0" algn="l" rtl="0">
              <a:lnSpc>
                <a:spcPct val="100000"/>
              </a:lnSpc>
              <a:spcBef>
                <a:spcPts val="1325"/>
              </a:spcBef>
              <a:spcAft>
                <a:spcPts val="0"/>
              </a:spcAft>
              <a:buClr>
                <a:srgbClr val="000000"/>
              </a:buClr>
              <a:buSzPts val="2200"/>
              <a:buFont typeface="Arial"/>
              <a:buNone/>
            </a:pPr>
            <a:r>
              <a:rPr lang="en-US" sz="2200" b="0" i="0" u="none" strike="noStrike" cap="none">
                <a:solidFill>
                  <a:srgbClr val="000000"/>
                </a:solidFill>
                <a:latin typeface="Helvetica Neue"/>
                <a:ea typeface="Helvetica Neue"/>
                <a:cs typeface="Helvetica Neue"/>
                <a:sym typeface="Helvetica Neue"/>
              </a:rPr>
              <a:t>at initial stage. Later these centroid has been updated.</a:t>
            </a:r>
            <a:endParaRPr sz="2200" b="0" i="0" u="none" strike="noStrike" cap="none">
              <a:solidFill>
                <a:srgbClr val="000000"/>
              </a:solidFill>
              <a:latin typeface="Helvetica Neue"/>
              <a:ea typeface="Helvetica Neue"/>
              <a:cs typeface="Helvetica Neue"/>
              <a:sym typeface="Helvetica Neue"/>
            </a:endParaRPr>
          </a:p>
          <a:p>
            <a:pPr marL="38100" marR="648970" lvl="0" indent="0" algn="l" rtl="0">
              <a:lnSpc>
                <a:spcPct val="180000"/>
              </a:lnSpc>
              <a:spcBef>
                <a:spcPts val="350"/>
              </a:spcBef>
              <a:spcAft>
                <a:spcPts val="0"/>
              </a:spcAft>
              <a:buClr>
                <a:srgbClr val="000000"/>
              </a:buClr>
              <a:buSzPts val="2200"/>
              <a:buFont typeface="Arial"/>
              <a:buNone/>
            </a:pPr>
            <a:r>
              <a:rPr lang="en-US" sz="2200" b="1" i="0" u="none" strike="noStrike" cap="none">
                <a:solidFill>
                  <a:srgbClr val="000000"/>
                </a:solidFill>
                <a:latin typeface="Arial"/>
                <a:ea typeface="Arial"/>
                <a:cs typeface="Arial"/>
                <a:sym typeface="Arial"/>
              </a:rPr>
              <a:t>Step 3: </a:t>
            </a:r>
            <a:r>
              <a:rPr lang="en-US" sz="2200" b="0" i="0" u="none" strike="noStrike" cap="none">
                <a:solidFill>
                  <a:srgbClr val="000000"/>
                </a:solidFill>
                <a:latin typeface="Helvetica Neue"/>
                <a:ea typeface="Helvetica Neue"/>
                <a:cs typeface="Helvetica Neue"/>
                <a:sym typeface="Helvetica Neue"/>
              </a:rPr>
              <a:t>For each data points (x</a:t>
            </a:r>
            <a:r>
              <a:rPr lang="en-US" sz="2175" b="0" i="0" u="none" strike="noStrike" cap="none" baseline="-25000">
                <a:solidFill>
                  <a:srgbClr val="000000"/>
                </a:solidFill>
                <a:latin typeface="Helvetica Neue"/>
                <a:ea typeface="Helvetica Neue"/>
                <a:cs typeface="Helvetica Neue"/>
                <a:sym typeface="Helvetica Neue"/>
              </a:rPr>
              <a:t>i</a:t>
            </a:r>
            <a:r>
              <a:rPr lang="en-US" sz="2200" b="0" i="0" u="none" strike="noStrike" cap="none">
                <a:solidFill>
                  <a:srgbClr val="000000"/>
                </a:solidFill>
                <a:latin typeface="Helvetica Neue"/>
                <a:ea typeface="Helvetica Neue"/>
                <a:cs typeface="Helvetica Neue"/>
                <a:sym typeface="Helvetica Neue"/>
              </a:rPr>
              <a:t>, y</a:t>
            </a:r>
            <a:r>
              <a:rPr lang="en-US" sz="2175" b="0" i="0" u="none" strike="noStrike" cap="none" baseline="-25000">
                <a:solidFill>
                  <a:srgbClr val="000000"/>
                </a:solidFill>
                <a:latin typeface="Helvetica Neue"/>
                <a:ea typeface="Helvetica Neue"/>
                <a:cs typeface="Helvetica Neue"/>
                <a:sym typeface="Helvetica Neue"/>
              </a:rPr>
              <a:t>j</a:t>
            </a:r>
            <a:r>
              <a:rPr lang="en-US" sz="2200" b="0" i="0" u="none" strike="noStrike" cap="none">
                <a:solidFill>
                  <a:srgbClr val="000000"/>
                </a:solidFill>
                <a:latin typeface="Helvetica Neue"/>
                <a:ea typeface="Helvetica Neue"/>
                <a:cs typeface="Helvetica Neue"/>
                <a:sym typeface="Helvetica Neue"/>
              </a:rPr>
              <a:t>) find the nearest centroid (x</a:t>
            </a:r>
            <a:r>
              <a:rPr lang="en-US" sz="2175" b="0" i="0" u="none" strike="noStrike" cap="none" baseline="-25000">
                <a:solidFill>
                  <a:srgbClr val="000000"/>
                </a:solidFill>
                <a:latin typeface="Helvetica Neue"/>
                <a:ea typeface="Helvetica Neue"/>
                <a:cs typeface="Helvetica Neue"/>
                <a:sym typeface="Helvetica Neue"/>
              </a:rPr>
              <a:t>ci</a:t>
            </a:r>
            <a:r>
              <a:rPr lang="en-US" sz="2200" b="0" i="0" u="none" strike="noStrike" cap="none">
                <a:solidFill>
                  <a:srgbClr val="000000"/>
                </a:solidFill>
                <a:latin typeface="Helvetica Neue"/>
                <a:ea typeface="Helvetica Neue"/>
                <a:cs typeface="Helvetica Neue"/>
                <a:sym typeface="Helvetica Neue"/>
              </a:rPr>
              <a:t>, y</a:t>
            </a:r>
            <a:r>
              <a:rPr lang="en-US" sz="2175" b="0" i="0" u="none" strike="noStrike" cap="none" baseline="-25000">
                <a:solidFill>
                  <a:srgbClr val="000000"/>
                </a:solidFill>
                <a:latin typeface="Helvetica Neue"/>
                <a:ea typeface="Helvetica Neue"/>
                <a:cs typeface="Helvetica Neue"/>
                <a:sym typeface="Helvetica Neue"/>
              </a:rPr>
              <a:t>cj</a:t>
            </a:r>
            <a:r>
              <a:rPr lang="en-US" sz="2200" b="0" i="0" u="none" strike="noStrike" cap="none">
                <a:solidFill>
                  <a:srgbClr val="000000"/>
                </a:solidFill>
                <a:latin typeface="Helvetica Neue"/>
                <a:ea typeface="Helvetica Neue"/>
                <a:cs typeface="Helvetica Neue"/>
                <a:sym typeface="Helvetica Neue"/>
              </a:rPr>
              <a:t>), using proper distance measure,</a:t>
            </a:r>
            <a:endParaRPr sz="2200" b="0" i="0" u="none" strike="noStrike" cap="none">
              <a:solidFill>
                <a:srgbClr val="000000"/>
              </a:solidFill>
              <a:latin typeface="Helvetica Neue"/>
              <a:ea typeface="Helvetica Neue"/>
              <a:cs typeface="Helvetica Neue"/>
              <a:sym typeface="Helvetica Neue"/>
            </a:endParaRPr>
          </a:p>
          <a:p>
            <a:pPr marL="38100" marR="0" lvl="0" indent="0" algn="l" rtl="0">
              <a:lnSpc>
                <a:spcPct val="100000"/>
              </a:lnSpc>
              <a:spcBef>
                <a:spcPts val="969"/>
              </a:spcBef>
              <a:spcAft>
                <a:spcPts val="0"/>
              </a:spcAft>
              <a:buClr>
                <a:srgbClr val="000000"/>
              </a:buClr>
              <a:buSzPts val="2200"/>
              <a:buFont typeface="Arial"/>
              <a:buNone/>
            </a:pPr>
            <a:r>
              <a:rPr lang="en-US" sz="2200" b="1" i="0" u="none" strike="noStrike" cap="none">
                <a:solidFill>
                  <a:srgbClr val="000000"/>
                </a:solidFill>
                <a:latin typeface="Arial"/>
                <a:ea typeface="Arial"/>
                <a:cs typeface="Arial"/>
                <a:sym typeface="Arial"/>
              </a:rPr>
              <a:t>Step 4: </a:t>
            </a:r>
            <a:r>
              <a:rPr lang="en-US" sz="2200" b="0" i="0" u="none" strike="noStrike" cap="none">
                <a:solidFill>
                  <a:srgbClr val="000000"/>
                </a:solidFill>
                <a:latin typeface="Helvetica Neue"/>
                <a:ea typeface="Helvetica Neue"/>
                <a:cs typeface="Helvetica Neue"/>
                <a:sym typeface="Helvetica Neue"/>
              </a:rPr>
              <a:t>According to nearest centroid and data point distance, data points are adjusted to same</a:t>
            </a:r>
            <a:endParaRPr sz="2200" b="0" i="0" u="none" strike="noStrike" cap="none">
              <a:solidFill>
                <a:srgbClr val="000000"/>
              </a:solidFill>
              <a:latin typeface="Helvetica Neue"/>
              <a:ea typeface="Helvetica Neue"/>
              <a:cs typeface="Helvetica Neue"/>
              <a:sym typeface="Helvetica Neue"/>
            </a:endParaRPr>
          </a:p>
          <a:p>
            <a:pPr marL="38100" marR="0" lvl="0" indent="0" algn="l" rtl="0">
              <a:lnSpc>
                <a:spcPct val="100000"/>
              </a:lnSpc>
              <a:spcBef>
                <a:spcPts val="1325"/>
              </a:spcBef>
              <a:spcAft>
                <a:spcPts val="0"/>
              </a:spcAft>
              <a:buClr>
                <a:srgbClr val="000000"/>
              </a:buClr>
              <a:buSzPts val="2200"/>
              <a:buFont typeface="Arial"/>
              <a:buNone/>
            </a:pPr>
            <a:r>
              <a:rPr lang="en-US" sz="2200" b="0" i="0" u="none" strike="noStrike" cap="none">
                <a:solidFill>
                  <a:srgbClr val="000000"/>
                </a:solidFill>
                <a:latin typeface="Helvetica Neue"/>
                <a:ea typeface="Helvetica Neue"/>
                <a:cs typeface="Helvetica Neue"/>
                <a:sym typeface="Helvetica Neue"/>
              </a:rPr>
              <a:t>or other cluster.</a:t>
            </a:r>
            <a:endParaRPr sz="2200" b="0" i="0" u="none" strike="noStrike" cap="none">
              <a:solidFill>
                <a:srgbClr val="000000"/>
              </a:solidFill>
              <a:latin typeface="Helvetica Neue"/>
              <a:ea typeface="Helvetica Neue"/>
              <a:cs typeface="Helvetica Neue"/>
              <a:sym typeface="Helvetica Neue"/>
            </a:endParaRPr>
          </a:p>
          <a:p>
            <a:pPr marL="38100" marR="0" lvl="0" indent="0" algn="l" rtl="0">
              <a:lnSpc>
                <a:spcPct val="100000"/>
              </a:lnSpc>
              <a:spcBef>
                <a:spcPts val="1320"/>
              </a:spcBef>
              <a:spcAft>
                <a:spcPts val="0"/>
              </a:spcAft>
              <a:buClr>
                <a:srgbClr val="000000"/>
              </a:buClr>
              <a:buSzPts val="2200"/>
              <a:buFont typeface="Arial"/>
              <a:buNone/>
            </a:pPr>
            <a:r>
              <a:rPr lang="en-US" sz="2200" b="1" i="0" u="none" strike="noStrike" cap="none">
                <a:solidFill>
                  <a:srgbClr val="000000"/>
                </a:solidFill>
                <a:latin typeface="Arial"/>
                <a:ea typeface="Arial"/>
                <a:cs typeface="Arial"/>
                <a:sym typeface="Arial"/>
              </a:rPr>
              <a:t>Step 5: </a:t>
            </a:r>
            <a:r>
              <a:rPr lang="en-US" sz="2200" b="0" i="0" u="none" strike="noStrike" cap="none">
                <a:solidFill>
                  <a:srgbClr val="000000"/>
                </a:solidFill>
                <a:latin typeface="Helvetica Neue"/>
                <a:ea typeface="Helvetica Neue"/>
                <a:cs typeface="Helvetica Neue"/>
                <a:sym typeface="Helvetica Neue"/>
              </a:rPr>
              <a:t>Again calculate the centroids of all clusters.</a:t>
            </a:r>
            <a:endParaRPr sz="2200" b="0" i="0" u="none" strike="noStrike" cap="none">
              <a:solidFill>
                <a:srgbClr val="000000"/>
              </a:solidFill>
              <a:latin typeface="Helvetica Neue"/>
              <a:ea typeface="Helvetica Neue"/>
              <a:cs typeface="Helvetica Neue"/>
              <a:sym typeface="Helvetica Neue"/>
            </a:endParaRPr>
          </a:p>
          <a:p>
            <a:pPr marL="38100" marR="0" lvl="0" indent="0" algn="l" rtl="0">
              <a:lnSpc>
                <a:spcPct val="100000"/>
              </a:lnSpc>
              <a:spcBef>
                <a:spcPts val="1320"/>
              </a:spcBef>
              <a:spcAft>
                <a:spcPts val="0"/>
              </a:spcAft>
              <a:buClr>
                <a:srgbClr val="000000"/>
              </a:buClr>
              <a:buSzPts val="2200"/>
              <a:buFont typeface="Arial"/>
              <a:buNone/>
            </a:pPr>
            <a:r>
              <a:rPr lang="en-US" sz="2200" b="1" i="0" u="none" strike="noStrike" cap="none">
                <a:solidFill>
                  <a:srgbClr val="000000"/>
                </a:solidFill>
                <a:latin typeface="Arial"/>
                <a:ea typeface="Arial"/>
                <a:cs typeface="Arial"/>
                <a:sym typeface="Arial"/>
              </a:rPr>
              <a:t>Step 6: </a:t>
            </a:r>
            <a:r>
              <a:rPr lang="en-US" sz="2200" b="0" i="0" u="none" strike="noStrike" cap="none">
                <a:solidFill>
                  <a:srgbClr val="000000"/>
                </a:solidFill>
                <a:latin typeface="Helvetica Neue"/>
                <a:ea typeface="Helvetica Neue"/>
                <a:cs typeface="Helvetica Neue"/>
                <a:sym typeface="Helvetica Neue"/>
              </a:rPr>
              <a:t>Repeat the step 4 and step 5 until centroid values are stable or required learning has</a:t>
            </a:r>
            <a:endParaRPr sz="2200" b="0" i="0" u="none" strike="noStrike" cap="none">
              <a:solidFill>
                <a:srgbClr val="000000"/>
              </a:solidFill>
              <a:latin typeface="Helvetica Neue"/>
              <a:ea typeface="Helvetica Neue"/>
              <a:cs typeface="Helvetica Neue"/>
              <a:sym typeface="Helvetica Neue"/>
            </a:endParaRPr>
          </a:p>
          <a:p>
            <a:pPr marL="38100" marR="0" lvl="0" indent="0" algn="l" rtl="0">
              <a:lnSpc>
                <a:spcPct val="100000"/>
              </a:lnSpc>
              <a:spcBef>
                <a:spcPts val="1325"/>
              </a:spcBef>
              <a:spcAft>
                <a:spcPts val="0"/>
              </a:spcAft>
              <a:buClr>
                <a:srgbClr val="000000"/>
              </a:buClr>
              <a:buSzPts val="2200"/>
              <a:buFont typeface="Arial"/>
              <a:buNone/>
            </a:pPr>
            <a:r>
              <a:rPr lang="en-US" sz="2200" b="0" i="0" u="none" strike="noStrike" cap="none">
                <a:solidFill>
                  <a:srgbClr val="000000"/>
                </a:solidFill>
                <a:latin typeface="Helvetica Neue"/>
                <a:ea typeface="Helvetica Neue"/>
                <a:cs typeface="Helvetica Neue"/>
                <a:sym typeface="Helvetica Neue"/>
              </a:rPr>
              <a:t>been achieved.</a:t>
            </a:r>
            <a:endParaRPr sz="2200" b="0" i="0" u="none" strike="noStrike" cap="none">
              <a:solidFill>
                <a:srgbClr val="000000"/>
              </a:solidFill>
              <a:latin typeface="Helvetica Neue"/>
              <a:ea typeface="Helvetica Neue"/>
              <a:cs typeface="Helvetica Neue"/>
              <a:sym typeface="Helvetica Neue"/>
            </a:endParaRPr>
          </a:p>
        </p:txBody>
      </p:sp>
      <p:sp>
        <p:nvSpPr>
          <p:cNvPr id="227" name="Google Shape;227;p15"/>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grpSp>
        <p:nvGrpSpPr>
          <p:cNvPr id="232" name="Google Shape;232;p16"/>
          <p:cNvGrpSpPr/>
          <p:nvPr/>
        </p:nvGrpSpPr>
        <p:grpSpPr>
          <a:xfrm>
            <a:off x="0" y="-25"/>
            <a:ext cx="12192000" cy="490752"/>
            <a:chOff x="0" y="-25"/>
            <a:chExt cx="12192000" cy="490752"/>
          </a:xfrm>
        </p:grpSpPr>
        <p:pic>
          <p:nvPicPr>
            <p:cNvPr id="233" name="Google Shape;233;p16"/>
            <p:cNvPicPr preferRelativeResize="0"/>
            <p:nvPr/>
          </p:nvPicPr>
          <p:blipFill rotWithShape="1">
            <a:blip r:embed="rId3">
              <a:alphaModFix/>
            </a:blip>
            <a:srcRect/>
            <a:stretch/>
          </p:blipFill>
          <p:spPr>
            <a:xfrm>
              <a:off x="0" y="0"/>
              <a:ext cx="3672840" cy="490727"/>
            </a:xfrm>
            <a:prstGeom prst="rect">
              <a:avLst/>
            </a:prstGeom>
            <a:noFill/>
            <a:ln>
              <a:noFill/>
            </a:ln>
          </p:spPr>
        </p:pic>
        <p:sp>
          <p:nvSpPr>
            <p:cNvPr id="234" name="Google Shape;234;p16"/>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35" name="Google Shape;235;p16"/>
          <p:cNvSpPr txBox="1">
            <a:spLocks noGrp="1"/>
          </p:cNvSpPr>
          <p:nvPr>
            <p:ph type="title"/>
          </p:nvPr>
        </p:nvSpPr>
        <p:spPr>
          <a:xfrm>
            <a:off x="78739" y="23825"/>
            <a:ext cx="336232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Hierarchical Clustering</a:t>
            </a:r>
            <a:endParaRPr/>
          </a:p>
        </p:txBody>
      </p:sp>
      <p:sp>
        <p:nvSpPr>
          <p:cNvPr id="236" name="Google Shape;236;p16"/>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16</a:t>
            </a:fld>
            <a:endParaRPr/>
          </a:p>
        </p:txBody>
      </p:sp>
      <p:sp>
        <p:nvSpPr>
          <p:cNvPr id="237" name="Google Shape;237;p16"/>
          <p:cNvSpPr txBox="1"/>
          <p:nvPr/>
        </p:nvSpPr>
        <p:spPr>
          <a:xfrm>
            <a:off x="78739" y="288620"/>
            <a:ext cx="12073255" cy="5560695"/>
          </a:xfrm>
          <a:prstGeom prst="rect">
            <a:avLst/>
          </a:prstGeom>
          <a:noFill/>
          <a:ln>
            <a:noFill/>
          </a:ln>
        </p:spPr>
        <p:txBody>
          <a:bodyPr spcFirstLastPara="1" wrap="square" lIns="0" tIns="180325" rIns="0" bIns="0" anchor="t" anchorCtr="0">
            <a:spAutoFit/>
          </a:bodyPr>
          <a:lstStyle/>
          <a:p>
            <a:pPr marL="262255" marR="0" lvl="0" indent="-250825" algn="just" rtl="0">
              <a:lnSpc>
                <a:spcPct val="100000"/>
              </a:lnSpc>
              <a:spcBef>
                <a:spcPts val="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In Hierarchical Clustering, the aim is to produce a hierarchical series of nested clusters.</a:t>
            </a:r>
            <a:endParaRPr sz="2200" b="0" i="0" u="none" strike="noStrike" cap="none">
              <a:solidFill>
                <a:srgbClr val="000000"/>
              </a:solidFill>
              <a:latin typeface="Helvetica Neue"/>
              <a:ea typeface="Helvetica Neue"/>
              <a:cs typeface="Helvetica Neue"/>
              <a:sym typeface="Helvetica Neue"/>
            </a:endParaRPr>
          </a:p>
          <a:p>
            <a:pPr marL="12700" marR="5715" lvl="0" indent="-133350" algn="just" rtl="0">
              <a:lnSpc>
                <a:spcPct val="150100"/>
              </a:lnSpc>
              <a:spcBef>
                <a:spcPts val="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	A  diagram  called  </a:t>
            </a:r>
            <a:r>
              <a:rPr lang="en-US" sz="2200" b="1" i="0" u="none" strike="noStrike" cap="none">
                <a:solidFill>
                  <a:srgbClr val="000000"/>
                </a:solidFill>
                <a:latin typeface="Arial"/>
                <a:ea typeface="Arial"/>
                <a:cs typeface="Arial"/>
                <a:sym typeface="Arial"/>
              </a:rPr>
              <a:t>Dendrogram  </a:t>
            </a:r>
            <a:r>
              <a:rPr lang="en-US" sz="2200" b="0" i="0" u="none" strike="noStrike" cap="none">
                <a:solidFill>
                  <a:srgbClr val="000000"/>
                </a:solidFill>
                <a:latin typeface="Helvetica Neue"/>
                <a:ea typeface="Helvetica Neue"/>
                <a:cs typeface="Helvetica Neue"/>
                <a:sym typeface="Helvetica Neue"/>
              </a:rPr>
              <a:t>(A  Dendrogram  is  a  tree-like  diagram  that  statistics  the sequences of merges or splits) graphically represents this hierarchy and is an inverted tree that describes the order in which factors are merged (bottom-up view) or clusters are broken up (top- down view).</a:t>
            </a:r>
            <a:endParaRPr sz="2200" b="0" i="0" u="none" strike="noStrike" cap="none">
              <a:solidFill>
                <a:srgbClr val="000000"/>
              </a:solidFill>
              <a:latin typeface="Helvetica Neue"/>
              <a:ea typeface="Helvetica Neue"/>
              <a:cs typeface="Helvetica Neue"/>
              <a:sym typeface="Helvetica Neue"/>
            </a:endParaRPr>
          </a:p>
          <a:p>
            <a:pPr marL="262255" marR="0" lvl="0" indent="-250825" algn="just" rtl="0">
              <a:lnSpc>
                <a:spcPct val="100000"/>
              </a:lnSpc>
              <a:spcBef>
                <a:spcPts val="132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Hierarchical clustering is a method of cluster analysis in data mining that creates a hierarchical</a:t>
            </a:r>
            <a:endParaRPr sz="22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325"/>
              </a:spcBef>
              <a:spcAft>
                <a:spcPts val="0"/>
              </a:spcAft>
              <a:buClr>
                <a:srgbClr val="000000"/>
              </a:buClr>
              <a:buSzPts val="2200"/>
              <a:buFont typeface="Arial"/>
              <a:buNone/>
            </a:pPr>
            <a:r>
              <a:rPr lang="en-US" sz="2200" b="0" i="0" u="none" strike="noStrike" cap="none">
                <a:solidFill>
                  <a:srgbClr val="000000"/>
                </a:solidFill>
                <a:latin typeface="Helvetica Neue"/>
                <a:ea typeface="Helvetica Neue"/>
                <a:cs typeface="Helvetica Neue"/>
                <a:sym typeface="Helvetica Neue"/>
              </a:rPr>
              <a:t>representation of the clusters in a dataset.</a:t>
            </a:r>
            <a:endParaRPr sz="2200" b="0" i="0" u="none" strike="noStrike" cap="none">
              <a:solidFill>
                <a:srgbClr val="000000"/>
              </a:solidFill>
              <a:latin typeface="Helvetica Neue"/>
              <a:ea typeface="Helvetica Neue"/>
              <a:cs typeface="Helvetica Neue"/>
              <a:sym typeface="Helvetica Neue"/>
            </a:endParaRPr>
          </a:p>
          <a:p>
            <a:pPr marL="12700" marR="10160" lvl="0" indent="-133350" algn="l" rtl="0">
              <a:lnSpc>
                <a:spcPct val="150000"/>
              </a:lnSpc>
              <a:spcBef>
                <a:spcPts val="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	The	method	starts	by	treating	each	data	point	as	a	separate	cluster	and	then	iteratively combines the closest clusters until a stopping criterion is reached.</a:t>
            </a:r>
            <a:endParaRPr sz="2200" b="0" i="0" u="none" strike="noStrike" cap="none">
              <a:solidFill>
                <a:srgbClr val="000000"/>
              </a:solidFill>
              <a:latin typeface="Helvetica Neue"/>
              <a:ea typeface="Helvetica Neue"/>
              <a:cs typeface="Helvetica Neue"/>
              <a:sym typeface="Helvetica Neue"/>
            </a:endParaRPr>
          </a:p>
          <a:p>
            <a:pPr marL="262255" marR="0" lvl="0" indent="-250825" algn="l" rtl="0">
              <a:lnSpc>
                <a:spcPct val="100000"/>
              </a:lnSpc>
              <a:spcBef>
                <a:spcPts val="1325"/>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The	result	of	hierarchical	clustering	is	a	tree-like	structure,	called	a	dendrogram,	which</a:t>
            </a:r>
            <a:endParaRPr sz="22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320"/>
              </a:spcBef>
              <a:spcAft>
                <a:spcPts val="0"/>
              </a:spcAft>
              <a:buClr>
                <a:srgbClr val="000000"/>
              </a:buClr>
              <a:buSzPts val="2200"/>
              <a:buFont typeface="Arial"/>
              <a:buNone/>
            </a:pPr>
            <a:r>
              <a:rPr lang="en-US" sz="2200" b="0" i="0" u="none" strike="noStrike" cap="none">
                <a:solidFill>
                  <a:srgbClr val="000000"/>
                </a:solidFill>
                <a:latin typeface="Helvetica Neue"/>
                <a:ea typeface="Helvetica Neue"/>
                <a:cs typeface="Helvetica Neue"/>
                <a:sym typeface="Helvetica Neue"/>
              </a:rPr>
              <a:t>illustrates the hierarchical relationships among the clusters.</a:t>
            </a:r>
            <a:endParaRPr sz="2200" b="0" i="0" u="none" strike="noStrike" cap="none">
              <a:solidFill>
                <a:srgbClr val="000000"/>
              </a:solidFill>
              <a:latin typeface="Helvetica Neue"/>
              <a:ea typeface="Helvetica Neue"/>
              <a:cs typeface="Helvetica Neue"/>
              <a:sym typeface="Helvetica Neue"/>
            </a:endParaRPr>
          </a:p>
        </p:txBody>
      </p:sp>
      <p:sp>
        <p:nvSpPr>
          <p:cNvPr id="238" name="Google Shape;238;p16"/>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en-US"/>
              <a:t>4/15/2024</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7"/>
          <p:cNvSpPr txBox="1"/>
          <p:nvPr/>
        </p:nvSpPr>
        <p:spPr>
          <a:xfrm>
            <a:off x="78739" y="-50863"/>
            <a:ext cx="9034145" cy="2004695"/>
          </a:xfrm>
          <a:prstGeom prst="rect">
            <a:avLst/>
          </a:prstGeom>
          <a:noFill/>
          <a:ln>
            <a:noFill/>
          </a:ln>
        </p:spPr>
        <p:txBody>
          <a:bodyPr spcFirstLastPara="1" wrap="square" lIns="0" tIns="87625" rIns="0" bIns="0" anchor="t" anchorCtr="0">
            <a:spAutoFit/>
          </a:bodyPr>
          <a:lstStyle/>
          <a:p>
            <a:pPr marL="1270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FFFFFF"/>
                </a:solidFill>
                <a:latin typeface="Arial"/>
                <a:ea typeface="Arial"/>
                <a:cs typeface="Arial"/>
                <a:sym typeface="Arial"/>
              </a:rPr>
              <a:t>Hierarchical Clustering</a:t>
            </a:r>
            <a:endParaRPr sz="2400" b="0" i="0" u="none" strike="noStrike" cap="none">
              <a:solidFill>
                <a:srgbClr val="000000"/>
              </a:solidFill>
              <a:latin typeface="Arial"/>
              <a:ea typeface="Arial"/>
              <a:cs typeface="Arial"/>
              <a:sym typeface="Arial"/>
            </a:endParaRPr>
          </a:p>
          <a:p>
            <a:pPr marL="338455" marR="0" lvl="0" indent="-325755" algn="l" rtl="0">
              <a:lnSpc>
                <a:spcPct val="100000"/>
              </a:lnSpc>
              <a:spcBef>
                <a:spcPts val="585"/>
              </a:spcBef>
              <a:spcAft>
                <a:spcPts val="0"/>
              </a:spcAft>
              <a:buClr>
                <a:srgbClr val="000000"/>
              </a:buClr>
              <a:buSzPts val="2200"/>
              <a:buFont typeface="Noto Sans Symbols"/>
              <a:buChar char="❑"/>
            </a:pPr>
            <a:r>
              <a:rPr lang="en-US" sz="2400" b="0" i="0" u="none" strike="noStrike" cap="none">
                <a:solidFill>
                  <a:srgbClr val="000000"/>
                </a:solidFill>
                <a:latin typeface="Helvetica Neue"/>
                <a:ea typeface="Helvetica Neue"/>
                <a:cs typeface="Helvetica Neue"/>
                <a:sym typeface="Helvetica Neue"/>
              </a:rPr>
              <a:t>There are mainly two types of hierarchical clustering techniques:</a:t>
            </a:r>
            <a:endParaRPr sz="2400" b="0" i="0" u="none" strike="noStrike" cap="none">
              <a:solidFill>
                <a:srgbClr val="000000"/>
              </a:solidFill>
              <a:latin typeface="Helvetica Neue"/>
              <a:ea typeface="Helvetica Neue"/>
              <a:cs typeface="Helvetica Neue"/>
              <a:sym typeface="Helvetica Neue"/>
            </a:endParaRPr>
          </a:p>
          <a:p>
            <a:pPr marL="469265" marR="0" lvl="0" indent="-456565" algn="l" rtl="0">
              <a:lnSpc>
                <a:spcPct val="100000"/>
              </a:lnSpc>
              <a:spcBef>
                <a:spcPts val="1445"/>
              </a:spcBef>
              <a:spcAft>
                <a:spcPts val="0"/>
              </a:spcAft>
              <a:buClr>
                <a:srgbClr val="FF0000"/>
              </a:buClr>
              <a:buSzPts val="2400"/>
              <a:buFont typeface="Arial"/>
              <a:buAutoNum type="arabicPeriod"/>
            </a:pPr>
            <a:r>
              <a:rPr lang="en-US" sz="2400" b="1" i="0" u="none" strike="noStrike" cap="none">
                <a:solidFill>
                  <a:srgbClr val="FF0000"/>
                </a:solidFill>
                <a:latin typeface="Arial"/>
                <a:ea typeface="Arial"/>
                <a:cs typeface="Arial"/>
                <a:sym typeface="Arial"/>
              </a:rPr>
              <a:t>Agglomerative:</a:t>
            </a:r>
            <a:endParaRPr sz="2400" b="0" i="0" u="none" strike="noStrike" cap="none">
              <a:solidFill>
                <a:srgbClr val="000000"/>
              </a:solidFill>
              <a:latin typeface="Arial"/>
              <a:ea typeface="Arial"/>
              <a:cs typeface="Arial"/>
              <a:sym typeface="Arial"/>
            </a:endParaRPr>
          </a:p>
          <a:p>
            <a:pPr marL="469265" marR="0" lvl="0" indent="-456565" algn="l" rtl="0">
              <a:lnSpc>
                <a:spcPct val="100000"/>
              </a:lnSpc>
              <a:spcBef>
                <a:spcPts val="1440"/>
              </a:spcBef>
              <a:spcAft>
                <a:spcPts val="0"/>
              </a:spcAft>
              <a:buClr>
                <a:srgbClr val="FF0000"/>
              </a:buClr>
              <a:buSzPts val="2400"/>
              <a:buFont typeface="Arial"/>
              <a:buAutoNum type="arabicPeriod"/>
            </a:pPr>
            <a:r>
              <a:rPr lang="en-US" sz="2400" b="1" i="0" u="none" strike="noStrike" cap="none">
                <a:solidFill>
                  <a:srgbClr val="FF0000"/>
                </a:solidFill>
                <a:latin typeface="Arial"/>
                <a:ea typeface="Arial"/>
                <a:cs typeface="Arial"/>
                <a:sym typeface="Arial"/>
              </a:rPr>
              <a:t>Divisive:</a:t>
            </a:r>
            <a:endParaRPr sz="2400" b="0" i="0" u="none" strike="noStrike" cap="none">
              <a:solidFill>
                <a:srgbClr val="000000"/>
              </a:solidFill>
              <a:latin typeface="Arial"/>
              <a:ea typeface="Arial"/>
              <a:cs typeface="Arial"/>
              <a:sym typeface="Arial"/>
            </a:endParaRPr>
          </a:p>
        </p:txBody>
      </p:sp>
      <p:sp>
        <p:nvSpPr>
          <p:cNvPr id="244" name="Google Shape;244;p17"/>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245" name="Google Shape;245;p17"/>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grpSp>
        <p:nvGrpSpPr>
          <p:cNvPr id="250" name="Google Shape;250;p18"/>
          <p:cNvGrpSpPr/>
          <p:nvPr/>
        </p:nvGrpSpPr>
        <p:grpSpPr>
          <a:xfrm>
            <a:off x="0" y="-25"/>
            <a:ext cx="12192000" cy="490752"/>
            <a:chOff x="0" y="-25"/>
            <a:chExt cx="12192000" cy="490752"/>
          </a:xfrm>
        </p:grpSpPr>
        <p:pic>
          <p:nvPicPr>
            <p:cNvPr id="251" name="Google Shape;251;p18"/>
            <p:cNvPicPr preferRelativeResize="0"/>
            <p:nvPr/>
          </p:nvPicPr>
          <p:blipFill rotWithShape="1">
            <a:blip r:embed="rId3">
              <a:alphaModFix/>
            </a:blip>
            <a:srcRect/>
            <a:stretch/>
          </p:blipFill>
          <p:spPr>
            <a:xfrm>
              <a:off x="0" y="0"/>
              <a:ext cx="5949696" cy="490727"/>
            </a:xfrm>
            <a:prstGeom prst="rect">
              <a:avLst/>
            </a:prstGeom>
            <a:noFill/>
            <a:ln>
              <a:noFill/>
            </a:ln>
          </p:spPr>
        </p:pic>
        <p:sp>
          <p:nvSpPr>
            <p:cNvPr id="252" name="Google Shape;252;p18"/>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3" name="Google Shape;253;p18"/>
          <p:cNvSpPr txBox="1">
            <a:spLocks noGrp="1"/>
          </p:cNvSpPr>
          <p:nvPr>
            <p:ph type="title"/>
          </p:nvPr>
        </p:nvSpPr>
        <p:spPr>
          <a:xfrm>
            <a:off x="78739" y="23825"/>
            <a:ext cx="563943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Hierarchical Clustering: </a:t>
            </a:r>
            <a:r>
              <a:rPr lang="en-US">
                <a:solidFill>
                  <a:srgbClr val="FF0000"/>
                </a:solidFill>
              </a:rPr>
              <a:t>Agglomerative</a:t>
            </a:r>
            <a:endParaRPr/>
          </a:p>
        </p:txBody>
      </p:sp>
      <p:sp>
        <p:nvSpPr>
          <p:cNvPr id="254" name="Google Shape;254;p18"/>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255" name="Google Shape;255;p18"/>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18</a:t>
            </a:fld>
            <a:endParaRPr/>
          </a:p>
        </p:txBody>
      </p:sp>
      <p:sp>
        <p:nvSpPr>
          <p:cNvPr id="256" name="Google Shape;256;p18"/>
          <p:cNvSpPr txBox="1"/>
          <p:nvPr/>
        </p:nvSpPr>
        <p:spPr>
          <a:xfrm>
            <a:off x="62239" y="979088"/>
            <a:ext cx="12067500" cy="4924200"/>
          </a:xfrm>
          <a:prstGeom prst="rect">
            <a:avLst/>
          </a:prstGeom>
          <a:noFill/>
          <a:ln>
            <a:noFill/>
          </a:ln>
        </p:spPr>
        <p:txBody>
          <a:bodyPr spcFirstLastPara="1" wrap="square" lIns="0" tIns="179700" rIns="0" bIns="0" anchor="t" anchorCtr="0">
            <a:spAutoFit/>
          </a:bodyPr>
          <a:lstStyle/>
          <a:p>
            <a:pPr marL="457200" marR="0" lvl="0" indent="-257175" algn="l" rtl="0">
              <a:lnSpc>
                <a:spcPct val="100000"/>
              </a:lnSpc>
              <a:spcBef>
                <a:spcPts val="0"/>
              </a:spcBef>
              <a:spcAft>
                <a:spcPts val="0"/>
              </a:spcAft>
              <a:buClr>
                <a:srgbClr val="000000"/>
              </a:buClr>
              <a:buSzPts val="2100"/>
              <a:buFont typeface="Noto Sans Symbols"/>
              <a:buChar char="❑"/>
            </a:pPr>
            <a:r>
              <a:rPr lang="en-US" sz="2200" b="1" i="0" u="none" strike="noStrike" cap="none">
                <a:solidFill>
                  <a:srgbClr val="000000"/>
                </a:solidFill>
                <a:latin typeface="Arial"/>
                <a:ea typeface="Arial"/>
                <a:cs typeface="Arial"/>
                <a:sym typeface="Arial"/>
              </a:rPr>
              <a:t>Agglomerative:	</a:t>
            </a:r>
            <a:r>
              <a:rPr lang="en-US" sz="2200" b="0" i="0" u="none" strike="noStrike" cap="none">
                <a:solidFill>
                  <a:srgbClr val="000000"/>
                </a:solidFill>
                <a:latin typeface="Helvetica Neue"/>
                <a:ea typeface="Helvetica Neue"/>
                <a:cs typeface="Helvetica Neue"/>
                <a:sym typeface="Helvetica Neue"/>
              </a:rPr>
              <a:t>Initially	consider	every	data	point	as	an	</a:t>
            </a:r>
            <a:r>
              <a:rPr lang="en-US" sz="2200" b="1" i="0" u="none" strike="noStrike" cap="none">
                <a:solidFill>
                  <a:srgbClr val="000000"/>
                </a:solidFill>
                <a:latin typeface="Arial"/>
                <a:ea typeface="Arial"/>
                <a:cs typeface="Arial"/>
                <a:sym typeface="Arial"/>
              </a:rPr>
              <a:t>individual	</a:t>
            </a:r>
            <a:r>
              <a:rPr lang="en-US" sz="2200" b="0" i="0" u="none" strike="noStrike" cap="none">
                <a:solidFill>
                  <a:srgbClr val="000000"/>
                </a:solidFill>
                <a:latin typeface="Helvetica Neue"/>
                <a:ea typeface="Helvetica Neue"/>
                <a:cs typeface="Helvetica Neue"/>
                <a:sym typeface="Helvetica Neue"/>
              </a:rPr>
              <a:t>Cluster	and	at	every step, </a:t>
            </a:r>
            <a:r>
              <a:rPr lang="en-US" sz="2200" b="1" i="0" u="none" strike="noStrike" cap="none">
                <a:solidFill>
                  <a:srgbClr val="000000"/>
                </a:solidFill>
                <a:latin typeface="Arial"/>
                <a:ea typeface="Arial"/>
                <a:cs typeface="Arial"/>
                <a:sym typeface="Arial"/>
              </a:rPr>
              <a:t>merge </a:t>
            </a:r>
            <a:r>
              <a:rPr lang="en-US" sz="2200" b="0" i="0" u="none" strike="noStrike" cap="none">
                <a:solidFill>
                  <a:srgbClr val="000000"/>
                </a:solidFill>
                <a:latin typeface="Helvetica Neue"/>
                <a:ea typeface="Helvetica Neue"/>
                <a:cs typeface="Helvetica Neue"/>
                <a:sym typeface="Helvetica Neue"/>
              </a:rPr>
              <a:t>the nearest pairs of the cluster. (It is a bottom-up method).</a:t>
            </a:r>
            <a:endParaRPr sz="2200" b="0" i="0" u="none" strike="noStrike" cap="none">
              <a:solidFill>
                <a:srgbClr val="000000"/>
              </a:solidFill>
              <a:latin typeface="Helvetica Neue"/>
              <a:ea typeface="Helvetica Neue"/>
              <a:cs typeface="Helvetica Neue"/>
              <a:sym typeface="Helvetica Neue"/>
            </a:endParaRPr>
          </a:p>
          <a:p>
            <a:pPr marL="457200" marR="0" lvl="0" indent="-257175" algn="l" rtl="0">
              <a:lnSpc>
                <a:spcPct val="100000"/>
              </a:lnSpc>
              <a:spcBef>
                <a:spcPts val="132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At first, every dataset is considered an individual entity or cluster.</a:t>
            </a:r>
            <a:endParaRPr sz="2200" b="0" i="0" u="none" strike="noStrike" cap="none">
              <a:solidFill>
                <a:srgbClr val="000000"/>
              </a:solidFill>
              <a:latin typeface="Helvetica Neue"/>
              <a:ea typeface="Helvetica Neue"/>
              <a:cs typeface="Helvetica Neue"/>
              <a:sym typeface="Helvetica Neue"/>
            </a:endParaRPr>
          </a:p>
          <a:p>
            <a:pPr marL="457200" marR="0" lvl="0" indent="-257175" algn="l" rtl="0">
              <a:lnSpc>
                <a:spcPct val="100000"/>
              </a:lnSpc>
              <a:spcBef>
                <a:spcPts val="1325"/>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At every iteration, the clusters merge with different clusters until one cluster is formed.</a:t>
            </a:r>
            <a:endParaRPr sz="2200" b="0" i="0" u="none" strike="noStrike" cap="none">
              <a:solidFill>
                <a:srgbClr val="000000"/>
              </a:solidFill>
              <a:latin typeface="Helvetica Neue"/>
              <a:ea typeface="Helvetica Neue"/>
              <a:cs typeface="Helvetica Neue"/>
              <a:sym typeface="Helvetica Neue"/>
            </a:endParaRPr>
          </a:p>
          <a:p>
            <a:pPr marL="457200" marR="0" lvl="0" indent="-257175" algn="l" rtl="0">
              <a:lnSpc>
                <a:spcPct val="100000"/>
              </a:lnSpc>
              <a:spcBef>
                <a:spcPts val="132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The algorithm for Agglomerative Hierarchical Clustering is:</a:t>
            </a:r>
            <a:endParaRPr sz="2200" b="0" i="0" u="none" strike="noStrike" cap="none">
              <a:solidFill>
                <a:srgbClr val="000000"/>
              </a:solidFill>
              <a:latin typeface="Helvetica Neue"/>
              <a:ea typeface="Helvetica Neue"/>
              <a:cs typeface="Helvetica Neue"/>
              <a:sym typeface="Helvetica Neue"/>
            </a:endParaRPr>
          </a:p>
          <a:p>
            <a:pPr marL="571500" marR="0" lvl="0" indent="-263525" algn="l" rtl="0">
              <a:lnSpc>
                <a:spcPct val="100000"/>
              </a:lnSpc>
              <a:spcBef>
                <a:spcPts val="1320"/>
              </a:spcBef>
              <a:spcAft>
                <a:spcPts val="0"/>
              </a:spcAft>
              <a:buClr>
                <a:srgbClr val="FF0000"/>
              </a:buClr>
              <a:buSzPts val="2200"/>
              <a:buFont typeface="Helvetica Neue"/>
              <a:buAutoNum type="arabicPeriod"/>
            </a:pPr>
            <a:r>
              <a:rPr lang="en-US" sz="2200" b="0" i="0" u="none" strike="noStrike" cap="none">
                <a:solidFill>
                  <a:srgbClr val="FF0000"/>
                </a:solidFill>
                <a:latin typeface="Helvetica Neue"/>
                <a:ea typeface="Helvetica Neue"/>
                <a:cs typeface="Helvetica Neue"/>
                <a:sym typeface="Helvetica Neue"/>
              </a:rPr>
              <a:t>Calculate the similarity of one cluster with all the other clusters (calculate proximity matrix)</a:t>
            </a:r>
            <a:endParaRPr sz="2200" b="0" i="0" u="none" strike="noStrike" cap="none">
              <a:solidFill>
                <a:srgbClr val="000000"/>
              </a:solidFill>
              <a:latin typeface="Helvetica Neue"/>
              <a:ea typeface="Helvetica Neue"/>
              <a:cs typeface="Helvetica Neue"/>
              <a:sym typeface="Helvetica Neue"/>
            </a:endParaRPr>
          </a:p>
          <a:p>
            <a:pPr marL="571500" marR="0" lvl="0" indent="-263525" algn="l" rtl="0">
              <a:lnSpc>
                <a:spcPct val="100000"/>
              </a:lnSpc>
              <a:spcBef>
                <a:spcPts val="1325"/>
              </a:spcBef>
              <a:spcAft>
                <a:spcPts val="0"/>
              </a:spcAft>
              <a:buClr>
                <a:srgbClr val="FF0000"/>
              </a:buClr>
              <a:buSzPts val="2200"/>
              <a:buFont typeface="Helvetica Neue"/>
              <a:buAutoNum type="arabicPeriod"/>
            </a:pPr>
            <a:r>
              <a:rPr lang="en-US" sz="2200" b="0" i="0" u="none" strike="noStrike" cap="none">
                <a:solidFill>
                  <a:srgbClr val="FF0000"/>
                </a:solidFill>
                <a:latin typeface="Helvetica Neue"/>
                <a:ea typeface="Helvetica Neue"/>
                <a:cs typeface="Helvetica Neue"/>
                <a:sym typeface="Helvetica Neue"/>
              </a:rPr>
              <a:t>Consider every data point as an individual cluster</a:t>
            </a:r>
            <a:endParaRPr sz="2200" b="0" i="0" u="none" strike="noStrike" cap="none">
              <a:solidFill>
                <a:srgbClr val="000000"/>
              </a:solidFill>
              <a:latin typeface="Helvetica Neue"/>
              <a:ea typeface="Helvetica Neue"/>
              <a:cs typeface="Helvetica Neue"/>
              <a:sym typeface="Helvetica Neue"/>
            </a:endParaRPr>
          </a:p>
          <a:p>
            <a:pPr marL="571500" marR="0" lvl="0" indent="-263525" algn="l" rtl="0">
              <a:lnSpc>
                <a:spcPct val="100000"/>
              </a:lnSpc>
              <a:spcBef>
                <a:spcPts val="1320"/>
              </a:spcBef>
              <a:spcAft>
                <a:spcPts val="0"/>
              </a:spcAft>
              <a:buClr>
                <a:srgbClr val="FF0000"/>
              </a:buClr>
              <a:buSzPts val="2200"/>
              <a:buFont typeface="Helvetica Neue"/>
              <a:buAutoNum type="arabicPeriod"/>
            </a:pPr>
            <a:r>
              <a:rPr lang="en-US" sz="2200" b="0" i="0" u="none" strike="noStrike" cap="none">
                <a:solidFill>
                  <a:srgbClr val="FF0000"/>
                </a:solidFill>
                <a:latin typeface="Helvetica Neue"/>
                <a:ea typeface="Helvetica Neue"/>
                <a:cs typeface="Helvetica Neue"/>
                <a:sym typeface="Helvetica Neue"/>
              </a:rPr>
              <a:t>Merge the clusters which are highly similar or close to each other.</a:t>
            </a:r>
            <a:endParaRPr sz="2200" b="0" i="0" u="none" strike="noStrike" cap="none">
              <a:solidFill>
                <a:srgbClr val="000000"/>
              </a:solidFill>
              <a:latin typeface="Helvetica Neue"/>
              <a:ea typeface="Helvetica Neue"/>
              <a:cs typeface="Helvetica Neue"/>
              <a:sym typeface="Helvetica Neue"/>
            </a:endParaRPr>
          </a:p>
          <a:p>
            <a:pPr marL="571500" marR="0" lvl="0" indent="-263525" algn="l" rtl="0">
              <a:lnSpc>
                <a:spcPct val="100000"/>
              </a:lnSpc>
              <a:spcBef>
                <a:spcPts val="1320"/>
              </a:spcBef>
              <a:spcAft>
                <a:spcPts val="0"/>
              </a:spcAft>
              <a:buClr>
                <a:srgbClr val="FF0000"/>
              </a:buClr>
              <a:buSzPts val="2200"/>
              <a:buFont typeface="Helvetica Neue"/>
              <a:buAutoNum type="arabicPeriod"/>
            </a:pPr>
            <a:r>
              <a:rPr lang="en-US" sz="2200" b="0" i="0" u="none" strike="noStrike" cap="none">
                <a:solidFill>
                  <a:srgbClr val="FF0000"/>
                </a:solidFill>
                <a:latin typeface="Helvetica Neue"/>
                <a:ea typeface="Helvetica Neue"/>
                <a:cs typeface="Helvetica Neue"/>
                <a:sym typeface="Helvetica Neue"/>
              </a:rPr>
              <a:t>Recalculate the proximity matrix for each cluster</a:t>
            </a:r>
            <a:endParaRPr sz="2200" b="0" i="0" u="none" strike="noStrike" cap="none">
              <a:solidFill>
                <a:srgbClr val="000000"/>
              </a:solidFill>
              <a:latin typeface="Helvetica Neue"/>
              <a:ea typeface="Helvetica Neue"/>
              <a:cs typeface="Helvetica Neue"/>
              <a:sym typeface="Helvetica Neue"/>
            </a:endParaRPr>
          </a:p>
          <a:p>
            <a:pPr marL="571500" marR="0" lvl="0" indent="-263525" algn="l" rtl="0">
              <a:lnSpc>
                <a:spcPct val="100000"/>
              </a:lnSpc>
              <a:spcBef>
                <a:spcPts val="1325"/>
              </a:spcBef>
              <a:spcAft>
                <a:spcPts val="0"/>
              </a:spcAft>
              <a:buClr>
                <a:srgbClr val="FF0000"/>
              </a:buClr>
              <a:buSzPts val="2200"/>
              <a:buFont typeface="Helvetica Neue"/>
              <a:buAutoNum type="arabicPeriod"/>
            </a:pPr>
            <a:r>
              <a:rPr lang="en-US" sz="2200" b="0" i="0" u="none" strike="noStrike" cap="none">
                <a:solidFill>
                  <a:srgbClr val="FF0000"/>
                </a:solidFill>
                <a:latin typeface="Helvetica Neue"/>
                <a:ea typeface="Helvetica Neue"/>
                <a:cs typeface="Helvetica Neue"/>
                <a:sym typeface="Helvetica Neue"/>
              </a:rPr>
              <a:t>Repeat Steps 3 and 4 until only a single cluster remains.</a:t>
            </a:r>
            <a:endParaRPr sz="22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grpSp>
        <p:nvGrpSpPr>
          <p:cNvPr id="261" name="Google Shape;261;p19"/>
          <p:cNvGrpSpPr/>
          <p:nvPr/>
        </p:nvGrpSpPr>
        <p:grpSpPr>
          <a:xfrm>
            <a:off x="0" y="-25"/>
            <a:ext cx="12192000" cy="490752"/>
            <a:chOff x="0" y="-25"/>
            <a:chExt cx="12192000" cy="490752"/>
          </a:xfrm>
        </p:grpSpPr>
        <p:pic>
          <p:nvPicPr>
            <p:cNvPr id="262" name="Google Shape;262;p19"/>
            <p:cNvPicPr preferRelativeResize="0"/>
            <p:nvPr/>
          </p:nvPicPr>
          <p:blipFill rotWithShape="1">
            <a:blip r:embed="rId3">
              <a:alphaModFix/>
            </a:blip>
            <a:srcRect/>
            <a:stretch/>
          </p:blipFill>
          <p:spPr>
            <a:xfrm>
              <a:off x="0" y="0"/>
              <a:ext cx="5949696" cy="490727"/>
            </a:xfrm>
            <a:prstGeom prst="rect">
              <a:avLst/>
            </a:prstGeom>
            <a:noFill/>
            <a:ln>
              <a:noFill/>
            </a:ln>
          </p:spPr>
        </p:pic>
        <p:sp>
          <p:nvSpPr>
            <p:cNvPr id="263" name="Google Shape;263;p19"/>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64" name="Google Shape;264;p19"/>
          <p:cNvSpPr txBox="1">
            <a:spLocks noGrp="1"/>
          </p:cNvSpPr>
          <p:nvPr>
            <p:ph type="title"/>
          </p:nvPr>
        </p:nvSpPr>
        <p:spPr>
          <a:xfrm>
            <a:off x="78739" y="23825"/>
            <a:ext cx="1140650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Hierarchical Clustering: </a:t>
            </a:r>
            <a:r>
              <a:rPr lang="en-US">
                <a:solidFill>
                  <a:srgbClr val="FF0000"/>
                </a:solidFill>
              </a:rPr>
              <a:t>Agglomerative</a:t>
            </a:r>
            <a:endParaRPr/>
          </a:p>
        </p:txBody>
      </p:sp>
      <p:sp>
        <p:nvSpPr>
          <p:cNvPr id="265" name="Google Shape;265;p19"/>
          <p:cNvSpPr txBox="1"/>
          <p:nvPr/>
        </p:nvSpPr>
        <p:spPr>
          <a:xfrm>
            <a:off x="78739" y="479806"/>
            <a:ext cx="6446520" cy="329565"/>
          </a:xfrm>
          <a:prstGeom prst="rect">
            <a:avLst/>
          </a:prstGeom>
          <a:noFill/>
          <a:ln>
            <a:noFill/>
          </a:ln>
        </p:spPr>
        <p:txBody>
          <a:bodyPr spcFirstLastPara="1" wrap="square" lIns="0" tIns="11425" rIns="0" bIns="0" anchor="t" anchorCtr="0">
            <a:spAutoFit/>
          </a:bodyPr>
          <a:lstStyle/>
          <a:p>
            <a:pPr marL="238125" marR="0" lvl="0" indent="-227329" algn="l" rtl="0">
              <a:lnSpc>
                <a:spcPct val="100000"/>
              </a:lnSpc>
              <a:spcBef>
                <a:spcPts val="0"/>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Let’s say we have six data points </a:t>
            </a:r>
            <a:r>
              <a:rPr lang="en-US" sz="2000" b="1" i="0" u="none" strike="noStrike" cap="none">
                <a:solidFill>
                  <a:srgbClr val="000000"/>
                </a:solidFill>
                <a:latin typeface="Arial"/>
                <a:ea typeface="Arial"/>
                <a:cs typeface="Arial"/>
                <a:sym typeface="Arial"/>
              </a:rPr>
              <a:t>A, B, C, D, E,	and F</a:t>
            </a:r>
            <a:r>
              <a:rPr lang="en-US" sz="2000" b="0" i="0" u="none" strike="noStrike" cap="none">
                <a:solidFill>
                  <a:srgbClr val="000000"/>
                </a:solidFill>
                <a:latin typeface="Helvetica Neue"/>
                <a:ea typeface="Helvetica Neue"/>
                <a:cs typeface="Helvetica Neue"/>
                <a:sym typeface="Helvetica Neue"/>
              </a:rPr>
              <a:t>.</a:t>
            </a:r>
            <a:endParaRPr sz="2000" b="0" i="0" u="none" strike="noStrike" cap="none">
              <a:solidFill>
                <a:srgbClr val="000000"/>
              </a:solidFill>
              <a:latin typeface="Helvetica Neue"/>
              <a:ea typeface="Helvetica Neue"/>
              <a:cs typeface="Helvetica Neue"/>
              <a:sym typeface="Helvetica Neue"/>
            </a:endParaRPr>
          </a:p>
        </p:txBody>
      </p:sp>
      <p:grpSp>
        <p:nvGrpSpPr>
          <p:cNvPr id="266" name="Google Shape;266;p19"/>
          <p:cNvGrpSpPr/>
          <p:nvPr/>
        </p:nvGrpSpPr>
        <p:grpSpPr>
          <a:xfrm>
            <a:off x="3252222" y="1065275"/>
            <a:ext cx="6095986" cy="4329684"/>
            <a:chOff x="3252222" y="1065275"/>
            <a:chExt cx="6095986" cy="4329684"/>
          </a:xfrm>
        </p:grpSpPr>
        <p:pic>
          <p:nvPicPr>
            <p:cNvPr id="267" name="Google Shape;267;p19"/>
            <p:cNvPicPr preferRelativeResize="0"/>
            <p:nvPr/>
          </p:nvPicPr>
          <p:blipFill rotWithShape="1">
            <a:blip r:embed="rId4">
              <a:alphaModFix/>
            </a:blip>
            <a:srcRect/>
            <a:stretch/>
          </p:blipFill>
          <p:spPr>
            <a:xfrm>
              <a:off x="3252222" y="1065275"/>
              <a:ext cx="6095986" cy="4329684"/>
            </a:xfrm>
            <a:prstGeom prst="rect">
              <a:avLst/>
            </a:prstGeom>
            <a:noFill/>
            <a:ln>
              <a:noFill/>
            </a:ln>
          </p:spPr>
        </p:pic>
        <p:pic>
          <p:nvPicPr>
            <p:cNvPr id="268" name="Google Shape;268;p19"/>
            <p:cNvPicPr preferRelativeResize="0"/>
            <p:nvPr/>
          </p:nvPicPr>
          <p:blipFill rotWithShape="1">
            <a:blip r:embed="rId5">
              <a:alphaModFix/>
            </a:blip>
            <a:srcRect/>
            <a:stretch/>
          </p:blipFill>
          <p:spPr>
            <a:xfrm>
              <a:off x="3420491" y="1226819"/>
              <a:ext cx="5758815" cy="4000500"/>
            </a:xfrm>
            <a:prstGeom prst="rect">
              <a:avLst/>
            </a:prstGeom>
            <a:noFill/>
            <a:ln>
              <a:noFill/>
            </a:ln>
          </p:spPr>
        </p:pic>
      </p:grpSp>
      <p:sp>
        <p:nvSpPr>
          <p:cNvPr id="269" name="Google Shape;269;p19"/>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270" name="Google Shape;270;p19"/>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grpSp>
        <p:nvGrpSpPr>
          <p:cNvPr id="275" name="Google Shape;275;p20"/>
          <p:cNvGrpSpPr/>
          <p:nvPr/>
        </p:nvGrpSpPr>
        <p:grpSpPr>
          <a:xfrm>
            <a:off x="0" y="-25"/>
            <a:ext cx="12192000" cy="490752"/>
            <a:chOff x="0" y="-25"/>
            <a:chExt cx="12192000" cy="490752"/>
          </a:xfrm>
        </p:grpSpPr>
        <p:pic>
          <p:nvPicPr>
            <p:cNvPr id="276" name="Google Shape;276;p20"/>
            <p:cNvPicPr preferRelativeResize="0"/>
            <p:nvPr/>
          </p:nvPicPr>
          <p:blipFill rotWithShape="1">
            <a:blip r:embed="rId3">
              <a:alphaModFix/>
            </a:blip>
            <a:srcRect/>
            <a:stretch/>
          </p:blipFill>
          <p:spPr>
            <a:xfrm>
              <a:off x="0" y="0"/>
              <a:ext cx="5949696" cy="490727"/>
            </a:xfrm>
            <a:prstGeom prst="rect">
              <a:avLst/>
            </a:prstGeom>
            <a:noFill/>
            <a:ln>
              <a:noFill/>
            </a:ln>
          </p:spPr>
        </p:pic>
        <p:sp>
          <p:nvSpPr>
            <p:cNvPr id="277" name="Google Shape;277;p20"/>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78" name="Google Shape;278;p20"/>
          <p:cNvSpPr txBox="1">
            <a:spLocks noGrp="1"/>
          </p:cNvSpPr>
          <p:nvPr>
            <p:ph type="title"/>
          </p:nvPr>
        </p:nvSpPr>
        <p:spPr>
          <a:xfrm>
            <a:off x="78739" y="23825"/>
            <a:ext cx="563943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Hierarchical Clustering: </a:t>
            </a:r>
            <a:r>
              <a:rPr lang="en-US">
                <a:solidFill>
                  <a:srgbClr val="FF0000"/>
                </a:solidFill>
              </a:rPr>
              <a:t>Agglomerative</a:t>
            </a:r>
            <a:endParaRPr/>
          </a:p>
        </p:txBody>
      </p:sp>
      <p:sp>
        <p:nvSpPr>
          <p:cNvPr id="279" name="Google Shape;279;p20"/>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280" name="Google Shape;280;p20"/>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20</a:t>
            </a:fld>
            <a:endParaRPr/>
          </a:p>
        </p:txBody>
      </p:sp>
      <p:sp>
        <p:nvSpPr>
          <p:cNvPr id="281" name="Google Shape;281;p20"/>
          <p:cNvSpPr txBox="1"/>
          <p:nvPr/>
        </p:nvSpPr>
        <p:spPr>
          <a:xfrm>
            <a:off x="-11" y="772205"/>
            <a:ext cx="12054300" cy="4632900"/>
          </a:xfrm>
          <a:prstGeom prst="rect">
            <a:avLst/>
          </a:prstGeom>
          <a:noFill/>
          <a:ln>
            <a:noFill/>
          </a:ln>
        </p:spPr>
        <p:txBody>
          <a:bodyPr spcFirstLastPara="1" wrap="square" lIns="0" tIns="165100" rIns="0" bIns="0" anchor="t" anchorCtr="0">
            <a:spAutoFit/>
          </a:bodyPr>
          <a:lstStyle/>
          <a:p>
            <a:pPr marL="1270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Arial"/>
                <a:ea typeface="Arial"/>
                <a:cs typeface="Arial"/>
                <a:sym typeface="Arial"/>
              </a:rPr>
              <a:t>Step-1: </a:t>
            </a:r>
            <a:r>
              <a:rPr lang="en-US" sz="2000" b="0" i="0" u="none" strike="noStrike" cap="none">
                <a:solidFill>
                  <a:srgbClr val="000000"/>
                </a:solidFill>
                <a:latin typeface="Helvetica Neue"/>
                <a:ea typeface="Helvetica Neue"/>
                <a:cs typeface="Helvetica Neue"/>
                <a:sym typeface="Helvetica Neue"/>
              </a:rPr>
              <a:t>Consider each alphabet as a single cluster and calculate the distance of one cluster from all the</a:t>
            </a:r>
            <a:endParaRPr sz="2000" b="0" i="0" u="none" strike="noStrike" cap="none">
              <a:solidFill>
                <a:srgbClr val="000000"/>
              </a:solidFill>
              <a:latin typeface="Helvetica Neue"/>
              <a:ea typeface="Helvetica Neue"/>
              <a:cs typeface="Helvetica Neue"/>
              <a:sym typeface="Helvetica Neue"/>
            </a:endParaRPr>
          </a:p>
          <a:p>
            <a:pPr marL="12700" marR="0" lvl="0" indent="0" algn="just" rtl="0">
              <a:lnSpc>
                <a:spcPct val="100000"/>
              </a:lnSpc>
              <a:spcBef>
                <a:spcPts val="1200"/>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other clusters.</a:t>
            </a:r>
            <a:endParaRPr sz="2000" b="0" i="0" u="none" strike="noStrike" cap="none">
              <a:solidFill>
                <a:srgbClr val="000000"/>
              </a:solidFill>
              <a:latin typeface="Helvetica Neue"/>
              <a:ea typeface="Helvetica Neue"/>
              <a:cs typeface="Helvetica Neue"/>
              <a:sym typeface="Helvetica Neue"/>
            </a:endParaRPr>
          </a:p>
          <a:p>
            <a:pPr marL="12700" marR="5080" lvl="0" indent="0" algn="just" rtl="0">
              <a:lnSpc>
                <a:spcPct val="150100"/>
              </a:lnSpc>
              <a:spcBef>
                <a:spcPts val="0"/>
              </a:spcBef>
              <a:spcAft>
                <a:spcPts val="0"/>
              </a:spcAft>
              <a:buClr>
                <a:srgbClr val="000000"/>
              </a:buClr>
              <a:buSzPts val="2000"/>
              <a:buFont typeface="Arial"/>
              <a:buNone/>
            </a:pPr>
            <a:r>
              <a:rPr lang="en-US" sz="2000" b="1" i="0" u="none" strike="noStrike" cap="none">
                <a:solidFill>
                  <a:srgbClr val="FF0000"/>
                </a:solidFill>
                <a:latin typeface="Arial"/>
                <a:ea typeface="Arial"/>
                <a:cs typeface="Arial"/>
                <a:sym typeface="Arial"/>
              </a:rPr>
              <a:t>Step-2: </a:t>
            </a:r>
            <a:r>
              <a:rPr lang="en-US" sz="2000" b="0" i="0" u="none" strike="noStrike" cap="none">
                <a:solidFill>
                  <a:srgbClr val="000000"/>
                </a:solidFill>
                <a:latin typeface="Helvetica Neue"/>
                <a:ea typeface="Helvetica Neue"/>
                <a:cs typeface="Helvetica Neue"/>
                <a:sym typeface="Helvetica Neue"/>
              </a:rPr>
              <a:t>In the second step comparable clusters are merged together to form a single cluster. Let’s say cluster (B) and cluster (C) are very similar to each other therefore we merge them in the second step similarly to cluster (D) and (E) and at last, we get the clusters [(A), (BC), (DE), (F)]</a:t>
            </a:r>
            <a:endParaRPr sz="2000" b="0" i="0" u="none" strike="noStrike" cap="none">
              <a:solidFill>
                <a:srgbClr val="000000"/>
              </a:solidFill>
              <a:latin typeface="Helvetica Neue"/>
              <a:ea typeface="Helvetica Neue"/>
              <a:cs typeface="Helvetica Neue"/>
              <a:sym typeface="Helvetica Neue"/>
            </a:endParaRPr>
          </a:p>
          <a:p>
            <a:pPr marL="12700" marR="0" lvl="0" indent="0" algn="just" rtl="0">
              <a:lnSpc>
                <a:spcPct val="100000"/>
              </a:lnSpc>
              <a:spcBef>
                <a:spcPts val="1205"/>
              </a:spcBef>
              <a:spcAft>
                <a:spcPts val="0"/>
              </a:spcAft>
              <a:buClr>
                <a:srgbClr val="000000"/>
              </a:buClr>
              <a:buSzPts val="2000"/>
              <a:buFont typeface="Arial"/>
              <a:buNone/>
            </a:pPr>
            <a:r>
              <a:rPr lang="en-US" sz="2000" b="1" i="0" u="none" strike="noStrike" cap="none">
                <a:solidFill>
                  <a:srgbClr val="FF0000"/>
                </a:solidFill>
                <a:latin typeface="Arial"/>
                <a:ea typeface="Arial"/>
                <a:cs typeface="Arial"/>
                <a:sym typeface="Arial"/>
              </a:rPr>
              <a:t>Step-3: </a:t>
            </a:r>
            <a:r>
              <a:rPr lang="en-US" sz="2000" b="0" i="0" u="none" strike="noStrike" cap="none">
                <a:solidFill>
                  <a:srgbClr val="000000"/>
                </a:solidFill>
                <a:latin typeface="Helvetica Neue"/>
                <a:ea typeface="Helvetica Neue"/>
                <a:cs typeface="Helvetica Neue"/>
                <a:sym typeface="Helvetica Neue"/>
              </a:rPr>
              <a:t>We recalculate the proximity according to the algorithm and merge the two nearest clusters([(DE),</a:t>
            </a:r>
            <a:endParaRPr sz="2000" b="0" i="0" u="none" strike="noStrike" cap="none">
              <a:solidFill>
                <a:srgbClr val="000000"/>
              </a:solidFill>
              <a:latin typeface="Helvetica Neue"/>
              <a:ea typeface="Helvetica Neue"/>
              <a:cs typeface="Helvetica Neue"/>
              <a:sym typeface="Helvetica Neue"/>
            </a:endParaRPr>
          </a:p>
          <a:p>
            <a:pPr marL="12700" marR="0" lvl="0" indent="0" algn="just" rtl="0">
              <a:lnSpc>
                <a:spcPct val="100000"/>
              </a:lnSpc>
              <a:spcBef>
                <a:spcPts val="1200"/>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(F)]) together to form new clusters as [(A), (BC), (DEF)]</a:t>
            </a:r>
            <a:endParaRPr sz="2000" b="0" i="0" u="none" strike="noStrike" cap="none">
              <a:solidFill>
                <a:srgbClr val="000000"/>
              </a:solidFill>
              <a:latin typeface="Helvetica Neue"/>
              <a:ea typeface="Helvetica Neue"/>
              <a:cs typeface="Helvetica Neue"/>
              <a:sym typeface="Helvetica Neue"/>
            </a:endParaRPr>
          </a:p>
          <a:p>
            <a:pPr marL="12700" marR="0" lvl="0" indent="0" algn="just" rtl="0">
              <a:lnSpc>
                <a:spcPct val="100000"/>
              </a:lnSpc>
              <a:spcBef>
                <a:spcPts val="1200"/>
              </a:spcBef>
              <a:spcAft>
                <a:spcPts val="0"/>
              </a:spcAft>
              <a:buClr>
                <a:srgbClr val="000000"/>
              </a:buClr>
              <a:buSzPts val="2000"/>
              <a:buFont typeface="Arial"/>
              <a:buNone/>
            </a:pPr>
            <a:r>
              <a:rPr lang="en-US" sz="2000" b="1" i="0" u="none" strike="noStrike" cap="none">
                <a:solidFill>
                  <a:srgbClr val="FF0000"/>
                </a:solidFill>
                <a:latin typeface="Arial"/>
                <a:ea typeface="Arial"/>
                <a:cs typeface="Arial"/>
                <a:sym typeface="Arial"/>
              </a:rPr>
              <a:t>Step-4: </a:t>
            </a:r>
            <a:r>
              <a:rPr lang="en-US" sz="2000" b="0" i="0" u="none" strike="noStrike" cap="none">
                <a:solidFill>
                  <a:srgbClr val="000000"/>
                </a:solidFill>
                <a:latin typeface="Helvetica Neue"/>
                <a:ea typeface="Helvetica Neue"/>
                <a:cs typeface="Helvetica Neue"/>
                <a:sym typeface="Helvetica Neue"/>
              </a:rPr>
              <a:t>Repeating the same process; The clusters DEF and BC are comparable and merged together to</a:t>
            </a:r>
            <a:endParaRPr sz="2000" b="0" i="0" u="none" strike="noStrike" cap="none">
              <a:solidFill>
                <a:srgbClr val="000000"/>
              </a:solidFill>
              <a:latin typeface="Helvetica Neue"/>
              <a:ea typeface="Helvetica Neue"/>
              <a:cs typeface="Helvetica Neue"/>
              <a:sym typeface="Helvetica Neue"/>
            </a:endParaRPr>
          </a:p>
          <a:p>
            <a:pPr marL="12700" marR="0" lvl="0" indent="0" algn="just" rtl="0">
              <a:lnSpc>
                <a:spcPct val="100000"/>
              </a:lnSpc>
              <a:spcBef>
                <a:spcPts val="1205"/>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form a new cluster. We’re now left with clusters [(A), (BCDEF)].</a:t>
            </a:r>
            <a:endParaRPr sz="2000" b="0" i="0" u="none" strike="noStrike" cap="none">
              <a:solidFill>
                <a:srgbClr val="000000"/>
              </a:solidFill>
              <a:latin typeface="Helvetica Neue"/>
              <a:ea typeface="Helvetica Neue"/>
              <a:cs typeface="Helvetica Neue"/>
              <a:sym typeface="Helvetica Neue"/>
            </a:endParaRPr>
          </a:p>
          <a:p>
            <a:pPr marL="12700" marR="0" lvl="0" indent="0" algn="just" rtl="0">
              <a:lnSpc>
                <a:spcPct val="100000"/>
              </a:lnSpc>
              <a:spcBef>
                <a:spcPts val="1200"/>
              </a:spcBef>
              <a:spcAft>
                <a:spcPts val="0"/>
              </a:spcAft>
              <a:buClr>
                <a:srgbClr val="000000"/>
              </a:buClr>
              <a:buSzPts val="2000"/>
              <a:buFont typeface="Arial"/>
              <a:buNone/>
            </a:pPr>
            <a:r>
              <a:rPr lang="en-US" sz="2000" b="1" i="0" u="none" strike="noStrike" cap="none">
                <a:solidFill>
                  <a:srgbClr val="FF0000"/>
                </a:solidFill>
                <a:latin typeface="Arial"/>
                <a:ea typeface="Arial"/>
                <a:cs typeface="Arial"/>
                <a:sym typeface="Arial"/>
              </a:rPr>
              <a:t>Step-5: </a:t>
            </a:r>
            <a:r>
              <a:rPr lang="en-US" sz="2000" b="0" i="0" u="none" strike="noStrike" cap="none">
                <a:solidFill>
                  <a:srgbClr val="000000"/>
                </a:solidFill>
                <a:latin typeface="Helvetica Neue"/>
                <a:ea typeface="Helvetica Neue"/>
                <a:cs typeface="Helvetica Neue"/>
                <a:sym typeface="Helvetica Neue"/>
              </a:rPr>
              <a:t>At last the two remaining clusters are merged together to form a single cluster [(ABCDEF)].</a:t>
            </a:r>
            <a:endParaRPr sz="20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g2cd13566cc6_0_0"/>
          <p:cNvSpPr txBox="1">
            <a:spLocks noGrp="1"/>
          </p:cNvSpPr>
          <p:nvPr>
            <p:ph type="title"/>
          </p:nvPr>
        </p:nvSpPr>
        <p:spPr>
          <a:xfrm>
            <a:off x="78739" y="23825"/>
            <a:ext cx="11406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287" name="Google Shape;287;g2cd13566cc6_0_0"/>
          <p:cNvSpPr txBox="1">
            <a:spLocks noGrp="1"/>
          </p:cNvSpPr>
          <p:nvPr>
            <p:ph type="sldNum" idx="12"/>
          </p:nvPr>
        </p:nvSpPr>
        <p:spPr>
          <a:xfrm>
            <a:off x="11074654" y="6466738"/>
            <a:ext cx="241200" cy="1848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SzPts val="1200"/>
              <a:buFont typeface="Arial"/>
              <a:buNone/>
            </a:pPr>
            <a:fld id="{00000000-1234-1234-1234-123412341234}" type="slidenum">
              <a:rPr lang="en-US"/>
              <a:t>21</a:t>
            </a:fld>
            <a:endParaRPr/>
          </a:p>
        </p:txBody>
      </p:sp>
      <p:pic>
        <p:nvPicPr>
          <p:cNvPr id="288" name="Google Shape;288;g2cd13566cc6_0_0"/>
          <p:cNvPicPr preferRelativeResize="0"/>
          <p:nvPr/>
        </p:nvPicPr>
        <p:blipFill>
          <a:blip r:embed="rId3">
            <a:alphaModFix/>
          </a:blip>
          <a:stretch>
            <a:fillRect/>
          </a:stretch>
        </p:blipFill>
        <p:spPr>
          <a:xfrm>
            <a:off x="366713" y="1380271"/>
            <a:ext cx="6124575" cy="676275"/>
          </a:xfrm>
          <a:prstGeom prst="rect">
            <a:avLst/>
          </a:prstGeom>
          <a:noFill/>
          <a:ln>
            <a:noFill/>
          </a:ln>
        </p:spPr>
      </p:pic>
      <p:sp>
        <p:nvSpPr>
          <p:cNvPr id="289" name="Google Shape;289;g2cd13566cc6_0_0"/>
          <p:cNvSpPr txBox="1"/>
          <p:nvPr/>
        </p:nvSpPr>
        <p:spPr>
          <a:xfrm>
            <a:off x="590550" y="704850"/>
            <a:ext cx="10972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b="1">
                <a:solidFill>
                  <a:schemeClr val="dk1"/>
                </a:solidFill>
                <a:latin typeface="Calibri"/>
                <a:ea typeface="Calibri"/>
                <a:cs typeface="Calibri"/>
                <a:sym typeface="Calibri"/>
              </a:rPr>
              <a:t>Problem on Basic agglomerative Hierarchical Clustering</a:t>
            </a:r>
            <a:endParaRPr sz="1800" b="1">
              <a:solidFill>
                <a:schemeClr val="dk1"/>
              </a:solidFill>
              <a:latin typeface="Calibri"/>
              <a:ea typeface="Calibri"/>
              <a:cs typeface="Calibri"/>
              <a:sym typeface="Calibri"/>
            </a:endParaRPr>
          </a:p>
        </p:txBody>
      </p:sp>
      <p:pic>
        <p:nvPicPr>
          <p:cNvPr id="290" name="Google Shape;290;g2cd13566cc6_0_0"/>
          <p:cNvPicPr preferRelativeResize="0"/>
          <p:nvPr/>
        </p:nvPicPr>
        <p:blipFill>
          <a:blip r:embed="rId4">
            <a:alphaModFix/>
          </a:blip>
          <a:stretch>
            <a:fillRect/>
          </a:stretch>
        </p:blipFill>
        <p:spPr>
          <a:xfrm>
            <a:off x="1504950" y="2270271"/>
            <a:ext cx="5200650" cy="2695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g2cd13566cc6_0_9"/>
          <p:cNvSpPr txBox="1">
            <a:spLocks noGrp="1"/>
          </p:cNvSpPr>
          <p:nvPr>
            <p:ph type="title"/>
          </p:nvPr>
        </p:nvSpPr>
        <p:spPr>
          <a:xfrm>
            <a:off x="78739" y="23825"/>
            <a:ext cx="11406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296" name="Google Shape;296;g2cd13566cc6_0_9"/>
          <p:cNvSpPr txBox="1">
            <a:spLocks noGrp="1"/>
          </p:cNvSpPr>
          <p:nvPr>
            <p:ph type="sldNum" idx="12"/>
          </p:nvPr>
        </p:nvSpPr>
        <p:spPr>
          <a:xfrm>
            <a:off x="11074654" y="6466738"/>
            <a:ext cx="241200" cy="1848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SzPts val="1200"/>
              <a:buFont typeface="Arial"/>
              <a:buNone/>
            </a:pPr>
            <a:fld id="{00000000-1234-1234-1234-123412341234}" type="slidenum">
              <a:rPr lang="en-US"/>
              <a:t>22</a:t>
            </a:fld>
            <a:endParaRPr/>
          </a:p>
        </p:txBody>
      </p:sp>
      <p:pic>
        <p:nvPicPr>
          <p:cNvPr id="297" name="Google Shape;297;g2cd13566cc6_0_9"/>
          <p:cNvPicPr preferRelativeResize="0"/>
          <p:nvPr/>
        </p:nvPicPr>
        <p:blipFill>
          <a:blip r:embed="rId3">
            <a:alphaModFix/>
          </a:blip>
          <a:stretch>
            <a:fillRect/>
          </a:stretch>
        </p:blipFill>
        <p:spPr>
          <a:xfrm>
            <a:off x="225695" y="659825"/>
            <a:ext cx="5534025" cy="3200400"/>
          </a:xfrm>
          <a:prstGeom prst="rect">
            <a:avLst/>
          </a:prstGeom>
          <a:noFill/>
          <a:ln>
            <a:noFill/>
          </a:ln>
        </p:spPr>
      </p:pic>
      <p:pic>
        <p:nvPicPr>
          <p:cNvPr id="298" name="Google Shape;298;g2cd13566cc6_0_9"/>
          <p:cNvPicPr preferRelativeResize="0"/>
          <p:nvPr/>
        </p:nvPicPr>
        <p:blipFill>
          <a:blip r:embed="rId4">
            <a:alphaModFix/>
          </a:blip>
          <a:stretch>
            <a:fillRect/>
          </a:stretch>
        </p:blipFill>
        <p:spPr>
          <a:xfrm>
            <a:off x="6002625" y="764600"/>
            <a:ext cx="5905500" cy="3200400"/>
          </a:xfrm>
          <a:prstGeom prst="rect">
            <a:avLst/>
          </a:prstGeom>
          <a:noFill/>
          <a:ln>
            <a:noFill/>
          </a:ln>
        </p:spPr>
      </p:pic>
      <p:pic>
        <p:nvPicPr>
          <p:cNvPr id="299" name="Google Shape;299;g2cd13566cc6_0_9"/>
          <p:cNvPicPr preferRelativeResize="0"/>
          <p:nvPr/>
        </p:nvPicPr>
        <p:blipFill>
          <a:blip r:embed="rId5">
            <a:alphaModFix/>
          </a:blip>
          <a:stretch>
            <a:fillRect/>
          </a:stretch>
        </p:blipFill>
        <p:spPr>
          <a:xfrm>
            <a:off x="361950" y="3965000"/>
            <a:ext cx="5295901" cy="3031325"/>
          </a:xfrm>
          <a:prstGeom prst="rect">
            <a:avLst/>
          </a:prstGeom>
          <a:noFill/>
          <a:ln>
            <a:noFill/>
          </a:ln>
        </p:spPr>
      </p:pic>
      <p:pic>
        <p:nvPicPr>
          <p:cNvPr id="300" name="Google Shape;300;g2cd13566cc6_0_9"/>
          <p:cNvPicPr preferRelativeResize="0"/>
          <p:nvPr/>
        </p:nvPicPr>
        <p:blipFill rotWithShape="1">
          <a:blip r:embed="rId6">
            <a:alphaModFix/>
          </a:blip>
          <a:srcRect r="-16076"/>
          <a:stretch/>
        </p:blipFill>
        <p:spPr>
          <a:xfrm>
            <a:off x="6002625" y="4057650"/>
            <a:ext cx="5905501" cy="27171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g2cd13566cc6_0_20"/>
          <p:cNvSpPr txBox="1">
            <a:spLocks noGrp="1"/>
          </p:cNvSpPr>
          <p:nvPr>
            <p:ph type="title"/>
          </p:nvPr>
        </p:nvSpPr>
        <p:spPr>
          <a:xfrm>
            <a:off x="78739" y="23825"/>
            <a:ext cx="11406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306" name="Google Shape;306;g2cd13566cc6_0_20"/>
          <p:cNvSpPr txBox="1">
            <a:spLocks noGrp="1"/>
          </p:cNvSpPr>
          <p:nvPr>
            <p:ph type="sldNum" idx="12"/>
          </p:nvPr>
        </p:nvSpPr>
        <p:spPr>
          <a:xfrm>
            <a:off x="11074654" y="6466738"/>
            <a:ext cx="241200" cy="1848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SzPts val="1200"/>
              <a:buFont typeface="Arial"/>
              <a:buNone/>
            </a:pPr>
            <a:fld id="{00000000-1234-1234-1234-123412341234}" type="slidenum">
              <a:rPr lang="en-US"/>
              <a:t>23</a:t>
            </a:fld>
            <a:endParaRPr/>
          </a:p>
        </p:txBody>
      </p:sp>
      <p:pic>
        <p:nvPicPr>
          <p:cNvPr id="307" name="Google Shape;307;g2cd13566cc6_0_20"/>
          <p:cNvPicPr preferRelativeResize="0"/>
          <p:nvPr/>
        </p:nvPicPr>
        <p:blipFill>
          <a:blip r:embed="rId3">
            <a:alphaModFix/>
          </a:blip>
          <a:stretch>
            <a:fillRect/>
          </a:stretch>
        </p:blipFill>
        <p:spPr>
          <a:xfrm>
            <a:off x="301900" y="484925"/>
            <a:ext cx="5534025" cy="3591775"/>
          </a:xfrm>
          <a:prstGeom prst="rect">
            <a:avLst/>
          </a:prstGeom>
          <a:noFill/>
          <a:ln>
            <a:noFill/>
          </a:ln>
        </p:spPr>
      </p:pic>
      <p:pic>
        <p:nvPicPr>
          <p:cNvPr id="308" name="Google Shape;308;g2cd13566cc6_0_20"/>
          <p:cNvPicPr preferRelativeResize="0"/>
          <p:nvPr/>
        </p:nvPicPr>
        <p:blipFill>
          <a:blip r:embed="rId4">
            <a:alphaModFix/>
          </a:blip>
          <a:stretch>
            <a:fillRect/>
          </a:stretch>
        </p:blipFill>
        <p:spPr>
          <a:xfrm>
            <a:off x="6161375" y="564575"/>
            <a:ext cx="6030624" cy="2102425"/>
          </a:xfrm>
          <a:prstGeom prst="rect">
            <a:avLst/>
          </a:prstGeom>
          <a:noFill/>
          <a:ln>
            <a:noFill/>
          </a:ln>
        </p:spPr>
      </p:pic>
      <p:pic>
        <p:nvPicPr>
          <p:cNvPr id="309" name="Google Shape;309;g2cd13566cc6_0_20"/>
          <p:cNvPicPr preferRelativeResize="0"/>
          <p:nvPr/>
        </p:nvPicPr>
        <p:blipFill>
          <a:blip r:embed="rId5">
            <a:alphaModFix/>
          </a:blip>
          <a:stretch>
            <a:fillRect/>
          </a:stretch>
        </p:blipFill>
        <p:spPr>
          <a:xfrm>
            <a:off x="6007375" y="2896538"/>
            <a:ext cx="5917924" cy="3340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grpSp>
        <p:nvGrpSpPr>
          <p:cNvPr id="314" name="Google Shape;314;p21"/>
          <p:cNvGrpSpPr/>
          <p:nvPr/>
        </p:nvGrpSpPr>
        <p:grpSpPr>
          <a:xfrm>
            <a:off x="0" y="-25"/>
            <a:ext cx="12192000" cy="490752"/>
            <a:chOff x="0" y="-25"/>
            <a:chExt cx="12192000" cy="490752"/>
          </a:xfrm>
        </p:grpSpPr>
        <p:pic>
          <p:nvPicPr>
            <p:cNvPr id="315" name="Google Shape;315;p21"/>
            <p:cNvPicPr preferRelativeResize="0"/>
            <p:nvPr/>
          </p:nvPicPr>
          <p:blipFill rotWithShape="1">
            <a:blip r:embed="rId3">
              <a:alphaModFix/>
            </a:blip>
            <a:srcRect/>
            <a:stretch/>
          </p:blipFill>
          <p:spPr>
            <a:xfrm>
              <a:off x="0" y="0"/>
              <a:ext cx="5001768" cy="490727"/>
            </a:xfrm>
            <a:prstGeom prst="rect">
              <a:avLst/>
            </a:prstGeom>
            <a:noFill/>
            <a:ln>
              <a:noFill/>
            </a:ln>
          </p:spPr>
        </p:pic>
        <p:sp>
          <p:nvSpPr>
            <p:cNvPr id="316" name="Google Shape;316;p21"/>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17" name="Google Shape;317;p21"/>
          <p:cNvSpPr txBox="1">
            <a:spLocks noGrp="1"/>
          </p:cNvSpPr>
          <p:nvPr>
            <p:ph type="title"/>
          </p:nvPr>
        </p:nvSpPr>
        <p:spPr>
          <a:xfrm>
            <a:off x="78739" y="23825"/>
            <a:ext cx="469138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Hierarchical Clustering: </a:t>
            </a:r>
            <a:r>
              <a:rPr lang="en-US">
                <a:solidFill>
                  <a:srgbClr val="FF0000"/>
                </a:solidFill>
              </a:rPr>
              <a:t>Divisive</a:t>
            </a:r>
            <a:endParaRPr/>
          </a:p>
        </p:txBody>
      </p:sp>
      <p:sp>
        <p:nvSpPr>
          <p:cNvPr id="318" name="Google Shape;318;p21"/>
          <p:cNvSpPr txBox="1"/>
          <p:nvPr/>
        </p:nvSpPr>
        <p:spPr>
          <a:xfrm>
            <a:off x="-11" y="490725"/>
            <a:ext cx="5517000" cy="6210900"/>
          </a:xfrm>
          <a:prstGeom prst="rect">
            <a:avLst/>
          </a:prstGeom>
          <a:noFill/>
          <a:ln>
            <a:noFill/>
          </a:ln>
        </p:spPr>
        <p:txBody>
          <a:bodyPr spcFirstLastPara="1" wrap="square" lIns="0" tIns="12050" rIns="0" bIns="0" anchor="t" anchorCtr="0">
            <a:spAutoFit/>
          </a:bodyPr>
          <a:lstStyle/>
          <a:p>
            <a:pPr marL="12700" marR="5080" lvl="0" indent="-133350" algn="just" rtl="0">
              <a:lnSpc>
                <a:spcPct val="150100"/>
              </a:lnSpc>
              <a:spcBef>
                <a:spcPts val="0"/>
              </a:spcBef>
              <a:spcAft>
                <a:spcPts val="0"/>
              </a:spcAft>
              <a:buClr>
                <a:srgbClr val="FF0000"/>
              </a:buClr>
              <a:buSzPts val="2100"/>
              <a:buFont typeface="Noto Sans Symbols"/>
              <a:buChar char="❑"/>
            </a:pPr>
            <a:r>
              <a:rPr lang="en-US" sz="2200" b="1" i="0" u="none" strike="noStrike" cap="none">
                <a:solidFill>
                  <a:srgbClr val="FF0000"/>
                </a:solidFill>
                <a:latin typeface="Arial"/>
                <a:ea typeface="Arial"/>
                <a:cs typeface="Arial"/>
                <a:sym typeface="Arial"/>
              </a:rPr>
              <a:t>	Divisive:  </a:t>
            </a:r>
            <a:r>
              <a:rPr lang="en-US" sz="2200" b="0" i="0" u="none" strike="noStrike" cap="none">
                <a:solidFill>
                  <a:srgbClr val="000000"/>
                </a:solidFill>
                <a:latin typeface="Helvetica Neue"/>
                <a:ea typeface="Helvetica Neue"/>
                <a:cs typeface="Helvetica Neue"/>
                <a:sym typeface="Helvetica Neue"/>
              </a:rPr>
              <a:t>We  can  say  that  Divisive Hierarchical    clustering    is    precisely the </a:t>
            </a:r>
            <a:r>
              <a:rPr lang="en-US" sz="2200" b="1" i="0" u="none" strike="noStrike" cap="none">
                <a:solidFill>
                  <a:srgbClr val="000000"/>
                </a:solidFill>
                <a:latin typeface="Arial"/>
                <a:ea typeface="Arial"/>
                <a:cs typeface="Arial"/>
                <a:sym typeface="Arial"/>
              </a:rPr>
              <a:t>opposite </a:t>
            </a:r>
            <a:r>
              <a:rPr lang="en-US" sz="2200" b="0" i="0" u="none" strike="noStrike" cap="none">
                <a:solidFill>
                  <a:srgbClr val="000000"/>
                </a:solidFill>
                <a:latin typeface="Helvetica Neue"/>
                <a:ea typeface="Helvetica Neue"/>
                <a:cs typeface="Helvetica Neue"/>
                <a:sym typeface="Helvetica Neue"/>
              </a:rPr>
              <a:t>of Agglomerative Hierarchical clustering.</a:t>
            </a:r>
            <a:endParaRPr sz="2200" b="0" i="0" u="none" strike="noStrike" cap="none">
              <a:solidFill>
                <a:srgbClr val="000000"/>
              </a:solidFill>
              <a:latin typeface="Helvetica Neue"/>
              <a:ea typeface="Helvetica Neue"/>
              <a:cs typeface="Helvetica Neue"/>
              <a:sym typeface="Helvetica Neue"/>
            </a:endParaRPr>
          </a:p>
          <a:p>
            <a:pPr marL="12700" marR="5080" lvl="0" indent="-133350" algn="just" rtl="0">
              <a:lnSpc>
                <a:spcPct val="180000"/>
              </a:lnSpc>
              <a:spcBef>
                <a:spcPts val="35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	In Divisive Hierarchical clustering, we take into  account  all  of  the  data  points  as  a single  cluster  and  in  every  iteration,  we</a:t>
            </a:r>
            <a:endParaRPr sz="2200" b="0" i="0" u="none" strike="noStrike" cap="none">
              <a:solidFill>
                <a:srgbClr val="000000"/>
              </a:solidFill>
              <a:latin typeface="Helvetica Neue"/>
              <a:ea typeface="Helvetica Neue"/>
              <a:cs typeface="Helvetica Neue"/>
              <a:sym typeface="Helvetica Neue"/>
            </a:endParaRPr>
          </a:p>
          <a:p>
            <a:pPr marL="12700" marR="5715" lvl="0" indent="0" algn="just" rtl="0">
              <a:lnSpc>
                <a:spcPct val="180000"/>
              </a:lnSpc>
              <a:spcBef>
                <a:spcPts val="5"/>
              </a:spcBef>
              <a:spcAft>
                <a:spcPts val="0"/>
              </a:spcAft>
              <a:buClr>
                <a:srgbClr val="000000"/>
              </a:buClr>
              <a:buSzPts val="2200"/>
              <a:buFont typeface="Arial"/>
              <a:buNone/>
            </a:pPr>
            <a:r>
              <a:rPr lang="en-US" sz="2200" b="0" i="0" u="none" strike="noStrike" cap="none">
                <a:solidFill>
                  <a:srgbClr val="000000"/>
                </a:solidFill>
                <a:latin typeface="Helvetica Neue"/>
                <a:ea typeface="Helvetica Neue"/>
                <a:cs typeface="Helvetica Neue"/>
                <a:sym typeface="Helvetica Neue"/>
              </a:rPr>
              <a:t>separate the data points from the clusters which aren’t comparable.</a:t>
            </a:r>
            <a:endParaRPr sz="2200" b="0" i="0" u="none" strike="noStrike" cap="none">
              <a:solidFill>
                <a:srgbClr val="000000"/>
              </a:solidFill>
              <a:latin typeface="Helvetica Neue"/>
              <a:ea typeface="Helvetica Neue"/>
              <a:cs typeface="Helvetica Neue"/>
              <a:sym typeface="Helvetica Neue"/>
            </a:endParaRPr>
          </a:p>
          <a:p>
            <a:pPr marL="262255" marR="0" lvl="0" indent="-261619" algn="just" rtl="0">
              <a:lnSpc>
                <a:spcPct val="100000"/>
              </a:lnSpc>
              <a:spcBef>
                <a:spcPts val="969"/>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In the end, we are left with N clusters.</a:t>
            </a:r>
            <a:endParaRPr sz="2200" b="0" i="0" u="none" strike="noStrike" cap="none">
              <a:solidFill>
                <a:srgbClr val="000000"/>
              </a:solidFill>
              <a:latin typeface="Helvetica Neue"/>
              <a:ea typeface="Helvetica Neue"/>
              <a:cs typeface="Helvetica Neue"/>
              <a:sym typeface="Helvetica Neue"/>
            </a:endParaRPr>
          </a:p>
        </p:txBody>
      </p:sp>
      <p:pic>
        <p:nvPicPr>
          <p:cNvPr id="319" name="Google Shape;319;p21"/>
          <p:cNvPicPr preferRelativeResize="0"/>
          <p:nvPr/>
        </p:nvPicPr>
        <p:blipFill rotWithShape="1">
          <a:blip r:embed="rId4">
            <a:alphaModFix/>
          </a:blip>
          <a:srcRect/>
          <a:stretch/>
        </p:blipFill>
        <p:spPr>
          <a:xfrm>
            <a:off x="6159817" y="837247"/>
            <a:ext cx="5651182" cy="3756659"/>
          </a:xfrm>
          <a:prstGeom prst="rect">
            <a:avLst/>
          </a:prstGeom>
          <a:noFill/>
          <a:ln>
            <a:noFill/>
          </a:ln>
        </p:spPr>
      </p:pic>
      <p:sp>
        <p:nvSpPr>
          <p:cNvPr id="320" name="Google Shape;320;p21"/>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321" name="Google Shape;321;p21"/>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grpSp>
        <p:nvGrpSpPr>
          <p:cNvPr id="326" name="Google Shape;326;p22"/>
          <p:cNvGrpSpPr/>
          <p:nvPr/>
        </p:nvGrpSpPr>
        <p:grpSpPr>
          <a:xfrm>
            <a:off x="0" y="-25"/>
            <a:ext cx="12192000" cy="490752"/>
            <a:chOff x="0" y="-25"/>
            <a:chExt cx="12192000" cy="490752"/>
          </a:xfrm>
        </p:grpSpPr>
        <p:pic>
          <p:nvPicPr>
            <p:cNvPr id="327" name="Google Shape;327;p22"/>
            <p:cNvPicPr preferRelativeResize="0"/>
            <p:nvPr/>
          </p:nvPicPr>
          <p:blipFill rotWithShape="1">
            <a:blip r:embed="rId3">
              <a:alphaModFix/>
            </a:blip>
            <a:srcRect/>
            <a:stretch/>
          </p:blipFill>
          <p:spPr>
            <a:xfrm>
              <a:off x="0" y="0"/>
              <a:ext cx="4907280" cy="490727"/>
            </a:xfrm>
            <a:prstGeom prst="rect">
              <a:avLst/>
            </a:prstGeom>
            <a:noFill/>
            <a:ln>
              <a:noFill/>
            </a:ln>
          </p:spPr>
        </p:pic>
        <p:sp>
          <p:nvSpPr>
            <p:cNvPr id="328" name="Google Shape;328;p22"/>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9" name="Google Shape;329;p22"/>
          <p:cNvSpPr txBox="1">
            <a:spLocks noGrp="1"/>
          </p:cNvSpPr>
          <p:nvPr>
            <p:ph type="title"/>
          </p:nvPr>
        </p:nvSpPr>
        <p:spPr>
          <a:xfrm>
            <a:off x="78739" y="23825"/>
            <a:ext cx="451167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Hierarchical Clustering: </a:t>
            </a:r>
            <a:r>
              <a:rPr lang="en-US">
                <a:solidFill>
                  <a:srgbClr val="FF0000"/>
                </a:solidFill>
              </a:rPr>
              <a:t>BIRCH</a:t>
            </a:r>
            <a:endParaRPr/>
          </a:p>
        </p:txBody>
      </p:sp>
      <p:sp>
        <p:nvSpPr>
          <p:cNvPr id="330" name="Google Shape;330;p22"/>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331" name="Google Shape;331;p22"/>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25</a:t>
            </a:fld>
            <a:endParaRPr/>
          </a:p>
        </p:txBody>
      </p:sp>
      <p:sp>
        <p:nvSpPr>
          <p:cNvPr id="332" name="Google Shape;332;p22"/>
          <p:cNvSpPr txBox="1"/>
          <p:nvPr/>
        </p:nvSpPr>
        <p:spPr>
          <a:xfrm>
            <a:off x="67626" y="675890"/>
            <a:ext cx="12056700" cy="4619700"/>
          </a:xfrm>
          <a:prstGeom prst="rect">
            <a:avLst/>
          </a:prstGeom>
          <a:noFill/>
          <a:ln>
            <a:noFill/>
          </a:ln>
        </p:spPr>
        <p:txBody>
          <a:bodyPr spcFirstLastPara="1" wrap="square" lIns="0" tIns="12050" rIns="0" bIns="0" anchor="t" anchorCtr="0">
            <a:spAutoFit/>
          </a:bodyPr>
          <a:lstStyle/>
          <a:p>
            <a:pPr marL="12700" marR="5080" lvl="0" indent="-133350" algn="just" rtl="0">
              <a:lnSpc>
                <a:spcPct val="150100"/>
              </a:lnSpc>
              <a:spcBef>
                <a:spcPts val="0"/>
              </a:spcBef>
              <a:spcAft>
                <a:spcPts val="0"/>
              </a:spcAft>
              <a:buClr>
                <a:srgbClr val="000000"/>
              </a:buClr>
              <a:buSzPts val="2100"/>
              <a:buFont typeface="Noto Sans Symbols"/>
              <a:buChar char="❑"/>
            </a:pPr>
            <a:r>
              <a:rPr lang="en-US" sz="2200" b="1" i="0" u="none" strike="noStrike" cap="none">
                <a:solidFill>
                  <a:srgbClr val="000000"/>
                </a:solidFill>
                <a:latin typeface="Arial"/>
                <a:ea typeface="Arial"/>
                <a:cs typeface="Arial"/>
                <a:sym typeface="Arial"/>
              </a:rPr>
              <a:t>	Balanced Iterative Reducing and Clustering using Hierarchies (BIRCH) </a:t>
            </a:r>
            <a:r>
              <a:rPr lang="en-US" sz="2200" b="0" i="0" u="none" strike="noStrike" cap="none">
                <a:solidFill>
                  <a:srgbClr val="000000"/>
                </a:solidFill>
                <a:latin typeface="Helvetica Neue"/>
                <a:ea typeface="Helvetica Neue"/>
                <a:cs typeface="Helvetica Neue"/>
                <a:sym typeface="Helvetica Neue"/>
              </a:rPr>
              <a:t>is a clustering algorithm that can cluster large datasets by first generating a small and compact summary of the large dataset that retains as much information as possible.</a:t>
            </a:r>
            <a:endParaRPr sz="2200" b="0" i="0" u="none" strike="noStrike" cap="none">
              <a:solidFill>
                <a:srgbClr val="000000"/>
              </a:solidFill>
              <a:latin typeface="Helvetica Neue"/>
              <a:ea typeface="Helvetica Neue"/>
              <a:cs typeface="Helvetica Neue"/>
              <a:sym typeface="Helvetica Neue"/>
            </a:endParaRPr>
          </a:p>
          <a:p>
            <a:pPr marL="262255" marR="0" lvl="0" indent="-250825" algn="just" rtl="0">
              <a:lnSpc>
                <a:spcPct val="100000"/>
              </a:lnSpc>
              <a:spcBef>
                <a:spcPts val="1320"/>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This smaller summary is then clustered instead of clustering the larger dataset.</a:t>
            </a:r>
            <a:endParaRPr sz="2200" b="0" i="0" u="none" strike="noStrike" cap="none">
              <a:solidFill>
                <a:srgbClr val="000000"/>
              </a:solidFill>
              <a:latin typeface="Helvetica Neue"/>
              <a:ea typeface="Helvetica Neue"/>
              <a:cs typeface="Helvetica Neue"/>
              <a:sym typeface="Helvetica Neue"/>
            </a:endParaRPr>
          </a:p>
          <a:p>
            <a:pPr marL="12700" marR="5080" lvl="0" indent="-133350" algn="just" rtl="0">
              <a:lnSpc>
                <a:spcPct val="180000"/>
              </a:lnSpc>
              <a:spcBef>
                <a:spcPts val="355"/>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	BIRCH is often used to complement other clustering algorithms by creating a summary of the dataset that the other clustering algorithm can now use.</a:t>
            </a:r>
            <a:endParaRPr sz="2200" b="0" i="0" u="none" strike="noStrike" cap="none">
              <a:solidFill>
                <a:srgbClr val="000000"/>
              </a:solidFill>
              <a:latin typeface="Helvetica Neue"/>
              <a:ea typeface="Helvetica Neue"/>
              <a:cs typeface="Helvetica Neue"/>
              <a:sym typeface="Helvetica Neue"/>
            </a:endParaRPr>
          </a:p>
          <a:p>
            <a:pPr marL="261620" marR="0" lvl="0" indent="-250825" algn="just" rtl="0">
              <a:lnSpc>
                <a:spcPct val="100000"/>
              </a:lnSpc>
              <a:spcBef>
                <a:spcPts val="969"/>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However, BIRCH has one major drawback – it can only process metric attributes.</a:t>
            </a:r>
            <a:endParaRPr sz="2200" b="0" i="0" u="none" strike="noStrike" cap="none">
              <a:solidFill>
                <a:srgbClr val="000000"/>
              </a:solidFill>
              <a:latin typeface="Helvetica Neue"/>
              <a:ea typeface="Helvetica Neue"/>
              <a:cs typeface="Helvetica Neue"/>
              <a:sym typeface="Helvetica Neue"/>
            </a:endParaRPr>
          </a:p>
          <a:p>
            <a:pPr marL="12700" marR="9525" lvl="0" indent="-133350" algn="just" rtl="0">
              <a:lnSpc>
                <a:spcPct val="150000"/>
              </a:lnSpc>
              <a:spcBef>
                <a:spcPts val="5"/>
              </a:spcBef>
              <a:spcAft>
                <a:spcPts val="0"/>
              </a:spcAft>
              <a:buClr>
                <a:srgbClr val="000000"/>
              </a:buClr>
              <a:buSzPts val="2100"/>
              <a:buFont typeface="Noto Sans Symbols"/>
              <a:buChar char="❑"/>
            </a:pPr>
            <a:r>
              <a:rPr lang="en-US" sz="2200" b="0" i="0" u="none" strike="noStrike" cap="none">
                <a:solidFill>
                  <a:srgbClr val="000000"/>
                </a:solidFill>
                <a:latin typeface="Helvetica Neue"/>
                <a:ea typeface="Helvetica Neue"/>
                <a:cs typeface="Helvetica Neue"/>
                <a:sym typeface="Helvetica Neue"/>
              </a:rPr>
              <a:t>	A </a:t>
            </a:r>
            <a:r>
              <a:rPr lang="en-US" sz="2200" b="1" i="0" u="none" strike="noStrike" cap="none">
                <a:solidFill>
                  <a:srgbClr val="000000"/>
                </a:solidFill>
                <a:latin typeface="Arial"/>
                <a:ea typeface="Arial"/>
                <a:cs typeface="Arial"/>
                <a:sym typeface="Arial"/>
              </a:rPr>
              <a:t>metric attribute </a:t>
            </a:r>
            <a:r>
              <a:rPr lang="en-US" sz="2200" b="0" i="0" u="none" strike="noStrike" cap="none">
                <a:solidFill>
                  <a:srgbClr val="000000"/>
                </a:solidFill>
                <a:latin typeface="Helvetica Neue"/>
                <a:ea typeface="Helvetica Neue"/>
                <a:cs typeface="Helvetica Neue"/>
                <a:sym typeface="Helvetica Neue"/>
              </a:rPr>
              <a:t>is any attribute whose values can be represented in Euclidean space i.e., no categorical attributes should be present.</a:t>
            </a:r>
            <a:endParaRPr sz="22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grpSp>
        <p:nvGrpSpPr>
          <p:cNvPr id="337" name="Google Shape;337;p23"/>
          <p:cNvGrpSpPr/>
          <p:nvPr/>
        </p:nvGrpSpPr>
        <p:grpSpPr>
          <a:xfrm>
            <a:off x="0" y="-25"/>
            <a:ext cx="12192000" cy="490752"/>
            <a:chOff x="0" y="-25"/>
            <a:chExt cx="12192000" cy="490752"/>
          </a:xfrm>
        </p:grpSpPr>
        <p:pic>
          <p:nvPicPr>
            <p:cNvPr id="338" name="Google Shape;338;p23"/>
            <p:cNvPicPr preferRelativeResize="0"/>
            <p:nvPr/>
          </p:nvPicPr>
          <p:blipFill rotWithShape="1">
            <a:blip r:embed="rId3">
              <a:alphaModFix/>
            </a:blip>
            <a:srcRect/>
            <a:stretch/>
          </p:blipFill>
          <p:spPr>
            <a:xfrm>
              <a:off x="0" y="0"/>
              <a:ext cx="4907280" cy="490727"/>
            </a:xfrm>
            <a:prstGeom prst="rect">
              <a:avLst/>
            </a:prstGeom>
            <a:noFill/>
            <a:ln>
              <a:noFill/>
            </a:ln>
          </p:spPr>
        </p:pic>
        <p:sp>
          <p:nvSpPr>
            <p:cNvPr id="339" name="Google Shape;339;p23"/>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0" name="Google Shape;340;p23"/>
          <p:cNvSpPr txBox="1">
            <a:spLocks noGrp="1"/>
          </p:cNvSpPr>
          <p:nvPr>
            <p:ph type="title"/>
          </p:nvPr>
        </p:nvSpPr>
        <p:spPr>
          <a:xfrm>
            <a:off x="78739" y="23825"/>
            <a:ext cx="451167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Hierarchical Clustering: </a:t>
            </a:r>
            <a:r>
              <a:rPr lang="en-US">
                <a:solidFill>
                  <a:srgbClr val="FF0000"/>
                </a:solidFill>
              </a:rPr>
              <a:t>BIRCH</a:t>
            </a:r>
            <a:endParaRPr/>
          </a:p>
        </p:txBody>
      </p:sp>
      <p:sp>
        <p:nvSpPr>
          <p:cNvPr id="341" name="Google Shape;341;p23"/>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342" name="Google Shape;342;p23"/>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26</a:t>
            </a:fld>
            <a:endParaRPr/>
          </a:p>
        </p:txBody>
      </p:sp>
      <p:sp>
        <p:nvSpPr>
          <p:cNvPr id="343" name="Google Shape;343;p23"/>
          <p:cNvSpPr txBox="1"/>
          <p:nvPr/>
        </p:nvSpPr>
        <p:spPr>
          <a:xfrm>
            <a:off x="78739" y="345189"/>
            <a:ext cx="12051030" cy="6106160"/>
          </a:xfrm>
          <a:prstGeom prst="rect">
            <a:avLst/>
          </a:prstGeom>
          <a:noFill/>
          <a:ln>
            <a:noFill/>
          </a:ln>
        </p:spPr>
        <p:txBody>
          <a:bodyPr spcFirstLastPara="1" wrap="square" lIns="0" tIns="155575" rIns="0" bIns="0" anchor="t" anchorCtr="0">
            <a:spAutoFit/>
          </a:bodyPr>
          <a:lstStyle/>
          <a:p>
            <a:pPr marL="225425" marR="0" lvl="0" indent="-215900" algn="l" rtl="0">
              <a:lnSpc>
                <a:spcPct val="100000"/>
              </a:lnSpc>
              <a:spcBef>
                <a:spcPts val="0"/>
              </a:spcBef>
              <a:spcAft>
                <a:spcPts val="0"/>
              </a:spcAft>
              <a:buClr>
                <a:srgbClr val="000000"/>
              </a:buClr>
              <a:buSzPts val="1800"/>
              <a:buFont typeface="Noto Sans Symbols"/>
              <a:buChar char="❑"/>
            </a:pPr>
            <a:r>
              <a:rPr lang="en-US" sz="1900" b="0" i="0" u="none" strike="noStrike" cap="none">
                <a:solidFill>
                  <a:srgbClr val="000000"/>
                </a:solidFill>
                <a:latin typeface="Helvetica Neue"/>
                <a:ea typeface="Helvetica Neue"/>
                <a:cs typeface="Helvetica Neue"/>
                <a:sym typeface="Helvetica Neue"/>
              </a:rPr>
              <a:t>Before we implement BIRCH, we must understand two important terms:</a:t>
            </a:r>
            <a:endParaRPr sz="1900" b="0" i="0" u="none" strike="noStrike" cap="none">
              <a:solidFill>
                <a:srgbClr val="000000"/>
              </a:solidFill>
              <a:latin typeface="Helvetica Neue"/>
              <a:ea typeface="Helvetica Neue"/>
              <a:cs typeface="Helvetica Neue"/>
              <a:sym typeface="Helvetica Neue"/>
            </a:endParaRPr>
          </a:p>
          <a:p>
            <a:pPr marL="225425" marR="0" lvl="0" indent="-215900" algn="l" rtl="0">
              <a:lnSpc>
                <a:spcPct val="100000"/>
              </a:lnSpc>
              <a:spcBef>
                <a:spcPts val="1130"/>
              </a:spcBef>
              <a:spcAft>
                <a:spcPts val="0"/>
              </a:spcAft>
              <a:buClr>
                <a:srgbClr val="000000"/>
              </a:buClr>
              <a:buSzPts val="1800"/>
              <a:buFont typeface="Noto Sans Symbols"/>
              <a:buChar char="❑"/>
            </a:pPr>
            <a:r>
              <a:rPr lang="en-US" sz="1900" b="1" i="0" u="none" strike="noStrike" cap="none">
                <a:solidFill>
                  <a:srgbClr val="000000"/>
                </a:solidFill>
                <a:latin typeface="Arial"/>
                <a:ea typeface="Arial"/>
                <a:cs typeface="Arial"/>
                <a:sym typeface="Arial"/>
              </a:rPr>
              <a:t>Clustering Feature (CF) and Tree Clustering Feature (CF Tree): </a:t>
            </a:r>
            <a:r>
              <a:rPr lang="en-US" sz="1900" b="0" i="0" u="none" strike="noStrike" cap="none">
                <a:solidFill>
                  <a:srgbClr val="000000"/>
                </a:solidFill>
                <a:latin typeface="Helvetica Neue"/>
                <a:ea typeface="Helvetica Neue"/>
                <a:cs typeface="Helvetica Neue"/>
                <a:sym typeface="Helvetica Neue"/>
              </a:rPr>
              <a:t>BIRCH summarizes large datasets into</a:t>
            </a:r>
            <a:endParaRPr sz="19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155"/>
              </a:spcBef>
              <a:spcAft>
                <a:spcPts val="0"/>
              </a:spcAft>
              <a:buClr>
                <a:srgbClr val="000000"/>
              </a:buClr>
              <a:buSzPts val="1900"/>
              <a:buFont typeface="Arial"/>
              <a:buNone/>
            </a:pPr>
            <a:r>
              <a:rPr lang="en-US" sz="1900" b="0" i="0" u="none" strike="noStrike" cap="none">
                <a:solidFill>
                  <a:srgbClr val="000000"/>
                </a:solidFill>
                <a:latin typeface="Helvetica Neue"/>
                <a:ea typeface="Helvetica Neue"/>
                <a:cs typeface="Helvetica Neue"/>
                <a:sym typeface="Helvetica Neue"/>
              </a:rPr>
              <a:t>smaller, dense regions called Clustering Feature (CF) entries.</a:t>
            </a:r>
            <a:endParaRPr sz="1900" b="0" i="0" u="none" strike="noStrike" cap="none">
              <a:solidFill>
                <a:srgbClr val="000000"/>
              </a:solidFill>
              <a:latin typeface="Helvetica Neue"/>
              <a:ea typeface="Helvetica Neue"/>
              <a:cs typeface="Helvetica Neue"/>
              <a:sym typeface="Helvetica Neue"/>
            </a:endParaRPr>
          </a:p>
          <a:p>
            <a:pPr marL="225425" marR="0" lvl="0" indent="-215900" algn="l" rtl="0">
              <a:lnSpc>
                <a:spcPct val="100000"/>
              </a:lnSpc>
              <a:spcBef>
                <a:spcPts val="1130"/>
              </a:spcBef>
              <a:spcAft>
                <a:spcPts val="0"/>
              </a:spcAft>
              <a:buClr>
                <a:srgbClr val="000000"/>
              </a:buClr>
              <a:buSzPts val="1800"/>
              <a:buFont typeface="Noto Sans Symbols"/>
              <a:buChar char="❑"/>
            </a:pPr>
            <a:r>
              <a:rPr lang="en-US" sz="1900" b="0" i="0" u="none" strike="noStrike" cap="none">
                <a:solidFill>
                  <a:srgbClr val="000000"/>
                </a:solidFill>
                <a:latin typeface="Helvetica Neue"/>
                <a:ea typeface="Helvetica Neue"/>
                <a:cs typeface="Helvetica Neue"/>
                <a:sym typeface="Helvetica Neue"/>
              </a:rPr>
              <a:t>Formally, a Clustering Feature entry is defined as an ordered triple, (N, LS, SS) where ‘N’ is the number of</a:t>
            </a:r>
            <a:endParaRPr sz="19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155"/>
              </a:spcBef>
              <a:spcAft>
                <a:spcPts val="0"/>
              </a:spcAft>
              <a:buClr>
                <a:srgbClr val="000000"/>
              </a:buClr>
              <a:buSzPts val="1900"/>
              <a:buFont typeface="Arial"/>
              <a:buNone/>
            </a:pPr>
            <a:r>
              <a:rPr lang="en-US" sz="1900" b="0" i="0" u="none" strike="noStrike" cap="none">
                <a:solidFill>
                  <a:srgbClr val="000000"/>
                </a:solidFill>
                <a:latin typeface="Helvetica Neue"/>
                <a:ea typeface="Helvetica Neue"/>
                <a:cs typeface="Helvetica Neue"/>
                <a:sym typeface="Helvetica Neue"/>
              </a:rPr>
              <a:t>data points in the cluster, ‘LS’ is the linear sum of the data points and ‘SS’ is the squared sum of the data points</a:t>
            </a:r>
            <a:endParaRPr sz="19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130"/>
              </a:spcBef>
              <a:spcAft>
                <a:spcPts val="0"/>
              </a:spcAft>
              <a:buClr>
                <a:srgbClr val="000000"/>
              </a:buClr>
              <a:buSzPts val="1900"/>
              <a:buFont typeface="Arial"/>
              <a:buNone/>
            </a:pPr>
            <a:r>
              <a:rPr lang="en-US" sz="1900" b="0" i="0" u="none" strike="noStrike" cap="none">
                <a:solidFill>
                  <a:srgbClr val="000000"/>
                </a:solidFill>
                <a:latin typeface="Helvetica Neue"/>
                <a:ea typeface="Helvetica Neue"/>
                <a:cs typeface="Helvetica Neue"/>
                <a:sym typeface="Helvetica Neue"/>
              </a:rPr>
              <a:t>in the cluster.</a:t>
            </a:r>
            <a:endParaRPr sz="1900" b="0" i="0" u="none" strike="noStrike" cap="none">
              <a:solidFill>
                <a:srgbClr val="000000"/>
              </a:solidFill>
              <a:latin typeface="Helvetica Neue"/>
              <a:ea typeface="Helvetica Neue"/>
              <a:cs typeface="Helvetica Neue"/>
              <a:sym typeface="Helvetica Neue"/>
            </a:endParaRPr>
          </a:p>
          <a:p>
            <a:pPr marL="225425" marR="0" lvl="0" indent="-215900" algn="l" rtl="0">
              <a:lnSpc>
                <a:spcPct val="100000"/>
              </a:lnSpc>
              <a:spcBef>
                <a:spcPts val="1150"/>
              </a:spcBef>
              <a:spcAft>
                <a:spcPts val="0"/>
              </a:spcAft>
              <a:buClr>
                <a:srgbClr val="000000"/>
              </a:buClr>
              <a:buSzPts val="1800"/>
              <a:buFont typeface="Noto Sans Symbols"/>
              <a:buChar char="❑"/>
            </a:pPr>
            <a:r>
              <a:rPr lang="en-US" sz="1900" b="0" i="0" u="none" strike="noStrike" cap="none">
                <a:solidFill>
                  <a:srgbClr val="000000"/>
                </a:solidFill>
                <a:latin typeface="Helvetica Neue"/>
                <a:ea typeface="Helvetica Neue"/>
                <a:cs typeface="Helvetica Neue"/>
                <a:sym typeface="Helvetica Neue"/>
              </a:rPr>
              <a:t>It is possible for a CF entry to be composed of other CF entries.</a:t>
            </a:r>
            <a:endParaRPr sz="1900" b="0" i="0" u="none" strike="noStrike" cap="none">
              <a:solidFill>
                <a:srgbClr val="000000"/>
              </a:solidFill>
              <a:latin typeface="Helvetica Neue"/>
              <a:ea typeface="Helvetica Neue"/>
              <a:cs typeface="Helvetica Neue"/>
              <a:sym typeface="Helvetica Neue"/>
            </a:endParaRPr>
          </a:p>
          <a:p>
            <a:pPr marL="225425" marR="0" lvl="0" indent="-215900" algn="l" rtl="0">
              <a:lnSpc>
                <a:spcPct val="100000"/>
              </a:lnSpc>
              <a:spcBef>
                <a:spcPts val="1130"/>
              </a:spcBef>
              <a:spcAft>
                <a:spcPts val="0"/>
              </a:spcAft>
              <a:buClr>
                <a:srgbClr val="000000"/>
              </a:buClr>
              <a:buSzPts val="1800"/>
              <a:buFont typeface="Noto Sans Symbols"/>
              <a:buChar char="❑"/>
            </a:pPr>
            <a:r>
              <a:rPr lang="en-US" sz="1900" b="1" i="0" u="none" strike="noStrike" cap="none">
                <a:solidFill>
                  <a:srgbClr val="000000"/>
                </a:solidFill>
                <a:latin typeface="Arial"/>
                <a:ea typeface="Arial"/>
                <a:cs typeface="Arial"/>
                <a:sym typeface="Arial"/>
              </a:rPr>
              <a:t>CF Tree: </a:t>
            </a:r>
            <a:r>
              <a:rPr lang="en-US" sz="1900" b="0" i="0" u="none" strike="noStrike" cap="none">
                <a:solidFill>
                  <a:srgbClr val="000000"/>
                </a:solidFill>
                <a:latin typeface="Helvetica Neue"/>
                <a:ea typeface="Helvetica Neue"/>
                <a:cs typeface="Helvetica Neue"/>
                <a:sym typeface="Helvetica Neue"/>
              </a:rPr>
              <a:t>The CF tree is the actual compact representation that we have been speaking of so far.</a:t>
            </a:r>
            <a:endParaRPr sz="1900" b="0" i="0" u="none" strike="noStrike" cap="none">
              <a:solidFill>
                <a:srgbClr val="000000"/>
              </a:solidFill>
              <a:latin typeface="Helvetica Neue"/>
              <a:ea typeface="Helvetica Neue"/>
              <a:cs typeface="Helvetica Neue"/>
              <a:sym typeface="Helvetica Neue"/>
            </a:endParaRPr>
          </a:p>
          <a:p>
            <a:pPr marL="225425" marR="0" lvl="0" indent="-215900" algn="l" rtl="0">
              <a:lnSpc>
                <a:spcPct val="100000"/>
              </a:lnSpc>
              <a:spcBef>
                <a:spcPts val="1155"/>
              </a:spcBef>
              <a:spcAft>
                <a:spcPts val="0"/>
              </a:spcAft>
              <a:buClr>
                <a:srgbClr val="000000"/>
              </a:buClr>
              <a:buSzPts val="1800"/>
              <a:buFont typeface="Noto Sans Symbols"/>
              <a:buChar char="❑"/>
            </a:pPr>
            <a:r>
              <a:rPr lang="en-US" sz="1900" b="0" i="0" u="none" strike="noStrike" cap="none">
                <a:solidFill>
                  <a:srgbClr val="000000"/>
                </a:solidFill>
                <a:latin typeface="Helvetica Neue"/>
                <a:ea typeface="Helvetica Neue"/>
                <a:cs typeface="Helvetica Neue"/>
                <a:sym typeface="Helvetica Neue"/>
              </a:rPr>
              <a:t>A CF tree is a tree where each leaf node contains a sub-cluster.</a:t>
            </a:r>
            <a:endParaRPr sz="1900" b="0" i="0" u="none" strike="noStrike" cap="none">
              <a:solidFill>
                <a:srgbClr val="000000"/>
              </a:solidFill>
              <a:latin typeface="Helvetica Neue"/>
              <a:ea typeface="Helvetica Neue"/>
              <a:cs typeface="Helvetica Neue"/>
              <a:sym typeface="Helvetica Neue"/>
            </a:endParaRPr>
          </a:p>
          <a:p>
            <a:pPr marL="225425" marR="0" lvl="0" indent="-215900" algn="l" rtl="0">
              <a:lnSpc>
                <a:spcPct val="100000"/>
              </a:lnSpc>
              <a:spcBef>
                <a:spcPts val="1130"/>
              </a:spcBef>
              <a:spcAft>
                <a:spcPts val="0"/>
              </a:spcAft>
              <a:buClr>
                <a:srgbClr val="000000"/>
              </a:buClr>
              <a:buSzPts val="1800"/>
              <a:buFont typeface="Noto Sans Symbols"/>
              <a:buChar char="❑"/>
            </a:pPr>
            <a:r>
              <a:rPr lang="en-US" sz="1900" b="0" i="0" u="none" strike="noStrike" cap="none">
                <a:solidFill>
                  <a:srgbClr val="000000"/>
                </a:solidFill>
                <a:latin typeface="Helvetica Neue"/>
                <a:ea typeface="Helvetica Neue"/>
                <a:cs typeface="Helvetica Neue"/>
                <a:sym typeface="Helvetica Neue"/>
              </a:rPr>
              <a:t>Every entry in a CF tree contains a pointer to a child node and a CF entry made up of the sum of CF entries in</a:t>
            </a:r>
            <a:endParaRPr sz="19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155"/>
              </a:spcBef>
              <a:spcAft>
                <a:spcPts val="0"/>
              </a:spcAft>
              <a:buClr>
                <a:srgbClr val="000000"/>
              </a:buClr>
              <a:buSzPts val="1900"/>
              <a:buFont typeface="Arial"/>
              <a:buNone/>
            </a:pPr>
            <a:r>
              <a:rPr lang="en-US" sz="1900" b="0" i="0" u="none" strike="noStrike" cap="none">
                <a:solidFill>
                  <a:srgbClr val="000000"/>
                </a:solidFill>
                <a:latin typeface="Helvetica Neue"/>
                <a:ea typeface="Helvetica Neue"/>
                <a:cs typeface="Helvetica Neue"/>
                <a:sym typeface="Helvetica Neue"/>
              </a:rPr>
              <a:t>the child nodes.</a:t>
            </a:r>
            <a:endParaRPr sz="1900" b="0" i="0" u="none" strike="noStrike" cap="none">
              <a:solidFill>
                <a:srgbClr val="000000"/>
              </a:solidFill>
              <a:latin typeface="Helvetica Neue"/>
              <a:ea typeface="Helvetica Neue"/>
              <a:cs typeface="Helvetica Neue"/>
              <a:sym typeface="Helvetica Neue"/>
            </a:endParaRPr>
          </a:p>
          <a:p>
            <a:pPr marL="225425" marR="0" lvl="0" indent="-215900" algn="l" rtl="0">
              <a:lnSpc>
                <a:spcPct val="100000"/>
              </a:lnSpc>
              <a:spcBef>
                <a:spcPts val="1125"/>
              </a:spcBef>
              <a:spcAft>
                <a:spcPts val="0"/>
              </a:spcAft>
              <a:buClr>
                <a:srgbClr val="000000"/>
              </a:buClr>
              <a:buSzPts val="1800"/>
              <a:buFont typeface="Noto Sans Symbols"/>
              <a:buChar char="❑"/>
            </a:pPr>
            <a:r>
              <a:rPr lang="en-US" sz="1900" b="0" i="0" u="none" strike="noStrike" cap="none">
                <a:solidFill>
                  <a:srgbClr val="000000"/>
                </a:solidFill>
                <a:latin typeface="Helvetica Neue"/>
                <a:ea typeface="Helvetica Neue"/>
                <a:cs typeface="Helvetica Neue"/>
                <a:sym typeface="Helvetica Neue"/>
              </a:rPr>
              <a:t>There is a maximum number of entries in each leaf node.</a:t>
            </a:r>
            <a:endParaRPr sz="1900" b="0" i="0" u="none" strike="noStrike" cap="none">
              <a:solidFill>
                <a:srgbClr val="000000"/>
              </a:solidFill>
              <a:latin typeface="Helvetica Neue"/>
              <a:ea typeface="Helvetica Neue"/>
              <a:cs typeface="Helvetica Neue"/>
              <a:sym typeface="Helvetica Neue"/>
            </a:endParaRPr>
          </a:p>
          <a:p>
            <a:pPr marL="225425" marR="0" lvl="0" indent="-215900" algn="l" rtl="0">
              <a:lnSpc>
                <a:spcPct val="100000"/>
              </a:lnSpc>
              <a:spcBef>
                <a:spcPts val="1155"/>
              </a:spcBef>
              <a:spcAft>
                <a:spcPts val="0"/>
              </a:spcAft>
              <a:buClr>
                <a:srgbClr val="000000"/>
              </a:buClr>
              <a:buSzPts val="1800"/>
              <a:buFont typeface="Noto Sans Symbols"/>
              <a:buChar char="❑"/>
            </a:pPr>
            <a:r>
              <a:rPr lang="en-US" sz="1900" b="0" i="0" u="none" strike="noStrike" cap="none">
                <a:solidFill>
                  <a:srgbClr val="000000"/>
                </a:solidFill>
                <a:latin typeface="Helvetica Neue"/>
                <a:ea typeface="Helvetica Neue"/>
                <a:cs typeface="Helvetica Neue"/>
                <a:sym typeface="Helvetica Neue"/>
              </a:rPr>
              <a:t>This maximum number is called the </a:t>
            </a:r>
            <a:r>
              <a:rPr lang="en-US" sz="1900" b="1" i="0" u="none" strike="noStrike" cap="none">
                <a:solidFill>
                  <a:srgbClr val="000000"/>
                </a:solidFill>
                <a:latin typeface="Arial"/>
                <a:ea typeface="Arial"/>
                <a:cs typeface="Arial"/>
                <a:sym typeface="Arial"/>
              </a:rPr>
              <a:t>threshold</a:t>
            </a:r>
            <a:r>
              <a:rPr lang="en-US" sz="1900" b="0" i="0" u="none" strike="noStrike" cap="none">
                <a:solidFill>
                  <a:srgbClr val="000000"/>
                </a:solidFill>
                <a:latin typeface="Helvetica Neue"/>
                <a:ea typeface="Helvetica Neue"/>
                <a:cs typeface="Helvetica Neue"/>
                <a:sym typeface="Helvetica Neue"/>
              </a:rPr>
              <a:t>.</a:t>
            </a:r>
            <a:endParaRPr sz="1900" b="0" i="0" u="none" strike="noStrike" cap="none">
              <a:solidFill>
                <a:srgbClr val="000000"/>
              </a:solidFill>
              <a:latin typeface="Helvetica Neue"/>
              <a:ea typeface="Helvetica Neue"/>
              <a:cs typeface="Helvetica Neue"/>
              <a:sym typeface="Helvetica Neue"/>
            </a:endParaRPr>
          </a:p>
          <a:p>
            <a:pPr marL="225425" marR="0" lvl="0" indent="-215900" algn="l" rtl="0">
              <a:lnSpc>
                <a:spcPct val="100000"/>
              </a:lnSpc>
              <a:spcBef>
                <a:spcPts val="1130"/>
              </a:spcBef>
              <a:spcAft>
                <a:spcPts val="0"/>
              </a:spcAft>
              <a:buClr>
                <a:srgbClr val="000000"/>
              </a:buClr>
              <a:buSzPts val="1800"/>
              <a:buFont typeface="Noto Sans Symbols"/>
              <a:buChar char="❑"/>
            </a:pPr>
            <a:r>
              <a:rPr lang="en-US" sz="1900" b="0" i="0" u="none" strike="noStrike" cap="none">
                <a:solidFill>
                  <a:srgbClr val="000000"/>
                </a:solidFill>
                <a:latin typeface="Helvetica Neue"/>
                <a:ea typeface="Helvetica Neue"/>
                <a:cs typeface="Helvetica Neue"/>
                <a:sym typeface="Helvetica Neue"/>
              </a:rPr>
              <a:t>We will learn more about what this threshold value is.</a:t>
            </a:r>
            <a:endParaRPr sz="19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grpSp>
        <p:nvGrpSpPr>
          <p:cNvPr id="348" name="Google Shape;348;p24"/>
          <p:cNvGrpSpPr/>
          <p:nvPr/>
        </p:nvGrpSpPr>
        <p:grpSpPr>
          <a:xfrm>
            <a:off x="0" y="-25"/>
            <a:ext cx="12192000" cy="490752"/>
            <a:chOff x="0" y="-25"/>
            <a:chExt cx="12192000" cy="490752"/>
          </a:xfrm>
        </p:grpSpPr>
        <p:pic>
          <p:nvPicPr>
            <p:cNvPr id="349" name="Google Shape;349;p24"/>
            <p:cNvPicPr preferRelativeResize="0"/>
            <p:nvPr/>
          </p:nvPicPr>
          <p:blipFill rotWithShape="1">
            <a:blip r:embed="rId3">
              <a:alphaModFix/>
            </a:blip>
            <a:srcRect/>
            <a:stretch/>
          </p:blipFill>
          <p:spPr>
            <a:xfrm>
              <a:off x="0" y="0"/>
              <a:ext cx="4907280" cy="490727"/>
            </a:xfrm>
            <a:prstGeom prst="rect">
              <a:avLst/>
            </a:prstGeom>
            <a:noFill/>
            <a:ln>
              <a:noFill/>
            </a:ln>
          </p:spPr>
        </p:pic>
        <p:sp>
          <p:nvSpPr>
            <p:cNvPr id="350" name="Google Shape;350;p24"/>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1" name="Google Shape;351;p24"/>
          <p:cNvSpPr txBox="1">
            <a:spLocks noGrp="1"/>
          </p:cNvSpPr>
          <p:nvPr>
            <p:ph type="title"/>
          </p:nvPr>
        </p:nvSpPr>
        <p:spPr>
          <a:xfrm>
            <a:off x="78739" y="23825"/>
            <a:ext cx="451167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Hierarchical Clustering: </a:t>
            </a:r>
            <a:r>
              <a:rPr lang="en-US">
                <a:solidFill>
                  <a:srgbClr val="FF0000"/>
                </a:solidFill>
              </a:rPr>
              <a:t>BIRCH</a:t>
            </a:r>
            <a:endParaRPr/>
          </a:p>
        </p:txBody>
      </p:sp>
      <p:sp>
        <p:nvSpPr>
          <p:cNvPr id="352" name="Google Shape;352;p24"/>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353" name="Google Shape;353;p24"/>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27</a:t>
            </a:fld>
            <a:endParaRPr/>
          </a:p>
        </p:txBody>
      </p:sp>
      <p:sp>
        <p:nvSpPr>
          <p:cNvPr id="354" name="Google Shape;354;p24"/>
          <p:cNvSpPr txBox="1"/>
          <p:nvPr/>
        </p:nvSpPr>
        <p:spPr>
          <a:xfrm>
            <a:off x="78739" y="341045"/>
            <a:ext cx="12050395" cy="3684904"/>
          </a:xfrm>
          <a:prstGeom prst="rect">
            <a:avLst/>
          </a:prstGeom>
          <a:noFill/>
          <a:ln>
            <a:noFill/>
          </a:ln>
        </p:spPr>
        <p:txBody>
          <a:bodyPr spcFirstLastPara="1" wrap="square" lIns="0" tIns="165725" rIns="0" bIns="0" anchor="t" anchorCtr="0">
            <a:spAutoFit/>
          </a:bodyPr>
          <a:lstStyle/>
          <a:p>
            <a:pPr marL="238125" marR="0" lvl="0" indent="-227329" algn="l" rtl="0">
              <a:lnSpc>
                <a:spcPct val="100000"/>
              </a:lnSpc>
              <a:spcBef>
                <a:spcPts val="0"/>
              </a:spcBef>
              <a:spcAft>
                <a:spcPts val="0"/>
              </a:spcAft>
              <a:buClr>
                <a:srgbClr val="FF0000"/>
              </a:buClr>
              <a:buSzPts val="1900"/>
              <a:buFont typeface="Noto Sans Symbols"/>
              <a:buChar char="❑"/>
            </a:pPr>
            <a:r>
              <a:rPr lang="en-US" sz="2000" b="1" i="0" u="none" strike="noStrike" cap="none">
                <a:solidFill>
                  <a:srgbClr val="FF0000"/>
                </a:solidFill>
                <a:latin typeface="Arial"/>
                <a:ea typeface="Arial"/>
                <a:cs typeface="Arial"/>
                <a:sym typeface="Arial"/>
              </a:rPr>
              <a:t>Parameters of BIRCH Algorithm :</a:t>
            </a:r>
            <a:endParaRPr sz="2000" b="0" i="0" u="none" strike="noStrike" cap="none">
              <a:solidFill>
                <a:srgbClr val="000000"/>
              </a:solidFill>
              <a:latin typeface="Arial"/>
              <a:ea typeface="Arial"/>
              <a:cs typeface="Arial"/>
              <a:sym typeface="Arial"/>
            </a:endParaRPr>
          </a:p>
          <a:p>
            <a:pPr marL="469265" marR="0" lvl="0" indent="-456565" algn="l" rtl="0">
              <a:lnSpc>
                <a:spcPct val="100000"/>
              </a:lnSpc>
              <a:spcBef>
                <a:spcPts val="1200"/>
              </a:spcBef>
              <a:spcAft>
                <a:spcPts val="0"/>
              </a:spcAft>
              <a:buClr>
                <a:srgbClr val="000000"/>
              </a:buClr>
              <a:buSzPts val="2000"/>
              <a:buFont typeface="Arial"/>
              <a:buAutoNum type="arabicPeriod"/>
            </a:pPr>
            <a:r>
              <a:rPr lang="en-US" sz="2000" b="1" i="1" u="none" strike="noStrike" cap="none">
                <a:solidFill>
                  <a:srgbClr val="000000"/>
                </a:solidFill>
                <a:latin typeface="Arial"/>
                <a:ea typeface="Arial"/>
                <a:cs typeface="Arial"/>
                <a:sym typeface="Arial"/>
              </a:rPr>
              <a:t>threshold </a:t>
            </a:r>
            <a:r>
              <a:rPr lang="en-US" sz="2000" b="0" i="0" u="none" strike="noStrike" cap="none">
                <a:solidFill>
                  <a:srgbClr val="000000"/>
                </a:solidFill>
                <a:latin typeface="Helvetica Neue"/>
                <a:ea typeface="Helvetica Neue"/>
                <a:cs typeface="Helvetica Neue"/>
                <a:sym typeface="Helvetica Neue"/>
              </a:rPr>
              <a:t>:	threshold is the maximum number of data points a sub-cluster in the leaf node of the CF</a:t>
            </a:r>
            <a:endParaRPr sz="2000" b="0" i="0" u="none" strike="noStrike" cap="none">
              <a:solidFill>
                <a:srgbClr val="000000"/>
              </a:solidFill>
              <a:latin typeface="Helvetica Neue"/>
              <a:ea typeface="Helvetica Neue"/>
              <a:cs typeface="Helvetica Neue"/>
              <a:sym typeface="Helvetica Neue"/>
            </a:endParaRPr>
          </a:p>
          <a:p>
            <a:pPr marL="469900" marR="0" lvl="0" indent="0" algn="l" rtl="0">
              <a:lnSpc>
                <a:spcPct val="100000"/>
              </a:lnSpc>
              <a:spcBef>
                <a:spcPts val="1205"/>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tree can hold.</a:t>
            </a:r>
            <a:endParaRPr sz="2000" b="0" i="0" u="none" strike="noStrike" cap="none">
              <a:solidFill>
                <a:srgbClr val="000000"/>
              </a:solidFill>
              <a:latin typeface="Helvetica Neue"/>
              <a:ea typeface="Helvetica Neue"/>
              <a:cs typeface="Helvetica Neue"/>
              <a:sym typeface="Helvetica Neue"/>
            </a:endParaRPr>
          </a:p>
          <a:p>
            <a:pPr marL="469900" marR="5715" lvl="0" indent="-457200" algn="l" rtl="0">
              <a:lnSpc>
                <a:spcPct val="180000"/>
              </a:lnSpc>
              <a:spcBef>
                <a:spcPts val="320"/>
              </a:spcBef>
              <a:spcAft>
                <a:spcPts val="0"/>
              </a:spcAft>
              <a:buClr>
                <a:srgbClr val="000000"/>
              </a:buClr>
              <a:buSzPts val="2000"/>
              <a:buFont typeface="Arial"/>
              <a:buAutoNum type="arabicPeriod" startAt="2"/>
            </a:pPr>
            <a:r>
              <a:rPr lang="en-US" sz="2000" b="1" i="1" u="none" strike="noStrike" cap="none">
                <a:solidFill>
                  <a:srgbClr val="000000"/>
                </a:solidFill>
                <a:latin typeface="Arial"/>
                <a:ea typeface="Arial"/>
                <a:cs typeface="Arial"/>
                <a:sym typeface="Arial"/>
              </a:rPr>
              <a:t>branching_factor </a:t>
            </a:r>
            <a:r>
              <a:rPr lang="en-US" sz="2000" b="0" i="0" u="none" strike="noStrike" cap="none">
                <a:solidFill>
                  <a:srgbClr val="000000"/>
                </a:solidFill>
                <a:latin typeface="Helvetica Neue"/>
                <a:ea typeface="Helvetica Neue"/>
                <a:cs typeface="Helvetica Neue"/>
                <a:sym typeface="Helvetica Neue"/>
              </a:rPr>
              <a:t>: This parameter specifies the maximum number of CF sub-clusters in each node (internal node).</a:t>
            </a:r>
            <a:endParaRPr sz="2000" b="0" i="0" u="none" strike="noStrike" cap="none">
              <a:solidFill>
                <a:srgbClr val="000000"/>
              </a:solidFill>
              <a:latin typeface="Helvetica Neue"/>
              <a:ea typeface="Helvetica Neue"/>
              <a:cs typeface="Helvetica Neue"/>
              <a:sym typeface="Helvetica Neue"/>
            </a:endParaRPr>
          </a:p>
          <a:p>
            <a:pPr marL="469265" marR="0" lvl="0" indent="-456565" algn="l" rtl="0">
              <a:lnSpc>
                <a:spcPct val="100000"/>
              </a:lnSpc>
              <a:spcBef>
                <a:spcPts val="885"/>
              </a:spcBef>
              <a:spcAft>
                <a:spcPts val="0"/>
              </a:spcAft>
              <a:buClr>
                <a:srgbClr val="000000"/>
              </a:buClr>
              <a:buSzPts val="2000"/>
              <a:buFont typeface="Arial"/>
              <a:buAutoNum type="arabicPeriod" startAt="2"/>
            </a:pPr>
            <a:r>
              <a:rPr lang="en-US" sz="2000" b="1" i="1" u="none" strike="noStrike" cap="none">
                <a:solidFill>
                  <a:srgbClr val="000000"/>
                </a:solidFill>
                <a:latin typeface="Arial"/>
                <a:ea typeface="Arial"/>
                <a:cs typeface="Arial"/>
                <a:sym typeface="Arial"/>
              </a:rPr>
              <a:t>n_clusters </a:t>
            </a:r>
            <a:r>
              <a:rPr lang="en-US" sz="2000" b="0" i="0" u="none" strike="noStrike" cap="none">
                <a:solidFill>
                  <a:srgbClr val="000000"/>
                </a:solidFill>
                <a:latin typeface="Helvetica Neue"/>
                <a:ea typeface="Helvetica Neue"/>
                <a:cs typeface="Helvetica Neue"/>
                <a:sym typeface="Helvetica Neue"/>
              </a:rPr>
              <a:t>: The number of clusters to be returned after the entire BIRCH algorithm is complete i.e.,</a:t>
            </a:r>
            <a:endParaRPr sz="2000" b="0" i="0" u="none" strike="noStrike" cap="none">
              <a:solidFill>
                <a:srgbClr val="000000"/>
              </a:solidFill>
              <a:latin typeface="Helvetica Neue"/>
              <a:ea typeface="Helvetica Neue"/>
              <a:cs typeface="Helvetica Neue"/>
              <a:sym typeface="Helvetica Neue"/>
            </a:endParaRPr>
          </a:p>
          <a:p>
            <a:pPr marL="469900" marR="5080" lvl="0" indent="0" algn="l" rtl="0">
              <a:lnSpc>
                <a:spcPct val="180000"/>
              </a:lnSpc>
              <a:spcBef>
                <a:spcPts val="120"/>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number	of	clusters	after	the	final	clustering	step.	If	set	to	None,	the	final	clustering	step	is	not performed and intermediate clusters are returned.</a:t>
            </a:r>
            <a:endParaRPr sz="20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grpSp>
        <p:nvGrpSpPr>
          <p:cNvPr id="359" name="Google Shape;359;p25"/>
          <p:cNvGrpSpPr/>
          <p:nvPr/>
        </p:nvGrpSpPr>
        <p:grpSpPr>
          <a:xfrm>
            <a:off x="0" y="-25"/>
            <a:ext cx="12192000" cy="490752"/>
            <a:chOff x="0" y="-25"/>
            <a:chExt cx="12192000" cy="490752"/>
          </a:xfrm>
        </p:grpSpPr>
        <p:pic>
          <p:nvPicPr>
            <p:cNvPr id="360" name="Google Shape;360;p25"/>
            <p:cNvPicPr preferRelativeResize="0"/>
            <p:nvPr/>
          </p:nvPicPr>
          <p:blipFill rotWithShape="1">
            <a:blip r:embed="rId3">
              <a:alphaModFix/>
            </a:blip>
            <a:srcRect/>
            <a:stretch/>
          </p:blipFill>
          <p:spPr>
            <a:xfrm>
              <a:off x="0" y="0"/>
              <a:ext cx="4803648" cy="490727"/>
            </a:xfrm>
            <a:prstGeom prst="rect">
              <a:avLst/>
            </a:prstGeom>
            <a:noFill/>
            <a:ln>
              <a:noFill/>
            </a:ln>
          </p:spPr>
        </p:pic>
        <p:sp>
          <p:nvSpPr>
            <p:cNvPr id="361" name="Google Shape;361;p25"/>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62" name="Google Shape;362;p25"/>
          <p:cNvSpPr txBox="1">
            <a:spLocks noGrp="1"/>
          </p:cNvSpPr>
          <p:nvPr>
            <p:ph type="title"/>
          </p:nvPr>
        </p:nvSpPr>
        <p:spPr>
          <a:xfrm>
            <a:off x="78739" y="23825"/>
            <a:ext cx="441007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Hierarchical Clustering: </a:t>
            </a:r>
            <a:r>
              <a:rPr lang="en-US">
                <a:solidFill>
                  <a:srgbClr val="FF0000"/>
                </a:solidFill>
              </a:rPr>
              <a:t>CURE</a:t>
            </a:r>
            <a:endParaRPr/>
          </a:p>
        </p:txBody>
      </p:sp>
      <p:sp>
        <p:nvSpPr>
          <p:cNvPr id="363" name="Google Shape;363;p25"/>
          <p:cNvSpPr txBox="1"/>
          <p:nvPr/>
        </p:nvSpPr>
        <p:spPr>
          <a:xfrm>
            <a:off x="78739" y="309803"/>
            <a:ext cx="12052935" cy="4142104"/>
          </a:xfrm>
          <a:prstGeom prst="rect">
            <a:avLst/>
          </a:prstGeom>
          <a:noFill/>
          <a:ln>
            <a:noFill/>
          </a:ln>
        </p:spPr>
        <p:txBody>
          <a:bodyPr spcFirstLastPara="1" wrap="square" lIns="0" tIns="165100" rIns="0" bIns="0" anchor="t" anchorCtr="0">
            <a:spAutoFit/>
          </a:bodyPr>
          <a:lstStyle/>
          <a:p>
            <a:pPr marL="238125" marR="0" lvl="0" indent="-233679" algn="l" rtl="0">
              <a:lnSpc>
                <a:spcPct val="100000"/>
              </a:lnSpc>
              <a:spcBef>
                <a:spcPts val="0"/>
              </a:spcBef>
              <a:spcAft>
                <a:spcPts val="0"/>
              </a:spcAft>
              <a:buClr>
                <a:srgbClr val="FF0000"/>
              </a:buClr>
              <a:buSzPts val="1850"/>
              <a:buFont typeface="Noto Sans Symbols"/>
              <a:buChar char="❑"/>
            </a:pPr>
            <a:r>
              <a:rPr lang="en-US" sz="2000" b="1" i="0" u="none" strike="noStrike" cap="none">
                <a:solidFill>
                  <a:srgbClr val="FF0000"/>
                </a:solidFill>
                <a:latin typeface="Arial"/>
                <a:ea typeface="Arial"/>
                <a:cs typeface="Arial"/>
                <a:sym typeface="Arial"/>
              </a:rPr>
              <a:t>CURE(Clustering Using Representatives)</a:t>
            </a:r>
            <a:endParaRPr sz="2000" b="0" i="0" u="none" strike="noStrike" cap="none">
              <a:solidFill>
                <a:srgbClr val="000000"/>
              </a:solidFill>
              <a:latin typeface="Arial"/>
              <a:ea typeface="Arial"/>
              <a:cs typeface="Arial"/>
              <a:sym typeface="Arial"/>
            </a:endParaRPr>
          </a:p>
          <a:p>
            <a:pPr marL="238125" marR="0" lvl="0" indent="-233679" algn="l" rtl="0">
              <a:lnSpc>
                <a:spcPct val="100000"/>
              </a:lnSpc>
              <a:spcBef>
                <a:spcPts val="1200"/>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It is a hierarchical based clustering technique, that adopts a middle ground between the centroid based</a:t>
            </a:r>
            <a:endParaRPr sz="20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200"/>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and	the all-point extremes.</a:t>
            </a:r>
            <a:endParaRPr sz="2000" b="0" i="0" u="none" strike="noStrike" cap="none">
              <a:solidFill>
                <a:srgbClr val="000000"/>
              </a:solidFill>
              <a:latin typeface="Helvetica Neue"/>
              <a:ea typeface="Helvetica Neue"/>
              <a:cs typeface="Helvetica Neue"/>
              <a:sym typeface="Helvetica Neue"/>
            </a:endParaRPr>
          </a:p>
          <a:p>
            <a:pPr marL="12700" marR="5080" lvl="0" indent="-117475" algn="l" rtl="0">
              <a:lnSpc>
                <a:spcPct val="150000"/>
              </a:lnSpc>
              <a:spcBef>
                <a:spcPts val="5"/>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	Hierarchical clustering is a type of clustering, that starts with a single point cluster, and moves to merge with another cluster, until the desired number of clusters are formed.</a:t>
            </a:r>
            <a:endParaRPr sz="2000" b="0" i="0" u="none" strike="noStrike" cap="none">
              <a:solidFill>
                <a:srgbClr val="000000"/>
              </a:solidFill>
              <a:latin typeface="Helvetica Neue"/>
              <a:ea typeface="Helvetica Neue"/>
              <a:cs typeface="Helvetica Neue"/>
              <a:sym typeface="Helvetica Neue"/>
            </a:endParaRPr>
          </a:p>
          <a:p>
            <a:pPr marL="237490" marR="0" lvl="0" indent="-233679" algn="l" rtl="0">
              <a:lnSpc>
                <a:spcPct val="100000"/>
              </a:lnSpc>
              <a:spcBef>
                <a:spcPts val="1200"/>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It is used for identifying the spherical and non-spherical clusters.</a:t>
            </a:r>
            <a:endParaRPr sz="2000" b="0" i="0" u="none" strike="noStrike" cap="none">
              <a:solidFill>
                <a:srgbClr val="000000"/>
              </a:solidFill>
              <a:latin typeface="Helvetica Neue"/>
              <a:ea typeface="Helvetica Neue"/>
              <a:cs typeface="Helvetica Neue"/>
              <a:sym typeface="Helvetica Neue"/>
            </a:endParaRPr>
          </a:p>
          <a:p>
            <a:pPr marL="237490" marR="0" lvl="0" indent="-233679" algn="l" rtl="0">
              <a:lnSpc>
                <a:spcPct val="100000"/>
              </a:lnSpc>
              <a:spcBef>
                <a:spcPts val="1205"/>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It is useful for discovering groups and identifying interesting distributions in the underlying data.</a:t>
            </a:r>
            <a:endParaRPr sz="2000" b="0" i="0" u="none" strike="noStrike" cap="none">
              <a:solidFill>
                <a:srgbClr val="000000"/>
              </a:solidFill>
              <a:latin typeface="Helvetica Neue"/>
              <a:ea typeface="Helvetica Neue"/>
              <a:cs typeface="Helvetica Neue"/>
              <a:sym typeface="Helvetica Neue"/>
            </a:endParaRPr>
          </a:p>
          <a:p>
            <a:pPr marL="12700" marR="8255" lvl="0" indent="-117475" algn="l" rtl="0">
              <a:lnSpc>
                <a:spcPct val="180000"/>
              </a:lnSpc>
              <a:spcBef>
                <a:spcPts val="120"/>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	Instead of using one point centroid, as in most of data mining algorithms, CURE uses a set of well- defined representative points, for efficiently handling the clusters and eliminating the outliers.</a:t>
            </a:r>
            <a:endParaRPr sz="2000" b="0" i="0" u="none" strike="noStrike" cap="none">
              <a:solidFill>
                <a:srgbClr val="000000"/>
              </a:solidFill>
              <a:latin typeface="Helvetica Neue"/>
              <a:ea typeface="Helvetica Neue"/>
              <a:cs typeface="Helvetica Neue"/>
              <a:sym typeface="Helvetica Neue"/>
            </a:endParaRPr>
          </a:p>
        </p:txBody>
      </p:sp>
      <p:pic>
        <p:nvPicPr>
          <p:cNvPr id="364" name="Google Shape;364;p25"/>
          <p:cNvPicPr preferRelativeResize="0"/>
          <p:nvPr/>
        </p:nvPicPr>
        <p:blipFill rotWithShape="1">
          <a:blip r:embed="rId4">
            <a:alphaModFix/>
          </a:blip>
          <a:srcRect/>
          <a:stretch/>
        </p:blipFill>
        <p:spPr>
          <a:xfrm>
            <a:off x="3659684" y="4616676"/>
            <a:ext cx="4684764" cy="1665961"/>
          </a:xfrm>
          <a:prstGeom prst="rect">
            <a:avLst/>
          </a:prstGeom>
          <a:noFill/>
          <a:ln>
            <a:noFill/>
          </a:ln>
        </p:spPr>
      </p:pic>
      <p:sp>
        <p:nvSpPr>
          <p:cNvPr id="365" name="Google Shape;365;p25"/>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366" name="Google Shape;366;p25"/>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grpSp>
        <p:nvGrpSpPr>
          <p:cNvPr id="371" name="Google Shape;371;p26"/>
          <p:cNvGrpSpPr/>
          <p:nvPr/>
        </p:nvGrpSpPr>
        <p:grpSpPr>
          <a:xfrm>
            <a:off x="0" y="-25"/>
            <a:ext cx="12192000" cy="490752"/>
            <a:chOff x="0" y="-25"/>
            <a:chExt cx="12192000" cy="490752"/>
          </a:xfrm>
        </p:grpSpPr>
        <p:pic>
          <p:nvPicPr>
            <p:cNvPr id="372" name="Google Shape;372;p26"/>
            <p:cNvPicPr preferRelativeResize="0"/>
            <p:nvPr/>
          </p:nvPicPr>
          <p:blipFill rotWithShape="1">
            <a:blip r:embed="rId3">
              <a:alphaModFix/>
            </a:blip>
            <a:srcRect/>
            <a:stretch/>
          </p:blipFill>
          <p:spPr>
            <a:xfrm>
              <a:off x="0" y="0"/>
              <a:ext cx="4803648" cy="490727"/>
            </a:xfrm>
            <a:prstGeom prst="rect">
              <a:avLst/>
            </a:prstGeom>
            <a:noFill/>
            <a:ln>
              <a:noFill/>
            </a:ln>
          </p:spPr>
        </p:pic>
        <p:sp>
          <p:nvSpPr>
            <p:cNvPr id="373" name="Google Shape;373;p26"/>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74" name="Google Shape;374;p26"/>
          <p:cNvSpPr txBox="1">
            <a:spLocks noGrp="1"/>
          </p:cNvSpPr>
          <p:nvPr>
            <p:ph type="title"/>
          </p:nvPr>
        </p:nvSpPr>
        <p:spPr>
          <a:xfrm>
            <a:off x="78739" y="23825"/>
            <a:ext cx="441007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Hierarchical Clustering: </a:t>
            </a:r>
            <a:r>
              <a:rPr lang="en-US">
                <a:solidFill>
                  <a:srgbClr val="FF0000"/>
                </a:solidFill>
              </a:rPr>
              <a:t>CURE</a:t>
            </a:r>
            <a:endParaRPr/>
          </a:p>
        </p:txBody>
      </p:sp>
      <p:sp>
        <p:nvSpPr>
          <p:cNvPr id="375" name="Google Shape;375;p26"/>
          <p:cNvSpPr txBox="1"/>
          <p:nvPr/>
        </p:nvSpPr>
        <p:spPr>
          <a:xfrm>
            <a:off x="78739" y="280575"/>
            <a:ext cx="12050395" cy="1397635"/>
          </a:xfrm>
          <a:prstGeom prst="rect">
            <a:avLst/>
          </a:prstGeom>
          <a:noFill/>
          <a:ln>
            <a:noFill/>
          </a:ln>
        </p:spPr>
        <p:txBody>
          <a:bodyPr spcFirstLastPara="1" wrap="square" lIns="0" tIns="165100" rIns="0" bIns="0" anchor="t" anchorCtr="0">
            <a:spAutoFit/>
          </a:bodyPr>
          <a:lstStyle/>
          <a:p>
            <a:pPr marL="238125" marR="0" lvl="0" indent="-233679" algn="l" rtl="0">
              <a:lnSpc>
                <a:spcPct val="100000"/>
              </a:lnSpc>
              <a:spcBef>
                <a:spcPts val="0"/>
              </a:spcBef>
              <a:spcAft>
                <a:spcPts val="0"/>
              </a:spcAft>
              <a:buClr>
                <a:srgbClr val="FF0000"/>
              </a:buClr>
              <a:buSzPts val="1850"/>
              <a:buFont typeface="Noto Sans Symbols"/>
              <a:buChar char="❑"/>
            </a:pPr>
            <a:r>
              <a:rPr lang="en-US" sz="2000" b="1" i="0" u="none" strike="noStrike" cap="none">
                <a:solidFill>
                  <a:srgbClr val="FF0000"/>
                </a:solidFill>
                <a:latin typeface="Arial"/>
                <a:ea typeface="Arial"/>
                <a:cs typeface="Arial"/>
                <a:sym typeface="Arial"/>
              </a:rPr>
              <a:t>Six steps in CURE algorithm:</a:t>
            </a:r>
            <a:endParaRPr sz="2000" b="0" i="0" u="none" strike="noStrike" cap="none">
              <a:solidFill>
                <a:srgbClr val="000000"/>
              </a:solidFill>
              <a:latin typeface="Arial"/>
              <a:ea typeface="Arial"/>
              <a:cs typeface="Arial"/>
              <a:sym typeface="Arial"/>
            </a:endParaRPr>
          </a:p>
          <a:p>
            <a:pPr marL="237490" marR="0" lvl="0" indent="-233679" algn="l" rtl="0">
              <a:lnSpc>
                <a:spcPct val="100000"/>
              </a:lnSpc>
              <a:spcBef>
                <a:spcPts val="1200"/>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It is a hierarchical based clustering technique, that adopts a middle ground between the centroid based</a:t>
            </a:r>
            <a:endParaRPr sz="20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205"/>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and	the all-point extremes.</a:t>
            </a:r>
            <a:endParaRPr sz="2000" b="0" i="0" u="none" strike="noStrike" cap="none">
              <a:solidFill>
                <a:srgbClr val="000000"/>
              </a:solidFill>
              <a:latin typeface="Helvetica Neue"/>
              <a:ea typeface="Helvetica Neue"/>
              <a:cs typeface="Helvetica Neue"/>
              <a:sym typeface="Helvetica Neue"/>
            </a:endParaRPr>
          </a:p>
        </p:txBody>
      </p:sp>
      <p:pic>
        <p:nvPicPr>
          <p:cNvPr id="376" name="Google Shape;376;p26"/>
          <p:cNvPicPr preferRelativeResize="0"/>
          <p:nvPr/>
        </p:nvPicPr>
        <p:blipFill rotWithShape="1">
          <a:blip r:embed="rId4">
            <a:alphaModFix/>
          </a:blip>
          <a:srcRect/>
          <a:stretch/>
        </p:blipFill>
        <p:spPr>
          <a:xfrm>
            <a:off x="2471396" y="1842162"/>
            <a:ext cx="7139759" cy="3940552"/>
          </a:xfrm>
          <a:prstGeom prst="rect">
            <a:avLst/>
          </a:prstGeom>
          <a:noFill/>
          <a:ln>
            <a:noFill/>
          </a:ln>
        </p:spPr>
      </p:pic>
      <p:sp>
        <p:nvSpPr>
          <p:cNvPr id="377" name="Google Shape;377;p26"/>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378" name="Google Shape;378;p26"/>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g26ecb2f9fa9_1_0"/>
          <p:cNvSpPr txBox="1">
            <a:spLocks noGrp="1"/>
          </p:cNvSpPr>
          <p:nvPr>
            <p:ph type="title"/>
          </p:nvPr>
        </p:nvSpPr>
        <p:spPr>
          <a:xfrm>
            <a:off x="78739" y="23825"/>
            <a:ext cx="11406600" cy="3693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384" name="Google Shape;384;g26ecb2f9fa9_1_0"/>
          <p:cNvSpPr txBox="1">
            <a:spLocks noGrp="1"/>
          </p:cNvSpPr>
          <p:nvPr>
            <p:ph type="sldNum" idx="12"/>
          </p:nvPr>
        </p:nvSpPr>
        <p:spPr>
          <a:xfrm>
            <a:off x="11074654" y="6466738"/>
            <a:ext cx="241200" cy="1848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SzPts val="1200"/>
              <a:buFont typeface="Arial"/>
              <a:buNone/>
            </a:pPr>
            <a:fld id="{00000000-1234-1234-1234-123412341234}" type="slidenum">
              <a:rPr lang="en-US"/>
              <a:t>30</a:t>
            </a:fld>
            <a:endParaRPr/>
          </a:p>
        </p:txBody>
      </p:sp>
      <p:pic>
        <p:nvPicPr>
          <p:cNvPr id="385" name="Google Shape;385;g26ecb2f9fa9_1_0"/>
          <p:cNvPicPr preferRelativeResize="0"/>
          <p:nvPr/>
        </p:nvPicPr>
        <p:blipFill>
          <a:blip r:embed="rId3">
            <a:alphaModFix/>
          </a:blip>
          <a:stretch>
            <a:fillRect/>
          </a:stretch>
        </p:blipFill>
        <p:spPr>
          <a:xfrm>
            <a:off x="6972825" y="974075"/>
            <a:ext cx="5219174" cy="4911725"/>
          </a:xfrm>
          <a:prstGeom prst="rect">
            <a:avLst/>
          </a:prstGeom>
          <a:noFill/>
          <a:ln>
            <a:noFill/>
          </a:ln>
        </p:spPr>
      </p:pic>
      <p:pic>
        <p:nvPicPr>
          <p:cNvPr id="386" name="Google Shape;386;g26ecb2f9fa9_1_0"/>
          <p:cNvPicPr preferRelativeResize="0"/>
          <p:nvPr/>
        </p:nvPicPr>
        <p:blipFill>
          <a:blip r:embed="rId4">
            <a:alphaModFix/>
          </a:blip>
          <a:stretch>
            <a:fillRect/>
          </a:stretch>
        </p:blipFill>
        <p:spPr>
          <a:xfrm>
            <a:off x="304800" y="974075"/>
            <a:ext cx="5921649" cy="50175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7"/>
          <p:cNvSpPr txBox="1">
            <a:spLocks noGrp="1"/>
          </p:cNvSpPr>
          <p:nvPr>
            <p:ph type="ctrTitle"/>
          </p:nvPr>
        </p:nvSpPr>
        <p:spPr>
          <a:xfrm>
            <a:off x="78739" y="23825"/>
            <a:ext cx="678053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Hierarchical Clustering: </a:t>
            </a:r>
            <a:r>
              <a:rPr lang="en-US">
                <a:solidFill>
                  <a:srgbClr val="FF0000"/>
                </a:solidFill>
              </a:rPr>
              <a:t>Chameleon Clustering</a:t>
            </a:r>
            <a:endParaRPr/>
          </a:p>
        </p:txBody>
      </p:sp>
      <p:sp>
        <p:nvSpPr>
          <p:cNvPr id="392" name="Google Shape;392;p27"/>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393" name="Google Shape;393;p27"/>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31</a:t>
            </a:fld>
            <a:endParaRPr/>
          </a:p>
        </p:txBody>
      </p:sp>
      <p:sp>
        <p:nvSpPr>
          <p:cNvPr id="394" name="Google Shape;394;p27"/>
          <p:cNvSpPr txBox="1"/>
          <p:nvPr/>
        </p:nvSpPr>
        <p:spPr>
          <a:xfrm>
            <a:off x="3173348" y="2625928"/>
            <a:ext cx="5862320" cy="695325"/>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4400"/>
              <a:buFont typeface="Arial"/>
              <a:buNone/>
            </a:pPr>
            <a:r>
              <a:rPr lang="en-US" sz="4400" b="1" i="0" u="none" strike="noStrike" cap="none">
                <a:solidFill>
                  <a:srgbClr val="FF0000"/>
                </a:solidFill>
                <a:latin typeface="Arial"/>
                <a:ea typeface="Arial"/>
                <a:cs typeface="Arial"/>
                <a:sym typeface="Arial"/>
              </a:rPr>
              <a:t>Experiential	Learning</a:t>
            </a:r>
            <a:endParaRPr sz="4400" b="0" i="0" u="none" strike="noStrike" cap="non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grpSp>
        <p:nvGrpSpPr>
          <p:cNvPr id="399" name="Google Shape;399;p28"/>
          <p:cNvGrpSpPr/>
          <p:nvPr/>
        </p:nvGrpSpPr>
        <p:grpSpPr>
          <a:xfrm>
            <a:off x="0" y="-25"/>
            <a:ext cx="12192000" cy="490752"/>
            <a:chOff x="0" y="-25"/>
            <a:chExt cx="12192000" cy="490752"/>
          </a:xfrm>
        </p:grpSpPr>
        <p:pic>
          <p:nvPicPr>
            <p:cNvPr id="400" name="Google Shape;400;p28"/>
            <p:cNvPicPr preferRelativeResize="0"/>
            <p:nvPr/>
          </p:nvPicPr>
          <p:blipFill rotWithShape="1">
            <a:blip r:embed="rId3">
              <a:alphaModFix/>
            </a:blip>
            <a:srcRect/>
            <a:stretch/>
          </p:blipFill>
          <p:spPr>
            <a:xfrm>
              <a:off x="0" y="0"/>
              <a:ext cx="8458200" cy="490727"/>
            </a:xfrm>
            <a:prstGeom prst="rect">
              <a:avLst/>
            </a:prstGeom>
            <a:noFill/>
            <a:ln>
              <a:noFill/>
            </a:ln>
          </p:spPr>
        </p:pic>
        <p:sp>
          <p:nvSpPr>
            <p:cNvPr id="401" name="Google Shape;401;p28"/>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02" name="Google Shape;402;p28"/>
          <p:cNvSpPr txBox="1">
            <a:spLocks noGrp="1"/>
          </p:cNvSpPr>
          <p:nvPr>
            <p:ph type="title"/>
          </p:nvPr>
        </p:nvSpPr>
        <p:spPr>
          <a:xfrm>
            <a:off x="78739" y="23825"/>
            <a:ext cx="814705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Density Based Clustering: DBSCAN, OPTICS, DENCLUE</a:t>
            </a:r>
            <a:endParaRPr/>
          </a:p>
        </p:txBody>
      </p:sp>
      <p:sp>
        <p:nvSpPr>
          <p:cNvPr id="403" name="Google Shape;403;p28"/>
          <p:cNvSpPr txBox="1"/>
          <p:nvPr/>
        </p:nvSpPr>
        <p:spPr>
          <a:xfrm>
            <a:off x="78739" y="309803"/>
            <a:ext cx="12049760" cy="3227070"/>
          </a:xfrm>
          <a:prstGeom prst="rect">
            <a:avLst/>
          </a:prstGeom>
          <a:noFill/>
          <a:ln>
            <a:noFill/>
          </a:ln>
        </p:spPr>
        <p:txBody>
          <a:bodyPr spcFirstLastPara="1" wrap="square" lIns="0" tIns="165100" rIns="0" bIns="0" anchor="t" anchorCtr="0">
            <a:spAutoFit/>
          </a:bodyPr>
          <a:lstStyle/>
          <a:p>
            <a:pPr marL="238125" marR="0" lvl="0" indent="-233679" algn="l" rtl="0">
              <a:lnSpc>
                <a:spcPct val="100000"/>
              </a:lnSpc>
              <a:spcBef>
                <a:spcPts val="0"/>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The basic ideas of density-based clustering involve a number of new definitions.</a:t>
            </a:r>
            <a:endParaRPr sz="2000" b="0" i="0" u="none" strike="noStrike" cap="none">
              <a:solidFill>
                <a:srgbClr val="000000"/>
              </a:solidFill>
              <a:latin typeface="Helvetica Neue"/>
              <a:ea typeface="Helvetica Neue"/>
              <a:cs typeface="Helvetica Neue"/>
              <a:sym typeface="Helvetica Neue"/>
            </a:endParaRPr>
          </a:p>
          <a:p>
            <a:pPr marL="238125" marR="0" lvl="0" indent="-233679" algn="l" rtl="0">
              <a:lnSpc>
                <a:spcPct val="100000"/>
              </a:lnSpc>
              <a:spcBef>
                <a:spcPts val="1200"/>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We intuitively present these definitions and then follow up with an example.</a:t>
            </a:r>
            <a:endParaRPr sz="2000" b="0" i="0" u="none" strike="noStrike" cap="none">
              <a:solidFill>
                <a:srgbClr val="000000"/>
              </a:solidFill>
              <a:latin typeface="Helvetica Neue"/>
              <a:ea typeface="Helvetica Neue"/>
              <a:cs typeface="Helvetica Neue"/>
              <a:sym typeface="Helvetica Neue"/>
            </a:endParaRPr>
          </a:p>
          <a:p>
            <a:pPr marL="237490" marR="0" lvl="0" indent="-233679" algn="l" rtl="0">
              <a:lnSpc>
                <a:spcPct val="100000"/>
              </a:lnSpc>
              <a:spcBef>
                <a:spcPts val="1200"/>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The neighborhood within a radius ε of a given object is called the ε-neighborhood of the object.</a:t>
            </a:r>
            <a:endParaRPr sz="2000" b="0" i="0" u="none" strike="noStrike" cap="none">
              <a:solidFill>
                <a:srgbClr val="000000"/>
              </a:solidFill>
              <a:latin typeface="Helvetica Neue"/>
              <a:ea typeface="Helvetica Neue"/>
              <a:cs typeface="Helvetica Neue"/>
              <a:sym typeface="Helvetica Neue"/>
            </a:endParaRPr>
          </a:p>
          <a:p>
            <a:pPr marL="12700" marR="5080" lvl="0" indent="-117475" algn="l" rtl="0">
              <a:lnSpc>
                <a:spcPct val="150000"/>
              </a:lnSpc>
              <a:spcBef>
                <a:spcPts val="5"/>
              </a:spcBef>
              <a:spcAft>
                <a:spcPts val="0"/>
              </a:spcAft>
              <a:buClr>
                <a:srgbClr val="000000"/>
              </a:buClr>
              <a:buSzPts val="1850"/>
              <a:buFont typeface="Noto Sans Symbols"/>
              <a:buChar char="❑"/>
            </a:pPr>
            <a:r>
              <a:rPr lang="en-US" sz="2000" b="0" i="0" u="none" strike="noStrike" cap="none">
                <a:solidFill>
                  <a:srgbClr val="000000"/>
                </a:solidFill>
                <a:latin typeface="Helvetica Neue"/>
                <a:ea typeface="Helvetica Neue"/>
                <a:cs typeface="Helvetica Neue"/>
                <a:sym typeface="Helvetica Neue"/>
              </a:rPr>
              <a:t>	If the ε-neighborhood of an object contains at least a minimum number, MinPts, of objects, then the object is called a core object.</a:t>
            </a:r>
            <a:endParaRPr sz="2000" b="0" i="0" u="none" strike="noStrike" cap="none">
              <a:solidFill>
                <a:srgbClr val="000000"/>
              </a:solidFill>
              <a:latin typeface="Helvetica Neue"/>
              <a:ea typeface="Helvetica Neue"/>
              <a:cs typeface="Helvetica Neue"/>
              <a:sym typeface="Helvetica Neue"/>
            </a:endParaRPr>
          </a:p>
          <a:p>
            <a:pPr marL="12700" marR="356235" lvl="0" indent="-117475" algn="l" rtl="0">
              <a:lnSpc>
                <a:spcPct val="150100"/>
              </a:lnSpc>
              <a:spcBef>
                <a:spcPts val="0"/>
              </a:spcBef>
              <a:spcAft>
                <a:spcPts val="0"/>
              </a:spcAft>
              <a:buClr>
                <a:srgbClr val="FF0000"/>
              </a:buClr>
              <a:buSzPts val="1850"/>
              <a:buFont typeface="Noto Sans Symbols"/>
              <a:buChar char="❑"/>
            </a:pPr>
            <a:r>
              <a:rPr lang="en-US" sz="2000" b="1" i="0" u="none" strike="noStrike" cap="none">
                <a:solidFill>
                  <a:srgbClr val="FF0000"/>
                </a:solidFill>
                <a:latin typeface="Arial"/>
                <a:ea typeface="Arial"/>
                <a:cs typeface="Arial"/>
                <a:sym typeface="Arial"/>
              </a:rPr>
              <a:t>	Density-reachable: </a:t>
            </a:r>
            <a:r>
              <a:rPr lang="en-US" sz="2000" b="0" i="0" u="none" strike="noStrike" cap="none">
                <a:solidFill>
                  <a:srgbClr val="000000"/>
                </a:solidFill>
                <a:latin typeface="Helvetica Neue"/>
                <a:ea typeface="Helvetica Neue"/>
                <a:cs typeface="Helvetica Neue"/>
                <a:sym typeface="Helvetica Neue"/>
              </a:rPr>
              <a:t>A point p is density-reachable from a point q wrt. Eps, MinPts if there is a chain of points p1, …, pn, p1 = q, pn = p such that pi+1 is directly density-reachable from pi</a:t>
            </a:r>
            <a:endParaRPr sz="2000" b="0" i="0" u="none" strike="noStrike" cap="none">
              <a:solidFill>
                <a:srgbClr val="000000"/>
              </a:solidFill>
              <a:latin typeface="Helvetica Neue"/>
              <a:ea typeface="Helvetica Neue"/>
              <a:cs typeface="Helvetica Neue"/>
              <a:sym typeface="Helvetica Neue"/>
            </a:endParaRPr>
          </a:p>
        </p:txBody>
      </p:sp>
      <p:pic>
        <p:nvPicPr>
          <p:cNvPr id="404" name="Google Shape;404;p28"/>
          <p:cNvPicPr preferRelativeResize="0"/>
          <p:nvPr/>
        </p:nvPicPr>
        <p:blipFill rotWithShape="1">
          <a:blip r:embed="rId4">
            <a:alphaModFix/>
          </a:blip>
          <a:srcRect/>
          <a:stretch/>
        </p:blipFill>
        <p:spPr>
          <a:xfrm>
            <a:off x="4287408" y="3781364"/>
            <a:ext cx="2576894" cy="2215407"/>
          </a:xfrm>
          <a:prstGeom prst="rect">
            <a:avLst/>
          </a:prstGeom>
          <a:noFill/>
          <a:ln>
            <a:noFill/>
          </a:ln>
        </p:spPr>
      </p:pic>
      <p:sp>
        <p:nvSpPr>
          <p:cNvPr id="405" name="Google Shape;405;p28"/>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406" name="Google Shape;406;p28"/>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grpSp>
        <p:nvGrpSpPr>
          <p:cNvPr id="411" name="Google Shape;411;p29"/>
          <p:cNvGrpSpPr/>
          <p:nvPr/>
        </p:nvGrpSpPr>
        <p:grpSpPr>
          <a:xfrm>
            <a:off x="0" y="-25"/>
            <a:ext cx="12192000" cy="490752"/>
            <a:chOff x="0" y="-25"/>
            <a:chExt cx="12192000" cy="490752"/>
          </a:xfrm>
        </p:grpSpPr>
        <p:pic>
          <p:nvPicPr>
            <p:cNvPr id="412" name="Google Shape;412;p29"/>
            <p:cNvPicPr preferRelativeResize="0"/>
            <p:nvPr/>
          </p:nvPicPr>
          <p:blipFill rotWithShape="1">
            <a:blip r:embed="rId3">
              <a:alphaModFix/>
            </a:blip>
            <a:srcRect/>
            <a:stretch/>
          </p:blipFill>
          <p:spPr>
            <a:xfrm>
              <a:off x="0" y="0"/>
              <a:ext cx="8458200" cy="490727"/>
            </a:xfrm>
            <a:prstGeom prst="rect">
              <a:avLst/>
            </a:prstGeom>
            <a:noFill/>
            <a:ln>
              <a:noFill/>
            </a:ln>
          </p:spPr>
        </p:pic>
        <p:sp>
          <p:nvSpPr>
            <p:cNvPr id="413" name="Google Shape;413;p29"/>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4" name="Google Shape;414;p29"/>
          <p:cNvSpPr txBox="1">
            <a:spLocks noGrp="1"/>
          </p:cNvSpPr>
          <p:nvPr>
            <p:ph type="title"/>
          </p:nvPr>
        </p:nvSpPr>
        <p:spPr>
          <a:xfrm>
            <a:off x="78739" y="23825"/>
            <a:ext cx="814705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Density Based Clustering: DBSCAN, OPTICS, DENCLUE</a:t>
            </a:r>
            <a:endParaRPr/>
          </a:p>
        </p:txBody>
      </p:sp>
      <p:sp>
        <p:nvSpPr>
          <p:cNvPr id="415" name="Google Shape;415;p29"/>
          <p:cNvSpPr txBox="1"/>
          <p:nvPr/>
        </p:nvSpPr>
        <p:spPr>
          <a:xfrm>
            <a:off x="78739" y="372216"/>
            <a:ext cx="11912600" cy="848994"/>
          </a:xfrm>
          <a:prstGeom prst="rect">
            <a:avLst/>
          </a:prstGeom>
          <a:noFill/>
          <a:ln>
            <a:noFill/>
          </a:ln>
        </p:spPr>
        <p:txBody>
          <a:bodyPr spcFirstLastPara="1" wrap="square" lIns="0" tIns="149225" rIns="0" bIns="0" anchor="t" anchorCtr="0">
            <a:spAutoFit/>
          </a:bodyPr>
          <a:lstStyle/>
          <a:p>
            <a:pPr marL="215900" marR="0" lvl="0" indent="-204470" algn="l" rtl="0">
              <a:lnSpc>
                <a:spcPct val="100000"/>
              </a:lnSpc>
              <a:spcBef>
                <a:spcPts val="0"/>
              </a:spcBef>
              <a:spcAft>
                <a:spcPts val="0"/>
              </a:spcAft>
              <a:buClr>
                <a:srgbClr val="FF0000"/>
              </a:buClr>
              <a:buSzPts val="1700"/>
              <a:buFont typeface="Noto Sans Symbols"/>
              <a:buChar char="❑"/>
            </a:pPr>
            <a:r>
              <a:rPr lang="en-US" sz="1800" b="1" i="0" u="none" strike="noStrike" cap="none">
                <a:solidFill>
                  <a:srgbClr val="FF0000"/>
                </a:solidFill>
                <a:latin typeface="Arial"/>
                <a:ea typeface="Arial"/>
                <a:cs typeface="Arial"/>
                <a:sym typeface="Arial"/>
              </a:rPr>
              <a:t>Density-connected: </a:t>
            </a:r>
            <a:r>
              <a:rPr lang="en-US" sz="1800" b="0" i="0" u="none" strike="noStrike" cap="none">
                <a:solidFill>
                  <a:srgbClr val="000000"/>
                </a:solidFill>
                <a:latin typeface="Helvetica Neue"/>
                <a:ea typeface="Helvetica Neue"/>
                <a:cs typeface="Helvetica Neue"/>
                <a:sym typeface="Helvetica Neue"/>
              </a:rPr>
              <a:t>A point p is density-connected to a point q wrt. Eps, MinPts if there is a point o such that both,</a:t>
            </a:r>
            <a:endParaRPr sz="18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085"/>
              </a:spcBef>
              <a:spcAft>
                <a:spcPts val="0"/>
              </a:spcAft>
              <a:buClr>
                <a:srgbClr val="000000"/>
              </a:buClr>
              <a:buSzPts val="1800"/>
              <a:buFont typeface="Arial"/>
              <a:buNone/>
            </a:pPr>
            <a:r>
              <a:rPr lang="en-US" sz="1800" b="0" i="0" u="none" strike="noStrike" cap="none">
                <a:solidFill>
                  <a:srgbClr val="000000"/>
                </a:solidFill>
                <a:latin typeface="Helvetica Neue"/>
                <a:ea typeface="Helvetica Neue"/>
                <a:cs typeface="Helvetica Neue"/>
                <a:sym typeface="Helvetica Neue"/>
              </a:rPr>
              <a:t>p and q are density-reachable from o wrt. Eps and MinPts.</a:t>
            </a:r>
            <a:endParaRPr sz="1800" b="0" i="0" u="none" strike="noStrike" cap="none">
              <a:solidFill>
                <a:srgbClr val="000000"/>
              </a:solidFill>
              <a:latin typeface="Helvetica Neue"/>
              <a:ea typeface="Helvetica Neue"/>
              <a:cs typeface="Helvetica Neue"/>
              <a:sym typeface="Helvetica Neue"/>
            </a:endParaRPr>
          </a:p>
        </p:txBody>
      </p:sp>
      <p:sp>
        <p:nvSpPr>
          <p:cNvPr id="416" name="Google Shape;416;p29"/>
          <p:cNvSpPr txBox="1"/>
          <p:nvPr/>
        </p:nvSpPr>
        <p:spPr>
          <a:xfrm>
            <a:off x="78739" y="3024992"/>
            <a:ext cx="12012930" cy="3318510"/>
          </a:xfrm>
          <a:prstGeom prst="rect">
            <a:avLst/>
          </a:prstGeom>
          <a:noFill/>
          <a:ln>
            <a:noFill/>
          </a:ln>
        </p:spPr>
        <p:txBody>
          <a:bodyPr spcFirstLastPara="1" wrap="square" lIns="0" tIns="149850" rIns="0" bIns="0" anchor="t" anchorCtr="0">
            <a:spAutoFit/>
          </a:bodyPr>
          <a:lstStyle/>
          <a:p>
            <a:pPr marL="215900" marR="0" lvl="0" indent="-215900" algn="l" rtl="0">
              <a:lnSpc>
                <a:spcPct val="100000"/>
              </a:lnSpc>
              <a:spcBef>
                <a:spcPts val="0"/>
              </a:spcBef>
              <a:spcAft>
                <a:spcPts val="0"/>
              </a:spcAft>
              <a:buClr>
                <a:srgbClr val="FF0000"/>
              </a:buClr>
              <a:buSzPts val="1700"/>
              <a:buFont typeface="Noto Sans Symbols"/>
              <a:buChar char="❑"/>
            </a:pPr>
            <a:r>
              <a:rPr lang="en-US" sz="1800" b="1" i="0" u="none" strike="noStrike" cap="none">
                <a:solidFill>
                  <a:srgbClr val="FF0000"/>
                </a:solidFill>
                <a:latin typeface="Arial"/>
                <a:ea typeface="Arial"/>
                <a:cs typeface="Arial"/>
                <a:sym typeface="Arial"/>
              </a:rPr>
              <a:t>Working Of Density-Based Clustering</a:t>
            </a:r>
            <a:endParaRPr sz="1800" b="0" i="0" u="none" strike="noStrike" cap="none">
              <a:solidFill>
                <a:srgbClr val="000000"/>
              </a:solidFill>
              <a:latin typeface="Arial"/>
              <a:ea typeface="Arial"/>
              <a:cs typeface="Arial"/>
              <a:sym typeface="Arial"/>
            </a:endParaRPr>
          </a:p>
          <a:p>
            <a:pPr marL="216534" marR="0" lvl="0" indent="-215900" algn="l" rtl="0">
              <a:lnSpc>
                <a:spcPct val="100000"/>
              </a:lnSpc>
              <a:spcBef>
                <a:spcPts val="1080"/>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Given a set of objects, D' we say that an object p is directly density-reachable from object q if p is within the ε-</a:t>
            </a:r>
            <a:endParaRPr sz="18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080"/>
              </a:spcBef>
              <a:spcAft>
                <a:spcPts val="0"/>
              </a:spcAft>
              <a:buClr>
                <a:srgbClr val="000000"/>
              </a:buClr>
              <a:buSzPts val="1800"/>
              <a:buFont typeface="Arial"/>
              <a:buNone/>
            </a:pPr>
            <a:r>
              <a:rPr lang="en-US" sz="1800" b="0" i="0" u="none" strike="noStrike" cap="none">
                <a:solidFill>
                  <a:srgbClr val="000000"/>
                </a:solidFill>
                <a:latin typeface="Helvetica Neue"/>
                <a:ea typeface="Helvetica Neue"/>
                <a:cs typeface="Helvetica Neue"/>
                <a:sym typeface="Helvetica Neue"/>
              </a:rPr>
              <a:t>neighborhood of q, and q is a core object.</a:t>
            </a:r>
            <a:endParaRPr sz="1800" b="0" i="0" u="none" strike="noStrike" cap="none">
              <a:solidFill>
                <a:srgbClr val="000000"/>
              </a:solidFill>
              <a:latin typeface="Helvetica Neue"/>
              <a:ea typeface="Helvetica Neue"/>
              <a:cs typeface="Helvetica Neue"/>
              <a:sym typeface="Helvetica Neue"/>
            </a:endParaRPr>
          </a:p>
          <a:p>
            <a:pPr marL="12700" marR="43815" lvl="0" indent="-107950" algn="l" rtl="0">
              <a:lnSpc>
                <a:spcPct val="150100"/>
              </a:lnSpc>
              <a:spcBef>
                <a:spcPts val="0"/>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	An object p is density-reachable from object q with respect to ε and MinPts in a set of objects, D' if there is a chain of objects p1,.,.,.pn, where p1 = q and pn = p such that pi+1 is directly density-reachable from pi with respect to e and MinPts, for 1/n, pi € D.</a:t>
            </a:r>
            <a:endParaRPr sz="1800" b="0" i="0" u="none" strike="noStrike" cap="none">
              <a:solidFill>
                <a:srgbClr val="000000"/>
              </a:solidFill>
              <a:latin typeface="Helvetica Neue"/>
              <a:ea typeface="Helvetica Neue"/>
              <a:cs typeface="Helvetica Neue"/>
              <a:sym typeface="Helvetica Neue"/>
            </a:endParaRPr>
          </a:p>
          <a:p>
            <a:pPr marL="216534" marR="0" lvl="0" indent="-215900" algn="l" rtl="0">
              <a:lnSpc>
                <a:spcPct val="100000"/>
              </a:lnSpc>
              <a:spcBef>
                <a:spcPts val="1080"/>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An object p is density-connected to object q with respect to ε and MinPts in a set of objects, D', if there is an object o,</a:t>
            </a:r>
            <a:endParaRPr sz="18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080"/>
              </a:spcBef>
              <a:spcAft>
                <a:spcPts val="0"/>
              </a:spcAft>
              <a:buClr>
                <a:srgbClr val="000000"/>
              </a:buClr>
              <a:buSzPts val="1800"/>
              <a:buFont typeface="Arial"/>
              <a:buNone/>
            </a:pPr>
            <a:r>
              <a:rPr lang="en-US" sz="1800" b="0" i="0" u="none" strike="noStrike" cap="none">
                <a:solidFill>
                  <a:srgbClr val="000000"/>
                </a:solidFill>
                <a:latin typeface="Helvetica Neue"/>
                <a:ea typeface="Helvetica Neue"/>
                <a:cs typeface="Helvetica Neue"/>
                <a:sym typeface="Helvetica Neue"/>
              </a:rPr>
              <a:t>belongs D such that both p and q are density-reachable from o with respect to ε and MinPts.</a:t>
            </a:r>
            <a:endParaRPr sz="1800" b="0" i="0" u="none" strike="noStrike" cap="none">
              <a:solidFill>
                <a:srgbClr val="000000"/>
              </a:solidFill>
              <a:latin typeface="Helvetica Neue"/>
              <a:ea typeface="Helvetica Neue"/>
              <a:cs typeface="Helvetica Neue"/>
              <a:sym typeface="Helvetica Neue"/>
            </a:endParaRPr>
          </a:p>
        </p:txBody>
      </p:sp>
      <p:pic>
        <p:nvPicPr>
          <p:cNvPr id="417" name="Google Shape;417;p29"/>
          <p:cNvPicPr preferRelativeResize="0"/>
          <p:nvPr/>
        </p:nvPicPr>
        <p:blipFill rotWithShape="1">
          <a:blip r:embed="rId4">
            <a:alphaModFix/>
          </a:blip>
          <a:srcRect/>
          <a:stretch/>
        </p:blipFill>
        <p:spPr>
          <a:xfrm>
            <a:off x="4688760" y="1368425"/>
            <a:ext cx="3162030" cy="2021983"/>
          </a:xfrm>
          <a:prstGeom prst="rect">
            <a:avLst/>
          </a:prstGeom>
          <a:noFill/>
          <a:ln>
            <a:noFill/>
          </a:ln>
        </p:spPr>
      </p:pic>
      <p:sp>
        <p:nvSpPr>
          <p:cNvPr id="418" name="Google Shape;418;p29"/>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419" name="Google Shape;419;p29"/>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grpSp>
        <p:nvGrpSpPr>
          <p:cNvPr id="424" name="Google Shape;424;p30"/>
          <p:cNvGrpSpPr/>
          <p:nvPr/>
        </p:nvGrpSpPr>
        <p:grpSpPr>
          <a:xfrm>
            <a:off x="0" y="-25"/>
            <a:ext cx="12192000" cy="490752"/>
            <a:chOff x="0" y="-25"/>
            <a:chExt cx="12192000" cy="490752"/>
          </a:xfrm>
        </p:grpSpPr>
        <p:pic>
          <p:nvPicPr>
            <p:cNvPr id="425" name="Google Shape;425;p30"/>
            <p:cNvPicPr preferRelativeResize="0"/>
            <p:nvPr/>
          </p:nvPicPr>
          <p:blipFill rotWithShape="1">
            <a:blip r:embed="rId3">
              <a:alphaModFix/>
            </a:blip>
            <a:srcRect/>
            <a:stretch/>
          </p:blipFill>
          <p:spPr>
            <a:xfrm>
              <a:off x="0" y="0"/>
              <a:ext cx="8458200" cy="490727"/>
            </a:xfrm>
            <a:prstGeom prst="rect">
              <a:avLst/>
            </a:prstGeom>
            <a:noFill/>
            <a:ln>
              <a:noFill/>
            </a:ln>
          </p:spPr>
        </p:pic>
        <p:sp>
          <p:nvSpPr>
            <p:cNvPr id="426" name="Google Shape;426;p30"/>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27" name="Google Shape;427;p30"/>
          <p:cNvSpPr txBox="1">
            <a:spLocks noGrp="1"/>
          </p:cNvSpPr>
          <p:nvPr>
            <p:ph type="title"/>
          </p:nvPr>
        </p:nvSpPr>
        <p:spPr>
          <a:xfrm>
            <a:off x="78739" y="23825"/>
            <a:ext cx="814705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Density Based Clustering: DBSCAN, OPTICS, DENCLUE</a:t>
            </a:r>
            <a:endParaRPr/>
          </a:p>
        </p:txBody>
      </p:sp>
      <p:sp>
        <p:nvSpPr>
          <p:cNvPr id="428" name="Google Shape;428;p30"/>
          <p:cNvSpPr txBox="1"/>
          <p:nvPr/>
        </p:nvSpPr>
        <p:spPr>
          <a:xfrm>
            <a:off x="78739" y="294515"/>
            <a:ext cx="10979150" cy="3227705"/>
          </a:xfrm>
          <a:prstGeom prst="rect">
            <a:avLst/>
          </a:prstGeom>
          <a:noFill/>
          <a:ln>
            <a:noFill/>
          </a:ln>
        </p:spPr>
        <p:txBody>
          <a:bodyPr spcFirstLastPara="1" wrap="square" lIns="0" tIns="165725" rIns="0" bIns="0" anchor="t" anchorCtr="0">
            <a:spAutoFit/>
          </a:bodyPr>
          <a:lstStyle/>
          <a:p>
            <a:pPr marL="237490" marR="0" lvl="0" indent="-227329" algn="l" rtl="0">
              <a:lnSpc>
                <a:spcPct val="100000"/>
              </a:lnSpc>
              <a:spcBef>
                <a:spcPts val="0"/>
              </a:spcBef>
              <a:spcAft>
                <a:spcPts val="0"/>
              </a:spcAft>
              <a:buClr>
                <a:srgbClr val="FF0000"/>
              </a:buClr>
              <a:buSzPts val="1900"/>
              <a:buFont typeface="Noto Sans Symbols"/>
              <a:buChar char="❑"/>
            </a:pPr>
            <a:r>
              <a:rPr lang="en-US" sz="2000" b="1" i="0" u="none" strike="noStrike" cap="none">
                <a:solidFill>
                  <a:srgbClr val="FF0000"/>
                </a:solidFill>
                <a:latin typeface="Arial"/>
                <a:ea typeface="Arial"/>
                <a:cs typeface="Arial"/>
                <a:sym typeface="Arial"/>
              </a:rPr>
              <a:t>Density-Based Clustering – Background: </a:t>
            </a:r>
            <a:r>
              <a:rPr lang="en-US" sz="2000" b="0" i="0" u="none" strike="noStrike" cap="none">
                <a:solidFill>
                  <a:srgbClr val="000000"/>
                </a:solidFill>
                <a:latin typeface="Helvetica Neue"/>
                <a:ea typeface="Helvetica Neue"/>
                <a:cs typeface="Helvetica Neue"/>
                <a:sym typeface="Helvetica Neue"/>
              </a:rPr>
              <a:t>Two parameters:</a:t>
            </a:r>
            <a:endParaRPr sz="2000" b="0" i="0" u="none" strike="noStrike" cap="none">
              <a:solidFill>
                <a:srgbClr val="000000"/>
              </a:solidFill>
              <a:latin typeface="Helvetica Neue"/>
              <a:ea typeface="Helvetica Neue"/>
              <a:cs typeface="Helvetica Neue"/>
              <a:sym typeface="Helvetica Neue"/>
            </a:endParaRPr>
          </a:p>
          <a:p>
            <a:pPr marL="128270" marR="0" lvl="0" indent="-120650" algn="l" rtl="0">
              <a:lnSpc>
                <a:spcPct val="100000"/>
              </a:lnSpc>
              <a:spcBef>
                <a:spcPts val="1200"/>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Eps: Maximum radius of the neighborhood.</a:t>
            </a:r>
            <a:endParaRPr sz="2000" b="0" i="0" u="none" strike="noStrike" cap="none">
              <a:solidFill>
                <a:srgbClr val="000000"/>
              </a:solidFill>
              <a:latin typeface="Helvetica Neue"/>
              <a:ea typeface="Helvetica Neue"/>
              <a:cs typeface="Helvetica Neue"/>
              <a:sym typeface="Helvetica Neue"/>
            </a:endParaRPr>
          </a:p>
          <a:p>
            <a:pPr marL="128270" marR="0" lvl="0" indent="-120650" algn="l" rtl="0">
              <a:lnSpc>
                <a:spcPct val="100000"/>
              </a:lnSpc>
              <a:spcBef>
                <a:spcPts val="1200"/>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MinPts: Minimum number of points in an Eps-neighbourhood of that point.</a:t>
            </a:r>
            <a:endParaRPr sz="2000" b="0" i="0" u="none" strike="noStrike" cap="none">
              <a:solidFill>
                <a:srgbClr val="000000"/>
              </a:solidFill>
              <a:latin typeface="Helvetica Neue"/>
              <a:ea typeface="Helvetica Neue"/>
              <a:cs typeface="Helvetica Neue"/>
              <a:sym typeface="Helvetica Neue"/>
            </a:endParaRPr>
          </a:p>
          <a:p>
            <a:pPr marL="127635" marR="0" lvl="0" indent="-120650" algn="l" rtl="0">
              <a:lnSpc>
                <a:spcPct val="100000"/>
              </a:lnSpc>
              <a:spcBef>
                <a:spcPts val="1205"/>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NEps(p): {q belongs to D | dist(p,q) &lt;= Eps}</a:t>
            </a:r>
            <a:endParaRPr sz="20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200"/>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Directly density-reachable: A point p is directly density-reachable from a point q wrt. Eps, MinPts if</a:t>
            </a:r>
            <a:endParaRPr sz="2000" b="0" i="0" u="none" strike="noStrike" cap="none">
              <a:solidFill>
                <a:srgbClr val="000000"/>
              </a:solidFill>
              <a:latin typeface="Helvetica Neue"/>
              <a:ea typeface="Helvetica Neue"/>
              <a:cs typeface="Helvetica Neue"/>
              <a:sym typeface="Helvetica Neue"/>
            </a:endParaRPr>
          </a:p>
          <a:p>
            <a:pPr marL="128270" marR="0" lvl="0" indent="-120650" algn="l" rtl="0">
              <a:lnSpc>
                <a:spcPct val="100000"/>
              </a:lnSpc>
              <a:spcBef>
                <a:spcPts val="1200"/>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p belongs to NEps(q)</a:t>
            </a:r>
            <a:endParaRPr sz="2000" b="0" i="0" u="none" strike="noStrike" cap="none">
              <a:solidFill>
                <a:srgbClr val="000000"/>
              </a:solidFill>
              <a:latin typeface="Helvetica Neue"/>
              <a:ea typeface="Helvetica Neue"/>
              <a:cs typeface="Helvetica Neue"/>
              <a:sym typeface="Helvetica Neue"/>
            </a:endParaRPr>
          </a:p>
          <a:p>
            <a:pPr marL="128270" marR="0" lvl="0" indent="-120650" algn="l" rtl="0">
              <a:lnSpc>
                <a:spcPct val="100000"/>
              </a:lnSpc>
              <a:spcBef>
                <a:spcPts val="1205"/>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core point condition:|NEps (q)| &gt;= MinPts</a:t>
            </a:r>
            <a:endParaRPr sz="2000" b="0" i="0" u="none" strike="noStrike" cap="none">
              <a:solidFill>
                <a:srgbClr val="000000"/>
              </a:solidFill>
              <a:latin typeface="Helvetica Neue"/>
              <a:ea typeface="Helvetica Neue"/>
              <a:cs typeface="Helvetica Neue"/>
              <a:sym typeface="Helvetica Neue"/>
            </a:endParaRPr>
          </a:p>
        </p:txBody>
      </p:sp>
      <p:pic>
        <p:nvPicPr>
          <p:cNvPr id="429" name="Google Shape;429;p30"/>
          <p:cNvPicPr preferRelativeResize="0"/>
          <p:nvPr/>
        </p:nvPicPr>
        <p:blipFill rotWithShape="1">
          <a:blip r:embed="rId4">
            <a:alphaModFix/>
          </a:blip>
          <a:srcRect/>
          <a:stretch/>
        </p:blipFill>
        <p:spPr>
          <a:xfrm>
            <a:off x="3907567" y="3890593"/>
            <a:ext cx="4071463" cy="1923907"/>
          </a:xfrm>
          <a:prstGeom prst="rect">
            <a:avLst/>
          </a:prstGeom>
          <a:noFill/>
          <a:ln>
            <a:noFill/>
          </a:ln>
        </p:spPr>
      </p:pic>
      <p:sp>
        <p:nvSpPr>
          <p:cNvPr id="430" name="Google Shape;430;p30"/>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431" name="Google Shape;431;p30"/>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grpSp>
        <p:nvGrpSpPr>
          <p:cNvPr id="436" name="Google Shape;436;p31"/>
          <p:cNvGrpSpPr/>
          <p:nvPr/>
        </p:nvGrpSpPr>
        <p:grpSpPr>
          <a:xfrm>
            <a:off x="0" y="-25"/>
            <a:ext cx="12192000" cy="490752"/>
            <a:chOff x="0" y="-25"/>
            <a:chExt cx="12192000" cy="490752"/>
          </a:xfrm>
        </p:grpSpPr>
        <p:pic>
          <p:nvPicPr>
            <p:cNvPr id="437" name="Google Shape;437;p31"/>
            <p:cNvPicPr preferRelativeResize="0"/>
            <p:nvPr/>
          </p:nvPicPr>
          <p:blipFill rotWithShape="1">
            <a:blip r:embed="rId3">
              <a:alphaModFix/>
            </a:blip>
            <a:srcRect/>
            <a:stretch/>
          </p:blipFill>
          <p:spPr>
            <a:xfrm>
              <a:off x="0" y="0"/>
              <a:ext cx="8458200" cy="490727"/>
            </a:xfrm>
            <a:prstGeom prst="rect">
              <a:avLst/>
            </a:prstGeom>
            <a:noFill/>
            <a:ln>
              <a:noFill/>
            </a:ln>
          </p:spPr>
        </p:pic>
        <p:sp>
          <p:nvSpPr>
            <p:cNvPr id="438" name="Google Shape;438;p31"/>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9" name="Google Shape;439;p31"/>
          <p:cNvSpPr txBox="1">
            <a:spLocks noGrp="1"/>
          </p:cNvSpPr>
          <p:nvPr>
            <p:ph type="title"/>
          </p:nvPr>
        </p:nvSpPr>
        <p:spPr>
          <a:xfrm>
            <a:off x="78739" y="23825"/>
            <a:ext cx="814959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Density Based Clustering: </a:t>
            </a:r>
            <a:r>
              <a:rPr lang="en-US">
                <a:solidFill>
                  <a:srgbClr val="FF0000"/>
                </a:solidFill>
              </a:rPr>
              <a:t>DBSCAN</a:t>
            </a:r>
            <a:r>
              <a:rPr lang="en-US"/>
              <a:t>, OPTICS, DENCLUE</a:t>
            </a:r>
            <a:endParaRPr/>
          </a:p>
        </p:txBody>
      </p:sp>
      <p:sp>
        <p:nvSpPr>
          <p:cNvPr id="440" name="Google Shape;440;p31"/>
          <p:cNvSpPr txBox="1"/>
          <p:nvPr/>
        </p:nvSpPr>
        <p:spPr>
          <a:xfrm>
            <a:off x="78739" y="335440"/>
            <a:ext cx="11423650" cy="1313815"/>
          </a:xfrm>
          <a:prstGeom prst="rect">
            <a:avLst/>
          </a:prstGeom>
          <a:noFill/>
          <a:ln>
            <a:noFill/>
          </a:ln>
        </p:spPr>
        <p:txBody>
          <a:bodyPr spcFirstLastPara="1" wrap="square" lIns="0" tIns="168275" rIns="0" bIns="0" anchor="t" anchorCtr="0">
            <a:spAutoFit/>
          </a:bodyPr>
          <a:lstStyle/>
          <a:p>
            <a:pPr marL="237490" marR="0" lvl="0" indent="-233679" algn="l" rtl="0">
              <a:lnSpc>
                <a:spcPct val="100000"/>
              </a:lnSpc>
              <a:spcBef>
                <a:spcPts val="0"/>
              </a:spcBef>
              <a:spcAft>
                <a:spcPts val="0"/>
              </a:spcAft>
              <a:buClr>
                <a:srgbClr val="FF0000"/>
              </a:buClr>
              <a:buSzPts val="1850"/>
              <a:buFont typeface="Noto Sans Symbols"/>
              <a:buChar char="❑"/>
            </a:pPr>
            <a:r>
              <a:rPr lang="en-US" sz="2000" b="1" i="0" u="none" strike="noStrike" cap="none">
                <a:solidFill>
                  <a:srgbClr val="FF0000"/>
                </a:solidFill>
                <a:latin typeface="Arial"/>
                <a:ea typeface="Arial"/>
                <a:cs typeface="Arial"/>
                <a:sym typeface="Arial"/>
              </a:rPr>
              <a:t>DBSCAN (Density-Based Spatial Clustering of Applications with Noise)</a:t>
            </a:r>
            <a:endParaRPr sz="2000" b="0" i="0" u="none" strike="noStrike" cap="none">
              <a:solidFill>
                <a:srgbClr val="000000"/>
              </a:solidFill>
              <a:latin typeface="Arial"/>
              <a:ea typeface="Arial"/>
              <a:cs typeface="Arial"/>
              <a:sym typeface="Arial"/>
            </a:endParaRPr>
          </a:p>
          <a:p>
            <a:pPr marL="215900" marR="0" lvl="0" indent="-215900" algn="l" rtl="0">
              <a:lnSpc>
                <a:spcPct val="100000"/>
              </a:lnSpc>
              <a:spcBef>
                <a:spcPts val="1115"/>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It relies on a density-based notion of cluster: A cluster is defined as a maximal set of density-connected points.</a:t>
            </a:r>
            <a:endParaRPr sz="1800" b="0" i="0" u="none" strike="noStrike" cap="none">
              <a:solidFill>
                <a:srgbClr val="000000"/>
              </a:solidFill>
              <a:latin typeface="Helvetica Neue"/>
              <a:ea typeface="Helvetica Neue"/>
              <a:cs typeface="Helvetica Neue"/>
              <a:sym typeface="Helvetica Neue"/>
            </a:endParaRPr>
          </a:p>
          <a:p>
            <a:pPr marL="215900" marR="0" lvl="0" indent="-215900" algn="l" rtl="0">
              <a:lnSpc>
                <a:spcPct val="100000"/>
              </a:lnSpc>
              <a:spcBef>
                <a:spcPts val="1080"/>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It discovers clusters of arbitrary shape in spatial databases with noise.</a:t>
            </a:r>
            <a:endParaRPr sz="1800" b="0" i="0" u="none" strike="noStrike" cap="none">
              <a:solidFill>
                <a:srgbClr val="000000"/>
              </a:solidFill>
              <a:latin typeface="Helvetica Neue"/>
              <a:ea typeface="Helvetica Neue"/>
              <a:cs typeface="Helvetica Neue"/>
              <a:sym typeface="Helvetica Neue"/>
            </a:endParaRPr>
          </a:p>
        </p:txBody>
      </p:sp>
      <p:pic>
        <p:nvPicPr>
          <p:cNvPr id="441" name="Google Shape;441;p31"/>
          <p:cNvPicPr preferRelativeResize="0"/>
          <p:nvPr/>
        </p:nvPicPr>
        <p:blipFill rotWithShape="1">
          <a:blip r:embed="rId4">
            <a:alphaModFix/>
          </a:blip>
          <a:srcRect/>
          <a:stretch/>
        </p:blipFill>
        <p:spPr>
          <a:xfrm>
            <a:off x="3176651" y="2071623"/>
            <a:ext cx="5800725" cy="2609850"/>
          </a:xfrm>
          <a:prstGeom prst="rect">
            <a:avLst/>
          </a:prstGeom>
          <a:noFill/>
          <a:ln>
            <a:noFill/>
          </a:ln>
        </p:spPr>
      </p:pic>
      <p:sp>
        <p:nvSpPr>
          <p:cNvPr id="442" name="Google Shape;442;p31"/>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443" name="Google Shape;443;p31"/>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grpSp>
        <p:nvGrpSpPr>
          <p:cNvPr id="448" name="Google Shape;448;p32"/>
          <p:cNvGrpSpPr/>
          <p:nvPr/>
        </p:nvGrpSpPr>
        <p:grpSpPr>
          <a:xfrm>
            <a:off x="0" y="-25"/>
            <a:ext cx="12192000" cy="490752"/>
            <a:chOff x="0" y="-25"/>
            <a:chExt cx="12192000" cy="490752"/>
          </a:xfrm>
        </p:grpSpPr>
        <p:pic>
          <p:nvPicPr>
            <p:cNvPr id="449" name="Google Shape;449;p32"/>
            <p:cNvPicPr preferRelativeResize="0"/>
            <p:nvPr/>
          </p:nvPicPr>
          <p:blipFill rotWithShape="1">
            <a:blip r:embed="rId3">
              <a:alphaModFix/>
            </a:blip>
            <a:srcRect/>
            <a:stretch/>
          </p:blipFill>
          <p:spPr>
            <a:xfrm>
              <a:off x="0" y="0"/>
              <a:ext cx="8458200" cy="490727"/>
            </a:xfrm>
            <a:prstGeom prst="rect">
              <a:avLst/>
            </a:prstGeom>
            <a:noFill/>
            <a:ln>
              <a:noFill/>
            </a:ln>
          </p:spPr>
        </p:pic>
        <p:sp>
          <p:nvSpPr>
            <p:cNvPr id="450" name="Google Shape;450;p32"/>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1" name="Google Shape;451;p32"/>
          <p:cNvSpPr txBox="1">
            <a:spLocks noGrp="1"/>
          </p:cNvSpPr>
          <p:nvPr>
            <p:ph type="title"/>
          </p:nvPr>
        </p:nvSpPr>
        <p:spPr>
          <a:xfrm>
            <a:off x="78739" y="23825"/>
            <a:ext cx="8149590"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Density Based Clustering: </a:t>
            </a:r>
            <a:r>
              <a:rPr lang="en-US">
                <a:solidFill>
                  <a:srgbClr val="FF0000"/>
                </a:solidFill>
              </a:rPr>
              <a:t>DBSCAN</a:t>
            </a:r>
            <a:r>
              <a:rPr lang="en-US"/>
              <a:t>, OPTICS, DENCLUE</a:t>
            </a:r>
            <a:endParaRPr/>
          </a:p>
        </p:txBody>
      </p:sp>
      <p:sp>
        <p:nvSpPr>
          <p:cNvPr id="452" name="Google Shape;452;p32"/>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453" name="Google Shape;453;p32"/>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36</a:t>
            </a:fld>
            <a:endParaRPr/>
          </a:p>
        </p:txBody>
      </p:sp>
      <p:sp>
        <p:nvSpPr>
          <p:cNvPr id="454" name="Google Shape;454;p32"/>
          <p:cNvSpPr txBox="1"/>
          <p:nvPr/>
        </p:nvSpPr>
        <p:spPr>
          <a:xfrm>
            <a:off x="78739" y="342600"/>
            <a:ext cx="12054840" cy="6063615"/>
          </a:xfrm>
          <a:prstGeom prst="rect">
            <a:avLst/>
          </a:prstGeom>
          <a:noFill/>
          <a:ln>
            <a:noFill/>
          </a:ln>
        </p:spPr>
        <p:txBody>
          <a:bodyPr spcFirstLastPara="1" wrap="square" lIns="0" tIns="149850" rIns="0" bIns="0" anchor="t" anchorCtr="0">
            <a:spAutoFit/>
          </a:bodyPr>
          <a:lstStyle/>
          <a:p>
            <a:pPr marL="216534" marR="0" lvl="0" indent="-205104" algn="l" rtl="0">
              <a:lnSpc>
                <a:spcPct val="100000"/>
              </a:lnSpc>
              <a:spcBef>
                <a:spcPts val="0"/>
              </a:spcBef>
              <a:spcAft>
                <a:spcPts val="0"/>
              </a:spcAft>
              <a:buClr>
                <a:srgbClr val="FF0000"/>
              </a:buClr>
              <a:buSzPts val="1700"/>
              <a:buFont typeface="Noto Sans Symbols"/>
              <a:buChar char="❑"/>
            </a:pPr>
            <a:r>
              <a:rPr lang="en-US" sz="1800" b="1" i="0" u="none" strike="noStrike" cap="none">
                <a:solidFill>
                  <a:srgbClr val="FF0000"/>
                </a:solidFill>
                <a:latin typeface="Arial"/>
                <a:ea typeface="Arial"/>
                <a:cs typeface="Arial"/>
                <a:sym typeface="Arial"/>
              </a:rPr>
              <a:t>DBSCAN Algorithm</a:t>
            </a:r>
            <a:endParaRPr sz="1800" b="0" i="0" u="none" strike="noStrike" cap="none">
              <a:solidFill>
                <a:srgbClr val="000000"/>
              </a:solidFill>
              <a:latin typeface="Arial"/>
              <a:ea typeface="Arial"/>
              <a:cs typeface="Arial"/>
              <a:sym typeface="Arial"/>
            </a:endParaRPr>
          </a:p>
          <a:p>
            <a:pPr marL="356870" marR="0" lvl="0" indent="-344170" algn="l" rtl="0">
              <a:lnSpc>
                <a:spcPct val="100000"/>
              </a:lnSpc>
              <a:spcBef>
                <a:spcPts val="1080"/>
              </a:spcBef>
              <a:spcAft>
                <a:spcPts val="0"/>
              </a:spcAft>
              <a:buClr>
                <a:srgbClr val="000000"/>
              </a:buClr>
              <a:buSzPts val="1800"/>
              <a:buFont typeface="Arial"/>
              <a:buAutoNum type="arabicPeriod"/>
            </a:pPr>
            <a:r>
              <a:rPr lang="en-US" sz="1800" b="1" i="0" u="none" strike="noStrike" cap="none">
                <a:solidFill>
                  <a:srgbClr val="000000"/>
                </a:solidFill>
                <a:latin typeface="Arial"/>
                <a:ea typeface="Arial"/>
                <a:cs typeface="Arial"/>
                <a:sym typeface="Arial"/>
              </a:rPr>
              <a:t>Arbitrary select a point p.</a:t>
            </a:r>
            <a:endParaRPr sz="1800" b="0" i="0" u="none" strike="noStrike" cap="none">
              <a:solidFill>
                <a:srgbClr val="000000"/>
              </a:solidFill>
              <a:latin typeface="Arial"/>
              <a:ea typeface="Arial"/>
              <a:cs typeface="Arial"/>
              <a:sym typeface="Arial"/>
            </a:endParaRPr>
          </a:p>
          <a:p>
            <a:pPr marL="356870" marR="0" lvl="0" indent="-344170" algn="l" rtl="0">
              <a:lnSpc>
                <a:spcPct val="100000"/>
              </a:lnSpc>
              <a:spcBef>
                <a:spcPts val="1085"/>
              </a:spcBef>
              <a:spcAft>
                <a:spcPts val="0"/>
              </a:spcAft>
              <a:buClr>
                <a:srgbClr val="000000"/>
              </a:buClr>
              <a:buSzPts val="1800"/>
              <a:buFont typeface="Arial"/>
              <a:buAutoNum type="arabicPeriod"/>
            </a:pPr>
            <a:r>
              <a:rPr lang="en-US" sz="1800" b="1" i="0" u="none" strike="noStrike" cap="none">
                <a:solidFill>
                  <a:srgbClr val="000000"/>
                </a:solidFill>
                <a:latin typeface="Arial"/>
                <a:ea typeface="Arial"/>
                <a:cs typeface="Arial"/>
                <a:sym typeface="Arial"/>
              </a:rPr>
              <a:t>Retrieve all points density-reachable from p wrt Eps and MinPts.</a:t>
            </a:r>
            <a:endParaRPr sz="1800" b="0" i="0" u="none" strike="noStrike" cap="none">
              <a:solidFill>
                <a:srgbClr val="000000"/>
              </a:solidFill>
              <a:latin typeface="Arial"/>
              <a:ea typeface="Arial"/>
              <a:cs typeface="Arial"/>
              <a:sym typeface="Arial"/>
            </a:endParaRPr>
          </a:p>
          <a:p>
            <a:pPr marL="356870" marR="0" lvl="0" indent="-344170" algn="l" rtl="0">
              <a:lnSpc>
                <a:spcPct val="100000"/>
              </a:lnSpc>
              <a:spcBef>
                <a:spcPts val="1080"/>
              </a:spcBef>
              <a:spcAft>
                <a:spcPts val="0"/>
              </a:spcAft>
              <a:buClr>
                <a:srgbClr val="000000"/>
              </a:buClr>
              <a:buSzPts val="1800"/>
              <a:buFont typeface="Arial"/>
              <a:buAutoNum type="arabicPeriod"/>
            </a:pPr>
            <a:r>
              <a:rPr lang="en-US" sz="1800" b="1" i="0" u="none" strike="noStrike" cap="none">
                <a:solidFill>
                  <a:srgbClr val="000000"/>
                </a:solidFill>
                <a:latin typeface="Arial"/>
                <a:ea typeface="Arial"/>
                <a:cs typeface="Arial"/>
                <a:sym typeface="Arial"/>
              </a:rPr>
              <a:t>If p is a core point, a cluster is formed.</a:t>
            </a:r>
            <a:endParaRPr sz="1800" b="0" i="0" u="none" strike="noStrike" cap="none">
              <a:solidFill>
                <a:srgbClr val="000000"/>
              </a:solidFill>
              <a:latin typeface="Arial"/>
              <a:ea typeface="Arial"/>
              <a:cs typeface="Arial"/>
              <a:sym typeface="Arial"/>
            </a:endParaRPr>
          </a:p>
          <a:p>
            <a:pPr marL="356870" marR="0" lvl="0" indent="-344170" algn="l" rtl="0">
              <a:lnSpc>
                <a:spcPct val="100000"/>
              </a:lnSpc>
              <a:spcBef>
                <a:spcPts val="1080"/>
              </a:spcBef>
              <a:spcAft>
                <a:spcPts val="0"/>
              </a:spcAft>
              <a:buClr>
                <a:srgbClr val="000000"/>
              </a:buClr>
              <a:buSzPts val="1800"/>
              <a:buFont typeface="Arial"/>
              <a:buAutoNum type="arabicPeriod"/>
            </a:pPr>
            <a:r>
              <a:rPr lang="en-US" sz="1800" b="1" i="0" u="none" strike="noStrike" cap="none">
                <a:solidFill>
                  <a:srgbClr val="000000"/>
                </a:solidFill>
                <a:latin typeface="Arial"/>
                <a:ea typeface="Arial"/>
                <a:cs typeface="Arial"/>
                <a:sym typeface="Arial"/>
              </a:rPr>
              <a:t>If p is a border point, no points are density-reachable from p and DBSCAN visits the next point of the</a:t>
            </a:r>
            <a:endParaRPr sz="1800" b="0" i="0" u="none" strike="noStrike" cap="none">
              <a:solidFill>
                <a:srgbClr val="000000"/>
              </a:solidFill>
              <a:latin typeface="Arial"/>
              <a:ea typeface="Arial"/>
              <a:cs typeface="Arial"/>
              <a:sym typeface="Arial"/>
            </a:endParaRPr>
          </a:p>
          <a:p>
            <a:pPr marL="356870" marR="0" lvl="0" indent="0" algn="l" rtl="0">
              <a:lnSpc>
                <a:spcPct val="100000"/>
              </a:lnSpc>
              <a:spcBef>
                <a:spcPts val="1085"/>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database.</a:t>
            </a:r>
            <a:endParaRPr sz="1800" b="0" i="0" u="none" strike="noStrike" cap="none">
              <a:solidFill>
                <a:srgbClr val="000000"/>
              </a:solidFill>
              <a:latin typeface="Arial"/>
              <a:ea typeface="Arial"/>
              <a:cs typeface="Arial"/>
              <a:sym typeface="Arial"/>
            </a:endParaRPr>
          </a:p>
          <a:p>
            <a:pPr marL="356870" marR="0" lvl="0" indent="-344170" algn="l" rtl="0">
              <a:lnSpc>
                <a:spcPct val="100000"/>
              </a:lnSpc>
              <a:spcBef>
                <a:spcPts val="1080"/>
              </a:spcBef>
              <a:spcAft>
                <a:spcPts val="0"/>
              </a:spcAft>
              <a:buClr>
                <a:srgbClr val="000000"/>
              </a:buClr>
              <a:buSzPts val="1800"/>
              <a:buFont typeface="Arial"/>
              <a:buAutoNum type="arabicPeriod" startAt="5"/>
            </a:pPr>
            <a:r>
              <a:rPr lang="en-US" sz="1800" b="1" i="0" u="none" strike="noStrike" cap="none">
                <a:solidFill>
                  <a:srgbClr val="000000"/>
                </a:solidFill>
                <a:latin typeface="Arial"/>
                <a:ea typeface="Arial"/>
                <a:cs typeface="Arial"/>
                <a:sym typeface="Arial"/>
              </a:rPr>
              <a:t>Continue the process until all of the points have been processed.</a:t>
            </a:r>
            <a:endParaRPr sz="1800" b="0" i="0" u="none" strike="noStrike" cap="none">
              <a:solidFill>
                <a:srgbClr val="000000"/>
              </a:solidFill>
              <a:latin typeface="Arial"/>
              <a:ea typeface="Arial"/>
              <a:cs typeface="Arial"/>
              <a:sym typeface="Arial"/>
            </a:endParaRPr>
          </a:p>
          <a:p>
            <a:pPr marL="0" marR="0" lvl="0" indent="0" algn="l" rtl="0">
              <a:lnSpc>
                <a:spcPct val="100000"/>
              </a:lnSpc>
              <a:spcBef>
                <a:spcPts val="9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a:p>
            <a:pPr marL="12700" marR="200025" lvl="1" indent="-107950" algn="l" rtl="0">
              <a:lnSpc>
                <a:spcPct val="150100"/>
              </a:lnSpc>
              <a:spcBef>
                <a:spcPts val="0"/>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	say, let MinPts = 3.Of the labeled points, m, p, o, and r are core objects because each is in an ε-neighborhood containing at least three points. q is directly density-reachable from m. m is directly density-reachable from p and vice versa.</a:t>
            </a:r>
            <a:endParaRPr sz="1800" b="0" i="0" u="none" strike="noStrike" cap="none">
              <a:solidFill>
                <a:srgbClr val="000000"/>
              </a:solidFill>
              <a:latin typeface="Helvetica Neue"/>
              <a:ea typeface="Helvetica Neue"/>
              <a:cs typeface="Helvetica Neue"/>
              <a:sym typeface="Helvetica Neue"/>
            </a:endParaRPr>
          </a:p>
          <a:p>
            <a:pPr marL="12700" marR="356870" lvl="1" indent="-107950" algn="l" rtl="0">
              <a:lnSpc>
                <a:spcPct val="180000"/>
              </a:lnSpc>
              <a:spcBef>
                <a:spcPts val="285"/>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	q is (indirectly) density-reachable from p	because q is directly density-reachable from m and m is directly density- reachable from p.</a:t>
            </a:r>
            <a:endParaRPr sz="1800" b="0" i="0" u="none" strike="noStrike" cap="none">
              <a:solidFill>
                <a:srgbClr val="000000"/>
              </a:solidFill>
              <a:latin typeface="Helvetica Neue"/>
              <a:ea typeface="Helvetica Neue"/>
              <a:cs typeface="Helvetica Neue"/>
              <a:sym typeface="Helvetica Neue"/>
            </a:endParaRPr>
          </a:p>
          <a:p>
            <a:pPr marL="215900" marR="0" lvl="1" indent="-204470" algn="l" rtl="0">
              <a:lnSpc>
                <a:spcPct val="100000"/>
              </a:lnSpc>
              <a:spcBef>
                <a:spcPts val="800"/>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However, p is not density-reachable from q	because q is not a core object.</a:t>
            </a:r>
            <a:endParaRPr sz="1800" b="0" i="0" u="none" strike="noStrike" cap="none">
              <a:solidFill>
                <a:srgbClr val="000000"/>
              </a:solidFill>
              <a:latin typeface="Helvetica Neue"/>
              <a:ea typeface="Helvetica Neue"/>
              <a:cs typeface="Helvetica Neue"/>
              <a:sym typeface="Helvetica Neue"/>
            </a:endParaRPr>
          </a:p>
          <a:p>
            <a:pPr marL="215900" marR="0" lvl="1" indent="-204470" algn="l" rtl="0">
              <a:lnSpc>
                <a:spcPct val="100000"/>
              </a:lnSpc>
              <a:spcBef>
                <a:spcPts val="1080"/>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Similarly, r and s are density-reachable from o, and o is density-reachable from o, and o is density-reachable from R.</a:t>
            </a:r>
            <a:endParaRPr sz="18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grpSp>
        <p:nvGrpSpPr>
          <p:cNvPr id="459" name="Google Shape;459;p33"/>
          <p:cNvGrpSpPr/>
          <p:nvPr/>
        </p:nvGrpSpPr>
        <p:grpSpPr>
          <a:xfrm>
            <a:off x="0" y="-25"/>
            <a:ext cx="12192000" cy="490752"/>
            <a:chOff x="0" y="-25"/>
            <a:chExt cx="12192000" cy="490752"/>
          </a:xfrm>
        </p:grpSpPr>
        <p:pic>
          <p:nvPicPr>
            <p:cNvPr id="460" name="Google Shape;460;p33"/>
            <p:cNvPicPr preferRelativeResize="0"/>
            <p:nvPr/>
          </p:nvPicPr>
          <p:blipFill rotWithShape="1">
            <a:blip r:embed="rId3">
              <a:alphaModFix/>
            </a:blip>
            <a:srcRect/>
            <a:stretch/>
          </p:blipFill>
          <p:spPr>
            <a:xfrm>
              <a:off x="0" y="0"/>
              <a:ext cx="8458200" cy="490727"/>
            </a:xfrm>
            <a:prstGeom prst="rect">
              <a:avLst/>
            </a:prstGeom>
            <a:noFill/>
            <a:ln>
              <a:noFill/>
            </a:ln>
          </p:spPr>
        </p:pic>
        <p:sp>
          <p:nvSpPr>
            <p:cNvPr id="461" name="Google Shape;461;p33"/>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62" name="Google Shape;462;p33"/>
          <p:cNvSpPr txBox="1">
            <a:spLocks noGrp="1"/>
          </p:cNvSpPr>
          <p:nvPr>
            <p:ph type="title"/>
          </p:nvPr>
        </p:nvSpPr>
        <p:spPr>
          <a:xfrm>
            <a:off x="78739" y="23825"/>
            <a:ext cx="815022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Density Based Clustering: DBSCAN, </a:t>
            </a:r>
            <a:r>
              <a:rPr lang="en-US">
                <a:solidFill>
                  <a:srgbClr val="FF0000"/>
                </a:solidFill>
              </a:rPr>
              <a:t>OPTICS</a:t>
            </a:r>
            <a:r>
              <a:rPr lang="en-US"/>
              <a:t>, DENCLUE</a:t>
            </a:r>
            <a:endParaRPr/>
          </a:p>
        </p:txBody>
      </p:sp>
      <p:sp>
        <p:nvSpPr>
          <p:cNvPr id="463" name="Google Shape;463;p33"/>
          <p:cNvSpPr txBox="1"/>
          <p:nvPr/>
        </p:nvSpPr>
        <p:spPr>
          <a:xfrm>
            <a:off x="78739" y="338330"/>
            <a:ext cx="12050395" cy="2770505"/>
          </a:xfrm>
          <a:prstGeom prst="rect">
            <a:avLst/>
          </a:prstGeom>
          <a:noFill/>
          <a:ln>
            <a:noFill/>
          </a:ln>
        </p:spPr>
        <p:txBody>
          <a:bodyPr spcFirstLastPara="1" wrap="square" lIns="0" tIns="165725" rIns="0" bIns="0" anchor="t" anchorCtr="0">
            <a:spAutoFit/>
          </a:bodyPr>
          <a:lstStyle/>
          <a:p>
            <a:pPr marL="237490" marR="0" lvl="0" indent="-227329" algn="l" rtl="0">
              <a:lnSpc>
                <a:spcPct val="100000"/>
              </a:lnSpc>
              <a:spcBef>
                <a:spcPts val="0"/>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It produces a special order of the database with respect to its density-based clustering structure.</a:t>
            </a:r>
            <a:endParaRPr sz="2000" b="0" i="0" u="none" strike="noStrike" cap="none">
              <a:solidFill>
                <a:srgbClr val="000000"/>
              </a:solidFill>
              <a:latin typeface="Helvetica Neue"/>
              <a:ea typeface="Helvetica Neue"/>
              <a:cs typeface="Helvetica Neue"/>
              <a:sym typeface="Helvetica Neue"/>
            </a:endParaRPr>
          </a:p>
          <a:p>
            <a:pPr marL="12700" marR="5080" lvl="0" indent="-120650" algn="l" rtl="0">
              <a:lnSpc>
                <a:spcPct val="180000"/>
              </a:lnSpc>
              <a:spcBef>
                <a:spcPts val="320"/>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	This cluster-ordering contains info equivalent to the density-based clusterings corresponding to a broad range of parameter settings.</a:t>
            </a:r>
            <a:endParaRPr sz="2000" b="0" i="0" u="none" strike="noStrike" cap="none">
              <a:solidFill>
                <a:srgbClr val="000000"/>
              </a:solidFill>
              <a:latin typeface="Helvetica Neue"/>
              <a:ea typeface="Helvetica Neue"/>
              <a:cs typeface="Helvetica Neue"/>
              <a:sym typeface="Helvetica Neue"/>
            </a:endParaRPr>
          </a:p>
          <a:p>
            <a:pPr marL="237490" marR="0" lvl="0" indent="-227329" algn="l" rtl="0">
              <a:lnSpc>
                <a:spcPct val="100000"/>
              </a:lnSpc>
              <a:spcBef>
                <a:spcPts val="885"/>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It is good for both automatic and interactive cluster analysis, including finding an intrinsic clustering</a:t>
            </a:r>
            <a:endParaRPr sz="20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200"/>
              </a:spcBef>
              <a:spcAft>
                <a:spcPts val="0"/>
              </a:spcAft>
              <a:buClr>
                <a:srgbClr val="000000"/>
              </a:buClr>
              <a:buSzPts val="2000"/>
              <a:buFont typeface="Arial"/>
              <a:buNone/>
            </a:pPr>
            <a:r>
              <a:rPr lang="en-US" sz="2000" b="0" i="0" u="none" strike="noStrike" cap="none">
                <a:solidFill>
                  <a:srgbClr val="000000"/>
                </a:solidFill>
                <a:latin typeface="Helvetica Neue"/>
                <a:ea typeface="Helvetica Neue"/>
                <a:cs typeface="Helvetica Neue"/>
                <a:sym typeface="Helvetica Neue"/>
              </a:rPr>
              <a:t>structure.</a:t>
            </a:r>
            <a:endParaRPr sz="2000" b="0" i="0" u="none" strike="noStrike" cap="none">
              <a:solidFill>
                <a:srgbClr val="000000"/>
              </a:solidFill>
              <a:latin typeface="Helvetica Neue"/>
              <a:ea typeface="Helvetica Neue"/>
              <a:cs typeface="Helvetica Neue"/>
              <a:sym typeface="Helvetica Neue"/>
            </a:endParaRPr>
          </a:p>
          <a:p>
            <a:pPr marL="238125" marR="0" lvl="0" indent="-227329" algn="l" rtl="0">
              <a:lnSpc>
                <a:spcPct val="100000"/>
              </a:lnSpc>
              <a:spcBef>
                <a:spcPts val="1200"/>
              </a:spcBef>
              <a:spcAft>
                <a:spcPts val="0"/>
              </a:spcAft>
              <a:buClr>
                <a:srgbClr val="000000"/>
              </a:buClr>
              <a:buSzPts val="1900"/>
              <a:buFont typeface="Noto Sans Symbols"/>
              <a:buChar char="❑"/>
            </a:pPr>
            <a:r>
              <a:rPr lang="en-US" sz="2000" b="0" i="0" u="none" strike="noStrike" cap="none">
                <a:solidFill>
                  <a:srgbClr val="000000"/>
                </a:solidFill>
                <a:latin typeface="Helvetica Neue"/>
                <a:ea typeface="Helvetica Neue"/>
                <a:cs typeface="Helvetica Neue"/>
                <a:sym typeface="Helvetica Neue"/>
              </a:rPr>
              <a:t>It can be represented graphically or using visualization techniques.</a:t>
            </a:r>
            <a:endParaRPr sz="2000" b="0" i="0" u="none" strike="noStrike" cap="none">
              <a:solidFill>
                <a:srgbClr val="000000"/>
              </a:solidFill>
              <a:latin typeface="Helvetica Neue"/>
              <a:ea typeface="Helvetica Neue"/>
              <a:cs typeface="Helvetica Neue"/>
              <a:sym typeface="Helvetica Neue"/>
            </a:endParaRPr>
          </a:p>
        </p:txBody>
      </p:sp>
      <p:pic>
        <p:nvPicPr>
          <p:cNvPr id="464" name="Google Shape;464;p33"/>
          <p:cNvPicPr preferRelativeResize="0"/>
          <p:nvPr/>
        </p:nvPicPr>
        <p:blipFill rotWithShape="1">
          <a:blip r:embed="rId4">
            <a:alphaModFix/>
          </a:blip>
          <a:srcRect/>
          <a:stretch/>
        </p:blipFill>
        <p:spPr>
          <a:xfrm>
            <a:off x="2735915" y="3206662"/>
            <a:ext cx="6313904" cy="2984320"/>
          </a:xfrm>
          <a:prstGeom prst="rect">
            <a:avLst/>
          </a:prstGeom>
          <a:noFill/>
          <a:ln>
            <a:noFill/>
          </a:ln>
        </p:spPr>
      </p:pic>
      <p:sp>
        <p:nvSpPr>
          <p:cNvPr id="465" name="Google Shape;465;p33"/>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466" name="Google Shape;466;p33"/>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grpSp>
        <p:nvGrpSpPr>
          <p:cNvPr id="471" name="Google Shape;471;p34"/>
          <p:cNvGrpSpPr/>
          <p:nvPr/>
        </p:nvGrpSpPr>
        <p:grpSpPr>
          <a:xfrm>
            <a:off x="0" y="-25"/>
            <a:ext cx="12192000" cy="490752"/>
            <a:chOff x="0" y="-25"/>
            <a:chExt cx="12192000" cy="490752"/>
          </a:xfrm>
        </p:grpSpPr>
        <p:pic>
          <p:nvPicPr>
            <p:cNvPr id="472" name="Google Shape;472;p34"/>
            <p:cNvPicPr preferRelativeResize="0"/>
            <p:nvPr/>
          </p:nvPicPr>
          <p:blipFill rotWithShape="1">
            <a:blip r:embed="rId3">
              <a:alphaModFix/>
            </a:blip>
            <a:srcRect/>
            <a:stretch/>
          </p:blipFill>
          <p:spPr>
            <a:xfrm>
              <a:off x="0" y="0"/>
              <a:ext cx="8458200" cy="490727"/>
            </a:xfrm>
            <a:prstGeom prst="rect">
              <a:avLst/>
            </a:prstGeom>
            <a:noFill/>
            <a:ln>
              <a:noFill/>
            </a:ln>
          </p:spPr>
        </p:pic>
        <p:sp>
          <p:nvSpPr>
            <p:cNvPr id="473" name="Google Shape;473;p34"/>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4" name="Google Shape;474;p34"/>
          <p:cNvSpPr txBox="1">
            <a:spLocks noGrp="1"/>
          </p:cNvSpPr>
          <p:nvPr>
            <p:ph type="title"/>
          </p:nvPr>
        </p:nvSpPr>
        <p:spPr>
          <a:xfrm>
            <a:off x="78739" y="23825"/>
            <a:ext cx="8150225"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Density Based Clustering: DBSCAN, </a:t>
            </a:r>
            <a:r>
              <a:rPr lang="en-US">
                <a:solidFill>
                  <a:srgbClr val="FF0000"/>
                </a:solidFill>
              </a:rPr>
              <a:t>OPTICS</a:t>
            </a:r>
            <a:r>
              <a:rPr lang="en-US"/>
              <a:t>, DENCLUE</a:t>
            </a:r>
            <a:endParaRPr/>
          </a:p>
        </p:txBody>
      </p:sp>
      <p:sp>
        <p:nvSpPr>
          <p:cNvPr id="475" name="Google Shape;475;p34"/>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476" name="Google Shape;476;p34"/>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38</a:t>
            </a:fld>
            <a:endParaRPr/>
          </a:p>
        </p:txBody>
      </p:sp>
      <p:sp>
        <p:nvSpPr>
          <p:cNvPr id="477" name="Google Shape;477;p34"/>
          <p:cNvSpPr txBox="1"/>
          <p:nvPr/>
        </p:nvSpPr>
        <p:spPr>
          <a:xfrm>
            <a:off x="49784" y="352857"/>
            <a:ext cx="12049760" cy="3415029"/>
          </a:xfrm>
          <a:prstGeom prst="rect">
            <a:avLst/>
          </a:prstGeom>
          <a:noFill/>
          <a:ln>
            <a:noFill/>
          </a:ln>
        </p:spPr>
        <p:txBody>
          <a:bodyPr spcFirstLastPara="1" wrap="square" lIns="0" tIns="12700" rIns="0" bIns="0" anchor="t" anchorCtr="0">
            <a:spAutoFit/>
          </a:bodyPr>
          <a:lstStyle/>
          <a:p>
            <a:pPr marL="12700" marR="5080" lvl="0" indent="-120650" algn="l" rtl="0">
              <a:lnSpc>
                <a:spcPct val="150100"/>
              </a:lnSpc>
              <a:spcBef>
                <a:spcPts val="0"/>
              </a:spcBef>
              <a:spcAft>
                <a:spcPts val="0"/>
              </a:spcAft>
              <a:buClr>
                <a:srgbClr val="FF0000"/>
              </a:buClr>
              <a:buSzPts val="1900"/>
              <a:buFont typeface="Noto Sans Symbols"/>
              <a:buChar char="❑"/>
            </a:pPr>
            <a:r>
              <a:rPr lang="en-US" sz="2000" b="1" i="0" u="none" strike="noStrike" cap="none">
                <a:solidFill>
                  <a:srgbClr val="FF0000"/>
                </a:solidFill>
                <a:latin typeface="Arial"/>
                <a:ea typeface="Arial"/>
                <a:cs typeface="Arial"/>
                <a:sym typeface="Arial"/>
              </a:rPr>
              <a:t>	Core-distance	and	reachability-distance:	</a:t>
            </a:r>
            <a:r>
              <a:rPr lang="en-US" sz="2000" b="0" i="0" u="none" strike="noStrike" cap="none">
                <a:solidFill>
                  <a:srgbClr val="000000"/>
                </a:solidFill>
                <a:latin typeface="Helvetica Neue"/>
                <a:ea typeface="Helvetica Neue"/>
                <a:cs typeface="Helvetica Neue"/>
                <a:sym typeface="Helvetica Neue"/>
              </a:rPr>
              <a:t>The	figure	illustrates	the	concepts	of	core-distance	and reachability-distance.</a:t>
            </a:r>
            <a:endParaRPr sz="2000" b="0" i="0" u="none" strike="noStrike" cap="none">
              <a:solidFill>
                <a:srgbClr val="000000"/>
              </a:solidFill>
              <a:latin typeface="Helvetica Neue"/>
              <a:ea typeface="Helvetica Neue"/>
              <a:cs typeface="Helvetica Neue"/>
              <a:sym typeface="Helvetica Neue"/>
            </a:endParaRPr>
          </a:p>
          <a:p>
            <a:pPr marL="115570" marR="0" lvl="0" indent="-107950" algn="l" rtl="0">
              <a:lnSpc>
                <a:spcPct val="100000"/>
              </a:lnSpc>
              <a:spcBef>
                <a:spcPts val="1115"/>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Suppose that e=6 mm and MinPts=5.</a:t>
            </a:r>
            <a:endParaRPr sz="18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080"/>
              </a:spcBef>
              <a:spcAft>
                <a:spcPts val="0"/>
              </a:spcAft>
              <a:buClr>
                <a:srgbClr val="000000"/>
              </a:buClr>
              <a:buSzPts val="1800"/>
              <a:buFont typeface="Arial"/>
              <a:buNone/>
            </a:pPr>
            <a:r>
              <a:rPr lang="en-US" sz="1800" b="0" i="0" u="none" strike="noStrike" cap="none">
                <a:solidFill>
                  <a:srgbClr val="000000"/>
                </a:solidFill>
                <a:latin typeface="Helvetica Neue"/>
                <a:ea typeface="Helvetica Neue"/>
                <a:cs typeface="Helvetica Neue"/>
                <a:sym typeface="Helvetica Neue"/>
              </a:rPr>
              <a:t>The core distance of p is the distance, e0, between p and the fourth closest data object.</a:t>
            </a:r>
            <a:endParaRPr sz="1800" b="0" i="0" u="none" strike="noStrike" cap="none">
              <a:solidFill>
                <a:srgbClr val="000000"/>
              </a:solidFill>
              <a:latin typeface="Helvetica Neue"/>
              <a:ea typeface="Helvetica Neue"/>
              <a:cs typeface="Helvetica Neue"/>
              <a:sym typeface="Helvetica Neue"/>
            </a:endParaRPr>
          </a:p>
          <a:p>
            <a:pPr marL="12700" marR="62864" lvl="0" indent="-107950" algn="l" rtl="0">
              <a:lnSpc>
                <a:spcPct val="150100"/>
              </a:lnSpc>
              <a:spcBef>
                <a:spcPts val="0"/>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	The reachability-distance of q1 with respect to p is the core-distance of p (i.e., e0 =3 mm) because this is greater than the Euclidean distance from p to q1.</a:t>
            </a:r>
            <a:endParaRPr sz="1800" b="0" i="0" u="none" strike="noStrike" cap="none">
              <a:solidFill>
                <a:srgbClr val="000000"/>
              </a:solidFill>
              <a:latin typeface="Helvetica Neue"/>
              <a:ea typeface="Helvetica Neue"/>
              <a:cs typeface="Helvetica Neue"/>
              <a:sym typeface="Helvetica Neue"/>
            </a:endParaRPr>
          </a:p>
          <a:p>
            <a:pPr marL="115570" marR="0" lvl="0" indent="-107950" algn="l" rtl="0">
              <a:lnSpc>
                <a:spcPct val="100000"/>
              </a:lnSpc>
              <a:spcBef>
                <a:spcPts val="1080"/>
              </a:spcBef>
              <a:spcAft>
                <a:spcPts val="0"/>
              </a:spcAft>
              <a:buClr>
                <a:srgbClr val="000000"/>
              </a:buClr>
              <a:buSzPts val="1700"/>
              <a:buFont typeface="Noto Sans Symbols"/>
              <a:buChar char="▪"/>
            </a:pPr>
            <a:r>
              <a:rPr lang="en-US" sz="1800" b="0" i="0" u="none" strike="noStrike" cap="none">
                <a:solidFill>
                  <a:srgbClr val="000000"/>
                </a:solidFill>
                <a:latin typeface="Helvetica Neue"/>
                <a:ea typeface="Helvetica Neue"/>
                <a:cs typeface="Helvetica Neue"/>
                <a:sym typeface="Helvetica Neue"/>
              </a:rPr>
              <a:t>The reachability distance of q2 with respect to p is the Euclidean distance from p to q2 because this is greater than</a:t>
            </a:r>
            <a:endParaRPr sz="18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085"/>
              </a:spcBef>
              <a:spcAft>
                <a:spcPts val="0"/>
              </a:spcAft>
              <a:buClr>
                <a:srgbClr val="000000"/>
              </a:buClr>
              <a:buSzPts val="1800"/>
              <a:buFont typeface="Arial"/>
              <a:buNone/>
            </a:pPr>
            <a:r>
              <a:rPr lang="en-US" sz="1800" b="0" i="0" u="none" strike="noStrike" cap="none">
                <a:solidFill>
                  <a:srgbClr val="000000"/>
                </a:solidFill>
                <a:latin typeface="Helvetica Neue"/>
                <a:ea typeface="Helvetica Neue"/>
                <a:cs typeface="Helvetica Neue"/>
                <a:sym typeface="Helvetica Neue"/>
              </a:rPr>
              <a:t>the core-distance of p.</a:t>
            </a:r>
            <a:endParaRPr sz="18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grpSp>
        <p:nvGrpSpPr>
          <p:cNvPr id="482" name="Google Shape;482;p35"/>
          <p:cNvGrpSpPr/>
          <p:nvPr/>
        </p:nvGrpSpPr>
        <p:grpSpPr>
          <a:xfrm>
            <a:off x="0" y="-25"/>
            <a:ext cx="12192000" cy="490752"/>
            <a:chOff x="0" y="-25"/>
            <a:chExt cx="12192000" cy="490752"/>
          </a:xfrm>
        </p:grpSpPr>
        <p:pic>
          <p:nvPicPr>
            <p:cNvPr id="483" name="Google Shape;483;p35"/>
            <p:cNvPicPr preferRelativeResize="0"/>
            <p:nvPr/>
          </p:nvPicPr>
          <p:blipFill rotWithShape="1">
            <a:blip r:embed="rId3">
              <a:alphaModFix/>
            </a:blip>
            <a:srcRect/>
            <a:stretch/>
          </p:blipFill>
          <p:spPr>
            <a:xfrm>
              <a:off x="0" y="0"/>
              <a:ext cx="8458200" cy="490727"/>
            </a:xfrm>
            <a:prstGeom prst="rect">
              <a:avLst/>
            </a:prstGeom>
            <a:noFill/>
            <a:ln>
              <a:noFill/>
            </a:ln>
          </p:spPr>
        </p:pic>
        <p:sp>
          <p:nvSpPr>
            <p:cNvPr id="484" name="Google Shape;484;p35"/>
            <p:cNvSpPr/>
            <p:nvPr/>
          </p:nvSpPr>
          <p:spPr>
            <a:xfrm>
              <a:off x="0" y="-25"/>
              <a:ext cx="12192000" cy="462280"/>
            </a:xfrm>
            <a:custGeom>
              <a:avLst/>
              <a:gdLst/>
              <a:ahLst/>
              <a:cxnLst/>
              <a:rect l="l" t="t" r="r" b="b"/>
              <a:pathLst>
                <a:path w="12192000" h="462280" extrusionOk="0">
                  <a:moveTo>
                    <a:pt x="12192000" y="0"/>
                  </a:moveTo>
                  <a:lnTo>
                    <a:pt x="0" y="0"/>
                  </a:lnTo>
                  <a:lnTo>
                    <a:pt x="0" y="461670"/>
                  </a:lnTo>
                  <a:lnTo>
                    <a:pt x="12192000" y="461670"/>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85" name="Google Shape;485;p35"/>
          <p:cNvSpPr txBox="1">
            <a:spLocks noGrp="1"/>
          </p:cNvSpPr>
          <p:nvPr>
            <p:ph type="title"/>
          </p:nvPr>
        </p:nvSpPr>
        <p:spPr>
          <a:xfrm>
            <a:off x="78739" y="23825"/>
            <a:ext cx="8150859" cy="3917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a:t>Density Based Clustering: DBSCAN, OPTICS, </a:t>
            </a:r>
            <a:r>
              <a:rPr lang="en-US">
                <a:solidFill>
                  <a:srgbClr val="FF0000"/>
                </a:solidFill>
              </a:rPr>
              <a:t>DENCLUE</a:t>
            </a:r>
            <a:endParaRPr/>
          </a:p>
        </p:txBody>
      </p:sp>
      <p:sp>
        <p:nvSpPr>
          <p:cNvPr id="486" name="Google Shape;486;p35"/>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487" name="Google Shape;487;p35"/>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39</a:t>
            </a:fld>
            <a:endParaRPr/>
          </a:p>
        </p:txBody>
      </p:sp>
      <p:sp>
        <p:nvSpPr>
          <p:cNvPr id="488" name="Google Shape;488;p35"/>
          <p:cNvSpPr txBox="1"/>
          <p:nvPr/>
        </p:nvSpPr>
        <p:spPr>
          <a:xfrm>
            <a:off x="49784" y="349936"/>
            <a:ext cx="11732895" cy="2960370"/>
          </a:xfrm>
          <a:prstGeom prst="rect">
            <a:avLst/>
          </a:prstGeom>
          <a:noFill/>
          <a:ln>
            <a:noFill/>
          </a:ln>
        </p:spPr>
        <p:txBody>
          <a:bodyPr spcFirstLastPara="1" wrap="square" lIns="0" tIns="168275" rIns="0" bIns="0" anchor="t" anchorCtr="0">
            <a:spAutoFit/>
          </a:bodyPr>
          <a:lstStyle/>
          <a:p>
            <a:pPr marL="238125" marR="0" lvl="0" indent="-227329" algn="l" rtl="0">
              <a:lnSpc>
                <a:spcPct val="100000"/>
              </a:lnSpc>
              <a:spcBef>
                <a:spcPts val="0"/>
              </a:spcBef>
              <a:spcAft>
                <a:spcPts val="0"/>
              </a:spcAft>
              <a:buClr>
                <a:srgbClr val="FF0000"/>
              </a:buClr>
              <a:buSzPts val="1900"/>
              <a:buFont typeface="Noto Sans Symbols"/>
              <a:buChar char="❑"/>
            </a:pPr>
            <a:r>
              <a:rPr lang="en-US" sz="2000" b="1" i="0" u="none" strike="noStrike" cap="none">
                <a:solidFill>
                  <a:srgbClr val="FF0000"/>
                </a:solidFill>
                <a:latin typeface="Arial"/>
                <a:ea typeface="Arial"/>
                <a:cs typeface="Arial"/>
                <a:sym typeface="Arial"/>
              </a:rPr>
              <a:t>DEN</a:t>
            </a:r>
            <a:r>
              <a:rPr lang="en-US" sz="2000" b="0" i="0" u="none" strike="noStrike" cap="none">
                <a:solidFill>
                  <a:srgbClr val="FF0000"/>
                </a:solidFill>
                <a:latin typeface="Helvetica Neue"/>
                <a:ea typeface="Helvetica Neue"/>
                <a:cs typeface="Helvetica Neue"/>
                <a:sym typeface="Helvetica Neue"/>
              </a:rPr>
              <a:t>sity-based </a:t>
            </a:r>
            <a:r>
              <a:rPr lang="en-US" sz="2000" b="1" i="0" u="none" strike="noStrike" cap="none">
                <a:solidFill>
                  <a:srgbClr val="FF0000"/>
                </a:solidFill>
                <a:latin typeface="Arial"/>
                <a:ea typeface="Arial"/>
                <a:cs typeface="Arial"/>
                <a:sym typeface="Arial"/>
              </a:rPr>
              <a:t>CLU</a:t>
            </a:r>
            <a:r>
              <a:rPr lang="en-US" sz="2000" b="0" i="0" u="none" strike="noStrike" cap="none">
                <a:solidFill>
                  <a:srgbClr val="FF0000"/>
                </a:solidFill>
                <a:latin typeface="Helvetica Neue"/>
                <a:ea typeface="Helvetica Neue"/>
                <a:cs typeface="Helvetica Neue"/>
                <a:sym typeface="Helvetica Neue"/>
              </a:rPr>
              <a:t>st</a:t>
            </a:r>
            <a:r>
              <a:rPr lang="en-US" sz="2000" b="1" i="0" u="none" strike="noStrike" cap="none">
                <a:solidFill>
                  <a:srgbClr val="FF0000"/>
                </a:solidFill>
                <a:latin typeface="Arial"/>
                <a:ea typeface="Arial"/>
                <a:cs typeface="Arial"/>
                <a:sym typeface="Arial"/>
              </a:rPr>
              <a:t>E</a:t>
            </a:r>
            <a:r>
              <a:rPr lang="en-US" sz="2000" b="0" i="0" u="none" strike="noStrike" cap="none">
                <a:solidFill>
                  <a:srgbClr val="FF0000"/>
                </a:solidFill>
                <a:latin typeface="Helvetica Neue"/>
                <a:ea typeface="Helvetica Neue"/>
                <a:cs typeface="Helvetica Neue"/>
                <a:sym typeface="Helvetica Neue"/>
              </a:rPr>
              <a:t>ring:</a:t>
            </a:r>
            <a:endParaRPr sz="2000" b="0" i="0" u="none" strike="noStrike" cap="none">
              <a:solidFill>
                <a:srgbClr val="000000"/>
              </a:solidFill>
              <a:latin typeface="Helvetica Neue"/>
              <a:ea typeface="Helvetica Neue"/>
              <a:cs typeface="Helvetica Neue"/>
              <a:sym typeface="Helvetica Neue"/>
            </a:endParaRPr>
          </a:p>
          <a:p>
            <a:pPr marL="115570" marR="0" lvl="0" indent="-114300" algn="l" rtl="0">
              <a:lnSpc>
                <a:spcPct val="100000"/>
              </a:lnSpc>
              <a:spcBef>
                <a:spcPts val="1115"/>
              </a:spcBef>
              <a:spcAft>
                <a:spcPts val="0"/>
              </a:spcAft>
              <a:buClr>
                <a:srgbClr val="000000"/>
              </a:buClr>
              <a:buSzPts val="1650"/>
              <a:buFont typeface="Noto Sans Symbols"/>
              <a:buChar char="▪"/>
            </a:pPr>
            <a:r>
              <a:rPr lang="en-US" sz="1800" b="0" i="0" u="none" strike="noStrike" cap="none">
                <a:solidFill>
                  <a:srgbClr val="000000"/>
                </a:solidFill>
                <a:latin typeface="Helvetica Neue"/>
                <a:ea typeface="Helvetica Neue"/>
                <a:cs typeface="Helvetica Neue"/>
                <a:sym typeface="Helvetica Neue"/>
              </a:rPr>
              <a:t>It uses grid cells but only keeps information about grid cells that do actually contain data points and manages these</a:t>
            </a:r>
            <a:endParaRPr sz="1800" b="0" i="0" u="none" strike="noStrike" cap="none">
              <a:solidFill>
                <a:srgbClr val="000000"/>
              </a:solidFill>
              <a:latin typeface="Helvetica Neue"/>
              <a:ea typeface="Helvetica Neue"/>
              <a:cs typeface="Helvetica Neue"/>
              <a:sym typeface="Helvetica Neue"/>
            </a:endParaRPr>
          </a:p>
          <a:p>
            <a:pPr marL="12700" marR="0" lvl="0" indent="0" algn="l" rtl="0">
              <a:lnSpc>
                <a:spcPct val="100000"/>
              </a:lnSpc>
              <a:spcBef>
                <a:spcPts val="1080"/>
              </a:spcBef>
              <a:spcAft>
                <a:spcPts val="0"/>
              </a:spcAft>
              <a:buClr>
                <a:srgbClr val="000000"/>
              </a:buClr>
              <a:buSzPts val="1800"/>
              <a:buFont typeface="Arial"/>
              <a:buNone/>
            </a:pPr>
            <a:r>
              <a:rPr lang="en-US" sz="1800" b="0" i="0" u="none" strike="noStrike" cap="none">
                <a:solidFill>
                  <a:srgbClr val="000000"/>
                </a:solidFill>
                <a:latin typeface="Helvetica Neue"/>
                <a:ea typeface="Helvetica Neue"/>
                <a:cs typeface="Helvetica Neue"/>
                <a:sym typeface="Helvetica Neue"/>
              </a:rPr>
              <a:t>cells in a tree-based access structure.</a:t>
            </a:r>
            <a:endParaRPr sz="1800" b="0" i="0" u="none" strike="noStrike" cap="none">
              <a:solidFill>
                <a:srgbClr val="000000"/>
              </a:solidFill>
              <a:latin typeface="Helvetica Neue"/>
              <a:ea typeface="Helvetica Neue"/>
              <a:cs typeface="Helvetica Neue"/>
              <a:sym typeface="Helvetica Neue"/>
            </a:endParaRPr>
          </a:p>
          <a:p>
            <a:pPr marL="115570" marR="0" lvl="0" indent="-114300" algn="l" rtl="0">
              <a:lnSpc>
                <a:spcPct val="100000"/>
              </a:lnSpc>
              <a:spcBef>
                <a:spcPts val="1080"/>
              </a:spcBef>
              <a:spcAft>
                <a:spcPts val="0"/>
              </a:spcAft>
              <a:buClr>
                <a:srgbClr val="FF0000"/>
              </a:buClr>
              <a:buSzPts val="1650"/>
              <a:buFont typeface="Noto Sans Symbols"/>
              <a:buChar char="▪"/>
            </a:pPr>
            <a:r>
              <a:rPr lang="en-US" sz="1800" b="1" i="0" u="none" strike="noStrike" cap="none">
                <a:solidFill>
                  <a:srgbClr val="FF0000"/>
                </a:solidFill>
                <a:latin typeface="Arial"/>
                <a:ea typeface="Arial"/>
                <a:cs typeface="Arial"/>
                <a:sym typeface="Arial"/>
              </a:rPr>
              <a:t>Influence function: </a:t>
            </a:r>
            <a:r>
              <a:rPr lang="en-US" sz="1800" b="0" i="0" u="none" strike="noStrike" cap="none">
                <a:solidFill>
                  <a:srgbClr val="000000"/>
                </a:solidFill>
                <a:latin typeface="Helvetica Neue"/>
                <a:ea typeface="Helvetica Neue"/>
                <a:cs typeface="Helvetica Neue"/>
                <a:sym typeface="Helvetica Neue"/>
              </a:rPr>
              <a:t>This describes the impact of a data point within its neighborhood.</a:t>
            </a:r>
            <a:endParaRPr sz="1800" b="0" i="0" u="none" strike="noStrike" cap="none">
              <a:solidFill>
                <a:srgbClr val="000000"/>
              </a:solidFill>
              <a:latin typeface="Helvetica Neue"/>
              <a:ea typeface="Helvetica Neue"/>
              <a:cs typeface="Helvetica Neue"/>
              <a:sym typeface="Helvetica Neue"/>
            </a:endParaRPr>
          </a:p>
          <a:p>
            <a:pPr marL="115570" marR="0" lvl="0" indent="-114300" algn="l" rtl="0">
              <a:lnSpc>
                <a:spcPct val="100000"/>
              </a:lnSpc>
              <a:spcBef>
                <a:spcPts val="1085"/>
              </a:spcBef>
              <a:spcAft>
                <a:spcPts val="0"/>
              </a:spcAft>
              <a:buClr>
                <a:srgbClr val="000000"/>
              </a:buClr>
              <a:buSzPts val="1650"/>
              <a:buFont typeface="Noto Sans Symbols"/>
              <a:buChar char="▪"/>
            </a:pPr>
            <a:r>
              <a:rPr lang="en-US" sz="1800" b="0" i="0" u="none" strike="noStrike" cap="none">
                <a:solidFill>
                  <a:srgbClr val="000000"/>
                </a:solidFill>
                <a:latin typeface="Helvetica Neue"/>
                <a:ea typeface="Helvetica Neue"/>
                <a:cs typeface="Helvetica Neue"/>
                <a:sym typeface="Helvetica Neue"/>
              </a:rPr>
              <a:t>The Overall density of the data space can be calculated as the sum of the influence function of all data points.</a:t>
            </a:r>
            <a:endParaRPr sz="1800" b="0" i="0" u="none" strike="noStrike" cap="none">
              <a:solidFill>
                <a:srgbClr val="000000"/>
              </a:solidFill>
              <a:latin typeface="Helvetica Neue"/>
              <a:ea typeface="Helvetica Neue"/>
              <a:cs typeface="Helvetica Neue"/>
              <a:sym typeface="Helvetica Neue"/>
            </a:endParaRPr>
          </a:p>
          <a:p>
            <a:pPr marL="115570" marR="0" lvl="0" indent="-114300" algn="l" rtl="0">
              <a:lnSpc>
                <a:spcPct val="100000"/>
              </a:lnSpc>
              <a:spcBef>
                <a:spcPts val="1080"/>
              </a:spcBef>
              <a:spcAft>
                <a:spcPts val="0"/>
              </a:spcAft>
              <a:buClr>
                <a:srgbClr val="000000"/>
              </a:buClr>
              <a:buSzPts val="1650"/>
              <a:buFont typeface="Noto Sans Symbols"/>
              <a:buChar char="▪"/>
            </a:pPr>
            <a:r>
              <a:rPr lang="en-US" sz="1800" b="0" i="0" u="none" strike="noStrike" cap="none">
                <a:solidFill>
                  <a:srgbClr val="000000"/>
                </a:solidFill>
                <a:latin typeface="Helvetica Neue"/>
                <a:ea typeface="Helvetica Neue"/>
                <a:cs typeface="Helvetica Neue"/>
                <a:sym typeface="Helvetica Neue"/>
              </a:rPr>
              <a:t>The Clusters can be determined mathematically by identifying density attractors.</a:t>
            </a:r>
            <a:endParaRPr sz="1800" b="0" i="0" u="none" strike="noStrike" cap="none">
              <a:solidFill>
                <a:srgbClr val="000000"/>
              </a:solidFill>
              <a:latin typeface="Helvetica Neue"/>
              <a:ea typeface="Helvetica Neue"/>
              <a:cs typeface="Helvetica Neue"/>
              <a:sym typeface="Helvetica Neue"/>
            </a:endParaRPr>
          </a:p>
          <a:p>
            <a:pPr marL="115570" marR="0" lvl="0" indent="-114300" algn="l" rtl="0">
              <a:lnSpc>
                <a:spcPct val="100000"/>
              </a:lnSpc>
              <a:spcBef>
                <a:spcPts val="1080"/>
              </a:spcBef>
              <a:spcAft>
                <a:spcPts val="0"/>
              </a:spcAft>
              <a:buClr>
                <a:srgbClr val="000000"/>
              </a:buClr>
              <a:buSzPts val="1650"/>
              <a:buFont typeface="Noto Sans Symbols"/>
              <a:buChar char="▪"/>
            </a:pPr>
            <a:r>
              <a:rPr lang="en-US" sz="1800" b="0" i="0" u="none" strike="noStrike" cap="none">
                <a:solidFill>
                  <a:srgbClr val="000000"/>
                </a:solidFill>
                <a:latin typeface="Helvetica Neue"/>
                <a:ea typeface="Helvetica Neue"/>
                <a:cs typeface="Helvetica Neue"/>
                <a:sym typeface="Helvetica Neue"/>
              </a:rPr>
              <a:t>The Density attractors are local maxima of the overall density function.</a:t>
            </a:r>
            <a:endParaRPr sz="18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492"/>
        <p:cNvGrpSpPr/>
        <p:nvPr/>
      </p:nvGrpSpPr>
      <p:grpSpPr>
        <a:xfrm>
          <a:off x="0" y="0"/>
          <a:ext cx="0" cy="0"/>
          <a:chOff x="0" y="0"/>
          <a:chExt cx="0" cy="0"/>
        </a:xfrm>
      </p:grpSpPr>
      <p:grpSp>
        <p:nvGrpSpPr>
          <p:cNvPr id="493" name="Google Shape;493;p36"/>
          <p:cNvGrpSpPr/>
          <p:nvPr/>
        </p:nvGrpSpPr>
        <p:grpSpPr>
          <a:xfrm>
            <a:off x="0" y="0"/>
            <a:ext cx="12192000" cy="1316735"/>
            <a:chOff x="0" y="0"/>
            <a:chExt cx="12192000" cy="1316735"/>
          </a:xfrm>
        </p:grpSpPr>
        <p:pic>
          <p:nvPicPr>
            <p:cNvPr id="494" name="Google Shape;494;p36"/>
            <p:cNvPicPr preferRelativeResize="0"/>
            <p:nvPr/>
          </p:nvPicPr>
          <p:blipFill rotWithShape="1">
            <a:blip r:embed="rId3">
              <a:alphaModFix/>
            </a:blip>
            <a:srcRect/>
            <a:stretch/>
          </p:blipFill>
          <p:spPr>
            <a:xfrm>
              <a:off x="0" y="0"/>
              <a:ext cx="12191999" cy="1316735"/>
            </a:xfrm>
            <a:prstGeom prst="rect">
              <a:avLst/>
            </a:prstGeom>
            <a:noFill/>
            <a:ln>
              <a:noFill/>
            </a:ln>
          </p:spPr>
        </p:pic>
        <p:pic>
          <p:nvPicPr>
            <p:cNvPr id="495" name="Google Shape;495;p36"/>
            <p:cNvPicPr preferRelativeResize="0"/>
            <p:nvPr/>
          </p:nvPicPr>
          <p:blipFill rotWithShape="1">
            <a:blip r:embed="rId4">
              <a:alphaModFix/>
            </a:blip>
            <a:srcRect/>
            <a:stretch/>
          </p:blipFill>
          <p:spPr>
            <a:xfrm>
              <a:off x="1466088" y="0"/>
              <a:ext cx="10725912" cy="1267967"/>
            </a:xfrm>
            <a:prstGeom prst="rect">
              <a:avLst/>
            </a:prstGeom>
            <a:noFill/>
            <a:ln>
              <a:noFill/>
            </a:ln>
          </p:spPr>
        </p:pic>
        <p:sp>
          <p:nvSpPr>
            <p:cNvPr id="496" name="Google Shape;496;p36"/>
            <p:cNvSpPr/>
            <p:nvPr/>
          </p:nvSpPr>
          <p:spPr>
            <a:xfrm>
              <a:off x="0" y="12"/>
              <a:ext cx="12192000" cy="1246505"/>
            </a:xfrm>
            <a:custGeom>
              <a:avLst/>
              <a:gdLst/>
              <a:ahLst/>
              <a:cxnLst/>
              <a:rect l="l" t="t" r="r" b="b"/>
              <a:pathLst>
                <a:path w="12192000" h="1246505" extrusionOk="0">
                  <a:moveTo>
                    <a:pt x="12192000" y="0"/>
                  </a:moveTo>
                  <a:lnTo>
                    <a:pt x="0" y="0"/>
                  </a:lnTo>
                  <a:lnTo>
                    <a:pt x="0" y="1246492"/>
                  </a:lnTo>
                  <a:lnTo>
                    <a:pt x="12192000" y="1246492"/>
                  </a:lnTo>
                  <a:lnTo>
                    <a:pt x="12192000" y="0"/>
                  </a:lnTo>
                  <a:close/>
                </a:path>
              </a:pathLst>
            </a:custGeom>
            <a:solidFill>
              <a:srgbClr val="001F5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97" name="Google Shape;497;p36"/>
          <p:cNvSpPr txBox="1">
            <a:spLocks noGrp="1"/>
          </p:cNvSpPr>
          <p:nvPr>
            <p:ph type="title"/>
          </p:nvPr>
        </p:nvSpPr>
        <p:spPr>
          <a:xfrm>
            <a:off x="2088642" y="5537"/>
            <a:ext cx="8023859" cy="1170940"/>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SzPts val="1400"/>
              <a:buNone/>
            </a:pPr>
            <a:r>
              <a:rPr lang="en-US" sz="7500"/>
              <a:t>Note for Students</a:t>
            </a:r>
            <a:endParaRPr sz="7500"/>
          </a:p>
        </p:txBody>
      </p:sp>
      <p:sp>
        <p:nvSpPr>
          <p:cNvPr id="498" name="Google Shape;498;p36"/>
          <p:cNvSpPr txBox="1">
            <a:spLocks noGrp="1"/>
          </p:cNvSpPr>
          <p:nvPr>
            <p:ph type="dt" idx="10"/>
          </p:nvPr>
        </p:nvSpPr>
        <p:spPr>
          <a:xfrm>
            <a:off x="5182870" y="6466738"/>
            <a:ext cx="1829434"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en-US"/>
              <a:t>4/15/2024</a:t>
            </a:r>
            <a:endParaRPr/>
          </a:p>
        </p:txBody>
      </p:sp>
      <p:sp>
        <p:nvSpPr>
          <p:cNvPr id="499" name="Google Shape;499;p36"/>
          <p:cNvSpPr txBox="1">
            <a:spLocks noGrp="1"/>
          </p:cNvSpPr>
          <p:nvPr>
            <p:ph type="sldNum" idx="12"/>
          </p:nvPr>
        </p:nvSpPr>
        <p:spPr>
          <a:xfrm>
            <a:off x="11074654" y="6466738"/>
            <a:ext cx="241300" cy="177800"/>
          </a:xfrm>
          <a:prstGeom prst="rect">
            <a:avLst/>
          </a:prstGeom>
          <a:noFill/>
          <a:ln>
            <a:noFill/>
          </a:ln>
        </p:spPr>
        <p:txBody>
          <a:bodyPr spcFirstLastPara="1" wrap="square" lIns="0" tIns="0" rIns="0" bIns="0" anchor="t" anchorCtr="0">
            <a:spAutoFit/>
          </a:bodyPr>
          <a:lstStyle/>
          <a:p>
            <a:pPr marL="38100" lvl="0" indent="0" algn="l" rtl="0">
              <a:lnSpc>
                <a:spcPct val="103333"/>
              </a:lnSpc>
              <a:spcBef>
                <a:spcPts val="0"/>
              </a:spcBef>
              <a:spcAft>
                <a:spcPts val="0"/>
              </a:spcAft>
              <a:buSzPts val="1200"/>
              <a:buNone/>
            </a:pPr>
            <a:fld id="{00000000-1234-1234-1234-123412341234}" type="slidenum">
              <a:rPr lang="en-US"/>
              <a:t>40</a:t>
            </a:fld>
            <a:endParaRPr/>
          </a:p>
        </p:txBody>
      </p:sp>
      <p:sp>
        <p:nvSpPr>
          <p:cNvPr id="500" name="Google Shape;500;p36"/>
          <p:cNvSpPr txBox="1"/>
          <p:nvPr/>
        </p:nvSpPr>
        <p:spPr>
          <a:xfrm>
            <a:off x="78739" y="1186231"/>
            <a:ext cx="12034520" cy="1489710"/>
          </a:xfrm>
          <a:prstGeom prst="rect">
            <a:avLst/>
          </a:prstGeom>
          <a:noFill/>
          <a:ln>
            <a:noFill/>
          </a:ln>
        </p:spPr>
        <p:txBody>
          <a:bodyPr spcFirstLastPara="1" wrap="square" lIns="0" tIns="12700" rIns="0" bIns="0" anchor="t" anchorCtr="0">
            <a:spAutoFit/>
          </a:bodyPr>
          <a:lstStyle/>
          <a:p>
            <a:pPr marL="12700" marR="5080" lvl="0" indent="-196850" algn="l" rtl="0">
              <a:lnSpc>
                <a:spcPct val="150100"/>
              </a:lnSpc>
              <a:spcBef>
                <a:spcPts val="0"/>
              </a:spcBef>
              <a:spcAft>
                <a:spcPts val="0"/>
              </a:spcAft>
              <a:buClr>
                <a:srgbClr val="FF0000"/>
              </a:buClr>
              <a:buSzPts val="3100"/>
              <a:buFont typeface="Noto Sans Symbols"/>
              <a:buChar char="❑"/>
            </a:pPr>
            <a:r>
              <a:rPr lang="en-US" sz="3200" b="1" i="0" u="none" strike="noStrike" cap="none">
                <a:solidFill>
                  <a:srgbClr val="FF0000"/>
                </a:solidFill>
                <a:latin typeface="Arial"/>
                <a:ea typeface="Arial"/>
                <a:cs typeface="Arial"/>
                <a:sym typeface="Arial"/>
              </a:rPr>
              <a:t>	This	power	point	presentation	is	for	lecture, therefore	it	is suggested that also utilize the text books and lecture notes.</a:t>
            </a:r>
            <a:endParaRPr sz="32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3688</Words>
  <Application>Microsoft Office PowerPoint</Application>
  <PresentationFormat>Widescreen</PresentationFormat>
  <Paragraphs>349</Paragraphs>
  <Slides>40</Slides>
  <Notes>40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Noto Sans Symbols</vt:lpstr>
      <vt:lpstr>Arial</vt:lpstr>
      <vt:lpstr>Calibri</vt:lpstr>
      <vt:lpstr>Times New Roman</vt:lpstr>
      <vt:lpstr>Helvetica Neue</vt:lpstr>
      <vt:lpstr>Office Theme</vt:lpstr>
      <vt:lpstr>Clustering</vt:lpstr>
      <vt:lpstr>Outline</vt:lpstr>
      <vt:lpstr>Introduction to Clustering</vt:lpstr>
      <vt:lpstr>Introduction to Clustering</vt:lpstr>
      <vt:lpstr>Introduction Clustering</vt:lpstr>
      <vt:lpstr>Clustering: Applications for the Retrieval</vt:lpstr>
      <vt:lpstr>Clustering :Types of Clustering Algorithm (Types of data Partitioning ) methods)</vt:lpstr>
      <vt:lpstr>Clustering and Retrieval (Types of Clustering)</vt:lpstr>
      <vt:lpstr>Clustering and Retrieval (Types of Clustering)</vt:lpstr>
      <vt:lpstr>Clustering and Retrieval (Types of Clustering)</vt:lpstr>
      <vt:lpstr>Clustering and Retrieval (Types of Clustering)</vt:lpstr>
      <vt:lpstr>k-Means Clustering</vt:lpstr>
      <vt:lpstr>k-Means Clustering</vt:lpstr>
      <vt:lpstr>k-Means Clustering</vt:lpstr>
      <vt:lpstr>k-Means Clustering</vt:lpstr>
      <vt:lpstr>Hierarchical Clustering</vt:lpstr>
      <vt:lpstr>PowerPoint Presentation</vt:lpstr>
      <vt:lpstr>Hierarchical Clustering: Agglomerative</vt:lpstr>
      <vt:lpstr>Hierarchical Clustering: Agglomerative</vt:lpstr>
      <vt:lpstr>Hierarchical Clustering: Agglomerative</vt:lpstr>
      <vt:lpstr>PowerPoint Presentation</vt:lpstr>
      <vt:lpstr>PowerPoint Presentation</vt:lpstr>
      <vt:lpstr>PowerPoint Presentation</vt:lpstr>
      <vt:lpstr>Hierarchical Clustering: Divisive</vt:lpstr>
      <vt:lpstr>Hierarchical Clustering: BIRCH</vt:lpstr>
      <vt:lpstr>Hierarchical Clustering: BIRCH</vt:lpstr>
      <vt:lpstr>Hierarchical Clustering: BIRCH</vt:lpstr>
      <vt:lpstr>Hierarchical Clustering: CURE</vt:lpstr>
      <vt:lpstr>Hierarchical Clustering: CURE</vt:lpstr>
      <vt:lpstr>PowerPoint Presentation</vt:lpstr>
      <vt:lpstr>Hierarchical Clustering: Chameleon Clustering</vt:lpstr>
      <vt:lpstr>Density Based Clustering: DBSCAN, OPTICS, DENCLUE</vt:lpstr>
      <vt:lpstr>Density Based Clustering: DBSCAN, OPTICS, DENCLUE</vt:lpstr>
      <vt:lpstr>Density Based Clustering: DBSCAN, OPTICS, DENCLUE</vt:lpstr>
      <vt:lpstr>Density Based Clustering: DBSCAN, OPTICS, DENCLUE</vt:lpstr>
      <vt:lpstr>Density Based Clustering: DBSCAN, OPTICS, DENCLUE</vt:lpstr>
      <vt:lpstr>Density Based Clustering: DBSCAN, OPTICS, DENCLUE</vt:lpstr>
      <vt:lpstr>Density Based Clustering: DBSCAN, OPTICS, DENCLUE</vt:lpstr>
      <vt:lpstr>Density Based Clustering: DBSCAN, OPTICS, DENCLUE</vt:lpstr>
      <vt:lpstr>Note for Students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dc:title>
  <dc:creator>lenovo</dc:creator>
  <cp:lastModifiedBy>CL406_06</cp:lastModifiedBy>
  <cp:revision>3</cp:revision>
  <dcterms:created xsi:type="dcterms:W3CDTF">2024-04-04T04:15:27Z</dcterms:created>
  <dcterms:modified xsi:type="dcterms:W3CDTF">2025-01-11T05:42:13Z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2023-04-11T00:00:00Z</vt:filetime>
  </property>
  <property fmtid="{D5CDD505-2E9C-101B-9397-08002B2CF9AE}" pid="3" name="Creator">
    <vt:lpwstr>Microsoft® Office PowerPoint® 2007</vt:lpwstr>
  </property>
  <property fmtid="{D5CDD505-2E9C-101B-9397-08002B2CF9AE}" pid="4" name="LastSaved">
    <vt:filetime>2024-04-04T00:00:00Z</vt:filetime>
  </property>
  <property fmtid="{D5CDD505-2E9C-101B-9397-08002B2CF9AE}" pid="5" name="Producer">
    <vt:lpwstr>Microsoft® Office PowerPoint® 2007</vt:lpwstr>
  </property>
</Properties>
</file>