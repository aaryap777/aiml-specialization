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272" r:id="rId2"/>
    <p:sldId id="274" r:id="rId3"/>
    <p:sldId id="273" r:id="rId4"/>
    <p:sldId id="275" r:id="rId5"/>
    <p:sldId id="276" r:id="rId6"/>
    <p:sldId id="277" r:id="rId7"/>
    <p:sldId id="278" r:id="rId8"/>
    <p:sldId id="284" r:id="rId9"/>
    <p:sldId id="280" r:id="rId10"/>
    <p:sldId id="279" r:id="rId11"/>
    <p:sldId id="281" r:id="rId12"/>
    <p:sldId id="296" r:id="rId13"/>
    <p:sldId id="335" r:id="rId14"/>
    <p:sldId id="289" r:id="rId15"/>
    <p:sldId id="298" r:id="rId16"/>
    <p:sldId id="333" r:id="rId17"/>
    <p:sldId id="297" r:id="rId18"/>
    <p:sldId id="362" r:id="rId19"/>
    <p:sldId id="363" r:id="rId20"/>
    <p:sldId id="366" r:id="rId21"/>
    <p:sldId id="365" r:id="rId22"/>
    <p:sldId id="371" r:id="rId23"/>
    <p:sldId id="348" r:id="rId24"/>
    <p:sldId id="350" r:id="rId25"/>
    <p:sldId id="370" r:id="rId26"/>
    <p:sldId id="372" r:id="rId27"/>
    <p:sldId id="347" r:id="rId28"/>
    <p:sldId id="351" r:id="rId29"/>
    <p:sldId id="353" r:id="rId30"/>
    <p:sldId id="354" r:id="rId31"/>
    <p:sldId id="355" r:id="rId32"/>
    <p:sldId id="356" r:id="rId33"/>
    <p:sldId id="357" r:id="rId34"/>
    <p:sldId id="358" r:id="rId35"/>
    <p:sldId id="359" r:id="rId36"/>
    <p:sldId id="360" r:id="rId37"/>
    <p:sldId id="373" r:id="rId38"/>
    <p:sldId id="300" r:id="rId39"/>
    <p:sldId id="299" r:id="rId40"/>
    <p:sldId id="374" r:id="rId41"/>
    <p:sldId id="375" r:id="rId42"/>
    <p:sldId id="376" r:id="rId43"/>
    <p:sldId id="377" r:id="rId44"/>
    <p:sldId id="378" r:id="rId45"/>
    <p:sldId id="368" r:id="rId46"/>
    <p:sldId id="369" r:id="rId47"/>
    <p:sldId id="334" r:id="rId48"/>
    <p:sldId id="367"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89112D3A-A853-4042-AA81-79E9C06F6E59}">
          <p14:sldIdLst>
            <p14:sldId id="272"/>
            <p14:sldId id="274"/>
            <p14:sldId id="273"/>
            <p14:sldId id="275"/>
            <p14:sldId id="276"/>
            <p14:sldId id="277"/>
            <p14:sldId id="278"/>
            <p14:sldId id="284"/>
            <p14:sldId id="280"/>
            <p14:sldId id="279"/>
            <p14:sldId id="281"/>
            <p14:sldId id="296"/>
            <p14:sldId id="335"/>
            <p14:sldId id="289"/>
            <p14:sldId id="298"/>
            <p14:sldId id="333"/>
            <p14:sldId id="297"/>
            <p14:sldId id="362"/>
            <p14:sldId id="363"/>
            <p14:sldId id="366"/>
            <p14:sldId id="365"/>
            <p14:sldId id="371"/>
            <p14:sldId id="348"/>
            <p14:sldId id="350"/>
            <p14:sldId id="370"/>
            <p14:sldId id="372"/>
            <p14:sldId id="347"/>
            <p14:sldId id="351"/>
            <p14:sldId id="353"/>
            <p14:sldId id="354"/>
            <p14:sldId id="355"/>
            <p14:sldId id="356"/>
            <p14:sldId id="357"/>
            <p14:sldId id="358"/>
            <p14:sldId id="359"/>
            <p14:sldId id="360"/>
            <p14:sldId id="373"/>
            <p14:sldId id="300"/>
            <p14:sldId id="299"/>
            <p14:sldId id="374"/>
            <p14:sldId id="375"/>
            <p14:sldId id="376"/>
            <p14:sldId id="377"/>
            <p14:sldId id="378"/>
            <p14:sldId id="368"/>
            <p14:sldId id="369"/>
            <p14:sldId id="334"/>
            <p14:sldId id="36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1039" autoAdjust="0"/>
  </p:normalViewPr>
  <p:slideViewPr>
    <p:cSldViewPr>
      <p:cViewPr varScale="1">
        <p:scale>
          <a:sx n="81" d="100"/>
          <a:sy n="81" d="100"/>
        </p:scale>
        <p:origin x="1674" y="90"/>
      </p:cViewPr>
      <p:guideLst>
        <p:guide orient="horz" pos="2160"/>
        <p:guide pos="2880"/>
      </p:guideLst>
    </p:cSldViewPr>
  </p:slideViewPr>
  <p:outlineViewPr>
    <p:cViewPr>
      <p:scale>
        <a:sx n="33" d="100"/>
        <a:sy n="33" d="100"/>
      </p:scale>
      <p:origin x="0" y="60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image" Target="../media/image7.emf"/><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776DA1-C0F0-4EEC-97BD-D647F0F3751F}" type="datetimeFigureOut">
              <a:rPr lang="en-US" smtClean="0"/>
              <a:pPr/>
              <a:t>1/11/2025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2FA8FE-D011-46E0-AAD1-26058C1552BA}" type="slidenum">
              <a:rPr lang="en-US" smtClean="0"/>
              <a:pPr/>
              <a:t>‹#›</a:t>
            </a:fld>
            <a:endParaRPr lang="en-US"/>
          </a:p>
        </p:txBody>
      </p:sp>
    </p:spTree>
    <p:extLst>
      <p:ext uri="{BB962C8B-B14F-4D97-AF65-F5344CB8AC3E}">
        <p14:creationId xmlns:p14="http://schemas.microsoft.com/office/powerpoint/2010/main" val="1959567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62FA8FE-D011-46E0-AAD1-26058C1552BA}" type="slidenum">
              <a:rPr lang="en-US" smtClean="0"/>
              <a:pPr/>
              <a:t>13</a:t>
            </a:fld>
            <a:endParaRPr lang="en-US"/>
          </a:p>
        </p:txBody>
      </p:sp>
    </p:spTree>
    <p:extLst>
      <p:ext uri="{BB962C8B-B14F-4D97-AF65-F5344CB8AC3E}">
        <p14:creationId xmlns:p14="http://schemas.microsoft.com/office/powerpoint/2010/main" val="834323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62FA8FE-D011-46E0-AAD1-26058C1552BA}" type="slidenum">
              <a:rPr lang="en-US" smtClean="0"/>
              <a:pPr/>
              <a:t>14</a:t>
            </a:fld>
            <a:endParaRPr lang="en-US"/>
          </a:p>
        </p:txBody>
      </p:sp>
    </p:spTree>
    <p:extLst>
      <p:ext uri="{BB962C8B-B14F-4D97-AF65-F5344CB8AC3E}">
        <p14:creationId xmlns:p14="http://schemas.microsoft.com/office/powerpoint/2010/main" val="2144039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62FA8FE-D011-46E0-AAD1-26058C1552BA}" type="slidenum">
              <a:rPr lang="en-US" smtClean="0"/>
              <a:pPr/>
              <a:t>17</a:t>
            </a:fld>
            <a:endParaRPr lang="en-US"/>
          </a:p>
        </p:txBody>
      </p:sp>
    </p:spTree>
    <p:extLst>
      <p:ext uri="{BB962C8B-B14F-4D97-AF65-F5344CB8AC3E}">
        <p14:creationId xmlns:p14="http://schemas.microsoft.com/office/powerpoint/2010/main" val="1299910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Please refer (class notes) problem solved in the classroom for detailed steps and solution or book </a:t>
            </a:r>
            <a:r>
              <a:rPr lang="en-US" dirty="0" err="1"/>
              <a:t>Kamber</a:t>
            </a:r>
            <a:r>
              <a:rPr lang="en-US" dirty="0"/>
              <a:t> (page no 250)</a:t>
            </a:r>
          </a:p>
          <a:p>
            <a:endParaRPr lang="en-IN" dirty="0"/>
          </a:p>
        </p:txBody>
      </p:sp>
      <p:sp>
        <p:nvSpPr>
          <p:cNvPr id="4" name="Slide Number Placeholder 3"/>
          <p:cNvSpPr>
            <a:spLocks noGrp="1"/>
          </p:cNvSpPr>
          <p:nvPr>
            <p:ph type="sldNum" sz="quarter" idx="10"/>
          </p:nvPr>
        </p:nvSpPr>
        <p:spPr/>
        <p:txBody>
          <a:bodyPr/>
          <a:lstStyle/>
          <a:p>
            <a:fld id="{262FA8FE-D011-46E0-AAD1-26058C1552BA}" type="slidenum">
              <a:rPr lang="en-US" smtClean="0"/>
              <a:pPr/>
              <a:t>18</a:t>
            </a:fld>
            <a:endParaRPr lang="en-US"/>
          </a:p>
        </p:txBody>
      </p:sp>
    </p:spTree>
    <p:extLst>
      <p:ext uri="{BB962C8B-B14F-4D97-AF65-F5344CB8AC3E}">
        <p14:creationId xmlns:p14="http://schemas.microsoft.com/office/powerpoint/2010/main" val="3015632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71B8974A-D734-45EB-9AA0-E8EBF417777E}" type="datetimeFigureOut">
              <a:rPr lang="en-US" smtClean="0"/>
              <a:pPr/>
              <a:t>1/11/2025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70F71288-A056-4E8D-8987-89C48E0B595E}"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1B8974A-D734-45EB-9AA0-E8EBF417777E}"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71288-A056-4E8D-8987-89C48E0B595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1B8974A-D734-45EB-9AA0-E8EBF417777E}"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71288-A056-4E8D-8987-89C48E0B595E}"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1B8974A-D734-45EB-9AA0-E8EBF417777E}"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71288-A056-4E8D-8987-89C48E0B595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1B8974A-D734-45EB-9AA0-E8EBF417777E}" type="datetimeFigureOut">
              <a:rPr lang="en-US" smtClean="0"/>
              <a:pPr/>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F71288-A056-4E8D-8987-89C48E0B595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71B8974A-D734-45EB-9AA0-E8EBF417777E}" type="datetimeFigureOut">
              <a:rPr lang="en-US" smtClean="0"/>
              <a:pPr/>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F71288-A056-4E8D-8987-89C48E0B595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71B8974A-D734-45EB-9AA0-E8EBF417777E}" type="datetimeFigureOut">
              <a:rPr lang="en-US" smtClean="0"/>
              <a:pPr/>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F71288-A056-4E8D-8987-89C48E0B595E}"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1B8974A-D734-45EB-9AA0-E8EBF417777E}"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71288-A056-4E8D-8987-89C48E0B595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71B8974A-D734-45EB-9AA0-E8EBF417777E}" type="datetimeFigureOut">
              <a:rPr lang="en-US" smtClean="0"/>
              <a:pPr/>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71288-A056-4E8D-8987-89C48E0B595E}"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1B8974A-D734-45EB-9AA0-E8EBF417777E}"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71288-A056-4E8D-8987-89C48E0B595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1B8974A-D734-45EB-9AA0-E8EBF417777E}" type="datetimeFigureOut">
              <a:rPr lang="en-US" smtClean="0"/>
              <a:pPr/>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71288-A056-4E8D-8987-89C48E0B595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71B8974A-D734-45EB-9AA0-E8EBF417777E}" type="datetimeFigureOut">
              <a:rPr lang="en-US" smtClean="0"/>
              <a:pPr/>
              <a:t>1/11/2025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70F71288-A056-4E8D-8987-89C48E0B595E}"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10" Type="http://schemas.openxmlformats.org/officeDocument/2006/relationships/image" Target="../media/image5.e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1.emf"/><Relationship Id="rId3" Type="http://schemas.openxmlformats.org/officeDocument/2006/relationships/notesSlide" Target="../notesSlides/notesSlide3.xml"/><Relationship Id="rId7" Type="http://schemas.openxmlformats.org/officeDocument/2006/relationships/image" Target="../media/image8.emf"/><Relationship Id="rId12" Type="http://schemas.openxmlformats.org/officeDocument/2006/relationships/oleObject" Target="../embeddings/oleObject11.bin"/><Relationship Id="rId17" Type="http://schemas.openxmlformats.org/officeDocument/2006/relationships/image" Target="../media/image13.emf"/><Relationship Id="rId2" Type="http://schemas.openxmlformats.org/officeDocument/2006/relationships/slideLayout" Target="../slideLayouts/slideLayout2.xml"/><Relationship Id="rId16" Type="http://schemas.openxmlformats.org/officeDocument/2006/relationships/oleObject" Target="../embeddings/oleObject13.bin"/><Relationship Id="rId1" Type="http://schemas.openxmlformats.org/officeDocument/2006/relationships/vmlDrawing" Target="../drawings/vmlDrawing4.vml"/><Relationship Id="rId6" Type="http://schemas.openxmlformats.org/officeDocument/2006/relationships/oleObject" Target="../embeddings/oleObject8.bin"/><Relationship Id="rId11" Type="http://schemas.openxmlformats.org/officeDocument/2006/relationships/image" Target="../media/image10.emf"/><Relationship Id="rId5" Type="http://schemas.openxmlformats.org/officeDocument/2006/relationships/image" Target="../media/image7.emf"/><Relationship Id="rId15" Type="http://schemas.openxmlformats.org/officeDocument/2006/relationships/image" Target="../media/image12.e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9.emf"/><Relationship Id="rId14" Type="http://schemas.openxmlformats.org/officeDocument/2006/relationships/oleObject" Target="../embeddings/oleObject12.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6.emf"/><Relationship Id="rId4" Type="http://schemas.openxmlformats.org/officeDocument/2006/relationships/oleObject" Target="../embeddings/oleObject1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3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3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3.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4.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4.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790688" cy="1143000"/>
          </a:xfrm>
        </p:spPr>
        <p:txBody>
          <a:bodyPr/>
          <a:lstStyle/>
          <a:p>
            <a:r>
              <a:rPr lang="en-US" dirty="0"/>
              <a:t>What is association mining</a:t>
            </a:r>
          </a:p>
        </p:txBody>
      </p:sp>
      <p:sp>
        <p:nvSpPr>
          <p:cNvPr id="3" name="Content Placeholder 2"/>
          <p:cNvSpPr>
            <a:spLocks noGrp="1"/>
          </p:cNvSpPr>
          <p:nvPr>
            <p:ph idx="1"/>
          </p:nvPr>
        </p:nvSpPr>
        <p:spPr>
          <a:xfrm>
            <a:off x="914400" y="1066800"/>
            <a:ext cx="8019288" cy="5181600"/>
          </a:xfrm>
        </p:spPr>
        <p:txBody>
          <a:bodyPr>
            <a:normAutofit lnSpcReduction="10000"/>
          </a:bodyPr>
          <a:lstStyle/>
          <a:p>
            <a:pPr algn="just">
              <a:lnSpc>
                <a:spcPct val="150000"/>
              </a:lnSpc>
            </a:pPr>
            <a:r>
              <a:rPr lang="en-US" sz="2000" dirty="0"/>
              <a:t>Association mining aims to extract interesting correlations, frequent patterns, associations or casual structures among set of items or objects </a:t>
            </a:r>
          </a:p>
          <a:p>
            <a:pPr algn="just">
              <a:lnSpc>
                <a:spcPct val="150000"/>
              </a:lnSpc>
            </a:pPr>
            <a:r>
              <a:rPr lang="en-US" sz="2000" dirty="0"/>
              <a:t>Widely used in various areas such as telecommunication network, market and risk management, inventory control, cross marketing, catalog design </a:t>
            </a:r>
            <a:r>
              <a:rPr lang="en-US" sz="2000" dirty="0" err="1"/>
              <a:t>etc</a:t>
            </a:r>
            <a:endParaRPr lang="en-US" sz="2000" dirty="0"/>
          </a:p>
          <a:p>
            <a:pPr algn="just">
              <a:lnSpc>
                <a:spcPct val="150000"/>
              </a:lnSpc>
            </a:pPr>
            <a:r>
              <a:rPr lang="en-US" sz="2000" dirty="0"/>
              <a:t>Association rule mining is used to discover relationships between items in a dataset. An association rule is a statement of the form "If A, then B," where A and B are sets of items. The strength of an association rule is measured using two measures: support and confidence. Support measures the frequency of the occurrence of the items in the rule, and confidence measures the reliability of the rule.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90600" y="152400"/>
            <a:ext cx="7498080" cy="1143000"/>
          </a:xfrm>
        </p:spPr>
        <p:txBody>
          <a:bodyPr/>
          <a:lstStyle/>
          <a:p>
            <a:r>
              <a:rPr lang="en-US" dirty="0"/>
              <a:t>Association Rule Mining</a:t>
            </a:r>
          </a:p>
        </p:txBody>
      </p:sp>
      <p:sp>
        <p:nvSpPr>
          <p:cNvPr id="8195" name="Rectangle 3"/>
          <p:cNvSpPr>
            <a:spLocks noGrp="1" noChangeArrowheads="1"/>
          </p:cNvSpPr>
          <p:nvPr>
            <p:ph type="body" idx="1"/>
          </p:nvPr>
        </p:nvSpPr>
        <p:spPr>
          <a:xfrm>
            <a:off x="1010529" y="1295400"/>
            <a:ext cx="7981071" cy="5029200"/>
          </a:xfrm>
        </p:spPr>
        <p:txBody>
          <a:bodyPr>
            <a:normAutofit/>
          </a:bodyPr>
          <a:lstStyle/>
          <a:p>
            <a:pPr algn="just">
              <a:lnSpc>
                <a:spcPct val="150000"/>
              </a:lnSpc>
            </a:pPr>
            <a:r>
              <a:rPr lang="en-US" sz="2400" dirty="0"/>
              <a:t>Given a set of transactions, find rules that will predict the occurrence of an item based on the occurrences of other items in the transaction</a:t>
            </a:r>
          </a:p>
          <a:p>
            <a:pPr algn="just">
              <a:lnSpc>
                <a:spcPct val="150000"/>
              </a:lnSpc>
            </a:pPr>
            <a:r>
              <a:rPr lang="en-US" sz="2400" dirty="0"/>
              <a:t>Association is used to mine frequent patterns</a:t>
            </a:r>
          </a:p>
          <a:p>
            <a:pPr algn="just">
              <a:lnSpc>
                <a:spcPct val="150000"/>
              </a:lnSpc>
            </a:pPr>
            <a:r>
              <a:rPr lang="en-US" sz="2400" dirty="0"/>
              <a:t>Frequent patterns can be</a:t>
            </a:r>
          </a:p>
          <a:p>
            <a:pPr algn="just">
              <a:lnSpc>
                <a:spcPct val="150000"/>
              </a:lnSpc>
              <a:buFont typeface="Wingdings" pitchFamily="2" charset="2"/>
              <a:buChar char="ü"/>
            </a:pPr>
            <a:r>
              <a:rPr lang="en-US" sz="2400" dirty="0"/>
              <a:t>Frequent item sets (e.g. milk and bread)</a:t>
            </a:r>
          </a:p>
          <a:p>
            <a:pPr algn="just">
              <a:lnSpc>
                <a:spcPct val="150000"/>
              </a:lnSpc>
              <a:buFont typeface="Wingdings" pitchFamily="2" charset="2"/>
              <a:buChar char="ü"/>
            </a:pPr>
            <a:r>
              <a:rPr lang="en-US" sz="2400" dirty="0"/>
              <a:t>Frequent Subsequences (e.g. buying first a pc, then a digital camera and a memory card)</a:t>
            </a:r>
          </a:p>
          <a:p>
            <a:pPr>
              <a:lnSpc>
                <a:spcPct val="90000"/>
              </a:lnSpc>
              <a:buFont typeface="Monotype Sorts" pitchFamily="2" charset="2"/>
              <a:buNone/>
            </a:pPr>
            <a:endParaRPr lang="en-US" sz="2400" dirty="0"/>
          </a:p>
          <a:p>
            <a:pPr>
              <a:lnSpc>
                <a:spcPct val="90000"/>
              </a:lnSpc>
            </a:pPr>
            <a:endParaRPr lang="en-US" sz="2400" dirty="0"/>
          </a:p>
          <a:p>
            <a:pPr>
              <a:lnSpc>
                <a:spcPct val="90000"/>
              </a:lnSpc>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fontScale="90000"/>
          </a:bodyPr>
          <a:lstStyle/>
          <a:p>
            <a:r>
              <a:rPr lang="en-US" dirty="0"/>
              <a:t>Association Rule: frequent item set</a:t>
            </a:r>
          </a:p>
        </p:txBody>
      </p:sp>
      <p:sp>
        <p:nvSpPr>
          <p:cNvPr id="3" name="Content Placeholder 2"/>
          <p:cNvSpPr>
            <a:spLocks noGrp="1"/>
          </p:cNvSpPr>
          <p:nvPr>
            <p:ph idx="1"/>
          </p:nvPr>
        </p:nvSpPr>
        <p:spPr>
          <a:xfrm>
            <a:off x="990600" y="1447800"/>
            <a:ext cx="7943088" cy="4800600"/>
          </a:xfrm>
        </p:spPr>
        <p:txBody>
          <a:bodyPr>
            <a:normAutofit/>
          </a:bodyPr>
          <a:lstStyle/>
          <a:p>
            <a:pPr algn="just">
              <a:lnSpc>
                <a:spcPct val="150000"/>
              </a:lnSpc>
            </a:pPr>
            <a:r>
              <a:rPr lang="en-US" sz="2400" dirty="0"/>
              <a:t>Given database of transactions, each transaction is a list of items</a:t>
            </a:r>
          </a:p>
          <a:p>
            <a:pPr algn="just">
              <a:lnSpc>
                <a:spcPct val="150000"/>
              </a:lnSpc>
            </a:pPr>
            <a:r>
              <a:rPr lang="en-US" sz="2400" dirty="0"/>
              <a:t>Find all rules that correlate the presence of one set of items with that of another set of items</a:t>
            </a:r>
          </a:p>
          <a:p>
            <a:pPr algn="just">
              <a:lnSpc>
                <a:spcPct val="150000"/>
              </a:lnSpc>
            </a:pPr>
            <a:r>
              <a:rPr lang="en-US" sz="2400" dirty="0"/>
              <a:t>e.g. 98% of people who purchase tires and auto accessories also get automotive services done</a:t>
            </a:r>
          </a:p>
          <a:p>
            <a:pPr algn="just">
              <a:lnSpc>
                <a:spcPct val="150000"/>
              </a:lnSpc>
            </a:pPr>
            <a:r>
              <a:rPr lang="en-US" sz="2400" dirty="0"/>
              <a:t> e.g. Market basket analysis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498080" cy="1143000"/>
          </a:xfrm>
        </p:spPr>
        <p:txBody>
          <a:bodyPr/>
          <a:lstStyle/>
          <a:p>
            <a:r>
              <a:rPr lang="en-US" dirty="0"/>
              <a:t>Market basket analysis</a:t>
            </a:r>
          </a:p>
        </p:txBody>
      </p:sp>
      <p:sp>
        <p:nvSpPr>
          <p:cNvPr id="3" name="Content Placeholder 2"/>
          <p:cNvSpPr>
            <a:spLocks noGrp="1"/>
          </p:cNvSpPr>
          <p:nvPr>
            <p:ph idx="1"/>
          </p:nvPr>
        </p:nvSpPr>
        <p:spPr>
          <a:xfrm>
            <a:off x="914400" y="1143000"/>
            <a:ext cx="7467600" cy="5715000"/>
          </a:xfrm>
        </p:spPr>
        <p:txBody>
          <a:bodyPr>
            <a:normAutofit/>
          </a:bodyPr>
          <a:lstStyle/>
          <a:p>
            <a:pPr algn="just"/>
            <a:r>
              <a:rPr lang="en-US" sz="2400" dirty="0"/>
              <a:t>“Which groups or sets of items are customers likely to purchase on a given trip to the store?”</a:t>
            </a:r>
          </a:p>
          <a:p>
            <a:pPr algn="just"/>
            <a:endParaRPr lang="en-US" sz="2400" dirty="0"/>
          </a:p>
          <a:p>
            <a:pPr algn="just"/>
            <a:r>
              <a:rPr lang="en-US" sz="2400" dirty="0"/>
              <a:t>This process analyzes customer buying habits by finding associations between the different items that customers place in their “shopping baskets”</a:t>
            </a:r>
          </a:p>
          <a:p>
            <a:pPr algn="just"/>
            <a:endParaRPr lang="en-US" sz="2400" dirty="0"/>
          </a:p>
          <a:p>
            <a:pPr algn="just"/>
            <a:r>
              <a:rPr lang="en-US" sz="2400" dirty="0"/>
              <a:t>It helps retailers develop marketing strategies by gaining insight into which items are frequently purchased together by customers</a:t>
            </a:r>
          </a:p>
          <a:p>
            <a:pPr>
              <a:buFont typeface="Monotype Sorts" pitchFamily="2" charset="2"/>
              <a:buNone/>
            </a:pP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914400" y="0"/>
            <a:ext cx="7498080" cy="1143000"/>
          </a:xfrm>
        </p:spPr>
        <p:txBody>
          <a:bodyPr/>
          <a:lstStyle/>
          <a:p>
            <a:r>
              <a:rPr lang="en-US" dirty="0"/>
              <a:t>Market basket analysis</a:t>
            </a:r>
          </a:p>
        </p:txBody>
      </p:sp>
      <p:sp>
        <p:nvSpPr>
          <p:cNvPr id="12291" name="Content Placeholder 2"/>
          <p:cNvSpPr>
            <a:spLocks noGrp="1"/>
          </p:cNvSpPr>
          <p:nvPr>
            <p:ph idx="1"/>
          </p:nvPr>
        </p:nvSpPr>
        <p:spPr>
          <a:xfrm>
            <a:off x="990600" y="1066800"/>
            <a:ext cx="7924800" cy="5791200"/>
          </a:xfrm>
        </p:spPr>
        <p:txBody>
          <a:bodyPr>
            <a:normAutofit lnSpcReduction="10000"/>
          </a:bodyPr>
          <a:lstStyle/>
          <a:p>
            <a:r>
              <a:rPr lang="en-US" sz="2800" dirty="0"/>
              <a:t>The result can be used in</a:t>
            </a:r>
          </a:p>
          <a:p>
            <a:pPr>
              <a:buFont typeface="Monotype Sorts" pitchFamily="2" charset="2"/>
              <a:buNone/>
            </a:pPr>
            <a:r>
              <a:rPr lang="en-US" sz="2800" dirty="0"/>
              <a:t>	-</a:t>
            </a:r>
            <a:r>
              <a:rPr lang="en-US" sz="2400" dirty="0"/>
              <a:t>Making various marketing strategies or advertising strategies</a:t>
            </a:r>
          </a:p>
          <a:p>
            <a:pPr>
              <a:buFont typeface="Monotype Sorts" pitchFamily="2" charset="2"/>
              <a:buNone/>
            </a:pPr>
            <a:r>
              <a:rPr lang="en-US" sz="2400" dirty="0"/>
              <a:t>	-Shelf arrangement</a:t>
            </a:r>
          </a:p>
          <a:p>
            <a:pPr>
              <a:buNone/>
            </a:pPr>
            <a:r>
              <a:rPr lang="en-US" sz="2400" dirty="0"/>
              <a:t>	-design different layouts of shop</a:t>
            </a:r>
          </a:p>
          <a:p>
            <a:pPr>
              <a:buNone/>
            </a:pPr>
            <a:r>
              <a:rPr lang="en-US" sz="2400" dirty="0"/>
              <a:t>	-Can lead to increased sales  </a:t>
            </a:r>
          </a:p>
          <a:p>
            <a:r>
              <a:rPr lang="en-US" sz="2800" dirty="0"/>
              <a:t>These patterns can be represented in the  form of association rules.</a:t>
            </a:r>
          </a:p>
          <a:p>
            <a:pPr>
              <a:buNone/>
            </a:pPr>
            <a:r>
              <a:rPr lang="en-US" sz="2800" dirty="0"/>
              <a:t>	         </a:t>
            </a:r>
            <a:r>
              <a:rPr lang="en-US" sz="2400" dirty="0"/>
              <a:t>“Body=&gt;Head[support, confidence]”</a:t>
            </a:r>
          </a:p>
          <a:p>
            <a:pPr>
              <a:buFont typeface="Monotype Sorts" pitchFamily="2" charset="2"/>
              <a:buNone/>
            </a:pPr>
            <a:r>
              <a:rPr lang="en-US" sz="2800" dirty="0"/>
              <a:t>	A=&gt;B where A and B belong to different item sets</a:t>
            </a:r>
          </a:p>
          <a:p>
            <a:r>
              <a:rPr lang="en-US" sz="2800" dirty="0"/>
              <a:t>E.g. if customer purchase computers also tends to buy antivirus software at the same time</a:t>
            </a:r>
          </a:p>
          <a:p>
            <a:pPr>
              <a:buFont typeface="Monotype Sorts" pitchFamily="2" charset="2"/>
              <a:buNone/>
            </a:pPr>
            <a:r>
              <a:rPr lang="en-US" sz="2000" dirty="0"/>
              <a:t>	buys(x, ”computers”)=&gt;buys(x, antivirus s/w)[support=2%,confidence=60%]</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990600" y="0"/>
            <a:ext cx="7866888" cy="1143000"/>
          </a:xfrm>
        </p:spPr>
        <p:txBody>
          <a:bodyPr/>
          <a:lstStyle/>
          <a:p>
            <a:r>
              <a:rPr lang="en-US" dirty="0"/>
              <a:t>Measures of association (rules)</a:t>
            </a:r>
          </a:p>
        </p:txBody>
      </p:sp>
      <p:sp>
        <p:nvSpPr>
          <p:cNvPr id="13315" name="Content Placeholder 2"/>
          <p:cNvSpPr>
            <a:spLocks noGrp="1"/>
          </p:cNvSpPr>
          <p:nvPr>
            <p:ph idx="1"/>
          </p:nvPr>
        </p:nvSpPr>
        <p:spPr>
          <a:xfrm>
            <a:off x="990600" y="1066800"/>
            <a:ext cx="7943088" cy="5410200"/>
          </a:xfrm>
        </p:spPr>
        <p:txBody>
          <a:bodyPr>
            <a:normAutofit lnSpcReduction="10000"/>
          </a:bodyPr>
          <a:lstStyle/>
          <a:p>
            <a:pPr algn="just">
              <a:buFont typeface="Monotype Sorts" pitchFamily="2" charset="2"/>
              <a:buNone/>
            </a:pPr>
            <a:r>
              <a:rPr lang="en-US" sz="2400" dirty="0">
                <a:solidFill>
                  <a:srgbClr val="FF0000"/>
                </a:solidFill>
              </a:rPr>
              <a:t>1.Support: </a:t>
            </a:r>
            <a:r>
              <a:rPr lang="en-US" sz="2400" dirty="0"/>
              <a:t>What % of total transactions in a database have this pattern</a:t>
            </a:r>
          </a:p>
          <a:p>
            <a:pPr algn="just"/>
            <a:r>
              <a:rPr lang="en-US" sz="2400" dirty="0"/>
              <a:t>A support of 2% means that 2% of all transactions under analysis show that computer and antivirus software are purchased together</a:t>
            </a:r>
          </a:p>
          <a:p>
            <a:pPr algn="just">
              <a:buFont typeface="Monotype Sorts" pitchFamily="2" charset="2"/>
              <a:buNone/>
            </a:pPr>
            <a:r>
              <a:rPr lang="en-US" sz="2400" dirty="0">
                <a:solidFill>
                  <a:srgbClr val="FF0000"/>
                </a:solidFill>
              </a:rPr>
              <a:t>2.Confidence: </a:t>
            </a:r>
            <a:r>
              <a:rPr lang="en-US" sz="2400" dirty="0"/>
              <a:t>How many times this pattern has occurred if first has occurred</a:t>
            </a:r>
          </a:p>
          <a:p>
            <a:pPr algn="just"/>
            <a:r>
              <a:rPr lang="en-US" sz="2400" dirty="0"/>
              <a:t>A confidence of 60% means that 60% of customers who purchased a computer also bought the software</a:t>
            </a:r>
          </a:p>
          <a:p>
            <a:pPr algn="just"/>
            <a:endParaRPr lang="en-US" sz="2400" dirty="0"/>
          </a:p>
          <a:p>
            <a:pPr algn="just"/>
            <a:r>
              <a:rPr lang="en-US" sz="2400" dirty="0"/>
              <a:t>Association rules must satisfy a </a:t>
            </a:r>
            <a:r>
              <a:rPr lang="en-US" sz="2400" b="1" dirty="0"/>
              <a:t>minimum support threshold </a:t>
            </a:r>
            <a:r>
              <a:rPr lang="en-US" sz="2400" dirty="0"/>
              <a:t>and a </a:t>
            </a:r>
            <a:r>
              <a:rPr lang="en-US" sz="2400" b="1" dirty="0"/>
              <a:t>minimum confidence threshold </a:t>
            </a:r>
            <a:r>
              <a:rPr lang="en-US" sz="2400" dirty="0"/>
              <a:t>(called strong)</a:t>
            </a:r>
          </a:p>
          <a:p>
            <a:pPr algn="just"/>
            <a:r>
              <a:rPr lang="en-US" sz="2400" dirty="0"/>
              <a:t>Such threshold can be set by users or domain experts</a:t>
            </a:r>
          </a:p>
          <a:p>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203960" y="0"/>
            <a:ext cx="7498080" cy="990600"/>
          </a:xfrm>
        </p:spPr>
        <p:txBody>
          <a:bodyPr/>
          <a:lstStyle/>
          <a:p>
            <a:r>
              <a:rPr lang="en-US" dirty="0"/>
              <a:t>Measures of association (rules)</a:t>
            </a:r>
          </a:p>
        </p:txBody>
      </p:sp>
      <p:sp>
        <p:nvSpPr>
          <p:cNvPr id="14339" name="Content Placeholder 2"/>
          <p:cNvSpPr>
            <a:spLocks noGrp="1"/>
          </p:cNvSpPr>
          <p:nvPr>
            <p:ph idx="1"/>
          </p:nvPr>
        </p:nvSpPr>
        <p:spPr>
          <a:xfrm>
            <a:off x="762000" y="1066800"/>
            <a:ext cx="8382000" cy="5791200"/>
          </a:xfrm>
        </p:spPr>
        <p:txBody>
          <a:bodyPr>
            <a:noAutofit/>
          </a:bodyPr>
          <a:lstStyle/>
          <a:p>
            <a:pPr algn="just">
              <a:buFont typeface="Arial" charset="0"/>
              <a:buChar char="•"/>
            </a:pPr>
            <a:r>
              <a:rPr lang="en-US" sz="2400" dirty="0"/>
              <a:t>Let each transaction T has a set of items .</a:t>
            </a:r>
          </a:p>
          <a:p>
            <a:pPr algn="just">
              <a:buFont typeface="Arial" charset="0"/>
              <a:buChar char="•"/>
            </a:pPr>
            <a:r>
              <a:rPr lang="en-US" sz="2400" dirty="0"/>
              <a:t>X, Y are a set of items contained in T</a:t>
            </a:r>
          </a:p>
          <a:p>
            <a:pPr algn="just">
              <a:buFont typeface="Arial" charset="0"/>
              <a:buChar char="•"/>
            </a:pPr>
            <a:r>
              <a:rPr lang="en-US" sz="2400" dirty="0">
                <a:solidFill>
                  <a:srgbClr val="FF0000"/>
                </a:solidFill>
              </a:rPr>
              <a:t>Support (s): </a:t>
            </a:r>
            <a:r>
              <a:rPr lang="en-US" sz="2400" dirty="0"/>
              <a:t>Fraction of transactions that contain both X and Y</a:t>
            </a:r>
          </a:p>
          <a:p>
            <a:pPr algn="just">
              <a:buNone/>
            </a:pPr>
            <a:r>
              <a:rPr lang="en-US" sz="2400" dirty="0">
                <a:solidFill>
                  <a:srgbClr val="0070C0"/>
                </a:solidFill>
              </a:rPr>
              <a:t>Support(X=&gt;Y)=P(XUY)=</a:t>
            </a:r>
            <a:r>
              <a:rPr lang="en-US" sz="2400" dirty="0" err="1">
                <a:solidFill>
                  <a:srgbClr val="0070C0"/>
                </a:solidFill>
              </a:rPr>
              <a:t>support_count</a:t>
            </a:r>
            <a:r>
              <a:rPr lang="en-US" sz="2400" dirty="0">
                <a:solidFill>
                  <a:srgbClr val="0070C0"/>
                </a:solidFill>
              </a:rPr>
              <a:t>(XUY)/T</a:t>
            </a:r>
          </a:p>
          <a:p>
            <a:pPr algn="just">
              <a:buFont typeface="Monotype Sorts" pitchFamily="2" charset="2"/>
              <a:buNone/>
            </a:pPr>
            <a:r>
              <a:rPr lang="en-US" sz="2400" dirty="0"/>
              <a:t>	where probability P, union of set X and Y or say both X and Y</a:t>
            </a:r>
          </a:p>
          <a:p>
            <a:pPr algn="just"/>
            <a:r>
              <a:rPr lang="en-US" sz="2400" dirty="0">
                <a:solidFill>
                  <a:srgbClr val="FF0000"/>
                </a:solidFill>
              </a:rPr>
              <a:t>Confidence (c): </a:t>
            </a:r>
            <a:r>
              <a:rPr lang="en-US" sz="2400" dirty="0"/>
              <a:t>Measures how often items in Y </a:t>
            </a:r>
            <a:br>
              <a:rPr lang="en-US" sz="2400" dirty="0"/>
            </a:br>
            <a:r>
              <a:rPr lang="en-US" sz="2400" dirty="0"/>
              <a:t>appear in transactions that contain X</a:t>
            </a:r>
          </a:p>
          <a:p>
            <a:pPr algn="just">
              <a:buNone/>
            </a:pPr>
            <a:r>
              <a:rPr lang="en-US" sz="2400" dirty="0">
                <a:solidFill>
                  <a:srgbClr val="FF0000"/>
                </a:solidFill>
              </a:rPr>
              <a:t>	</a:t>
            </a:r>
            <a:r>
              <a:rPr lang="en-US" sz="2400" dirty="0">
                <a:solidFill>
                  <a:srgbClr val="0070C0"/>
                </a:solidFill>
              </a:rPr>
              <a:t>confidence(X=&gt;Y)=</a:t>
            </a:r>
            <a:r>
              <a:rPr lang="en-US" sz="2400" dirty="0" err="1">
                <a:solidFill>
                  <a:srgbClr val="0070C0"/>
                </a:solidFill>
              </a:rPr>
              <a:t>support_count</a:t>
            </a:r>
            <a:r>
              <a:rPr lang="en-US" sz="2400" dirty="0">
                <a:solidFill>
                  <a:srgbClr val="0070C0"/>
                </a:solidFill>
              </a:rPr>
              <a:t>(XUY)/</a:t>
            </a:r>
            <a:r>
              <a:rPr lang="en-US" sz="2400" dirty="0" err="1">
                <a:solidFill>
                  <a:srgbClr val="0070C0"/>
                </a:solidFill>
              </a:rPr>
              <a:t>support_count</a:t>
            </a:r>
            <a:r>
              <a:rPr lang="en-US" sz="2400" dirty="0">
                <a:solidFill>
                  <a:srgbClr val="0070C0"/>
                </a:solidFill>
              </a:rPr>
              <a:t>(X) </a:t>
            </a:r>
          </a:p>
          <a:p>
            <a:pPr algn="just">
              <a:buFont typeface="Monotype Sorts" pitchFamily="2" charset="2"/>
              <a:buNone/>
            </a:pPr>
            <a:r>
              <a:rPr lang="en-US" sz="2400" dirty="0">
                <a:solidFill>
                  <a:srgbClr val="FF0000"/>
                </a:solidFill>
              </a:rPr>
              <a:t>	</a:t>
            </a:r>
            <a:r>
              <a:rPr lang="en-US" sz="2400" dirty="0"/>
              <a:t>where support count </a:t>
            </a:r>
            <a:r>
              <a:rPr lang="en-US" sz="2400" b="1" dirty="0"/>
              <a:t>(</a:t>
            </a:r>
            <a:r>
              <a:rPr lang="en-US" sz="2400" b="1" dirty="0">
                <a:sym typeface="Symbol" pitchFamily="18" charset="2"/>
              </a:rPr>
              <a:t>) is </a:t>
            </a:r>
            <a:r>
              <a:rPr lang="en-US" sz="2400" dirty="0"/>
              <a:t>occurrence frequency of an </a:t>
            </a:r>
            <a:r>
              <a:rPr lang="en-US" sz="2400" dirty="0" err="1"/>
              <a:t>itemset</a:t>
            </a:r>
            <a:r>
              <a:rPr lang="en-US" sz="2400" dirty="0"/>
              <a:t>  </a:t>
            </a:r>
          </a:p>
          <a:p>
            <a:pPr marL="342900" lvl="0" indent="-342900" algn="just">
              <a:defRPr/>
            </a:pPr>
            <a:r>
              <a:rPr lang="en-US" sz="2400" dirty="0">
                <a:solidFill>
                  <a:srgbClr val="FF0000"/>
                </a:solidFill>
              </a:rPr>
              <a:t>Frequent </a:t>
            </a:r>
            <a:r>
              <a:rPr lang="en-US" sz="2400" dirty="0" err="1">
                <a:solidFill>
                  <a:srgbClr val="FF0000"/>
                </a:solidFill>
              </a:rPr>
              <a:t>Itemset</a:t>
            </a:r>
            <a:r>
              <a:rPr lang="en-US" sz="2400" dirty="0">
                <a:solidFill>
                  <a:srgbClr val="FF0000"/>
                </a:solidFill>
              </a:rPr>
              <a:t>: </a:t>
            </a:r>
          </a:p>
          <a:p>
            <a:pPr marL="742950" lvl="1" indent="-285750" algn="just">
              <a:defRPr/>
            </a:pPr>
            <a:r>
              <a:rPr lang="en-US" sz="2400" dirty="0"/>
              <a:t>An </a:t>
            </a:r>
            <a:r>
              <a:rPr lang="en-US" sz="2400" dirty="0" err="1"/>
              <a:t>itemset</a:t>
            </a:r>
            <a:r>
              <a:rPr lang="en-US" sz="2400" dirty="0"/>
              <a:t> whose support is greater than or equal to a </a:t>
            </a:r>
            <a:r>
              <a:rPr lang="en-US" sz="2400" i="1" dirty="0" err="1"/>
              <a:t>minsup</a:t>
            </a:r>
            <a:r>
              <a:rPr lang="en-US" sz="2400" dirty="0"/>
              <a:t> threshold</a:t>
            </a:r>
          </a:p>
          <a:p>
            <a:pPr>
              <a:buFont typeface="Monotype Sorts" pitchFamily="2" charset="2"/>
              <a:buNone/>
            </a:pPr>
            <a:r>
              <a:rPr lang="en-US" sz="2800"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2"/>
          <p:cNvSpPr>
            <a:spLocks noGrp="1" noChangeArrowheads="1"/>
          </p:cNvSpPr>
          <p:nvPr>
            <p:ph type="title"/>
          </p:nvPr>
        </p:nvSpPr>
        <p:spPr>
          <a:xfrm>
            <a:off x="914400" y="228600"/>
            <a:ext cx="7498080" cy="838200"/>
          </a:xfrm>
        </p:spPr>
        <p:txBody>
          <a:bodyPr>
            <a:normAutofit fontScale="90000"/>
          </a:bodyPr>
          <a:lstStyle/>
          <a:p>
            <a:r>
              <a:rPr lang="en-US" dirty="0"/>
              <a:t>Example of Association Rules</a:t>
            </a:r>
            <a:br>
              <a:rPr lang="en-US" dirty="0"/>
            </a:br>
            <a:r>
              <a:rPr lang="en-US" sz="4400" dirty="0">
                <a:solidFill>
                  <a:srgbClr val="0C6D9C"/>
                </a:solidFill>
              </a:rPr>
              <a:t> </a:t>
            </a:r>
            <a:r>
              <a:rPr lang="en-US" sz="3100" dirty="0">
                <a:solidFill>
                  <a:srgbClr val="0C6D9C"/>
                </a:solidFill>
              </a:rPr>
              <a:t>Market-Basket transactions</a:t>
            </a:r>
            <a:endParaRPr lang="en-US" sz="3100" dirty="0"/>
          </a:p>
        </p:txBody>
      </p:sp>
      <p:grpSp>
        <p:nvGrpSpPr>
          <p:cNvPr id="2" name="Group 22"/>
          <p:cNvGrpSpPr>
            <a:grpSpLocks/>
          </p:cNvGrpSpPr>
          <p:nvPr/>
        </p:nvGrpSpPr>
        <p:grpSpPr bwMode="auto">
          <a:xfrm>
            <a:off x="1067371" y="1545781"/>
            <a:ext cx="4310878" cy="4410076"/>
            <a:chOff x="3305" y="2592"/>
            <a:chExt cx="2565" cy="2778"/>
          </a:xfrm>
        </p:grpSpPr>
        <p:graphicFrame>
          <p:nvGraphicFramePr>
            <p:cNvPr id="3075" name="Object 12"/>
            <p:cNvGraphicFramePr>
              <a:graphicFrameLocks noChangeAspect="1"/>
            </p:cNvGraphicFramePr>
            <p:nvPr/>
          </p:nvGraphicFramePr>
          <p:xfrm>
            <a:off x="3350" y="2592"/>
            <a:ext cx="1711" cy="239"/>
          </p:xfrm>
          <a:graphic>
            <a:graphicData uri="http://schemas.openxmlformats.org/presentationml/2006/ole">
              <mc:AlternateContent xmlns:mc="http://schemas.openxmlformats.org/markup-compatibility/2006">
                <mc:Choice xmlns:v="urn:schemas-microsoft-com:vml" Requires="v">
                  <p:oleObj spid="_x0000_s44210" name="Equation" r:id="rId3" imgW="1434960" imgH="203040" progId="Equation.3">
                    <p:embed/>
                  </p:oleObj>
                </mc:Choice>
                <mc:Fallback>
                  <p:oleObj name="Equation" r:id="rId3" imgW="1434960" imgH="20304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0" y="2592"/>
                          <a:ext cx="1711"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13"/>
            <p:cNvGraphicFramePr>
              <a:graphicFrameLocks noChangeAspect="1"/>
            </p:cNvGraphicFramePr>
            <p:nvPr/>
          </p:nvGraphicFramePr>
          <p:xfrm>
            <a:off x="3305" y="3250"/>
            <a:ext cx="2460" cy="445"/>
          </p:xfrm>
          <a:graphic>
            <a:graphicData uri="http://schemas.openxmlformats.org/presentationml/2006/ole">
              <mc:AlternateContent xmlns:mc="http://schemas.openxmlformats.org/markup-compatibility/2006">
                <mc:Choice xmlns:v="urn:schemas-microsoft-com:vml" Requires="v">
                  <p:oleObj spid="_x0000_s44211" name="Equation" r:id="rId5" imgW="4317840" imgH="787320" progId="Equation.3">
                    <p:embed/>
                  </p:oleObj>
                </mc:Choice>
                <mc:Fallback>
                  <p:oleObj name="Equation" r:id="rId5" imgW="4317840" imgH="78732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5" y="3250"/>
                          <a:ext cx="2460" cy="4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14"/>
            <p:cNvGraphicFramePr>
              <a:graphicFrameLocks noChangeAspect="1"/>
            </p:cNvGraphicFramePr>
            <p:nvPr/>
          </p:nvGraphicFramePr>
          <p:xfrm>
            <a:off x="3395" y="4930"/>
            <a:ext cx="2475" cy="440"/>
          </p:xfrm>
          <a:graphic>
            <a:graphicData uri="http://schemas.openxmlformats.org/presentationml/2006/ole">
              <mc:AlternateContent xmlns:mc="http://schemas.openxmlformats.org/markup-compatibility/2006">
                <mc:Choice xmlns:v="urn:schemas-microsoft-com:vml" Requires="v">
                  <p:oleObj spid="_x0000_s44212" name="Equation" r:id="rId7" imgW="4470120" imgH="787320" progId="Equation.3">
                    <p:embed/>
                  </p:oleObj>
                </mc:Choice>
                <mc:Fallback>
                  <p:oleObj name="Equation" r:id="rId7" imgW="4470120" imgH="78732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5" y="4930"/>
                          <a:ext cx="2475" cy="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10387" name="Rectangle 19"/>
          <p:cNvSpPr>
            <a:spLocks noChangeArrowheads="1"/>
          </p:cNvSpPr>
          <p:nvPr/>
        </p:nvSpPr>
        <p:spPr bwMode="auto">
          <a:xfrm>
            <a:off x="381000" y="1447800"/>
            <a:ext cx="4876800" cy="5334000"/>
          </a:xfrm>
          <a:prstGeom prst="rect">
            <a:avLst/>
          </a:prstGeom>
          <a:noFill/>
          <a:ln w="12700">
            <a:noFill/>
            <a:miter lim="800000"/>
            <a:headEnd/>
            <a:tailEnd/>
          </a:ln>
        </p:spPr>
        <p:txBody>
          <a:bodyPr lIns="90488" tIns="44450" rIns="90488" bIns="44450"/>
          <a:lstStyle/>
          <a:p>
            <a:pPr marL="742950" lvl="1" indent="-285750">
              <a:spcBef>
                <a:spcPct val="10000"/>
              </a:spcBef>
              <a:spcAft>
                <a:spcPts val="400"/>
              </a:spcAft>
              <a:buClr>
                <a:srgbClr val="0C7B9C"/>
              </a:buClr>
              <a:buSzPct val="100000"/>
            </a:pPr>
            <a:br>
              <a:rPr lang="en-US" sz="1800" b="0" dirty="0"/>
            </a:br>
            <a:endParaRPr lang="en-US" sz="1800" b="0" dirty="0"/>
          </a:p>
          <a:p>
            <a:pPr marL="742950" lvl="1" indent="-285750">
              <a:spcBef>
                <a:spcPct val="10000"/>
              </a:spcBef>
              <a:spcAft>
                <a:spcPts val="400"/>
              </a:spcAft>
              <a:buClr>
                <a:srgbClr val="0C7B9C"/>
              </a:buClr>
              <a:buSzPct val="100000"/>
              <a:buFont typeface="Arial" charset="0"/>
              <a:buNone/>
            </a:pPr>
            <a:endParaRPr lang="en-US" sz="1800" dirty="0"/>
          </a:p>
        </p:txBody>
      </p:sp>
      <p:graphicFrame>
        <p:nvGraphicFramePr>
          <p:cNvPr id="3074" name="Object 21"/>
          <p:cNvGraphicFramePr>
            <a:graphicFrameLocks noGrp="1" noChangeAspect="1"/>
          </p:cNvGraphicFramePr>
          <p:nvPr>
            <p:ph idx="1"/>
          </p:nvPr>
        </p:nvGraphicFramePr>
        <p:xfrm>
          <a:off x="5265054" y="1524000"/>
          <a:ext cx="3740150" cy="3352800"/>
        </p:xfrm>
        <a:graphic>
          <a:graphicData uri="http://schemas.openxmlformats.org/presentationml/2006/ole">
            <mc:AlternateContent xmlns:mc="http://schemas.openxmlformats.org/markup-compatibility/2006">
              <mc:Choice xmlns:v="urn:schemas-microsoft-com:vml" Requires="v">
                <p:oleObj spid="_x0000_s44213" name="Document" r:id="rId9" imgW="3359338" imgH="2015504" progId="Word.Document.8">
                  <p:embed/>
                </p:oleObj>
              </mc:Choice>
              <mc:Fallback>
                <p:oleObj name="Document" r:id="rId9" imgW="3359338" imgH="2015504" progId="Word.Document.8">
                  <p:embed/>
                  <p:pic>
                    <p:nvPicPr>
                      <p:cNvPr id="0" name="Object 21"/>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5054" y="1524000"/>
                        <a:ext cx="3740150" cy="335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3"/>
          <p:cNvSpPr txBox="1">
            <a:spLocks noChangeArrowheads="1"/>
          </p:cNvSpPr>
          <p:nvPr/>
        </p:nvSpPr>
        <p:spPr>
          <a:xfrm>
            <a:off x="1143000" y="2057400"/>
            <a:ext cx="3733800" cy="4495800"/>
          </a:xfrm>
          <a:prstGeom prst="rect">
            <a:avLst/>
          </a:prstGeom>
          <a:noFill/>
        </p:spPr>
        <p:txBody>
          <a:bodyPr>
            <a:normAutofit/>
          </a:bodyPr>
          <a:lstStyle/>
          <a:p>
            <a:pPr marL="342900" marR="0" lvl="0" indent="-342900" algn="l" defTabSz="914400" rtl="0" eaLnBrk="1" fontAlgn="auto" latinLnBrk="0" hangingPunct="1">
              <a:lnSpc>
                <a:spcPct val="100000"/>
              </a:lnSpc>
              <a:spcBef>
                <a:spcPts val="600"/>
              </a:spcBef>
              <a:spcAft>
                <a:spcPts val="0"/>
              </a:spcAft>
              <a:buClr>
                <a:schemeClr val="accent1"/>
              </a:buClr>
              <a:buSzPct val="80000"/>
              <a:tabLst/>
              <a:defRPr/>
            </a:pPr>
            <a:r>
              <a:rPr kumimoji="0" lang="en-US" sz="2000" b="1" i="0" u="none" strike="noStrike" kern="1200" cap="none" spc="0" normalizeH="0" baseline="0" noProof="0" dirty="0">
                <a:ln>
                  <a:noFill/>
                </a:ln>
                <a:solidFill>
                  <a:schemeClr val="tx1"/>
                </a:solidFill>
                <a:effectLst/>
                <a:uLnTx/>
                <a:uFillTx/>
                <a:latin typeface="+mn-lt"/>
                <a:ea typeface="+mn-ea"/>
                <a:cs typeface="+mn-cs"/>
              </a:rPr>
              <a:t>Support (S)</a:t>
            </a:r>
          </a:p>
          <a:p>
            <a:pPr marL="742950" marR="0" lvl="1" indent="-285750" algn="l" defTabSz="914400" rtl="0" eaLnBrk="1" fontAlgn="auto" latinLnBrk="0" hangingPunct="1">
              <a:lnSpc>
                <a:spcPct val="100000"/>
              </a:lnSpc>
              <a:spcBef>
                <a:spcPts val="550"/>
              </a:spcBef>
              <a:spcAft>
                <a:spcPts val="0"/>
              </a:spcAft>
              <a:buClr>
                <a:schemeClr val="accent1"/>
              </a:buClr>
              <a:buSzTx/>
              <a:buFont typeface="Verdana"/>
              <a:buChar char="◦"/>
              <a:tabLst/>
              <a:defRPr/>
            </a:pPr>
            <a:endParaRPr lang="en-US" dirty="0"/>
          </a:p>
          <a:p>
            <a:pPr marL="342900" lvl="0" indent="-342900">
              <a:spcBef>
                <a:spcPts val="600"/>
              </a:spcBef>
              <a:buClr>
                <a:schemeClr val="accent1"/>
              </a:buClr>
              <a:buSzPct val="80000"/>
              <a:buFont typeface="Wingdings 2"/>
              <a:buChar char=""/>
              <a:defRPr/>
            </a:pPr>
            <a:endParaRPr lang="en-US" sz="2000" b="1" dirty="0"/>
          </a:p>
          <a:p>
            <a:pPr marL="342900" lvl="0" indent="-342900">
              <a:spcBef>
                <a:spcPts val="600"/>
              </a:spcBef>
              <a:buClr>
                <a:schemeClr val="accent1"/>
              </a:buClr>
              <a:buSzPct val="80000"/>
              <a:defRPr/>
            </a:pPr>
            <a:endParaRPr lang="en-US" sz="2000" b="1" dirty="0"/>
          </a:p>
          <a:p>
            <a:pPr marL="342900" lvl="0" indent="-342900">
              <a:spcBef>
                <a:spcPts val="600"/>
              </a:spcBef>
              <a:buClr>
                <a:schemeClr val="accent1"/>
              </a:buClr>
              <a:buSzPct val="80000"/>
              <a:defRPr/>
            </a:pPr>
            <a:r>
              <a:rPr lang="en-US" sz="2000" b="1" dirty="0"/>
              <a:t>Support count (</a:t>
            </a:r>
            <a:r>
              <a:rPr lang="en-US" sz="2000" b="1" dirty="0">
                <a:sym typeface="Symbol" pitchFamily="18" charset="2"/>
              </a:rPr>
              <a:t>)</a:t>
            </a:r>
          </a:p>
          <a:p>
            <a:pPr marL="342900" lvl="0" indent="-342900">
              <a:spcBef>
                <a:spcPts val="600"/>
              </a:spcBef>
              <a:buClr>
                <a:schemeClr val="accent1"/>
              </a:buClr>
              <a:buSzPct val="80000"/>
              <a:defRPr/>
            </a:pPr>
            <a:r>
              <a:rPr lang="en-US" dirty="0"/>
              <a:t>	 </a:t>
            </a:r>
            <a:r>
              <a:rPr lang="en-US" dirty="0">
                <a:sym typeface="Symbol" pitchFamily="18" charset="2"/>
              </a:rPr>
              <a:t>({Milk, Bread, Diaper}) = 2 </a:t>
            </a:r>
          </a:p>
          <a:p>
            <a:pPr marL="342900" lvl="0" indent="-342900">
              <a:spcBef>
                <a:spcPts val="600"/>
              </a:spcBef>
              <a:buClr>
                <a:schemeClr val="accent1"/>
              </a:buClr>
              <a:buSzPct val="80000"/>
              <a:defRPr/>
            </a:pPr>
            <a:endParaRPr lang="en-US" sz="2000" b="1" dirty="0">
              <a:sym typeface="Symbol" pitchFamily="18" charset="2"/>
            </a:endParaRPr>
          </a:p>
          <a:p>
            <a:pPr marL="342900" lvl="0" indent="-342900">
              <a:spcBef>
                <a:spcPts val="600"/>
              </a:spcBef>
              <a:buClr>
                <a:schemeClr val="accent1"/>
              </a:buClr>
              <a:buSzPct val="80000"/>
              <a:defRPr/>
            </a:pPr>
            <a:r>
              <a:rPr lang="en-US" sz="2000" b="1" dirty="0">
                <a:sym typeface="Symbol" pitchFamily="18" charset="2"/>
              </a:rPr>
              <a:t>Confidence (C)</a:t>
            </a:r>
            <a:endParaRPr 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0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0387" grpId="0" build="p"/>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1066800" y="228600"/>
            <a:ext cx="7498080" cy="762000"/>
          </a:xfrm>
        </p:spPr>
        <p:txBody>
          <a:bodyPr/>
          <a:lstStyle/>
          <a:p>
            <a:r>
              <a:rPr lang="en-US" dirty="0"/>
              <a:t>Example of Association Rules</a:t>
            </a:r>
          </a:p>
        </p:txBody>
      </p:sp>
      <p:sp>
        <p:nvSpPr>
          <p:cNvPr id="1028" name="Text Box 4"/>
          <p:cNvSpPr txBox="1">
            <a:spLocks noChangeArrowheads="1"/>
          </p:cNvSpPr>
          <p:nvPr/>
        </p:nvSpPr>
        <p:spPr bwMode="auto">
          <a:xfrm>
            <a:off x="4267200" y="1219200"/>
            <a:ext cx="4724400" cy="2438400"/>
          </a:xfrm>
          <a:prstGeom prst="rect">
            <a:avLst/>
          </a:prstGeom>
          <a:noFill/>
          <a:ln w="12700">
            <a:noFill/>
            <a:miter lim="800000"/>
            <a:headEnd/>
            <a:tailEnd/>
          </a:ln>
        </p:spPr>
        <p:txBody>
          <a:bodyPr>
            <a:spAutoFit/>
          </a:bodyPr>
          <a:lstStyle/>
          <a:p>
            <a:r>
              <a:rPr lang="en-US" sz="2400" b="0">
                <a:solidFill>
                  <a:srgbClr val="CC3300"/>
                </a:solidFill>
                <a:sym typeface="Symbol" pitchFamily="18" charset="2"/>
              </a:rPr>
              <a:t>Example of Rules:</a:t>
            </a:r>
            <a:br>
              <a:rPr lang="en-US" sz="2400" b="0">
                <a:solidFill>
                  <a:srgbClr val="CC3300"/>
                </a:solidFill>
                <a:sym typeface="Symbol" pitchFamily="18" charset="2"/>
              </a:rPr>
            </a:br>
            <a:endParaRPr lang="en-US" sz="1000" b="0">
              <a:solidFill>
                <a:srgbClr val="CC3300"/>
              </a:solidFill>
              <a:sym typeface="Symbol" pitchFamily="18" charset="2"/>
            </a:endParaRPr>
          </a:p>
          <a:p>
            <a:r>
              <a:rPr lang="en-US" sz="2000" b="0"/>
              <a:t>{Milk,Diaper} </a:t>
            </a:r>
            <a:r>
              <a:rPr lang="en-US" sz="2000" b="0">
                <a:sym typeface="Symbol" pitchFamily="18" charset="2"/>
              </a:rPr>
              <a:t> {Beer} (s=0.4, c=0.67)</a:t>
            </a:r>
            <a:br>
              <a:rPr lang="en-US" sz="2000" b="0">
                <a:sym typeface="Symbol" pitchFamily="18" charset="2"/>
              </a:rPr>
            </a:br>
            <a:r>
              <a:rPr lang="en-US" sz="2000" b="0"/>
              <a:t>{Milk,Beer} </a:t>
            </a:r>
            <a:r>
              <a:rPr lang="en-US" sz="2000" b="0">
                <a:sym typeface="Symbol" pitchFamily="18" charset="2"/>
              </a:rPr>
              <a:t> {Diaper} (s=0.4, c=1.0)</a:t>
            </a:r>
          </a:p>
          <a:p>
            <a:r>
              <a:rPr lang="en-US" sz="2000" b="0"/>
              <a:t>{Diaper,Beer} </a:t>
            </a:r>
            <a:r>
              <a:rPr lang="en-US" sz="2000" b="0">
                <a:sym typeface="Symbol" pitchFamily="18" charset="2"/>
              </a:rPr>
              <a:t> {Milk} (s=0.4, c=0.67)</a:t>
            </a:r>
          </a:p>
          <a:p>
            <a:r>
              <a:rPr lang="en-US" sz="2000" b="0">
                <a:sym typeface="Symbol" pitchFamily="18" charset="2"/>
              </a:rPr>
              <a:t>{Beer}  {Milk,Diaper} (s=0.4, c=0.67) </a:t>
            </a:r>
            <a:br>
              <a:rPr lang="en-US" sz="2000" b="0">
                <a:sym typeface="Symbol" pitchFamily="18" charset="2"/>
              </a:rPr>
            </a:br>
            <a:r>
              <a:rPr lang="en-US" sz="2000" b="0">
                <a:sym typeface="Symbol" pitchFamily="18" charset="2"/>
              </a:rPr>
              <a:t>{Diaper}  {Milk,Beer} (s=0.4, c=0.5) </a:t>
            </a:r>
          </a:p>
          <a:p>
            <a:r>
              <a:rPr lang="en-US" sz="2000" b="0">
                <a:sym typeface="Symbol" pitchFamily="18" charset="2"/>
              </a:rPr>
              <a:t>{Milk}  {Diaper,Beer} (s=0.4, c=0.5)</a:t>
            </a:r>
          </a:p>
        </p:txBody>
      </p:sp>
      <p:graphicFrame>
        <p:nvGraphicFramePr>
          <p:cNvPr id="1026" name="Object 5"/>
          <p:cNvGraphicFramePr>
            <a:graphicFrameLocks noGrp="1" noChangeAspect="1"/>
          </p:cNvGraphicFramePr>
          <p:nvPr>
            <p:ph idx="1"/>
          </p:nvPr>
        </p:nvGraphicFramePr>
        <p:xfrm>
          <a:off x="304800" y="1524000"/>
          <a:ext cx="3733800" cy="2241550"/>
        </p:xfrm>
        <a:graphic>
          <a:graphicData uri="http://schemas.openxmlformats.org/presentationml/2006/ole">
            <mc:AlternateContent xmlns:mc="http://schemas.openxmlformats.org/markup-compatibility/2006">
              <mc:Choice xmlns:v="urn:schemas-microsoft-com:vml" Requires="v">
                <p:oleObj spid="_x0000_s32814" name="Document" r:id="rId3" imgW="3359338" imgH="2015504" progId="Word.Document.8">
                  <p:embed/>
                </p:oleObj>
              </mc:Choice>
              <mc:Fallback>
                <p:oleObj name="Document" r:id="rId3" imgW="3359338" imgH="2015504" progId="Word.Document.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524000"/>
                        <a:ext cx="3733800" cy="224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11399" name="Text Box 7"/>
          <p:cNvSpPr txBox="1">
            <a:spLocks noChangeArrowheads="1"/>
          </p:cNvSpPr>
          <p:nvPr/>
        </p:nvSpPr>
        <p:spPr bwMode="auto">
          <a:xfrm>
            <a:off x="990600" y="3886200"/>
            <a:ext cx="7315200" cy="2438400"/>
          </a:xfrm>
          <a:prstGeom prst="rect">
            <a:avLst/>
          </a:prstGeom>
          <a:noFill/>
          <a:ln w="12700">
            <a:noFill/>
            <a:miter lim="800000"/>
            <a:headEnd/>
            <a:tailEnd/>
          </a:ln>
        </p:spPr>
        <p:txBody>
          <a:bodyPr wrap="square">
            <a:spAutoFit/>
          </a:bodyPr>
          <a:lstStyle/>
          <a:p>
            <a:r>
              <a:rPr lang="en-US" sz="2400" b="0" dirty="0">
                <a:solidFill>
                  <a:srgbClr val="CC3300"/>
                </a:solidFill>
                <a:sym typeface="Symbol" pitchFamily="18" charset="2"/>
              </a:rPr>
              <a:t>Observations:</a:t>
            </a:r>
          </a:p>
          <a:p>
            <a:pPr>
              <a:spcBef>
                <a:spcPct val="50000"/>
              </a:spcBef>
              <a:buFontTx/>
              <a:buChar char="•"/>
            </a:pPr>
            <a:r>
              <a:rPr lang="en-US" sz="2000" b="0" dirty="0">
                <a:sym typeface="Symbol" pitchFamily="18" charset="2"/>
              </a:rPr>
              <a:t> All the above rules are binary partitions of the same </a:t>
            </a:r>
            <a:r>
              <a:rPr lang="en-US" sz="2000" b="0" dirty="0" err="1">
                <a:sym typeface="Symbol" pitchFamily="18" charset="2"/>
              </a:rPr>
              <a:t>itemset</a:t>
            </a:r>
            <a:r>
              <a:rPr lang="en-US" sz="2000" b="0" dirty="0">
                <a:sym typeface="Symbol" pitchFamily="18" charset="2"/>
              </a:rPr>
              <a:t>: </a:t>
            </a:r>
            <a:br>
              <a:rPr lang="en-US" sz="2000" b="0" dirty="0">
                <a:sym typeface="Symbol" pitchFamily="18" charset="2"/>
              </a:rPr>
            </a:br>
            <a:r>
              <a:rPr lang="en-US" sz="2000" b="0" dirty="0">
                <a:sym typeface="Symbol" pitchFamily="18" charset="2"/>
              </a:rPr>
              <a:t>	{Milk, Diaper, Beer}</a:t>
            </a:r>
          </a:p>
          <a:p>
            <a:pPr>
              <a:spcBef>
                <a:spcPct val="50000"/>
              </a:spcBef>
              <a:buFontTx/>
              <a:buChar char="•"/>
            </a:pPr>
            <a:r>
              <a:rPr lang="en-US" sz="2000" b="0" dirty="0">
                <a:sym typeface="Symbol" pitchFamily="18" charset="2"/>
              </a:rPr>
              <a:t> Rules originating from the same </a:t>
            </a:r>
            <a:r>
              <a:rPr lang="en-US" sz="2000" b="0" dirty="0" err="1">
                <a:sym typeface="Symbol" pitchFamily="18" charset="2"/>
              </a:rPr>
              <a:t>itemset</a:t>
            </a:r>
            <a:r>
              <a:rPr lang="en-US" sz="2000" b="0" dirty="0">
                <a:sym typeface="Symbol" pitchFamily="18" charset="2"/>
              </a:rPr>
              <a:t> have identical support but</a:t>
            </a:r>
            <a:br>
              <a:rPr lang="en-US" sz="2000" b="0" dirty="0">
                <a:sym typeface="Symbol" pitchFamily="18" charset="2"/>
              </a:rPr>
            </a:br>
            <a:r>
              <a:rPr lang="en-US" sz="2000" b="0" dirty="0">
                <a:sym typeface="Symbol" pitchFamily="18" charset="2"/>
              </a:rPr>
              <a:t>  can have different confidence</a:t>
            </a:r>
          </a:p>
          <a:p>
            <a:pPr>
              <a:spcBef>
                <a:spcPct val="50000"/>
              </a:spcBef>
              <a:buFontTx/>
              <a:buChar char="•"/>
            </a:pPr>
            <a:r>
              <a:rPr lang="en-US" sz="2000" b="0" dirty="0">
                <a:sym typeface="Symbol" pitchFamily="18" charset="2"/>
              </a:rPr>
              <a:t> Thus, we may decouple the support and confidence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1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39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66800" y="0"/>
            <a:ext cx="7498080" cy="1143000"/>
          </a:xfrm>
        </p:spPr>
        <p:txBody>
          <a:bodyPr/>
          <a:lstStyle/>
          <a:p>
            <a:r>
              <a:rPr lang="en-US" dirty="0"/>
              <a:t>Association Rule Mining Task</a:t>
            </a:r>
          </a:p>
        </p:txBody>
      </p:sp>
      <p:sp>
        <p:nvSpPr>
          <p:cNvPr id="1236995" name="Rectangle 3"/>
          <p:cNvSpPr>
            <a:spLocks noGrp="1" noChangeArrowheads="1"/>
          </p:cNvSpPr>
          <p:nvPr>
            <p:ph type="body" idx="1"/>
          </p:nvPr>
        </p:nvSpPr>
        <p:spPr>
          <a:xfrm>
            <a:off x="1066800" y="1219200"/>
            <a:ext cx="8077200" cy="5029200"/>
          </a:xfrm>
        </p:spPr>
        <p:txBody>
          <a:bodyPr>
            <a:normAutofit lnSpcReduction="10000"/>
          </a:bodyPr>
          <a:lstStyle/>
          <a:p>
            <a:pPr>
              <a:defRPr/>
            </a:pPr>
            <a:r>
              <a:rPr lang="en-US" dirty="0"/>
              <a:t>Given a set of transactions T, the goal of association rule mining is to find all rules having </a:t>
            </a:r>
          </a:p>
          <a:p>
            <a:pPr lvl="1">
              <a:defRPr/>
            </a:pPr>
            <a:r>
              <a:rPr lang="en-US" dirty="0"/>
              <a:t>support </a:t>
            </a:r>
            <a:r>
              <a:rPr lang="en-US" dirty="0">
                <a:cs typeface="Arial" charset="0"/>
              </a:rPr>
              <a:t>≥ </a:t>
            </a:r>
            <a:r>
              <a:rPr lang="en-US" i="1" dirty="0" err="1">
                <a:cs typeface="Arial" charset="0"/>
              </a:rPr>
              <a:t>minsup</a:t>
            </a:r>
            <a:r>
              <a:rPr lang="en-US" i="1" dirty="0">
                <a:cs typeface="Arial" charset="0"/>
              </a:rPr>
              <a:t> </a:t>
            </a:r>
            <a:r>
              <a:rPr lang="en-US" dirty="0">
                <a:cs typeface="Arial" charset="0"/>
              </a:rPr>
              <a:t>threshold</a:t>
            </a:r>
          </a:p>
          <a:p>
            <a:pPr lvl="1">
              <a:defRPr/>
            </a:pPr>
            <a:r>
              <a:rPr lang="en-US" dirty="0">
                <a:cs typeface="Arial" charset="0"/>
              </a:rPr>
              <a:t>confidence ≥ </a:t>
            </a:r>
            <a:r>
              <a:rPr lang="en-US" i="1" dirty="0" err="1">
                <a:cs typeface="Arial" charset="0"/>
              </a:rPr>
              <a:t>minconf</a:t>
            </a:r>
            <a:r>
              <a:rPr lang="en-US" i="1" dirty="0">
                <a:cs typeface="Arial" charset="0"/>
              </a:rPr>
              <a:t> </a:t>
            </a:r>
            <a:r>
              <a:rPr lang="en-US" dirty="0">
                <a:cs typeface="Arial" charset="0"/>
              </a:rPr>
              <a:t>threshold</a:t>
            </a:r>
          </a:p>
          <a:p>
            <a:pPr marL="533400" indent="-533400">
              <a:defRPr/>
            </a:pPr>
            <a:r>
              <a:rPr lang="en-US" dirty="0"/>
              <a:t>Two-step approach: </a:t>
            </a:r>
          </a:p>
          <a:p>
            <a:pPr marL="914400" lvl="1" indent="-457200">
              <a:buFont typeface="Arial" charset="0"/>
              <a:buAutoNum type="arabicPeriod"/>
              <a:defRPr/>
            </a:pPr>
            <a:r>
              <a:rPr lang="en-US" dirty="0">
                <a:solidFill>
                  <a:srgbClr val="FF0000"/>
                </a:solidFill>
              </a:rPr>
              <a:t>Find Frequent </a:t>
            </a:r>
            <a:r>
              <a:rPr lang="en-US" dirty="0" err="1">
                <a:solidFill>
                  <a:srgbClr val="FF0000"/>
                </a:solidFill>
              </a:rPr>
              <a:t>Itemset</a:t>
            </a:r>
            <a:endParaRPr lang="en-US" dirty="0"/>
          </a:p>
          <a:p>
            <a:pPr marL="1295400" lvl="2" indent="-381000">
              <a:buFont typeface="Arial" charset="0"/>
              <a:buChar char="–"/>
              <a:defRPr/>
            </a:pPr>
            <a:r>
              <a:rPr lang="en-US" dirty="0"/>
              <a:t>Generate all </a:t>
            </a:r>
            <a:r>
              <a:rPr lang="en-US" dirty="0" err="1"/>
              <a:t>itemsets</a:t>
            </a:r>
            <a:r>
              <a:rPr lang="en-US" dirty="0"/>
              <a:t> whose support </a:t>
            </a:r>
            <a:r>
              <a:rPr lang="en-US" dirty="0">
                <a:sym typeface="Symbol" pitchFamily="18" charset="2"/>
              </a:rPr>
              <a:t> </a:t>
            </a:r>
            <a:r>
              <a:rPr lang="en-US" dirty="0" err="1"/>
              <a:t>minsup</a:t>
            </a:r>
            <a:endParaRPr lang="en-US" dirty="0"/>
          </a:p>
          <a:p>
            <a:pPr marL="914400" lvl="1" indent="-457200">
              <a:buFont typeface="Arial" charset="0"/>
              <a:buAutoNum type="arabicPeriod"/>
              <a:defRPr/>
            </a:pPr>
            <a:r>
              <a:rPr lang="en-US" dirty="0">
                <a:solidFill>
                  <a:srgbClr val="FF0000"/>
                </a:solidFill>
              </a:rPr>
              <a:t>Generate strong association rules</a:t>
            </a:r>
            <a:endParaRPr lang="en-US" dirty="0"/>
          </a:p>
          <a:p>
            <a:pPr marL="1295400" lvl="2" indent="-381000">
              <a:buFont typeface="Arial" charset="0"/>
              <a:buChar char="–"/>
              <a:defRPr/>
            </a:pPr>
            <a:r>
              <a:rPr lang="en-US" dirty="0"/>
              <a:t>rules must satisfy minimum support and minimum confidence</a:t>
            </a:r>
          </a:p>
          <a:p>
            <a:pPr lvl="1">
              <a:defRPr/>
            </a:pPr>
            <a:endParaRPr lang="en-US" dirty="0">
              <a:cs typeface="Arial" charset="0"/>
            </a:endParaRPr>
          </a:p>
          <a:p>
            <a:pPr lvl="1">
              <a:defRPr/>
            </a:pPr>
            <a:endParaRPr lang="en-US" dirty="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69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69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69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69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369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3699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699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369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699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90600" y="274638"/>
            <a:ext cx="8153400" cy="1477962"/>
          </a:xfrm>
        </p:spPr>
        <p:txBody>
          <a:bodyPr>
            <a:normAutofit/>
          </a:bodyPr>
          <a:lstStyle/>
          <a:p>
            <a:r>
              <a:rPr lang="en-US" dirty="0"/>
              <a:t>Find frequent </a:t>
            </a:r>
            <a:r>
              <a:rPr lang="en-US" dirty="0" err="1"/>
              <a:t>itemsets</a:t>
            </a:r>
            <a:endParaRPr lang="en-US" dirty="0"/>
          </a:p>
        </p:txBody>
      </p:sp>
      <p:sp>
        <p:nvSpPr>
          <p:cNvPr id="16387" name="Rectangle 3"/>
          <p:cNvSpPr>
            <a:spLocks noGrp="1" noChangeArrowheads="1"/>
          </p:cNvSpPr>
          <p:nvPr>
            <p:ph type="body" idx="1"/>
          </p:nvPr>
        </p:nvSpPr>
        <p:spPr>
          <a:xfrm>
            <a:off x="1066800" y="2133600"/>
            <a:ext cx="8077200" cy="4114800"/>
          </a:xfrm>
        </p:spPr>
        <p:txBody>
          <a:bodyPr/>
          <a:lstStyle/>
          <a:p>
            <a:pPr marL="533400" indent="-533400">
              <a:buFont typeface="Monotype Sorts" pitchFamily="2" charset="2"/>
              <a:buNone/>
            </a:pPr>
            <a:r>
              <a:rPr lang="en-US" dirty="0"/>
              <a:t>Two Approaches</a:t>
            </a:r>
          </a:p>
          <a:p>
            <a:pPr marL="533400" indent="-533400">
              <a:buFont typeface="Monotype Sorts" pitchFamily="2" charset="2"/>
              <a:buNone/>
            </a:pPr>
            <a:endParaRPr lang="en-US" dirty="0"/>
          </a:p>
          <a:p>
            <a:pPr marL="533400" indent="-533400">
              <a:buFont typeface="Monotype Sorts" pitchFamily="2" charset="2"/>
              <a:buNone/>
            </a:pPr>
            <a:r>
              <a:rPr lang="en-US" dirty="0"/>
              <a:t>1.Apriori Algorithm(using candidate generation)</a:t>
            </a:r>
          </a:p>
          <a:p>
            <a:pPr marL="533400" indent="-533400">
              <a:buFont typeface="Monotype Sorts" pitchFamily="2" charset="2"/>
              <a:buNone/>
            </a:pPr>
            <a:r>
              <a:rPr lang="en-US" dirty="0"/>
              <a:t>	</a:t>
            </a:r>
            <a:r>
              <a:rPr lang="en-US" dirty="0" err="1"/>
              <a:t>Apriori</a:t>
            </a:r>
            <a:r>
              <a:rPr lang="en-US" dirty="0"/>
              <a:t> property: All the subsets of a frequent </a:t>
            </a:r>
            <a:r>
              <a:rPr lang="en-US" dirty="0" err="1"/>
              <a:t>itemset</a:t>
            </a:r>
            <a:r>
              <a:rPr lang="en-US" dirty="0"/>
              <a:t> must also be frequent</a:t>
            </a:r>
          </a:p>
          <a:p>
            <a:pPr marL="533400" indent="-533400">
              <a:buFont typeface="Monotype Sorts" pitchFamily="2" charset="2"/>
              <a:buNone/>
            </a:pPr>
            <a:endParaRPr lang="en-US" dirty="0"/>
          </a:p>
          <a:p>
            <a:pPr marL="533400" indent="-533400">
              <a:buFont typeface="Monotype Sorts" pitchFamily="2" charset="2"/>
              <a:buNone/>
            </a:pPr>
            <a:r>
              <a:rPr lang="en-US" dirty="0"/>
              <a:t>2.Frequent Pattern -Growth Algorithm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a:xfrm>
            <a:off x="990600" y="152400"/>
            <a:ext cx="8153400" cy="1143000"/>
          </a:xfrm>
        </p:spPr>
        <p:txBody>
          <a:bodyPr>
            <a:noAutofit/>
          </a:bodyPr>
          <a:lstStyle/>
          <a:p>
            <a:r>
              <a:rPr lang="en-GB" sz="2800" dirty="0" err="1"/>
              <a:t>Apriori</a:t>
            </a:r>
            <a:r>
              <a:rPr lang="en-GB" sz="2800" dirty="0"/>
              <a:t> </a:t>
            </a:r>
            <a:r>
              <a:rPr lang="en-US" sz="2800" dirty="0"/>
              <a:t>Algorithm: </a:t>
            </a:r>
            <a:br>
              <a:rPr lang="en-US" sz="2800" dirty="0"/>
            </a:br>
            <a:r>
              <a:rPr lang="en-US" sz="2800" dirty="0">
                <a:solidFill>
                  <a:srgbClr val="FF0000"/>
                </a:solidFill>
              </a:rPr>
              <a:t>Find frequent </a:t>
            </a:r>
            <a:r>
              <a:rPr lang="en-US" sz="2800" dirty="0" err="1">
                <a:solidFill>
                  <a:srgbClr val="FF0000"/>
                </a:solidFill>
              </a:rPr>
              <a:t>itemsets</a:t>
            </a:r>
            <a:r>
              <a:rPr lang="en-US" sz="2800" dirty="0">
                <a:solidFill>
                  <a:srgbClr val="FF0000"/>
                </a:solidFill>
              </a:rPr>
              <a:t> using </a:t>
            </a:r>
            <a:r>
              <a:rPr lang="en-GB" sz="2800" dirty="0">
                <a:solidFill>
                  <a:srgbClr val="FF0000"/>
                </a:solidFill>
              </a:rPr>
              <a:t>candidate generation</a:t>
            </a:r>
            <a:endParaRPr lang="en-GB" sz="2800" dirty="0"/>
          </a:p>
        </p:txBody>
      </p:sp>
      <p:sp>
        <p:nvSpPr>
          <p:cNvPr id="657411" name="Rectangle 3"/>
          <p:cNvSpPr>
            <a:spLocks noGrp="1" noChangeArrowheads="1"/>
          </p:cNvSpPr>
          <p:nvPr>
            <p:ph type="body" idx="1"/>
          </p:nvPr>
        </p:nvSpPr>
        <p:spPr>
          <a:xfrm>
            <a:off x="914400" y="1447800"/>
            <a:ext cx="7924800" cy="5410200"/>
          </a:xfrm>
        </p:spPr>
        <p:txBody>
          <a:bodyPr>
            <a:normAutofit/>
          </a:bodyPr>
          <a:lstStyle/>
          <a:p>
            <a:pPr>
              <a:lnSpc>
                <a:spcPct val="150000"/>
              </a:lnSpc>
            </a:pPr>
            <a:r>
              <a:rPr lang="en-GB" sz="2400" dirty="0">
                <a:solidFill>
                  <a:srgbClr val="0070C0"/>
                </a:solidFill>
              </a:rPr>
              <a:t>Step 1:</a:t>
            </a:r>
            <a:r>
              <a:rPr lang="en-GB" sz="2400" dirty="0"/>
              <a:t> The set of frequent item set is found by scanning database to identify the count for each item (C1)and collecting those items that satisfy minimum support (L1)</a:t>
            </a:r>
          </a:p>
          <a:p>
            <a:pPr marL="742950" lvl="1" indent="-285750">
              <a:lnSpc>
                <a:spcPct val="150000"/>
              </a:lnSpc>
            </a:pPr>
            <a:r>
              <a:rPr lang="en-GB" sz="2000" i="1" dirty="0">
                <a:solidFill>
                  <a:srgbClr val="3333CC"/>
                </a:solidFill>
              </a:rPr>
              <a:t>join</a:t>
            </a:r>
            <a:r>
              <a:rPr lang="en-GB" sz="2000" dirty="0">
                <a:solidFill>
                  <a:srgbClr val="3333CC"/>
                </a:solidFill>
              </a:rPr>
              <a:t> step</a:t>
            </a:r>
            <a:r>
              <a:rPr lang="en-GB" sz="2000" dirty="0"/>
              <a:t>: Generate all possible candidate </a:t>
            </a:r>
            <a:r>
              <a:rPr lang="en-GB" sz="2000" dirty="0" err="1"/>
              <a:t>itemsets</a:t>
            </a:r>
            <a:r>
              <a:rPr lang="en-GB" sz="2000" dirty="0"/>
              <a:t> </a:t>
            </a:r>
            <a:r>
              <a:rPr lang="en-US" altLang="ja-JP" sz="2000" i="1" dirty="0">
                <a:ea typeface="ＭＳ Ｐゴシック" pitchFamily="34" charset="-128"/>
              </a:rPr>
              <a:t>C</a:t>
            </a:r>
            <a:r>
              <a:rPr lang="en-US" altLang="ja-JP" sz="2000" i="1" baseline="-25000" dirty="0">
                <a:ea typeface="ＭＳ Ｐゴシック" pitchFamily="34" charset="-128"/>
              </a:rPr>
              <a:t>k</a:t>
            </a:r>
            <a:r>
              <a:rPr lang="en-GB" sz="2000" dirty="0"/>
              <a:t> of length </a:t>
            </a:r>
            <a:r>
              <a:rPr lang="en-GB" sz="2000" i="1" dirty="0"/>
              <a:t>k</a:t>
            </a:r>
            <a:r>
              <a:rPr lang="en-GB" sz="2000" dirty="0"/>
              <a:t> </a:t>
            </a:r>
          </a:p>
          <a:p>
            <a:pPr marL="742950" lvl="1" indent="-285750">
              <a:lnSpc>
                <a:spcPct val="150000"/>
              </a:lnSpc>
            </a:pPr>
            <a:r>
              <a:rPr lang="en-GB" sz="2000" i="1" dirty="0">
                <a:solidFill>
                  <a:srgbClr val="3333CC"/>
                </a:solidFill>
              </a:rPr>
              <a:t>prune</a:t>
            </a:r>
            <a:r>
              <a:rPr lang="en-GB" sz="2000" dirty="0">
                <a:solidFill>
                  <a:srgbClr val="3333CC"/>
                </a:solidFill>
              </a:rPr>
              <a:t> step</a:t>
            </a:r>
            <a:r>
              <a:rPr lang="en-GB" sz="2000" dirty="0"/>
              <a:t>: Remove those candidates in </a:t>
            </a:r>
            <a:r>
              <a:rPr lang="en-US" altLang="ja-JP" sz="2000" i="1" dirty="0">
                <a:ea typeface="ＭＳ Ｐゴシック" pitchFamily="34" charset="-128"/>
              </a:rPr>
              <a:t>C</a:t>
            </a:r>
            <a:r>
              <a:rPr lang="en-US" altLang="ja-JP" sz="2000" i="1" baseline="-25000" dirty="0">
                <a:ea typeface="ＭＳ Ｐゴシック" pitchFamily="34" charset="-128"/>
              </a:rPr>
              <a:t>k</a:t>
            </a:r>
            <a:r>
              <a:rPr lang="en-GB" sz="2000" dirty="0"/>
              <a:t> that cannot be frequent. (less than </a:t>
            </a:r>
            <a:r>
              <a:rPr lang="en-GB" sz="2000" dirty="0" err="1"/>
              <a:t>min_support</a:t>
            </a:r>
            <a:r>
              <a:rPr lang="en-GB" sz="2000" dirty="0"/>
              <a:t> count)</a:t>
            </a:r>
          </a:p>
          <a:p>
            <a:pPr>
              <a:lnSpc>
                <a:spcPct val="150000"/>
              </a:lnSpc>
            </a:pPr>
            <a:r>
              <a:rPr lang="en-GB" sz="2400" dirty="0">
                <a:solidFill>
                  <a:srgbClr val="0070C0"/>
                </a:solidFill>
              </a:rPr>
              <a:t>Step 2: </a:t>
            </a:r>
            <a:r>
              <a:rPr lang="en-GB" sz="2400" dirty="0"/>
              <a:t>L1 is used to find set of frequent </a:t>
            </a:r>
            <a:r>
              <a:rPr lang="en-GB" sz="2400" dirty="0" err="1"/>
              <a:t>Itemset</a:t>
            </a:r>
            <a:r>
              <a:rPr lang="en-GB" sz="2400" dirty="0"/>
              <a:t> L2 which is used to find L3 and so on, </a:t>
            </a:r>
            <a:r>
              <a:rPr lang="en-GB" sz="2400" dirty="0" err="1"/>
              <a:t>untill</a:t>
            </a:r>
            <a:r>
              <a:rPr lang="en-GB" sz="2400" dirty="0"/>
              <a:t> no more frequent </a:t>
            </a:r>
            <a:r>
              <a:rPr lang="en-GB" sz="2400" dirty="0" err="1"/>
              <a:t>itemset</a:t>
            </a:r>
            <a:r>
              <a:rPr lang="en-GB" sz="2400" dirty="0"/>
              <a:t> K can be found.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990600" y="0"/>
            <a:ext cx="7498080" cy="609600"/>
          </a:xfrm>
        </p:spPr>
        <p:txBody>
          <a:bodyPr>
            <a:normAutofit fontScale="90000"/>
          </a:bodyPr>
          <a:lstStyle/>
          <a:p>
            <a:r>
              <a:rPr lang="fi-FI" sz="4000" dirty="0"/>
              <a:t>Apriori algorithm in pseudocode</a:t>
            </a:r>
          </a:p>
        </p:txBody>
      </p:sp>
      <p:sp>
        <p:nvSpPr>
          <p:cNvPr id="27651" name="Rectangle 3"/>
          <p:cNvSpPr>
            <a:spLocks noGrp="1" noChangeArrowheads="1"/>
          </p:cNvSpPr>
          <p:nvPr>
            <p:ph type="body" idx="1"/>
          </p:nvPr>
        </p:nvSpPr>
        <p:spPr>
          <a:xfrm>
            <a:off x="762000" y="609600"/>
            <a:ext cx="8686800" cy="6553200"/>
          </a:xfrm>
        </p:spPr>
        <p:txBody>
          <a:bodyPr>
            <a:normAutofit/>
          </a:bodyPr>
          <a:lstStyle/>
          <a:p>
            <a:pPr marL="533400" indent="-533400">
              <a:lnSpc>
                <a:spcPct val="90000"/>
              </a:lnSpc>
              <a:buFontTx/>
              <a:buNone/>
            </a:pPr>
            <a:r>
              <a:rPr lang="en-US" sz="2400" dirty="0"/>
              <a:t>Join Step: C k is generated by joining Lk-1with itself</a:t>
            </a:r>
          </a:p>
          <a:p>
            <a:pPr marL="533400" indent="-533400">
              <a:lnSpc>
                <a:spcPct val="90000"/>
              </a:lnSpc>
              <a:buFontTx/>
              <a:buNone/>
            </a:pPr>
            <a:r>
              <a:rPr lang="en-US" sz="2400" dirty="0"/>
              <a:t> • Prune Step: Any (k-1)-</a:t>
            </a:r>
            <a:r>
              <a:rPr lang="en-US" sz="2400" dirty="0" err="1"/>
              <a:t>itemset</a:t>
            </a:r>
            <a:r>
              <a:rPr lang="en-US" sz="2400" dirty="0"/>
              <a:t> that is not frequent cannot be a   			subset of a frequent k-</a:t>
            </a:r>
            <a:r>
              <a:rPr lang="en-US" sz="2400" dirty="0" err="1"/>
              <a:t>itemset</a:t>
            </a:r>
            <a:endParaRPr lang="en-US" sz="2400" dirty="0"/>
          </a:p>
          <a:p>
            <a:pPr marL="533400" indent="-533400">
              <a:lnSpc>
                <a:spcPct val="90000"/>
              </a:lnSpc>
              <a:buFontTx/>
              <a:buNone/>
            </a:pPr>
            <a:r>
              <a:rPr lang="en-US" sz="2400" dirty="0"/>
              <a:t>Pseudo-code: C k: Candidate </a:t>
            </a:r>
            <a:r>
              <a:rPr lang="en-US" sz="2400" dirty="0" err="1"/>
              <a:t>itemset</a:t>
            </a:r>
            <a:r>
              <a:rPr lang="en-US" sz="2400" dirty="0"/>
              <a:t> of size k L k : frequent </a:t>
            </a:r>
            <a:r>
              <a:rPr lang="en-US" sz="2400" dirty="0" err="1"/>
              <a:t>itemset</a:t>
            </a:r>
            <a:r>
              <a:rPr lang="en-US" sz="2400" dirty="0"/>
              <a:t> 		      of size kL</a:t>
            </a:r>
            <a:r>
              <a:rPr lang="en-US" sz="2400" baseline="-25000" dirty="0"/>
              <a:t>1</a:t>
            </a:r>
            <a:r>
              <a:rPr lang="en-US" sz="2400" dirty="0"/>
              <a:t>= {find frequent </a:t>
            </a:r>
            <a:r>
              <a:rPr lang="en-US" sz="2400" dirty="0" err="1"/>
              <a:t>itemset</a:t>
            </a:r>
            <a:r>
              <a:rPr lang="en-US" sz="2400" dirty="0"/>
              <a:t>(D)};</a:t>
            </a:r>
          </a:p>
          <a:p>
            <a:pPr marL="533400" indent="-533400">
              <a:lnSpc>
                <a:spcPct val="90000"/>
              </a:lnSpc>
              <a:buFontTx/>
              <a:buNone/>
            </a:pPr>
            <a:r>
              <a:rPr lang="en-US" sz="2400" b="1" dirty="0"/>
              <a:t>for</a:t>
            </a:r>
            <a:r>
              <a:rPr lang="en-US" sz="2400" dirty="0"/>
              <a:t> (k= 2; L</a:t>
            </a:r>
            <a:r>
              <a:rPr lang="en-US" sz="2400" baseline="-25000" dirty="0"/>
              <a:t>k-1</a:t>
            </a:r>
            <a:r>
              <a:rPr lang="en-US" sz="2400" dirty="0"/>
              <a:t> !=∅; k++) </a:t>
            </a:r>
            <a:r>
              <a:rPr lang="en-US" sz="2400" b="1" dirty="0"/>
              <a:t>do begin</a:t>
            </a:r>
          </a:p>
          <a:p>
            <a:pPr marL="533400" indent="-533400">
              <a:lnSpc>
                <a:spcPct val="90000"/>
              </a:lnSpc>
              <a:buFontTx/>
              <a:buNone/>
            </a:pPr>
            <a:r>
              <a:rPr lang="en-US" sz="2400" dirty="0"/>
              <a:t>	</a:t>
            </a:r>
            <a:r>
              <a:rPr lang="en-US" sz="2400" dirty="0">
                <a:solidFill>
                  <a:srgbClr val="FF0000"/>
                </a:solidFill>
              </a:rPr>
              <a:t>C</a:t>
            </a:r>
            <a:r>
              <a:rPr lang="en-US" sz="2400" baseline="-25000" dirty="0">
                <a:solidFill>
                  <a:srgbClr val="FF0000"/>
                </a:solidFill>
              </a:rPr>
              <a:t>k</a:t>
            </a:r>
            <a:r>
              <a:rPr lang="en-US" sz="2400" dirty="0"/>
              <a:t>= (joining)candidates generated from L</a:t>
            </a:r>
            <a:r>
              <a:rPr lang="en-US" sz="2400" baseline="-25000" dirty="0"/>
              <a:t>k-1</a:t>
            </a:r>
            <a:r>
              <a:rPr lang="en-US" sz="2400" dirty="0"/>
              <a:t>  </a:t>
            </a:r>
          </a:p>
          <a:p>
            <a:pPr marL="533400" indent="-533400">
              <a:lnSpc>
                <a:spcPct val="90000"/>
              </a:lnSpc>
              <a:buFontTx/>
              <a:buNone/>
            </a:pPr>
            <a:r>
              <a:rPr lang="en-US" sz="2400" dirty="0"/>
              <a:t>	(L</a:t>
            </a:r>
            <a:r>
              <a:rPr lang="en-US" sz="2400" baseline="-25000" dirty="0"/>
              <a:t>k-1 join </a:t>
            </a:r>
            <a:r>
              <a:rPr lang="en-US" sz="2400" dirty="0"/>
              <a:t>L</a:t>
            </a:r>
            <a:r>
              <a:rPr lang="en-US" sz="2400" baseline="-25000" dirty="0"/>
              <a:t>k-1 </a:t>
            </a:r>
            <a:r>
              <a:rPr lang="en-US" sz="2400" dirty="0"/>
              <a:t>)</a:t>
            </a:r>
            <a:endParaRPr lang="en-US" sz="2400" baseline="-25000" dirty="0"/>
          </a:p>
          <a:p>
            <a:pPr marL="533400" indent="-533400">
              <a:lnSpc>
                <a:spcPct val="90000"/>
              </a:lnSpc>
              <a:buFontTx/>
              <a:buNone/>
            </a:pPr>
            <a:r>
              <a:rPr lang="en-US" sz="2400" baseline="-25000" dirty="0"/>
              <a:t>         </a:t>
            </a:r>
            <a:r>
              <a:rPr lang="fi-FI" sz="2400" dirty="0"/>
              <a:t> and (pruning) eliminating any k-1 size itemset that is not frequent</a:t>
            </a:r>
          </a:p>
          <a:p>
            <a:pPr marL="533400" indent="-533400">
              <a:lnSpc>
                <a:spcPct val="90000"/>
              </a:lnSpc>
              <a:buFontTx/>
              <a:buNone/>
            </a:pPr>
            <a:r>
              <a:rPr lang="en-US" sz="2400" dirty="0"/>
              <a:t>	</a:t>
            </a:r>
            <a:r>
              <a:rPr lang="en-US" sz="2400" b="1" dirty="0"/>
              <a:t>for</a:t>
            </a:r>
            <a:r>
              <a:rPr lang="en-US" sz="2400" dirty="0"/>
              <a:t> </a:t>
            </a:r>
            <a:r>
              <a:rPr lang="en-US" sz="2400" b="1" dirty="0"/>
              <a:t>each</a:t>
            </a:r>
            <a:r>
              <a:rPr lang="en-US" sz="2400" dirty="0"/>
              <a:t> transaction t in database </a:t>
            </a:r>
            <a:r>
              <a:rPr lang="en-US" sz="2400" b="1" dirty="0"/>
              <a:t>do</a:t>
            </a:r>
          </a:p>
          <a:p>
            <a:pPr marL="533400" indent="-533400">
              <a:lnSpc>
                <a:spcPct val="90000"/>
              </a:lnSpc>
              <a:buFontTx/>
              <a:buNone/>
            </a:pPr>
            <a:r>
              <a:rPr lang="en-US" sz="2400" dirty="0"/>
              <a:t>		increment the count of all candidates in </a:t>
            </a:r>
          </a:p>
          <a:p>
            <a:pPr marL="533400" indent="-533400">
              <a:lnSpc>
                <a:spcPct val="90000"/>
              </a:lnSpc>
              <a:buFontTx/>
              <a:buNone/>
            </a:pPr>
            <a:r>
              <a:rPr lang="en-US" sz="2400" dirty="0"/>
              <a:t>		 C</a:t>
            </a:r>
            <a:r>
              <a:rPr lang="en-US" sz="2400" baseline="-25000" dirty="0"/>
              <a:t>k</a:t>
            </a:r>
            <a:r>
              <a:rPr lang="en-US" sz="2400" dirty="0"/>
              <a:t> that are contained in t</a:t>
            </a:r>
          </a:p>
          <a:p>
            <a:pPr marL="533400" indent="-533400">
              <a:lnSpc>
                <a:spcPct val="90000"/>
              </a:lnSpc>
              <a:buFontTx/>
              <a:buNone/>
            </a:pPr>
            <a:r>
              <a:rPr lang="en-US" sz="2400" dirty="0"/>
              <a:t>	</a:t>
            </a:r>
            <a:r>
              <a:rPr lang="en-US" sz="2400" dirty="0" err="1">
                <a:solidFill>
                  <a:srgbClr val="FF0000"/>
                </a:solidFill>
              </a:rPr>
              <a:t>L</a:t>
            </a:r>
            <a:r>
              <a:rPr lang="en-US" sz="2400" baseline="-25000" dirty="0" err="1">
                <a:solidFill>
                  <a:srgbClr val="FF0000"/>
                </a:solidFill>
              </a:rPr>
              <a:t>k</a:t>
            </a:r>
            <a:r>
              <a:rPr lang="en-US" sz="2400" dirty="0"/>
              <a:t> = count of candidates in C</a:t>
            </a:r>
            <a:r>
              <a:rPr lang="en-US" sz="2400" baseline="-25000" dirty="0"/>
              <a:t>k</a:t>
            </a:r>
            <a:r>
              <a:rPr lang="en-US" sz="2400" dirty="0"/>
              <a:t> &gt;= </a:t>
            </a:r>
            <a:r>
              <a:rPr lang="en-US" sz="2400" i="1" dirty="0" err="1"/>
              <a:t>min_sup</a:t>
            </a:r>
            <a:endParaRPr lang="en-US" sz="2400" i="1" dirty="0"/>
          </a:p>
          <a:p>
            <a:pPr marL="533400" indent="-533400">
              <a:lnSpc>
                <a:spcPct val="90000"/>
              </a:lnSpc>
              <a:buFontTx/>
              <a:buNone/>
            </a:pPr>
            <a:r>
              <a:rPr lang="en-US" sz="2400" dirty="0"/>
              <a:t>	</a:t>
            </a:r>
            <a:r>
              <a:rPr lang="en-US" sz="2400" b="1" dirty="0"/>
              <a:t>end</a:t>
            </a:r>
          </a:p>
          <a:p>
            <a:pPr marL="533400" indent="-533400">
              <a:lnSpc>
                <a:spcPct val="90000"/>
              </a:lnSpc>
              <a:buFontTx/>
              <a:buNone/>
            </a:pPr>
            <a:r>
              <a:rPr lang="en-US" sz="2400" b="1" dirty="0"/>
              <a:t>return</a:t>
            </a:r>
            <a:r>
              <a:rPr lang="en-US" sz="2400" dirty="0"/>
              <a:t> L=</a:t>
            </a:r>
            <a:r>
              <a:rPr lang="en-US" sz="2400" dirty="0">
                <a:solidFill>
                  <a:srgbClr val="FF0000"/>
                </a:solidFill>
                <a:sym typeface="Symbol" pitchFamily="18" charset="2"/>
              </a:rPr>
              <a:t></a:t>
            </a:r>
            <a:r>
              <a:rPr lang="en-US" sz="2400" baseline="-25000" dirty="0">
                <a:solidFill>
                  <a:srgbClr val="FF0000"/>
                </a:solidFill>
              </a:rPr>
              <a:t>k</a:t>
            </a:r>
            <a:r>
              <a:rPr lang="en-US" sz="2400" dirty="0">
                <a:solidFill>
                  <a:srgbClr val="FF0000"/>
                </a:solidFill>
              </a:rPr>
              <a:t> </a:t>
            </a:r>
            <a:r>
              <a:rPr lang="en-US" sz="2400" dirty="0" err="1">
                <a:solidFill>
                  <a:srgbClr val="FF0000"/>
                </a:solidFill>
              </a:rPr>
              <a:t>L</a:t>
            </a:r>
            <a:r>
              <a:rPr lang="en-US" sz="2400" baseline="-25000" dirty="0" err="1">
                <a:solidFill>
                  <a:srgbClr val="FF0000"/>
                </a:solidFill>
              </a:rPr>
              <a:t>k</a:t>
            </a:r>
            <a:r>
              <a:rPr lang="en-US" sz="2400" dirty="0"/>
              <a:t>;</a:t>
            </a:r>
          </a:p>
          <a:p>
            <a:pPr marL="533400" indent="-533400">
              <a:lnSpc>
                <a:spcPct val="90000"/>
              </a:lnSpc>
              <a:buFontTx/>
              <a:buNone/>
            </a:pP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990600" y="228600"/>
            <a:ext cx="7924800" cy="914400"/>
          </a:xfrm>
        </p:spPr>
        <p:txBody>
          <a:bodyPr>
            <a:noAutofit/>
          </a:bodyPr>
          <a:lstStyle/>
          <a:p>
            <a:r>
              <a:rPr lang="en-US" sz="3200" dirty="0"/>
              <a:t>Generating Association rules from Frequent </a:t>
            </a:r>
            <a:r>
              <a:rPr lang="en-US" sz="3200" dirty="0" err="1"/>
              <a:t>Itemsets</a:t>
            </a:r>
            <a:endParaRPr lang="en-US" sz="3200" dirty="0"/>
          </a:p>
        </p:txBody>
      </p:sp>
      <p:sp>
        <p:nvSpPr>
          <p:cNvPr id="19459" name="Content Placeholder 2"/>
          <p:cNvSpPr>
            <a:spLocks noGrp="1"/>
          </p:cNvSpPr>
          <p:nvPr>
            <p:ph idx="1"/>
          </p:nvPr>
        </p:nvSpPr>
        <p:spPr>
          <a:xfrm>
            <a:off x="914400" y="1447800"/>
            <a:ext cx="8229600" cy="4876800"/>
          </a:xfrm>
        </p:spPr>
        <p:txBody>
          <a:bodyPr>
            <a:normAutofit/>
          </a:bodyPr>
          <a:lstStyle/>
          <a:p>
            <a:r>
              <a:rPr lang="en-US" sz="2400" dirty="0"/>
              <a:t>Once frequent </a:t>
            </a:r>
            <a:r>
              <a:rPr lang="en-US" sz="2400" dirty="0" err="1"/>
              <a:t>itemsets</a:t>
            </a:r>
            <a:r>
              <a:rPr lang="en-US" sz="2400" dirty="0"/>
              <a:t> from transactions  have been found, it is easy to generate </a:t>
            </a:r>
            <a:r>
              <a:rPr lang="en-US" sz="2400" b="1" dirty="0"/>
              <a:t>strong association rules</a:t>
            </a:r>
            <a:r>
              <a:rPr lang="en-US" sz="2400" dirty="0"/>
              <a:t> from them.</a:t>
            </a:r>
          </a:p>
          <a:p>
            <a:r>
              <a:rPr lang="en-US" sz="2400" dirty="0"/>
              <a:t>Where Strong association rules satisfy both minimum support and minimum confidence  </a:t>
            </a:r>
          </a:p>
          <a:p>
            <a:r>
              <a:rPr lang="en-US" sz="2400" dirty="0"/>
              <a:t>Association rules can be generated as follows:</a:t>
            </a:r>
          </a:p>
          <a:p>
            <a:pPr>
              <a:buFont typeface="Monotype Sorts" pitchFamily="2" charset="2"/>
              <a:buNone/>
            </a:pPr>
            <a:r>
              <a:rPr lang="en-US" sz="2400" dirty="0"/>
              <a:t>1.For each frequent </a:t>
            </a:r>
            <a:r>
              <a:rPr lang="en-US" sz="2400" dirty="0" err="1"/>
              <a:t>itemset</a:t>
            </a:r>
            <a:r>
              <a:rPr lang="en-US" sz="2400" dirty="0"/>
              <a:t> l, generate all nonempty subsets of l</a:t>
            </a:r>
          </a:p>
          <a:p>
            <a:pPr>
              <a:buFont typeface="Monotype Sorts" pitchFamily="2" charset="2"/>
              <a:buNone/>
            </a:pPr>
            <a:r>
              <a:rPr lang="en-US" sz="2400" dirty="0"/>
              <a:t>2.For every subset s of l, output rule “s=&gt;(l-s)” if</a:t>
            </a:r>
          </a:p>
          <a:p>
            <a:pPr>
              <a:buFont typeface="Monotype Sorts" pitchFamily="2" charset="2"/>
              <a:buNone/>
            </a:pPr>
            <a:r>
              <a:rPr lang="en-US" sz="2400" dirty="0"/>
              <a:t>		</a:t>
            </a:r>
            <a:r>
              <a:rPr lang="en-US" sz="2400" dirty="0" err="1"/>
              <a:t>support_count</a:t>
            </a:r>
            <a:r>
              <a:rPr lang="en-US" sz="2400" dirty="0"/>
              <a:t>(l)/</a:t>
            </a:r>
            <a:r>
              <a:rPr lang="en-US" sz="2400" dirty="0" err="1"/>
              <a:t>support_count</a:t>
            </a:r>
            <a:r>
              <a:rPr lang="en-US" sz="2400" dirty="0"/>
              <a:t>(s)&gt;=</a:t>
            </a:r>
            <a:r>
              <a:rPr lang="en-US" sz="2400" dirty="0" err="1"/>
              <a:t>min_conf</a:t>
            </a:r>
            <a:endParaRPr lang="en-US" sz="2400" dirty="0"/>
          </a:p>
          <a:p>
            <a:pPr>
              <a:buFont typeface="Monotype Sorts" pitchFamily="2" charset="2"/>
              <a:buNone/>
            </a:pPr>
            <a:r>
              <a:rPr lang="en-US" sz="2400" dirty="0"/>
              <a:t>Where </a:t>
            </a:r>
            <a:r>
              <a:rPr lang="en-US" sz="2400" dirty="0" err="1"/>
              <a:t>min_conf</a:t>
            </a:r>
            <a:r>
              <a:rPr lang="en-US" sz="2400" dirty="0"/>
              <a:t> is the minimum confidence threshold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2"/>
          <p:cNvSpPr>
            <a:spLocks noGrp="1" noChangeArrowheads="1"/>
          </p:cNvSpPr>
          <p:nvPr>
            <p:ph type="title"/>
          </p:nvPr>
        </p:nvSpPr>
        <p:spPr/>
        <p:txBody>
          <a:bodyPr/>
          <a:lstStyle/>
          <a:p>
            <a:r>
              <a:rPr lang="en-US" dirty="0"/>
              <a:t>Generating rules: an example</a:t>
            </a:r>
          </a:p>
        </p:txBody>
      </p:sp>
      <p:sp>
        <p:nvSpPr>
          <p:cNvPr id="661507" name="Rectangle 3"/>
          <p:cNvSpPr>
            <a:spLocks noGrp="1" noChangeArrowheads="1"/>
          </p:cNvSpPr>
          <p:nvPr>
            <p:ph idx="1"/>
          </p:nvPr>
        </p:nvSpPr>
        <p:spPr/>
        <p:txBody>
          <a:bodyPr>
            <a:normAutofit fontScale="85000" lnSpcReduction="20000"/>
          </a:bodyPr>
          <a:lstStyle/>
          <a:p>
            <a:r>
              <a:rPr lang="en-US" sz="2600" dirty="0"/>
              <a:t>Suppose {2,3,4} is frequent, with </a:t>
            </a:r>
            <a:r>
              <a:rPr lang="en-US" sz="2600" dirty="0" err="1"/>
              <a:t>sup_count</a:t>
            </a:r>
            <a:r>
              <a:rPr lang="en-US" sz="2600" dirty="0"/>
              <a:t>=50%</a:t>
            </a:r>
          </a:p>
          <a:p>
            <a:pPr marL="914400" lvl="1" indent="-457200">
              <a:buAutoNum type="arabicPeriod"/>
            </a:pPr>
            <a:r>
              <a:rPr lang="en-US" sz="2200" dirty="0"/>
              <a:t>Proper nonempty subsets: {2,3}, {2,4}, {3,4}, {2}, {3}, {4}, with </a:t>
            </a:r>
            <a:r>
              <a:rPr lang="en-US" sz="2200" dirty="0" err="1"/>
              <a:t>sup_count</a:t>
            </a:r>
            <a:r>
              <a:rPr lang="en-US" sz="2200" dirty="0"/>
              <a:t>=50%, 50%, 75%, 75%, 75%, 75% respectively</a:t>
            </a:r>
          </a:p>
          <a:p>
            <a:pPr marL="914400" lvl="1" indent="-457200">
              <a:buAutoNum type="arabicPeriod"/>
            </a:pPr>
            <a:r>
              <a:rPr lang="en-US" sz="2200" dirty="0"/>
              <a:t>Let min confidence=50%</a:t>
            </a:r>
          </a:p>
          <a:p>
            <a:pPr marL="914400" lvl="1" indent="-457200">
              <a:buNone/>
            </a:pPr>
            <a:r>
              <a:rPr lang="en-US" sz="2200" dirty="0"/>
              <a:t>Confidence=</a:t>
            </a:r>
            <a:r>
              <a:rPr lang="en-US" sz="2200" dirty="0" err="1"/>
              <a:t>support_count</a:t>
            </a:r>
            <a:r>
              <a:rPr lang="en-US" sz="2200" dirty="0"/>
              <a:t>(X,Y)/</a:t>
            </a:r>
            <a:r>
              <a:rPr lang="en-US" sz="2200" dirty="0" err="1"/>
              <a:t>support_count</a:t>
            </a:r>
            <a:r>
              <a:rPr lang="en-US" sz="2200" dirty="0"/>
              <a:t>(X)</a:t>
            </a:r>
          </a:p>
          <a:p>
            <a:pPr marL="742950" lvl="1" indent="-285750">
              <a:buNone/>
            </a:pPr>
            <a:r>
              <a:rPr lang="en-US" sz="2200" dirty="0"/>
              <a:t>2.  Resulting  association rules are generated :</a:t>
            </a:r>
          </a:p>
          <a:p>
            <a:pPr marL="1143000" lvl="2" indent="-228600"/>
            <a:r>
              <a:rPr lang="en-US" dirty="0"/>
              <a:t>2,3 </a:t>
            </a:r>
            <a:r>
              <a:rPr lang="en-US" sz="2400" dirty="0">
                <a:sym typeface="Symbol" pitchFamily="18" charset="2"/>
              </a:rPr>
              <a:t></a:t>
            </a:r>
            <a:r>
              <a:rPr lang="en-US" dirty="0"/>
              <a:t> 4, 	confidence=50/50=100%</a:t>
            </a:r>
          </a:p>
          <a:p>
            <a:pPr marL="1143000" lvl="2" indent="-228600"/>
            <a:r>
              <a:rPr lang="en-US" dirty="0"/>
              <a:t>2,4 </a:t>
            </a:r>
            <a:r>
              <a:rPr lang="en-US" sz="2400" dirty="0">
                <a:sym typeface="Symbol" pitchFamily="18" charset="2"/>
              </a:rPr>
              <a:t></a:t>
            </a:r>
            <a:r>
              <a:rPr lang="en-US" dirty="0"/>
              <a:t> 3, 	confidence=50/50=100%</a:t>
            </a:r>
          </a:p>
          <a:p>
            <a:pPr marL="1143000" lvl="2" indent="-228600"/>
            <a:r>
              <a:rPr lang="en-US" dirty="0"/>
              <a:t>3,4 </a:t>
            </a:r>
            <a:r>
              <a:rPr lang="en-US" sz="2400" dirty="0">
                <a:sym typeface="Symbol" pitchFamily="18" charset="2"/>
              </a:rPr>
              <a:t></a:t>
            </a:r>
            <a:r>
              <a:rPr lang="en-US" dirty="0"/>
              <a:t> 2, 	confidence=50/75=67%</a:t>
            </a:r>
          </a:p>
          <a:p>
            <a:pPr marL="1143000" lvl="2"/>
            <a:r>
              <a:rPr lang="en-US" dirty="0"/>
              <a:t>2 </a:t>
            </a:r>
            <a:r>
              <a:rPr lang="en-US" sz="2400" dirty="0">
                <a:sym typeface="Symbol" pitchFamily="18" charset="2"/>
              </a:rPr>
              <a:t></a:t>
            </a:r>
            <a:r>
              <a:rPr lang="en-US" dirty="0"/>
              <a:t> 3,4, 	confidence=50/75=67%</a:t>
            </a:r>
          </a:p>
          <a:p>
            <a:pPr marL="1143000" lvl="2"/>
            <a:r>
              <a:rPr lang="en-US" dirty="0"/>
              <a:t>3 </a:t>
            </a:r>
            <a:r>
              <a:rPr lang="en-US" sz="2400" dirty="0">
                <a:sym typeface="Symbol" pitchFamily="18" charset="2"/>
              </a:rPr>
              <a:t></a:t>
            </a:r>
            <a:r>
              <a:rPr lang="en-US" dirty="0"/>
              <a:t> 2,4, 	confidence=50/75=67%</a:t>
            </a:r>
          </a:p>
          <a:p>
            <a:pPr marL="1143000" lvl="2"/>
            <a:r>
              <a:rPr lang="en-US" dirty="0"/>
              <a:t>4 </a:t>
            </a:r>
            <a:r>
              <a:rPr lang="en-US" sz="2400" dirty="0">
                <a:sym typeface="Symbol" pitchFamily="18" charset="2"/>
              </a:rPr>
              <a:t></a:t>
            </a:r>
            <a:r>
              <a:rPr lang="en-US" dirty="0"/>
              <a:t> 2,3, 	confidence=50/75=67%</a:t>
            </a:r>
          </a:p>
          <a:p>
            <a:pPr marL="1143000" lvl="2" indent="-228600"/>
            <a:endParaRPr lang="en-US" dirty="0"/>
          </a:p>
          <a:p>
            <a:pPr marL="1143000" lvl="2" indent="-228600"/>
            <a:r>
              <a:rPr lang="en-US" dirty="0"/>
              <a:t>All rules have confidence&gt; 50%, so these are strong association rules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563562"/>
          </a:xfrm>
        </p:spPr>
        <p:txBody>
          <a:bodyPr>
            <a:normAutofit fontScale="90000"/>
          </a:bodyPr>
          <a:lstStyle/>
          <a:p>
            <a:r>
              <a:rPr lang="en-GB" dirty="0"/>
              <a:t>Example 1 : Transactional dataset D</a:t>
            </a:r>
            <a:endParaRPr lang="en-IN" dirty="0"/>
          </a:p>
        </p:txBody>
      </p:sp>
      <p:sp>
        <p:nvSpPr>
          <p:cNvPr id="3" name="Content Placeholder 2"/>
          <p:cNvSpPr>
            <a:spLocks noGrp="1"/>
          </p:cNvSpPr>
          <p:nvPr>
            <p:ph idx="1"/>
          </p:nvPr>
        </p:nvSpPr>
        <p:spPr>
          <a:xfrm>
            <a:off x="1066800" y="3048000"/>
            <a:ext cx="7866888" cy="3200400"/>
          </a:xfrm>
        </p:spPr>
        <p:txBody>
          <a:bodyPr/>
          <a:lstStyle/>
          <a:p>
            <a:r>
              <a:rPr lang="en-US" dirty="0"/>
              <a:t>Please refer (class notes) problem solved in the classroom for detailed steps and solution or book </a:t>
            </a:r>
            <a:r>
              <a:rPr lang="en-US" dirty="0" err="1"/>
              <a:t>Kamber</a:t>
            </a:r>
            <a:r>
              <a:rPr lang="en-US" dirty="0"/>
              <a:t> (page no 250)</a:t>
            </a:r>
          </a:p>
          <a:p>
            <a:pPr>
              <a:buNone/>
            </a:pPr>
            <a:endParaRPr lang="en-IN" dirty="0"/>
          </a:p>
        </p:txBody>
      </p:sp>
      <p:graphicFrame>
        <p:nvGraphicFramePr>
          <p:cNvPr id="113666" name="Object 21"/>
          <p:cNvGraphicFramePr>
            <a:graphicFrameLocks noGrp="1" noChangeAspect="1"/>
          </p:cNvGraphicFramePr>
          <p:nvPr>
            <p:extLst>
              <p:ext uri="{D42A27DB-BD31-4B8C-83A1-F6EECF244321}">
                <p14:modId xmlns:p14="http://schemas.microsoft.com/office/powerpoint/2010/main" val="3049603068"/>
              </p:ext>
            </p:extLst>
          </p:nvPr>
        </p:nvGraphicFramePr>
        <p:xfrm>
          <a:off x="3124200" y="1219200"/>
          <a:ext cx="3276600" cy="2019300"/>
        </p:xfrm>
        <a:graphic>
          <a:graphicData uri="http://schemas.openxmlformats.org/presentationml/2006/ole">
            <mc:AlternateContent xmlns:mc="http://schemas.openxmlformats.org/markup-compatibility/2006">
              <mc:Choice xmlns:v="urn:schemas-microsoft-com:vml" Requires="v">
                <p:oleObj spid="_x0000_s113711" name="Document" r:id="rId3" imgW="3665262" imgH="2022135" progId="Word.Document.8">
                  <p:embed/>
                </p:oleObj>
              </mc:Choice>
              <mc:Fallback>
                <p:oleObj name="Document" r:id="rId3" imgW="3665262" imgH="2022135" progId="Word.Document.8">
                  <p:embed/>
                  <p:pic>
                    <p:nvPicPr>
                      <p:cNvPr id="0" name="Object 2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219200"/>
                        <a:ext cx="3276600" cy="201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a:xfrm>
            <a:off x="838200" y="0"/>
            <a:ext cx="8763000" cy="685800"/>
          </a:xfrm>
        </p:spPr>
        <p:txBody>
          <a:bodyPr>
            <a:normAutofit fontScale="90000"/>
          </a:bodyPr>
          <a:lstStyle/>
          <a:p>
            <a:r>
              <a:rPr lang="en-GB" dirty="0"/>
              <a:t>Example 1 : Transactional dataset D</a:t>
            </a:r>
          </a:p>
        </p:txBody>
      </p:sp>
      <p:graphicFrame>
        <p:nvGraphicFramePr>
          <p:cNvPr id="75777" name="Object 21"/>
          <p:cNvGraphicFramePr>
            <a:graphicFrameLocks noGrp="1" noChangeAspect="1"/>
          </p:cNvGraphicFramePr>
          <p:nvPr>
            <p:ph idx="1"/>
          </p:nvPr>
        </p:nvGraphicFramePr>
        <p:xfrm>
          <a:off x="914400" y="682182"/>
          <a:ext cx="3276600" cy="2019300"/>
        </p:xfrm>
        <a:graphic>
          <a:graphicData uri="http://schemas.openxmlformats.org/presentationml/2006/ole">
            <mc:AlternateContent xmlns:mc="http://schemas.openxmlformats.org/markup-compatibility/2006">
              <mc:Choice xmlns:v="urn:schemas-microsoft-com:vml" Requires="v">
                <p:oleObj spid="_x0000_s76100" name="Document" r:id="rId4" imgW="3513053" imgH="2018890" progId="Word.Document.8">
                  <p:embed/>
                </p:oleObj>
              </mc:Choice>
              <mc:Fallback>
                <p:oleObj name="Document" r:id="rId4" imgW="3513053" imgH="2018890" progId="Word.Document.8">
                  <p:embed/>
                  <p:pic>
                    <p:nvPicPr>
                      <p:cNvPr id="0" name="Object 2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682182"/>
                        <a:ext cx="3276600" cy="201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78" name="Object 2"/>
          <p:cNvGraphicFramePr>
            <a:graphicFrameLocks noGrp="1" noChangeAspect="1"/>
          </p:cNvGraphicFramePr>
          <p:nvPr/>
        </p:nvGraphicFramePr>
        <p:xfrm>
          <a:off x="4978406" y="693066"/>
          <a:ext cx="2946394" cy="2081212"/>
        </p:xfrm>
        <a:graphic>
          <a:graphicData uri="http://schemas.openxmlformats.org/presentationml/2006/ole">
            <mc:AlternateContent xmlns:mc="http://schemas.openxmlformats.org/markup-compatibility/2006">
              <mc:Choice xmlns:v="urn:schemas-microsoft-com:vml" Requires="v">
                <p:oleObj spid="_x0000_s76101" name="Document" r:id="rId6" imgW="3665262" imgH="2104333" progId="Word.Document.8">
                  <p:embed/>
                </p:oleObj>
              </mc:Choice>
              <mc:Fallback>
                <p:oleObj name="Document" r:id="rId6" imgW="3665262" imgH="2104333" progId="Word.Document.8">
                  <p:embed/>
                  <p:pic>
                    <p:nvPicPr>
                      <p:cNvPr id="0" name="Picture 2"/>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78406" y="693066"/>
                        <a:ext cx="2946394" cy="2081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8" name="Straight Arrow Connector 7"/>
          <p:cNvCxnSpPr/>
          <p:nvPr/>
        </p:nvCxnSpPr>
        <p:spPr>
          <a:xfrm>
            <a:off x="4074888" y="1767120"/>
            <a:ext cx="72571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5779" name="Object 3"/>
          <p:cNvGraphicFramePr>
            <a:graphicFrameLocks noGrp="1" noChangeAspect="1"/>
          </p:cNvGraphicFramePr>
          <p:nvPr/>
        </p:nvGraphicFramePr>
        <p:xfrm>
          <a:off x="990600" y="2391240"/>
          <a:ext cx="3482975" cy="2081213"/>
        </p:xfrm>
        <a:graphic>
          <a:graphicData uri="http://schemas.openxmlformats.org/presentationml/2006/ole">
            <mc:AlternateContent xmlns:mc="http://schemas.openxmlformats.org/markup-compatibility/2006">
              <mc:Choice xmlns:v="urn:schemas-microsoft-com:vml" Requires="v">
                <p:oleObj spid="_x0000_s76102" name="Document" r:id="rId8" imgW="3817832" imgH="2107938" progId="Word.Document.8">
                  <p:embed/>
                </p:oleObj>
              </mc:Choice>
              <mc:Fallback>
                <p:oleObj name="Document" r:id="rId8" imgW="3817832" imgH="2107938" progId="Word.Document.8">
                  <p:embed/>
                  <p:pic>
                    <p:nvPicPr>
                      <p:cNvPr id="0" name="Picture 3"/>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2391240"/>
                        <a:ext cx="3482975" cy="208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7696200" y="1538520"/>
            <a:ext cx="609600" cy="369332"/>
          </a:xfrm>
          <a:prstGeom prst="rect">
            <a:avLst/>
          </a:prstGeom>
          <a:noFill/>
        </p:spPr>
        <p:txBody>
          <a:bodyPr wrap="square" rtlCol="0">
            <a:spAutoFit/>
          </a:bodyPr>
          <a:lstStyle/>
          <a:p>
            <a:r>
              <a:rPr lang="en-US" b="1" dirty="0">
                <a:latin typeface="Times New Roman" pitchFamily="18" charset="0"/>
                <a:cs typeface="Times New Roman" pitchFamily="18" charset="0"/>
              </a:rPr>
              <a:t>C1</a:t>
            </a:r>
            <a:endParaRPr lang="en-IN" b="1" dirty="0">
              <a:latin typeface="Times New Roman" pitchFamily="18" charset="0"/>
              <a:cs typeface="Times New Roman" pitchFamily="18" charset="0"/>
            </a:endParaRPr>
          </a:p>
        </p:txBody>
      </p:sp>
      <p:sp>
        <p:nvSpPr>
          <p:cNvPr id="11" name="TextBox 10"/>
          <p:cNvSpPr txBox="1"/>
          <p:nvPr/>
        </p:nvSpPr>
        <p:spPr>
          <a:xfrm>
            <a:off x="457200" y="3048000"/>
            <a:ext cx="609600" cy="369332"/>
          </a:xfrm>
          <a:prstGeom prst="rect">
            <a:avLst/>
          </a:prstGeom>
          <a:noFill/>
        </p:spPr>
        <p:txBody>
          <a:bodyPr wrap="square" rtlCol="0">
            <a:spAutoFit/>
          </a:bodyPr>
          <a:lstStyle/>
          <a:p>
            <a:r>
              <a:rPr lang="en-US" b="1" dirty="0">
                <a:latin typeface="Times New Roman" pitchFamily="18" charset="0"/>
                <a:cs typeface="Times New Roman" pitchFamily="18" charset="0"/>
              </a:rPr>
              <a:t>L1</a:t>
            </a:r>
            <a:endParaRPr lang="en-IN" b="1" dirty="0">
              <a:latin typeface="Times New Roman" pitchFamily="18" charset="0"/>
              <a:cs typeface="Times New Roman" pitchFamily="18" charset="0"/>
            </a:endParaRPr>
          </a:p>
        </p:txBody>
      </p:sp>
      <p:cxnSp>
        <p:nvCxnSpPr>
          <p:cNvPr id="12" name="Straight Arrow Connector 11"/>
          <p:cNvCxnSpPr/>
          <p:nvPr/>
        </p:nvCxnSpPr>
        <p:spPr>
          <a:xfrm rot="10800000">
            <a:off x="4038600" y="2529120"/>
            <a:ext cx="8382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038600" y="3316524"/>
            <a:ext cx="8382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5780" name="Object 4"/>
          <p:cNvGraphicFramePr>
            <a:graphicFrameLocks noGrp="1" noChangeAspect="1"/>
          </p:cNvGraphicFramePr>
          <p:nvPr/>
        </p:nvGraphicFramePr>
        <p:xfrm>
          <a:off x="5029200" y="2721438"/>
          <a:ext cx="3124200" cy="2174875"/>
        </p:xfrm>
        <a:graphic>
          <a:graphicData uri="http://schemas.openxmlformats.org/presentationml/2006/ole">
            <mc:AlternateContent xmlns:mc="http://schemas.openxmlformats.org/markup-compatibility/2006">
              <mc:Choice xmlns:v="urn:schemas-microsoft-com:vml" Requires="v">
                <p:oleObj spid="_x0000_s76103" name="Document" r:id="rId10" imgW="3970041" imgH="2408248" progId="Word.Document.8">
                  <p:embed/>
                </p:oleObj>
              </mc:Choice>
              <mc:Fallback>
                <p:oleObj name="Document" r:id="rId10" imgW="3970041" imgH="2408248" progId="Word.Document.8">
                  <p:embed/>
                  <p:pic>
                    <p:nvPicPr>
                      <p:cNvPr id="0" name="Picture 4"/>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29200" y="2721438"/>
                        <a:ext cx="3124200" cy="217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Box 21"/>
          <p:cNvSpPr txBox="1"/>
          <p:nvPr/>
        </p:nvSpPr>
        <p:spPr>
          <a:xfrm>
            <a:off x="7696200" y="3443520"/>
            <a:ext cx="609600" cy="369332"/>
          </a:xfrm>
          <a:prstGeom prst="rect">
            <a:avLst/>
          </a:prstGeom>
          <a:noFill/>
        </p:spPr>
        <p:txBody>
          <a:bodyPr wrap="square" rtlCol="0">
            <a:spAutoFit/>
          </a:bodyPr>
          <a:lstStyle/>
          <a:p>
            <a:r>
              <a:rPr lang="en-US" b="1" dirty="0">
                <a:latin typeface="Times New Roman" pitchFamily="18" charset="0"/>
                <a:cs typeface="Times New Roman" pitchFamily="18" charset="0"/>
              </a:rPr>
              <a:t>C2</a:t>
            </a:r>
            <a:endParaRPr lang="en-IN" b="1" dirty="0">
              <a:latin typeface="Times New Roman" pitchFamily="18" charset="0"/>
              <a:cs typeface="Times New Roman" pitchFamily="18" charset="0"/>
            </a:endParaRPr>
          </a:p>
        </p:txBody>
      </p:sp>
      <p:sp>
        <p:nvSpPr>
          <p:cNvPr id="27" name="TextBox 26"/>
          <p:cNvSpPr txBox="1"/>
          <p:nvPr/>
        </p:nvSpPr>
        <p:spPr>
          <a:xfrm>
            <a:off x="478968" y="4967520"/>
            <a:ext cx="609600" cy="369332"/>
          </a:xfrm>
          <a:prstGeom prst="rect">
            <a:avLst/>
          </a:prstGeom>
          <a:noFill/>
        </p:spPr>
        <p:txBody>
          <a:bodyPr wrap="square" rtlCol="0">
            <a:spAutoFit/>
          </a:bodyPr>
          <a:lstStyle/>
          <a:p>
            <a:r>
              <a:rPr lang="en-US" b="1" dirty="0">
                <a:latin typeface="Times New Roman" pitchFamily="18" charset="0"/>
                <a:cs typeface="Times New Roman" pitchFamily="18" charset="0"/>
              </a:rPr>
              <a:t>L2</a:t>
            </a:r>
            <a:endParaRPr lang="en-IN" b="1" dirty="0">
              <a:latin typeface="Times New Roman" pitchFamily="18" charset="0"/>
              <a:cs typeface="Times New Roman" pitchFamily="18" charset="0"/>
            </a:endParaRPr>
          </a:p>
        </p:txBody>
      </p:sp>
      <p:cxnSp>
        <p:nvCxnSpPr>
          <p:cNvPr id="30" name="Straight Arrow Connector 29"/>
          <p:cNvCxnSpPr/>
          <p:nvPr/>
        </p:nvCxnSpPr>
        <p:spPr>
          <a:xfrm rot="10800000">
            <a:off x="3962400" y="4357920"/>
            <a:ext cx="1066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5782" name="Object 6"/>
          <p:cNvGraphicFramePr>
            <a:graphicFrameLocks noGrp="1" noChangeAspect="1"/>
          </p:cNvGraphicFramePr>
          <p:nvPr/>
        </p:nvGraphicFramePr>
        <p:xfrm>
          <a:off x="990600" y="4143845"/>
          <a:ext cx="3886200" cy="2119745"/>
        </p:xfrm>
        <a:graphic>
          <a:graphicData uri="http://schemas.openxmlformats.org/presentationml/2006/ole">
            <mc:AlternateContent xmlns:mc="http://schemas.openxmlformats.org/markup-compatibility/2006">
              <mc:Choice xmlns:v="urn:schemas-microsoft-com:vml" Requires="v">
                <p:oleObj spid="_x0000_s76104" name="Document" r:id="rId12" imgW="4274820" imgH="2414737" progId="Word.Document.8">
                  <p:embed/>
                </p:oleObj>
              </mc:Choice>
              <mc:Fallback>
                <p:oleObj name="Document" r:id="rId12" imgW="4274820" imgH="2414737" progId="Word.Document.8">
                  <p:embed/>
                  <p:pic>
                    <p:nvPicPr>
                      <p:cNvPr id="0" name="Picture 6"/>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 y="4143845"/>
                        <a:ext cx="3886200" cy="21197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 name="Straight Arrow Connector 31"/>
          <p:cNvCxnSpPr/>
          <p:nvPr/>
        </p:nvCxnSpPr>
        <p:spPr>
          <a:xfrm flipV="1">
            <a:off x="4038600" y="5410200"/>
            <a:ext cx="1066800" cy="1452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848600" y="5181600"/>
            <a:ext cx="609600" cy="369332"/>
          </a:xfrm>
          <a:prstGeom prst="rect">
            <a:avLst/>
          </a:prstGeom>
          <a:noFill/>
        </p:spPr>
        <p:txBody>
          <a:bodyPr wrap="square" rtlCol="0">
            <a:spAutoFit/>
          </a:bodyPr>
          <a:lstStyle/>
          <a:p>
            <a:r>
              <a:rPr lang="en-US" b="1" dirty="0">
                <a:latin typeface="Times New Roman" pitchFamily="18" charset="0"/>
                <a:cs typeface="Times New Roman" pitchFamily="18" charset="0"/>
              </a:rPr>
              <a:t>C3</a:t>
            </a:r>
            <a:endParaRPr lang="en-IN" b="1" dirty="0">
              <a:latin typeface="Times New Roman" pitchFamily="18" charset="0"/>
              <a:cs typeface="Times New Roman" pitchFamily="18" charset="0"/>
            </a:endParaRPr>
          </a:p>
        </p:txBody>
      </p:sp>
      <p:graphicFrame>
        <p:nvGraphicFramePr>
          <p:cNvPr id="75783" name="Object 7"/>
          <p:cNvGraphicFramePr>
            <a:graphicFrameLocks noGrp="1" noChangeAspect="1"/>
          </p:cNvGraphicFramePr>
          <p:nvPr/>
        </p:nvGraphicFramePr>
        <p:xfrm>
          <a:off x="5105400" y="5257800"/>
          <a:ext cx="3484563" cy="1828800"/>
        </p:xfrm>
        <a:graphic>
          <a:graphicData uri="http://schemas.openxmlformats.org/presentationml/2006/ole">
            <mc:AlternateContent xmlns:mc="http://schemas.openxmlformats.org/markup-compatibility/2006">
              <mc:Choice xmlns:v="urn:schemas-microsoft-com:vml" Requires="v">
                <p:oleObj spid="_x0000_s76105" name="Document" r:id="rId14" imgW="4731808" imgH="2424471" progId="Word.Document.8">
                  <p:embed/>
                </p:oleObj>
              </mc:Choice>
              <mc:Fallback>
                <p:oleObj name="Document" r:id="rId14" imgW="4731808" imgH="2424471" progId="Word.Document.8">
                  <p:embed/>
                  <p:pic>
                    <p:nvPicPr>
                      <p:cNvPr id="0" name="Picture 7"/>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05400" y="5257800"/>
                        <a:ext cx="3484563"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84" name="Object 8"/>
          <p:cNvGraphicFramePr>
            <a:graphicFrameLocks noGrp="1" noChangeAspect="1"/>
          </p:cNvGraphicFramePr>
          <p:nvPr/>
        </p:nvGraphicFramePr>
        <p:xfrm>
          <a:off x="993775" y="5712737"/>
          <a:ext cx="3846513" cy="1908175"/>
        </p:xfrm>
        <a:graphic>
          <a:graphicData uri="http://schemas.openxmlformats.org/presentationml/2006/ole">
            <mc:AlternateContent xmlns:mc="http://schemas.openxmlformats.org/markup-compatibility/2006">
              <mc:Choice xmlns:v="urn:schemas-microsoft-com:vml" Requires="v">
                <p:oleObj spid="_x0000_s76106" name="Document" r:id="rId16" imgW="4962567" imgH="2308432" progId="Word.Document.8">
                  <p:embed/>
                </p:oleObj>
              </mc:Choice>
              <mc:Fallback>
                <p:oleObj name="Document" r:id="rId16" imgW="4962567" imgH="2308432" progId="Word.Document.8">
                  <p:embed/>
                  <p:pic>
                    <p:nvPicPr>
                      <p:cNvPr id="0" name="Picture 8"/>
                      <p:cNvPicPr>
                        <a:picLocks noGrp="1"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3775" y="5712737"/>
                        <a:ext cx="3846513" cy="190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TextBox 37"/>
          <p:cNvSpPr txBox="1"/>
          <p:nvPr/>
        </p:nvSpPr>
        <p:spPr>
          <a:xfrm>
            <a:off x="497112" y="5758548"/>
            <a:ext cx="609600" cy="369332"/>
          </a:xfrm>
          <a:prstGeom prst="rect">
            <a:avLst/>
          </a:prstGeom>
          <a:noFill/>
        </p:spPr>
        <p:txBody>
          <a:bodyPr wrap="square" rtlCol="0">
            <a:spAutoFit/>
          </a:bodyPr>
          <a:lstStyle/>
          <a:p>
            <a:r>
              <a:rPr lang="en-US" b="1" dirty="0">
                <a:latin typeface="Times New Roman" pitchFamily="18" charset="0"/>
                <a:cs typeface="Times New Roman" pitchFamily="18" charset="0"/>
              </a:rPr>
              <a:t>L3</a:t>
            </a:r>
            <a:endParaRPr lang="en-IN" b="1" dirty="0">
              <a:latin typeface="Times New Roman" pitchFamily="18" charset="0"/>
              <a:cs typeface="Times New Roman" pitchFamily="18" charset="0"/>
            </a:endParaRPr>
          </a:p>
        </p:txBody>
      </p:sp>
      <p:sp>
        <p:nvSpPr>
          <p:cNvPr id="39" name="Rectangle 38"/>
          <p:cNvSpPr/>
          <p:nvPr/>
        </p:nvSpPr>
        <p:spPr>
          <a:xfrm>
            <a:off x="3556003" y="5948705"/>
            <a:ext cx="5791200" cy="840230"/>
          </a:xfrm>
          <a:prstGeom prst="rect">
            <a:avLst/>
          </a:prstGeom>
        </p:spPr>
        <p:txBody>
          <a:bodyPr wrap="square">
            <a:spAutoFit/>
          </a:bodyPr>
          <a:lstStyle/>
          <a:p>
            <a:pPr>
              <a:lnSpc>
                <a:spcPct val="90000"/>
              </a:lnSpc>
            </a:pPr>
            <a:r>
              <a:rPr lang="en-GB" b="1" dirty="0">
                <a:latin typeface="Times New Roman" pitchFamily="18" charset="0"/>
                <a:cs typeface="Times New Roman" pitchFamily="18" charset="0"/>
              </a:rPr>
              <a:t>Since we have only one </a:t>
            </a:r>
            <a:r>
              <a:rPr lang="en-GB" b="1" dirty="0" err="1">
                <a:latin typeface="Times New Roman" pitchFamily="18" charset="0"/>
                <a:cs typeface="Times New Roman" pitchFamily="18" charset="0"/>
              </a:rPr>
              <a:t>itemset</a:t>
            </a:r>
            <a:r>
              <a:rPr lang="en-GB" b="1" dirty="0">
                <a:latin typeface="Times New Roman" pitchFamily="18" charset="0"/>
                <a:cs typeface="Times New Roman" pitchFamily="18" charset="0"/>
              </a:rPr>
              <a:t> in C3, the </a:t>
            </a:r>
            <a:r>
              <a:rPr lang="en-GB" b="1" dirty="0" err="1">
                <a:latin typeface="Times New Roman" pitchFamily="18" charset="0"/>
                <a:cs typeface="Times New Roman" pitchFamily="18" charset="0"/>
              </a:rPr>
              <a:t>apriori</a:t>
            </a:r>
            <a:r>
              <a:rPr lang="en-GB" b="1" dirty="0">
                <a:latin typeface="Times New Roman" pitchFamily="18" charset="0"/>
                <a:cs typeface="Times New Roman" pitchFamily="18" charset="0"/>
              </a:rPr>
              <a:t> algorithm terminates and we get frequent item set {2, 3, 5}  WITH MIN SUPPORT COUNT=2</a:t>
            </a:r>
          </a:p>
        </p:txBody>
      </p:sp>
      <p:cxnSp>
        <p:nvCxnSpPr>
          <p:cNvPr id="40" name="Straight Arrow Connector 39"/>
          <p:cNvCxnSpPr/>
          <p:nvPr/>
        </p:nvCxnSpPr>
        <p:spPr>
          <a:xfrm rot="10800000" flipV="1">
            <a:off x="3733800" y="5716588"/>
            <a:ext cx="1219200" cy="1508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7696200" y="685800"/>
            <a:ext cx="1707726" cy="646331"/>
          </a:xfrm>
          <a:prstGeom prst="rect">
            <a:avLst/>
          </a:prstGeom>
        </p:spPr>
        <p:txBody>
          <a:bodyPr wrap="square">
            <a:spAutoFit/>
          </a:bodyPr>
          <a:lstStyle/>
          <a:p>
            <a:r>
              <a:rPr lang="en-GB" dirty="0"/>
              <a:t>min support count=2 </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563562"/>
          </a:xfrm>
        </p:spPr>
        <p:txBody>
          <a:bodyPr>
            <a:noAutofit/>
          </a:bodyPr>
          <a:lstStyle/>
          <a:p>
            <a:r>
              <a:rPr lang="en-GB" sz="3600" dirty="0"/>
              <a:t>Example 1 : Transactional dataset D</a:t>
            </a:r>
            <a:endParaRPr lang="en-IN" sz="3600" dirty="0"/>
          </a:p>
        </p:txBody>
      </p:sp>
      <p:graphicFrame>
        <p:nvGraphicFramePr>
          <p:cNvPr id="113666" name="Object 21"/>
          <p:cNvGraphicFramePr>
            <a:graphicFrameLocks noGrp="1" noChangeAspect="1"/>
          </p:cNvGraphicFramePr>
          <p:nvPr>
            <p:extLst>
              <p:ext uri="{D42A27DB-BD31-4B8C-83A1-F6EECF244321}">
                <p14:modId xmlns:p14="http://schemas.microsoft.com/office/powerpoint/2010/main" val="787519484"/>
              </p:ext>
            </p:extLst>
          </p:nvPr>
        </p:nvGraphicFramePr>
        <p:xfrm>
          <a:off x="990600" y="2438400"/>
          <a:ext cx="3276600" cy="2019300"/>
        </p:xfrm>
        <a:graphic>
          <a:graphicData uri="http://schemas.openxmlformats.org/presentationml/2006/ole">
            <mc:AlternateContent xmlns:mc="http://schemas.openxmlformats.org/markup-compatibility/2006">
              <mc:Choice xmlns:v="urn:schemas-microsoft-com:vml" Requires="v">
                <p:oleObj spid="_x0000_s114710" name="Document" r:id="rId4" imgW="3665262" imgH="2022135" progId="Word.Document.8">
                  <p:embed/>
                </p:oleObj>
              </mc:Choice>
              <mc:Fallback>
                <p:oleObj name="Document" r:id="rId4" imgW="3665262" imgH="2022135" progId="Word.Document.8">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2438400"/>
                        <a:ext cx="3276600" cy="201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Content Placeholder 5"/>
          <p:cNvGraphicFramePr>
            <a:graphicFrameLocks/>
          </p:cNvGraphicFramePr>
          <p:nvPr>
            <p:extLst>
              <p:ext uri="{D42A27DB-BD31-4B8C-83A1-F6EECF244321}">
                <p14:modId xmlns:p14="http://schemas.microsoft.com/office/powerpoint/2010/main" val="2209450875"/>
              </p:ext>
            </p:extLst>
          </p:nvPr>
        </p:nvGraphicFramePr>
        <p:xfrm>
          <a:off x="5045964" y="1917531"/>
          <a:ext cx="3373904" cy="4170486"/>
        </p:xfrm>
        <a:graphic>
          <a:graphicData uri="http://schemas.openxmlformats.org/drawingml/2006/table">
            <a:tbl>
              <a:tblPr firstRow="1" bandRow="1">
                <a:tableStyleId>{5C22544A-7EE6-4342-B048-85BDC9FD1C3A}</a:tableStyleId>
              </a:tblPr>
              <a:tblGrid>
                <a:gridCol w="1686952">
                  <a:extLst>
                    <a:ext uri="{9D8B030D-6E8A-4147-A177-3AD203B41FA5}">
                      <a16:colId xmlns:a16="http://schemas.microsoft.com/office/drawing/2014/main" val="20000"/>
                    </a:ext>
                  </a:extLst>
                </a:gridCol>
                <a:gridCol w="1686952">
                  <a:extLst>
                    <a:ext uri="{9D8B030D-6E8A-4147-A177-3AD203B41FA5}">
                      <a16:colId xmlns:a16="http://schemas.microsoft.com/office/drawing/2014/main" val="20001"/>
                    </a:ext>
                  </a:extLst>
                </a:gridCol>
              </a:tblGrid>
              <a:tr h="695081">
                <a:tc>
                  <a:txBody>
                    <a:bodyPr/>
                    <a:lstStyle/>
                    <a:p>
                      <a:r>
                        <a:rPr lang="en-US" dirty="0"/>
                        <a:t>1-Item</a:t>
                      </a:r>
                      <a:r>
                        <a:rPr lang="en-US" baseline="0" dirty="0"/>
                        <a:t> set </a:t>
                      </a:r>
                      <a:r>
                        <a:rPr lang="en-US" baseline="0" dirty="0" err="1"/>
                        <a:t>TiD</a:t>
                      </a:r>
                      <a:endParaRPr lang="en-IN" dirty="0"/>
                    </a:p>
                  </a:txBody>
                  <a:tcPr/>
                </a:tc>
                <a:tc>
                  <a:txBody>
                    <a:bodyPr/>
                    <a:lstStyle/>
                    <a:p>
                      <a:r>
                        <a:rPr lang="en-US" dirty="0"/>
                        <a:t>Support</a:t>
                      </a:r>
                      <a:endParaRPr lang="en-IN" dirty="0"/>
                    </a:p>
                  </a:txBody>
                  <a:tcPr/>
                </a:tc>
                <a:extLst>
                  <a:ext uri="{0D108BD9-81ED-4DB2-BD59-A6C34878D82A}">
                    <a16:rowId xmlns:a16="http://schemas.microsoft.com/office/drawing/2014/main" val="10000"/>
                  </a:ext>
                </a:extLst>
              </a:tr>
              <a:tr h="695081">
                <a:tc>
                  <a:txBody>
                    <a:bodyPr/>
                    <a:lstStyle/>
                    <a:p>
                      <a:pPr algn="ctr"/>
                      <a:r>
                        <a:rPr lang="en-US" b="1" dirty="0"/>
                        <a:t>1</a:t>
                      </a:r>
                      <a:endParaRPr lang="en-IN" b="1" dirty="0"/>
                    </a:p>
                  </a:txBody>
                  <a:tcPr/>
                </a:tc>
                <a:tc>
                  <a:txBody>
                    <a:bodyPr/>
                    <a:lstStyle/>
                    <a:p>
                      <a:endParaRPr lang="en-IN"/>
                    </a:p>
                  </a:txBody>
                  <a:tcPr/>
                </a:tc>
                <a:extLst>
                  <a:ext uri="{0D108BD9-81ED-4DB2-BD59-A6C34878D82A}">
                    <a16:rowId xmlns:a16="http://schemas.microsoft.com/office/drawing/2014/main" val="10001"/>
                  </a:ext>
                </a:extLst>
              </a:tr>
              <a:tr h="695081">
                <a:tc>
                  <a:txBody>
                    <a:bodyPr/>
                    <a:lstStyle/>
                    <a:p>
                      <a:pPr algn="ctr"/>
                      <a:r>
                        <a:rPr lang="en-US" b="1" dirty="0"/>
                        <a:t>2</a:t>
                      </a:r>
                      <a:endParaRPr lang="en-IN" b="1" dirty="0"/>
                    </a:p>
                  </a:txBody>
                  <a:tcPr/>
                </a:tc>
                <a:tc>
                  <a:txBody>
                    <a:bodyPr/>
                    <a:lstStyle/>
                    <a:p>
                      <a:endParaRPr lang="en-IN" dirty="0"/>
                    </a:p>
                  </a:txBody>
                  <a:tcPr/>
                </a:tc>
                <a:extLst>
                  <a:ext uri="{0D108BD9-81ED-4DB2-BD59-A6C34878D82A}">
                    <a16:rowId xmlns:a16="http://schemas.microsoft.com/office/drawing/2014/main" val="10002"/>
                  </a:ext>
                </a:extLst>
              </a:tr>
              <a:tr h="695081">
                <a:tc>
                  <a:txBody>
                    <a:bodyPr/>
                    <a:lstStyle/>
                    <a:p>
                      <a:pPr algn="ctr"/>
                      <a:r>
                        <a:rPr lang="en-US" b="1" dirty="0"/>
                        <a:t>3</a:t>
                      </a:r>
                      <a:endParaRPr lang="en-IN" b="1" dirty="0"/>
                    </a:p>
                  </a:txBody>
                  <a:tcPr/>
                </a:tc>
                <a:tc>
                  <a:txBody>
                    <a:bodyPr/>
                    <a:lstStyle/>
                    <a:p>
                      <a:endParaRPr lang="en-IN" dirty="0"/>
                    </a:p>
                  </a:txBody>
                  <a:tcPr/>
                </a:tc>
                <a:extLst>
                  <a:ext uri="{0D108BD9-81ED-4DB2-BD59-A6C34878D82A}">
                    <a16:rowId xmlns:a16="http://schemas.microsoft.com/office/drawing/2014/main" val="10003"/>
                  </a:ext>
                </a:extLst>
              </a:tr>
              <a:tr h="695081">
                <a:tc>
                  <a:txBody>
                    <a:bodyPr/>
                    <a:lstStyle/>
                    <a:p>
                      <a:pPr algn="ctr"/>
                      <a:r>
                        <a:rPr lang="en-US" b="1" dirty="0"/>
                        <a:t>4</a:t>
                      </a:r>
                      <a:endParaRPr lang="en-IN" b="1" dirty="0"/>
                    </a:p>
                  </a:txBody>
                  <a:tcPr/>
                </a:tc>
                <a:tc>
                  <a:txBody>
                    <a:bodyPr/>
                    <a:lstStyle/>
                    <a:p>
                      <a:endParaRPr lang="en-IN" dirty="0"/>
                    </a:p>
                  </a:txBody>
                  <a:tcPr/>
                </a:tc>
                <a:extLst>
                  <a:ext uri="{0D108BD9-81ED-4DB2-BD59-A6C34878D82A}">
                    <a16:rowId xmlns:a16="http://schemas.microsoft.com/office/drawing/2014/main" val="10004"/>
                  </a:ext>
                </a:extLst>
              </a:tr>
              <a:tr h="695081">
                <a:tc>
                  <a:txBody>
                    <a:bodyPr/>
                    <a:lstStyle/>
                    <a:p>
                      <a:pPr algn="ctr"/>
                      <a:r>
                        <a:rPr lang="en-US" b="1" dirty="0"/>
                        <a:t>5</a:t>
                      </a:r>
                      <a:endParaRPr lang="en-IN" b="1" dirty="0"/>
                    </a:p>
                  </a:txBody>
                  <a:tcPr/>
                </a:tc>
                <a:tc>
                  <a:txBody>
                    <a:bodyPr/>
                    <a:lstStyle/>
                    <a:p>
                      <a:endParaRPr lang="en-IN" dirty="0"/>
                    </a:p>
                  </a:txBody>
                  <a:tcPr/>
                </a:tc>
                <a:extLst>
                  <a:ext uri="{0D108BD9-81ED-4DB2-BD59-A6C34878D82A}">
                    <a16:rowId xmlns:a16="http://schemas.microsoft.com/office/drawing/2014/main" val="10005"/>
                  </a:ext>
                </a:extLst>
              </a:tr>
            </a:tbl>
          </a:graphicData>
        </a:graphic>
      </p:graphicFrame>
      <p:sp>
        <p:nvSpPr>
          <p:cNvPr id="7" name="TextBox 6"/>
          <p:cNvSpPr txBox="1"/>
          <p:nvPr/>
        </p:nvSpPr>
        <p:spPr>
          <a:xfrm>
            <a:off x="1420368" y="4407069"/>
            <a:ext cx="2147383" cy="369332"/>
          </a:xfrm>
          <a:prstGeom prst="rect">
            <a:avLst/>
          </a:prstGeom>
          <a:noFill/>
        </p:spPr>
        <p:txBody>
          <a:bodyPr wrap="none" rtlCol="0">
            <a:spAutoFit/>
          </a:bodyPr>
          <a:lstStyle/>
          <a:p>
            <a:r>
              <a:rPr lang="en-US" dirty="0"/>
              <a:t>Total transactions =4</a:t>
            </a:r>
            <a:endParaRPr lang="en-IN" dirty="0"/>
          </a:p>
        </p:txBody>
      </p:sp>
      <p:sp>
        <p:nvSpPr>
          <p:cNvPr id="8" name="TextBox 7"/>
          <p:cNvSpPr txBox="1"/>
          <p:nvPr/>
        </p:nvSpPr>
        <p:spPr>
          <a:xfrm>
            <a:off x="993648" y="1084183"/>
            <a:ext cx="8382000" cy="707886"/>
          </a:xfrm>
          <a:prstGeom prst="rect">
            <a:avLst/>
          </a:prstGeom>
          <a:noFill/>
        </p:spPr>
        <p:txBody>
          <a:bodyPr wrap="square" rtlCol="0">
            <a:spAutoFit/>
          </a:bodyPr>
          <a:lstStyle/>
          <a:p>
            <a:r>
              <a:rPr lang="en-US" sz="2000" b="1" dirty="0"/>
              <a:t>Step-2: Represent pair of 1-items with MIN support count</a:t>
            </a:r>
            <a:r>
              <a:rPr lang="en-GB" sz="2000" b="1" dirty="0">
                <a:latin typeface="Times New Roman" pitchFamily="18" charset="0"/>
                <a:cs typeface="Times New Roman" pitchFamily="18" charset="0"/>
              </a:rPr>
              <a:t>=2  or  50%</a:t>
            </a:r>
          </a:p>
          <a:p>
            <a:endParaRPr lang="en-IN" sz="2000" dirty="0"/>
          </a:p>
        </p:txBody>
      </p:sp>
    </p:spTree>
    <p:extLst>
      <p:ext uri="{BB962C8B-B14F-4D97-AF65-F5344CB8AC3E}">
        <p14:creationId xmlns:p14="http://schemas.microsoft.com/office/powerpoint/2010/main" val="2668889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563562"/>
          </a:xfrm>
        </p:spPr>
        <p:txBody>
          <a:bodyPr>
            <a:normAutofit fontScale="90000"/>
          </a:bodyPr>
          <a:lstStyle/>
          <a:p>
            <a:r>
              <a:rPr lang="en-GB" dirty="0"/>
              <a:t>Example 1 : Transactional dataset D</a:t>
            </a:r>
            <a:endParaRPr lang="en-IN" dirty="0"/>
          </a:p>
        </p:txBody>
      </p:sp>
      <p:graphicFrame>
        <p:nvGraphicFramePr>
          <p:cNvPr id="5" name="Content Placeholder 5"/>
          <p:cNvGraphicFramePr>
            <a:graphicFrameLocks/>
          </p:cNvGraphicFramePr>
          <p:nvPr>
            <p:extLst>
              <p:ext uri="{D42A27DB-BD31-4B8C-83A1-F6EECF244321}">
                <p14:modId xmlns:p14="http://schemas.microsoft.com/office/powerpoint/2010/main" val="3428157924"/>
              </p:ext>
            </p:extLst>
          </p:nvPr>
        </p:nvGraphicFramePr>
        <p:xfrm>
          <a:off x="5105400" y="1475543"/>
          <a:ext cx="3429000" cy="5382457"/>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772661">
                <a:tc>
                  <a:txBody>
                    <a:bodyPr/>
                    <a:lstStyle/>
                    <a:p>
                      <a:r>
                        <a:rPr lang="en-US" dirty="0"/>
                        <a:t>2-Item</a:t>
                      </a:r>
                      <a:r>
                        <a:rPr lang="en-US" baseline="0" dirty="0"/>
                        <a:t> set </a:t>
                      </a:r>
                      <a:r>
                        <a:rPr lang="en-US" baseline="0" dirty="0" err="1"/>
                        <a:t>TiD</a:t>
                      </a:r>
                      <a:endParaRPr lang="en-IN" dirty="0"/>
                    </a:p>
                  </a:txBody>
                  <a:tcPr/>
                </a:tc>
                <a:tc>
                  <a:txBody>
                    <a:bodyPr/>
                    <a:lstStyle/>
                    <a:p>
                      <a:r>
                        <a:rPr lang="en-US" dirty="0"/>
                        <a:t>Support</a:t>
                      </a:r>
                      <a:endParaRPr lang="en-IN" dirty="0"/>
                    </a:p>
                  </a:txBody>
                  <a:tcPr/>
                </a:tc>
                <a:extLst>
                  <a:ext uri="{0D108BD9-81ED-4DB2-BD59-A6C34878D82A}">
                    <a16:rowId xmlns:a16="http://schemas.microsoft.com/office/drawing/2014/main" val="10000"/>
                  </a:ext>
                </a:extLst>
              </a:tr>
              <a:tr h="772661">
                <a:tc>
                  <a:txBody>
                    <a:bodyPr/>
                    <a:lstStyle/>
                    <a:p>
                      <a:pPr algn="ctr"/>
                      <a:endParaRPr lang="en-IN" b="1" dirty="0"/>
                    </a:p>
                  </a:txBody>
                  <a:tcPr/>
                </a:tc>
                <a:tc>
                  <a:txBody>
                    <a:bodyPr/>
                    <a:lstStyle/>
                    <a:p>
                      <a:endParaRPr lang="en-IN"/>
                    </a:p>
                  </a:txBody>
                  <a:tcPr/>
                </a:tc>
                <a:extLst>
                  <a:ext uri="{0D108BD9-81ED-4DB2-BD59-A6C34878D82A}">
                    <a16:rowId xmlns:a16="http://schemas.microsoft.com/office/drawing/2014/main" val="10001"/>
                  </a:ext>
                </a:extLst>
              </a:tr>
              <a:tr h="746491">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2"/>
                  </a:ext>
                </a:extLst>
              </a:tr>
              <a:tr h="772661">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3"/>
                  </a:ext>
                </a:extLst>
              </a:tr>
              <a:tr h="772661">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4"/>
                  </a:ext>
                </a:extLst>
              </a:tr>
              <a:tr h="772661">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5"/>
                  </a:ext>
                </a:extLst>
              </a:tr>
              <a:tr h="772661">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6"/>
                  </a:ext>
                </a:extLst>
              </a:tr>
            </a:tbl>
          </a:graphicData>
        </a:graphic>
      </p:graphicFrame>
      <p:sp>
        <p:nvSpPr>
          <p:cNvPr id="6" name="TextBox 5"/>
          <p:cNvSpPr txBox="1"/>
          <p:nvPr/>
        </p:nvSpPr>
        <p:spPr>
          <a:xfrm>
            <a:off x="993648" y="1084183"/>
            <a:ext cx="8382000" cy="707886"/>
          </a:xfrm>
          <a:prstGeom prst="rect">
            <a:avLst/>
          </a:prstGeom>
          <a:noFill/>
        </p:spPr>
        <p:txBody>
          <a:bodyPr wrap="square" rtlCol="0">
            <a:spAutoFit/>
          </a:bodyPr>
          <a:lstStyle/>
          <a:p>
            <a:r>
              <a:rPr lang="en-US" sz="2000" b="1" dirty="0"/>
              <a:t>Step-2: Represent pair of 2-items with MIN support count</a:t>
            </a:r>
            <a:r>
              <a:rPr lang="en-GB" sz="2000" b="1" dirty="0">
                <a:latin typeface="Times New Roman" pitchFamily="18" charset="0"/>
                <a:cs typeface="Times New Roman" pitchFamily="18" charset="0"/>
              </a:rPr>
              <a:t>=2  or  50%</a:t>
            </a:r>
          </a:p>
          <a:p>
            <a:endParaRPr lang="en-IN" sz="2000" dirty="0"/>
          </a:p>
        </p:txBody>
      </p:sp>
      <p:sp>
        <p:nvSpPr>
          <p:cNvPr id="7" name="TextBox 6"/>
          <p:cNvSpPr txBox="1"/>
          <p:nvPr/>
        </p:nvSpPr>
        <p:spPr>
          <a:xfrm>
            <a:off x="1219200" y="2530733"/>
            <a:ext cx="2147383" cy="369332"/>
          </a:xfrm>
          <a:prstGeom prst="rect">
            <a:avLst/>
          </a:prstGeom>
          <a:noFill/>
        </p:spPr>
        <p:txBody>
          <a:bodyPr wrap="none" rtlCol="0">
            <a:spAutoFit/>
          </a:bodyPr>
          <a:lstStyle/>
          <a:p>
            <a:r>
              <a:rPr lang="en-US" dirty="0"/>
              <a:t>Total transactions =4</a:t>
            </a:r>
            <a:endParaRPr lang="en-IN" dirty="0"/>
          </a:p>
        </p:txBody>
      </p:sp>
      <p:sp>
        <p:nvSpPr>
          <p:cNvPr id="3" name="TextBox 2"/>
          <p:cNvSpPr txBox="1"/>
          <p:nvPr/>
        </p:nvSpPr>
        <p:spPr>
          <a:xfrm>
            <a:off x="1219200" y="1884402"/>
            <a:ext cx="3371244" cy="923330"/>
          </a:xfrm>
          <a:prstGeom prst="rect">
            <a:avLst/>
          </a:prstGeom>
          <a:noFill/>
        </p:spPr>
        <p:txBody>
          <a:bodyPr wrap="none" rtlCol="0">
            <a:spAutoFit/>
          </a:bodyPr>
          <a:lstStyle/>
          <a:p>
            <a:r>
              <a:rPr lang="en-US" dirty="0"/>
              <a:t>Item Set:     1,2,3,5</a:t>
            </a:r>
          </a:p>
          <a:p>
            <a:r>
              <a:rPr lang="en-US" dirty="0"/>
              <a:t>Eliminate item with &lt;50% support</a:t>
            </a:r>
            <a:endParaRPr lang="en-IN" dirty="0"/>
          </a:p>
          <a:p>
            <a:endParaRPr lang="en-IN" dirty="0"/>
          </a:p>
        </p:txBody>
      </p:sp>
    </p:spTree>
    <p:extLst>
      <p:ext uri="{BB962C8B-B14F-4D97-AF65-F5344CB8AC3E}">
        <p14:creationId xmlns:p14="http://schemas.microsoft.com/office/powerpoint/2010/main" val="103921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563562"/>
          </a:xfrm>
        </p:spPr>
        <p:txBody>
          <a:bodyPr>
            <a:normAutofit fontScale="90000"/>
          </a:bodyPr>
          <a:lstStyle/>
          <a:p>
            <a:r>
              <a:rPr lang="en-GB" dirty="0"/>
              <a:t>Example 1 : Transactional dataset D</a:t>
            </a:r>
            <a:endParaRPr lang="en-IN" dirty="0"/>
          </a:p>
        </p:txBody>
      </p:sp>
      <p:graphicFrame>
        <p:nvGraphicFramePr>
          <p:cNvPr id="5" name="Content Placeholder 5"/>
          <p:cNvGraphicFramePr>
            <a:graphicFrameLocks/>
          </p:cNvGraphicFramePr>
          <p:nvPr>
            <p:extLst>
              <p:ext uri="{D42A27DB-BD31-4B8C-83A1-F6EECF244321}">
                <p14:modId xmlns:p14="http://schemas.microsoft.com/office/powerpoint/2010/main" val="3911659171"/>
              </p:ext>
            </p:extLst>
          </p:nvPr>
        </p:nvGraphicFramePr>
        <p:xfrm>
          <a:off x="5160497" y="1828800"/>
          <a:ext cx="3450104" cy="3288324"/>
        </p:xfrm>
        <a:graphic>
          <a:graphicData uri="http://schemas.openxmlformats.org/drawingml/2006/table">
            <a:tbl>
              <a:tblPr firstRow="1" bandRow="1">
                <a:tableStyleId>{5C22544A-7EE6-4342-B048-85BDC9FD1C3A}</a:tableStyleId>
              </a:tblPr>
              <a:tblGrid>
                <a:gridCol w="1725052">
                  <a:extLst>
                    <a:ext uri="{9D8B030D-6E8A-4147-A177-3AD203B41FA5}">
                      <a16:colId xmlns:a16="http://schemas.microsoft.com/office/drawing/2014/main" val="20000"/>
                    </a:ext>
                  </a:extLst>
                </a:gridCol>
                <a:gridCol w="1725052">
                  <a:extLst>
                    <a:ext uri="{9D8B030D-6E8A-4147-A177-3AD203B41FA5}">
                      <a16:colId xmlns:a16="http://schemas.microsoft.com/office/drawing/2014/main" val="20001"/>
                    </a:ext>
                  </a:extLst>
                </a:gridCol>
              </a:tblGrid>
              <a:tr h="822081">
                <a:tc>
                  <a:txBody>
                    <a:bodyPr/>
                    <a:lstStyle/>
                    <a:p>
                      <a:r>
                        <a:rPr lang="en-US" dirty="0"/>
                        <a:t>3-Item</a:t>
                      </a:r>
                      <a:r>
                        <a:rPr lang="en-US" baseline="0" dirty="0"/>
                        <a:t> set </a:t>
                      </a:r>
                      <a:r>
                        <a:rPr lang="en-US" baseline="0" dirty="0" err="1"/>
                        <a:t>TiD</a:t>
                      </a:r>
                      <a:endParaRPr lang="en-IN" dirty="0"/>
                    </a:p>
                  </a:txBody>
                  <a:tcPr/>
                </a:tc>
                <a:tc>
                  <a:txBody>
                    <a:bodyPr/>
                    <a:lstStyle/>
                    <a:p>
                      <a:r>
                        <a:rPr lang="en-US" dirty="0"/>
                        <a:t>Support</a:t>
                      </a:r>
                      <a:endParaRPr lang="en-IN" dirty="0"/>
                    </a:p>
                  </a:txBody>
                  <a:tcPr/>
                </a:tc>
                <a:extLst>
                  <a:ext uri="{0D108BD9-81ED-4DB2-BD59-A6C34878D82A}">
                    <a16:rowId xmlns:a16="http://schemas.microsoft.com/office/drawing/2014/main" val="10000"/>
                  </a:ext>
                </a:extLst>
              </a:tr>
              <a:tr h="822081">
                <a:tc>
                  <a:txBody>
                    <a:bodyPr/>
                    <a:lstStyle/>
                    <a:p>
                      <a:pPr algn="ctr"/>
                      <a:endParaRPr lang="en-IN" b="1" dirty="0"/>
                    </a:p>
                  </a:txBody>
                  <a:tcPr/>
                </a:tc>
                <a:tc>
                  <a:txBody>
                    <a:bodyPr/>
                    <a:lstStyle/>
                    <a:p>
                      <a:endParaRPr lang="en-IN"/>
                    </a:p>
                  </a:txBody>
                  <a:tcPr/>
                </a:tc>
                <a:extLst>
                  <a:ext uri="{0D108BD9-81ED-4DB2-BD59-A6C34878D82A}">
                    <a16:rowId xmlns:a16="http://schemas.microsoft.com/office/drawing/2014/main" val="10001"/>
                  </a:ext>
                </a:extLst>
              </a:tr>
              <a:tr h="822081">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2"/>
                  </a:ext>
                </a:extLst>
              </a:tr>
              <a:tr h="822081">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1143000" y="2238106"/>
            <a:ext cx="2147383" cy="369332"/>
          </a:xfrm>
          <a:prstGeom prst="rect">
            <a:avLst/>
          </a:prstGeom>
          <a:noFill/>
        </p:spPr>
        <p:txBody>
          <a:bodyPr wrap="none" rtlCol="0">
            <a:spAutoFit/>
          </a:bodyPr>
          <a:lstStyle/>
          <a:p>
            <a:r>
              <a:rPr lang="en-US" dirty="0"/>
              <a:t>Total transactions =4</a:t>
            </a:r>
            <a:endParaRPr lang="en-IN" dirty="0"/>
          </a:p>
        </p:txBody>
      </p:sp>
      <p:sp>
        <p:nvSpPr>
          <p:cNvPr id="3" name="TextBox 2"/>
          <p:cNvSpPr txBox="1"/>
          <p:nvPr/>
        </p:nvSpPr>
        <p:spPr>
          <a:xfrm>
            <a:off x="1143000" y="1714886"/>
            <a:ext cx="3358420" cy="646331"/>
          </a:xfrm>
          <a:prstGeom prst="rect">
            <a:avLst/>
          </a:prstGeom>
          <a:noFill/>
        </p:spPr>
        <p:txBody>
          <a:bodyPr wrap="none" rtlCol="0">
            <a:spAutoFit/>
          </a:bodyPr>
          <a:lstStyle/>
          <a:p>
            <a:r>
              <a:rPr lang="en-US" dirty="0"/>
              <a:t>Item Set:     1,2,3,5</a:t>
            </a:r>
          </a:p>
          <a:p>
            <a:r>
              <a:rPr lang="en-US" dirty="0"/>
              <a:t>Eliminate pairs with &lt;50 support</a:t>
            </a:r>
            <a:endParaRPr lang="en-IN" dirty="0"/>
          </a:p>
        </p:txBody>
      </p:sp>
      <p:sp>
        <p:nvSpPr>
          <p:cNvPr id="8" name="TextBox 7"/>
          <p:cNvSpPr txBox="1"/>
          <p:nvPr/>
        </p:nvSpPr>
        <p:spPr>
          <a:xfrm>
            <a:off x="993648" y="1084183"/>
            <a:ext cx="8382000" cy="707886"/>
          </a:xfrm>
          <a:prstGeom prst="rect">
            <a:avLst/>
          </a:prstGeom>
          <a:noFill/>
        </p:spPr>
        <p:txBody>
          <a:bodyPr wrap="square" rtlCol="0">
            <a:spAutoFit/>
          </a:bodyPr>
          <a:lstStyle/>
          <a:p>
            <a:r>
              <a:rPr lang="en-US" sz="2000" b="1" dirty="0"/>
              <a:t>Step-3: Represent pair of 3-items with MIN support count</a:t>
            </a:r>
            <a:r>
              <a:rPr lang="en-GB" sz="2000" b="1" dirty="0">
                <a:latin typeface="Times New Roman" pitchFamily="18" charset="0"/>
                <a:cs typeface="Times New Roman" pitchFamily="18" charset="0"/>
              </a:rPr>
              <a:t>=2  or  50%</a:t>
            </a:r>
          </a:p>
          <a:p>
            <a:endParaRPr lang="en-IN" sz="2000" dirty="0"/>
          </a:p>
        </p:txBody>
      </p:sp>
    </p:spTree>
    <p:extLst>
      <p:ext uri="{BB962C8B-B14F-4D97-AF65-F5344CB8AC3E}">
        <p14:creationId xmlns:p14="http://schemas.microsoft.com/office/powerpoint/2010/main" val="1038933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16321"/>
            <a:ext cx="7498080" cy="563562"/>
          </a:xfrm>
        </p:spPr>
        <p:txBody>
          <a:bodyPr>
            <a:normAutofit fontScale="90000"/>
          </a:bodyPr>
          <a:lstStyle/>
          <a:p>
            <a:r>
              <a:rPr lang="en-GB" dirty="0"/>
              <a:t>Example 1 : Transactional dataset D</a:t>
            </a:r>
            <a:endParaRPr lang="en-IN" dirty="0"/>
          </a:p>
        </p:txBody>
      </p:sp>
      <p:graphicFrame>
        <p:nvGraphicFramePr>
          <p:cNvPr id="5" name="Content Placeholder 5"/>
          <p:cNvGraphicFramePr>
            <a:graphicFrameLocks/>
          </p:cNvGraphicFramePr>
          <p:nvPr>
            <p:extLst>
              <p:ext uri="{D42A27DB-BD31-4B8C-83A1-F6EECF244321}">
                <p14:modId xmlns:p14="http://schemas.microsoft.com/office/powerpoint/2010/main" val="3032512480"/>
              </p:ext>
            </p:extLst>
          </p:nvPr>
        </p:nvGraphicFramePr>
        <p:xfrm>
          <a:off x="4876800" y="1545657"/>
          <a:ext cx="4191000" cy="4495806"/>
        </p:xfrm>
        <a:graphic>
          <a:graphicData uri="http://schemas.openxmlformats.org/drawingml/2006/table">
            <a:tbl>
              <a:tblPr firstRow="1" bandRow="1">
                <a:tableStyleId>{5C22544A-7EE6-4342-B048-85BDC9FD1C3A}</a:tableStyleId>
              </a:tblPr>
              <a:tblGrid>
                <a:gridCol w="1319784">
                  <a:extLst>
                    <a:ext uri="{9D8B030D-6E8A-4147-A177-3AD203B41FA5}">
                      <a16:colId xmlns:a16="http://schemas.microsoft.com/office/drawing/2014/main" val="20000"/>
                    </a:ext>
                  </a:extLst>
                </a:gridCol>
                <a:gridCol w="1319784">
                  <a:extLst>
                    <a:ext uri="{9D8B030D-6E8A-4147-A177-3AD203B41FA5}">
                      <a16:colId xmlns:a16="http://schemas.microsoft.com/office/drawing/2014/main" val="20001"/>
                    </a:ext>
                  </a:extLst>
                </a:gridCol>
                <a:gridCol w="1551432">
                  <a:extLst>
                    <a:ext uri="{9D8B030D-6E8A-4147-A177-3AD203B41FA5}">
                      <a16:colId xmlns:a16="http://schemas.microsoft.com/office/drawing/2014/main" val="20002"/>
                    </a:ext>
                  </a:extLst>
                </a:gridCol>
              </a:tblGrid>
              <a:tr h="642258">
                <a:tc>
                  <a:txBody>
                    <a:bodyPr/>
                    <a:lstStyle/>
                    <a:p>
                      <a:r>
                        <a:rPr lang="en-US" dirty="0"/>
                        <a:t>Rules</a:t>
                      </a:r>
                      <a:endParaRPr lang="en-IN" dirty="0"/>
                    </a:p>
                  </a:txBody>
                  <a:tcPr/>
                </a:tc>
                <a:tc>
                  <a:txBody>
                    <a:bodyPr/>
                    <a:lstStyle/>
                    <a:p>
                      <a:r>
                        <a:rPr lang="en-US" dirty="0"/>
                        <a:t>Support</a:t>
                      </a:r>
                      <a:endParaRPr lang="en-IN" dirty="0"/>
                    </a:p>
                  </a:txBody>
                  <a:tcPr/>
                </a:tc>
                <a:tc>
                  <a:txBody>
                    <a:bodyPr/>
                    <a:lstStyle/>
                    <a:p>
                      <a:r>
                        <a:rPr lang="en-US" dirty="0"/>
                        <a:t>Confidence</a:t>
                      </a:r>
                      <a:endParaRPr lang="en-IN" dirty="0"/>
                    </a:p>
                  </a:txBody>
                  <a:tcPr/>
                </a:tc>
                <a:extLst>
                  <a:ext uri="{0D108BD9-81ED-4DB2-BD59-A6C34878D82A}">
                    <a16:rowId xmlns:a16="http://schemas.microsoft.com/office/drawing/2014/main" val="10000"/>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a:p>
                  </a:txBody>
                  <a:tcPr/>
                </a:tc>
                <a:extLst>
                  <a:ext uri="{0D108BD9-81ED-4DB2-BD59-A6C34878D82A}">
                    <a16:rowId xmlns:a16="http://schemas.microsoft.com/office/drawing/2014/main" val="10001"/>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2"/>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3"/>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4"/>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5"/>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6"/>
                  </a:ext>
                </a:extLst>
              </a:tr>
            </a:tbl>
          </a:graphicData>
        </a:graphic>
      </p:graphicFrame>
      <p:sp>
        <p:nvSpPr>
          <p:cNvPr id="3" name="TextBox 2"/>
          <p:cNvSpPr txBox="1"/>
          <p:nvPr/>
        </p:nvSpPr>
        <p:spPr>
          <a:xfrm>
            <a:off x="1143000" y="2567170"/>
            <a:ext cx="3554178" cy="923330"/>
          </a:xfrm>
          <a:prstGeom prst="rect">
            <a:avLst/>
          </a:prstGeom>
          <a:noFill/>
        </p:spPr>
        <p:txBody>
          <a:bodyPr wrap="none" rtlCol="0">
            <a:spAutoFit/>
          </a:bodyPr>
          <a:lstStyle/>
          <a:p>
            <a:r>
              <a:rPr lang="en-US" dirty="0"/>
              <a:t>Confidence = support count(X,Y) </a:t>
            </a:r>
          </a:p>
          <a:p>
            <a:r>
              <a:rPr lang="en-US" dirty="0"/>
              <a:t>                      --------------------------</a:t>
            </a:r>
          </a:p>
          <a:p>
            <a:r>
              <a:rPr lang="en-US" dirty="0"/>
              <a:t>                         Support count(X)</a:t>
            </a:r>
            <a:endParaRPr lang="en-IN" dirty="0"/>
          </a:p>
        </p:txBody>
      </p:sp>
      <p:sp>
        <p:nvSpPr>
          <p:cNvPr id="8" name="TextBox 7"/>
          <p:cNvSpPr txBox="1"/>
          <p:nvPr/>
        </p:nvSpPr>
        <p:spPr>
          <a:xfrm>
            <a:off x="1143000" y="1812026"/>
            <a:ext cx="2996526" cy="646331"/>
          </a:xfrm>
          <a:prstGeom prst="rect">
            <a:avLst/>
          </a:prstGeom>
          <a:noFill/>
        </p:spPr>
        <p:txBody>
          <a:bodyPr wrap="none" rtlCol="0">
            <a:spAutoFit/>
          </a:bodyPr>
          <a:lstStyle/>
          <a:p>
            <a:r>
              <a:rPr lang="en-US" dirty="0"/>
              <a:t>Final Item Set:     2,3,5   </a:t>
            </a:r>
          </a:p>
          <a:p>
            <a:r>
              <a:rPr lang="en-US" dirty="0"/>
              <a:t>compare with confidence 70%</a:t>
            </a:r>
          </a:p>
        </p:txBody>
      </p:sp>
      <p:sp>
        <p:nvSpPr>
          <p:cNvPr id="7" name="TextBox 6"/>
          <p:cNvSpPr txBox="1"/>
          <p:nvPr/>
        </p:nvSpPr>
        <p:spPr>
          <a:xfrm>
            <a:off x="990600" y="760385"/>
            <a:ext cx="8382000" cy="1323439"/>
          </a:xfrm>
          <a:prstGeom prst="rect">
            <a:avLst/>
          </a:prstGeom>
          <a:noFill/>
        </p:spPr>
        <p:txBody>
          <a:bodyPr wrap="square" rtlCol="0">
            <a:spAutoFit/>
          </a:bodyPr>
          <a:lstStyle/>
          <a:p>
            <a:r>
              <a:rPr lang="en-US" sz="2000" b="1" dirty="0"/>
              <a:t>Step-4: Association rule generation Rule with MIN support count</a:t>
            </a:r>
            <a:r>
              <a:rPr lang="en-GB" sz="2000" b="1" dirty="0">
                <a:latin typeface="Times New Roman" pitchFamily="18" charset="0"/>
                <a:cs typeface="Times New Roman" pitchFamily="18" charset="0"/>
              </a:rPr>
              <a:t>=2  or  50%               	</a:t>
            </a:r>
            <a:r>
              <a:rPr lang="en-US" sz="2000" b="1" dirty="0"/>
              <a:t>Confidence = 70%</a:t>
            </a:r>
            <a:endParaRPr lang="en-IN" sz="2000" b="1" dirty="0"/>
          </a:p>
          <a:p>
            <a:endParaRPr lang="en-GB" sz="2000" b="1" dirty="0">
              <a:latin typeface="Times New Roman" pitchFamily="18" charset="0"/>
              <a:cs typeface="Times New Roman" pitchFamily="18" charset="0"/>
            </a:endParaRPr>
          </a:p>
          <a:p>
            <a:endParaRPr lang="en-IN" sz="2000" dirty="0"/>
          </a:p>
        </p:txBody>
      </p:sp>
    </p:spTree>
    <p:extLst>
      <p:ext uri="{BB962C8B-B14F-4D97-AF65-F5344CB8AC3E}">
        <p14:creationId xmlns:p14="http://schemas.microsoft.com/office/powerpoint/2010/main" val="1601966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16321"/>
            <a:ext cx="7498080" cy="563562"/>
          </a:xfrm>
        </p:spPr>
        <p:txBody>
          <a:bodyPr>
            <a:normAutofit fontScale="90000"/>
          </a:bodyPr>
          <a:lstStyle/>
          <a:p>
            <a:r>
              <a:rPr lang="en-GB" dirty="0"/>
              <a:t>Example 1 : Transactional dataset D</a:t>
            </a:r>
            <a:endParaRPr lang="en-IN" dirty="0"/>
          </a:p>
        </p:txBody>
      </p:sp>
      <p:graphicFrame>
        <p:nvGraphicFramePr>
          <p:cNvPr id="5" name="Content Placeholder 5"/>
          <p:cNvGraphicFramePr>
            <a:graphicFrameLocks/>
          </p:cNvGraphicFramePr>
          <p:nvPr>
            <p:extLst/>
          </p:nvPr>
        </p:nvGraphicFramePr>
        <p:xfrm>
          <a:off x="4876800" y="1545657"/>
          <a:ext cx="4191000" cy="4495806"/>
        </p:xfrm>
        <a:graphic>
          <a:graphicData uri="http://schemas.openxmlformats.org/drawingml/2006/table">
            <a:tbl>
              <a:tblPr firstRow="1" bandRow="1">
                <a:tableStyleId>{5C22544A-7EE6-4342-B048-85BDC9FD1C3A}</a:tableStyleId>
              </a:tblPr>
              <a:tblGrid>
                <a:gridCol w="1319784">
                  <a:extLst>
                    <a:ext uri="{9D8B030D-6E8A-4147-A177-3AD203B41FA5}">
                      <a16:colId xmlns:a16="http://schemas.microsoft.com/office/drawing/2014/main" val="20000"/>
                    </a:ext>
                  </a:extLst>
                </a:gridCol>
                <a:gridCol w="1319784">
                  <a:extLst>
                    <a:ext uri="{9D8B030D-6E8A-4147-A177-3AD203B41FA5}">
                      <a16:colId xmlns:a16="http://schemas.microsoft.com/office/drawing/2014/main" val="20001"/>
                    </a:ext>
                  </a:extLst>
                </a:gridCol>
                <a:gridCol w="1551432">
                  <a:extLst>
                    <a:ext uri="{9D8B030D-6E8A-4147-A177-3AD203B41FA5}">
                      <a16:colId xmlns:a16="http://schemas.microsoft.com/office/drawing/2014/main" val="20002"/>
                    </a:ext>
                  </a:extLst>
                </a:gridCol>
              </a:tblGrid>
              <a:tr h="642258">
                <a:tc>
                  <a:txBody>
                    <a:bodyPr/>
                    <a:lstStyle/>
                    <a:p>
                      <a:r>
                        <a:rPr lang="en-US" dirty="0"/>
                        <a:t>Rules</a:t>
                      </a:r>
                      <a:endParaRPr lang="en-IN" dirty="0"/>
                    </a:p>
                  </a:txBody>
                  <a:tcPr/>
                </a:tc>
                <a:tc>
                  <a:txBody>
                    <a:bodyPr/>
                    <a:lstStyle/>
                    <a:p>
                      <a:r>
                        <a:rPr lang="en-US" dirty="0"/>
                        <a:t>Support</a:t>
                      </a:r>
                      <a:endParaRPr lang="en-IN" dirty="0"/>
                    </a:p>
                  </a:txBody>
                  <a:tcPr/>
                </a:tc>
                <a:tc>
                  <a:txBody>
                    <a:bodyPr/>
                    <a:lstStyle/>
                    <a:p>
                      <a:r>
                        <a:rPr lang="en-US" dirty="0"/>
                        <a:t>Confidence</a:t>
                      </a:r>
                      <a:endParaRPr lang="en-IN" dirty="0"/>
                    </a:p>
                  </a:txBody>
                  <a:tcPr/>
                </a:tc>
                <a:extLst>
                  <a:ext uri="{0D108BD9-81ED-4DB2-BD59-A6C34878D82A}">
                    <a16:rowId xmlns:a16="http://schemas.microsoft.com/office/drawing/2014/main" val="10000"/>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a:p>
                  </a:txBody>
                  <a:tcPr/>
                </a:tc>
                <a:extLst>
                  <a:ext uri="{0D108BD9-81ED-4DB2-BD59-A6C34878D82A}">
                    <a16:rowId xmlns:a16="http://schemas.microsoft.com/office/drawing/2014/main" val="10001"/>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2"/>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3"/>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4"/>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5"/>
                  </a:ext>
                </a:extLst>
              </a:tr>
              <a:tr h="642258">
                <a:tc>
                  <a:txBody>
                    <a:bodyPr/>
                    <a:lstStyle/>
                    <a:p>
                      <a:pPr algn="ctr"/>
                      <a:endParaRPr lang="en-IN" b="1" dirty="0"/>
                    </a:p>
                  </a:txBody>
                  <a:tcPr/>
                </a:tc>
                <a:tc>
                  <a:txBody>
                    <a:bodyPr/>
                    <a:lstStyle/>
                    <a:p>
                      <a:pPr algn="ctr"/>
                      <a:endParaRPr lang="en-IN" b="1" dirty="0"/>
                    </a:p>
                  </a:txBody>
                  <a:tcPr/>
                </a:tc>
                <a:tc>
                  <a:txBody>
                    <a:bodyPr/>
                    <a:lstStyle/>
                    <a:p>
                      <a:endParaRPr lang="en-IN" dirty="0"/>
                    </a:p>
                  </a:txBody>
                  <a:tcPr/>
                </a:tc>
                <a:extLst>
                  <a:ext uri="{0D108BD9-81ED-4DB2-BD59-A6C34878D82A}">
                    <a16:rowId xmlns:a16="http://schemas.microsoft.com/office/drawing/2014/main" val="10006"/>
                  </a:ext>
                </a:extLst>
              </a:tr>
            </a:tbl>
          </a:graphicData>
        </a:graphic>
      </p:graphicFrame>
      <p:sp>
        <p:nvSpPr>
          <p:cNvPr id="3" name="TextBox 2"/>
          <p:cNvSpPr txBox="1"/>
          <p:nvPr/>
        </p:nvSpPr>
        <p:spPr>
          <a:xfrm>
            <a:off x="1143000" y="2567170"/>
            <a:ext cx="3554178" cy="923330"/>
          </a:xfrm>
          <a:prstGeom prst="rect">
            <a:avLst/>
          </a:prstGeom>
          <a:noFill/>
        </p:spPr>
        <p:txBody>
          <a:bodyPr wrap="none" rtlCol="0">
            <a:spAutoFit/>
          </a:bodyPr>
          <a:lstStyle/>
          <a:p>
            <a:r>
              <a:rPr lang="en-US" dirty="0"/>
              <a:t>Confidence = support count(X,Y) </a:t>
            </a:r>
          </a:p>
          <a:p>
            <a:r>
              <a:rPr lang="en-US" dirty="0"/>
              <a:t>                      --------------------------</a:t>
            </a:r>
          </a:p>
          <a:p>
            <a:r>
              <a:rPr lang="en-US" dirty="0"/>
              <a:t>                         Support count(X)</a:t>
            </a:r>
            <a:endParaRPr lang="en-IN" dirty="0"/>
          </a:p>
        </p:txBody>
      </p:sp>
      <p:sp>
        <p:nvSpPr>
          <p:cNvPr id="8" name="TextBox 7"/>
          <p:cNvSpPr txBox="1"/>
          <p:nvPr/>
        </p:nvSpPr>
        <p:spPr>
          <a:xfrm>
            <a:off x="1143000" y="1812026"/>
            <a:ext cx="2996526" cy="646331"/>
          </a:xfrm>
          <a:prstGeom prst="rect">
            <a:avLst/>
          </a:prstGeom>
          <a:noFill/>
        </p:spPr>
        <p:txBody>
          <a:bodyPr wrap="none" rtlCol="0">
            <a:spAutoFit/>
          </a:bodyPr>
          <a:lstStyle/>
          <a:p>
            <a:r>
              <a:rPr lang="en-US" dirty="0"/>
              <a:t>Final Item Set:     2,3,5   </a:t>
            </a:r>
          </a:p>
          <a:p>
            <a:r>
              <a:rPr lang="en-US" dirty="0"/>
              <a:t>compare with confidence 70%</a:t>
            </a:r>
          </a:p>
        </p:txBody>
      </p:sp>
      <p:sp>
        <p:nvSpPr>
          <p:cNvPr id="7" name="TextBox 6"/>
          <p:cNvSpPr txBox="1"/>
          <p:nvPr/>
        </p:nvSpPr>
        <p:spPr>
          <a:xfrm>
            <a:off x="990600" y="760385"/>
            <a:ext cx="8382000" cy="1323439"/>
          </a:xfrm>
          <a:prstGeom prst="rect">
            <a:avLst/>
          </a:prstGeom>
          <a:noFill/>
        </p:spPr>
        <p:txBody>
          <a:bodyPr wrap="square" rtlCol="0">
            <a:spAutoFit/>
          </a:bodyPr>
          <a:lstStyle/>
          <a:p>
            <a:r>
              <a:rPr lang="en-US" sz="2000" b="1" dirty="0"/>
              <a:t>Step-2: Represent pair of items with MIN support count</a:t>
            </a:r>
            <a:r>
              <a:rPr lang="en-GB" sz="2000" b="1" dirty="0">
                <a:latin typeface="Times New Roman" pitchFamily="18" charset="0"/>
                <a:cs typeface="Times New Roman" pitchFamily="18" charset="0"/>
              </a:rPr>
              <a:t>=2  or  50%               	</a:t>
            </a:r>
            <a:r>
              <a:rPr lang="en-US" sz="2000" b="1" dirty="0"/>
              <a:t>Confidence = 70%</a:t>
            </a:r>
            <a:endParaRPr lang="en-IN" sz="2000" b="1" dirty="0"/>
          </a:p>
          <a:p>
            <a:endParaRPr lang="en-GB" sz="2000" b="1" dirty="0">
              <a:latin typeface="Times New Roman" pitchFamily="18" charset="0"/>
              <a:cs typeface="Times New Roman" pitchFamily="18" charset="0"/>
            </a:endParaRPr>
          </a:p>
          <a:p>
            <a:endParaRPr lang="en-IN" sz="2000" dirty="0"/>
          </a:p>
        </p:txBody>
      </p:sp>
    </p:spTree>
    <p:extLst>
      <p:ext uri="{BB962C8B-B14F-4D97-AF65-F5344CB8AC3E}">
        <p14:creationId xmlns:p14="http://schemas.microsoft.com/office/powerpoint/2010/main" val="1551792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2565400" y="2300287"/>
            <a:ext cx="5238750" cy="3095625"/>
          </a:xfrm>
          <a:prstGeom prst="rect">
            <a:avLst/>
          </a:prstGeom>
        </p:spPr>
      </p:pic>
      <p:sp>
        <p:nvSpPr>
          <p:cNvPr id="5" name="TextBox 4"/>
          <p:cNvSpPr txBox="1"/>
          <p:nvPr/>
        </p:nvSpPr>
        <p:spPr>
          <a:xfrm>
            <a:off x="1097784" y="1186805"/>
            <a:ext cx="8526821" cy="461665"/>
          </a:xfrm>
          <a:prstGeom prst="rect">
            <a:avLst/>
          </a:prstGeom>
          <a:noFill/>
        </p:spPr>
        <p:txBody>
          <a:bodyPr wrap="none" rtlCol="0">
            <a:spAutoFit/>
          </a:bodyPr>
          <a:lstStyle/>
          <a:p>
            <a:r>
              <a:rPr lang="en-US" sz="2400" b="1" dirty="0"/>
              <a:t>Minimum support = 40%  or 2 Minimum Confidence = 70%</a:t>
            </a:r>
            <a:endParaRPr lang="en-IN" sz="2400" b="1" dirty="0"/>
          </a:p>
        </p:txBody>
      </p:sp>
    </p:spTree>
    <p:extLst>
      <p:ext uri="{BB962C8B-B14F-4D97-AF65-F5344CB8AC3E}">
        <p14:creationId xmlns:p14="http://schemas.microsoft.com/office/powerpoint/2010/main" val="1148681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sp>
        <p:nvSpPr>
          <p:cNvPr id="5" name="TextBox 4"/>
          <p:cNvSpPr txBox="1"/>
          <p:nvPr/>
        </p:nvSpPr>
        <p:spPr>
          <a:xfrm>
            <a:off x="828253" y="1186805"/>
            <a:ext cx="8526821" cy="461665"/>
          </a:xfrm>
          <a:prstGeom prst="rect">
            <a:avLst/>
          </a:prstGeom>
          <a:noFill/>
        </p:spPr>
        <p:txBody>
          <a:bodyPr wrap="none" rtlCol="0">
            <a:spAutoFit/>
          </a:bodyPr>
          <a:lstStyle/>
          <a:p>
            <a:r>
              <a:rPr lang="en-US" sz="2400" b="1" dirty="0"/>
              <a:t>Minimum support = 40%  or 2 Minimum Confidence = 70%</a:t>
            </a:r>
            <a:endParaRPr lang="en-IN" sz="2400"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64097904"/>
              </p:ext>
            </p:extLst>
          </p:nvPr>
        </p:nvGraphicFramePr>
        <p:xfrm>
          <a:off x="5273040" y="1663710"/>
          <a:ext cx="3660648" cy="4926779"/>
        </p:xfrm>
        <a:graphic>
          <a:graphicData uri="http://schemas.openxmlformats.org/drawingml/2006/table">
            <a:tbl>
              <a:tblPr firstRow="1" bandRow="1">
                <a:tableStyleId>{5C22544A-7EE6-4342-B048-85BDC9FD1C3A}</a:tableStyleId>
              </a:tblPr>
              <a:tblGrid>
                <a:gridCol w="1830324">
                  <a:extLst>
                    <a:ext uri="{9D8B030D-6E8A-4147-A177-3AD203B41FA5}">
                      <a16:colId xmlns:a16="http://schemas.microsoft.com/office/drawing/2014/main" val="20000"/>
                    </a:ext>
                  </a:extLst>
                </a:gridCol>
                <a:gridCol w="1830324">
                  <a:extLst>
                    <a:ext uri="{9D8B030D-6E8A-4147-A177-3AD203B41FA5}">
                      <a16:colId xmlns:a16="http://schemas.microsoft.com/office/drawing/2014/main" val="20001"/>
                    </a:ext>
                  </a:extLst>
                </a:gridCol>
              </a:tblGrid>
              <a:tr h="447889">
                <a:tc>
                  <a:txBody>
                    <a:bodyPr/>
                    <a:lstStyle/>
                    <a:p>
                      <a:r>
                        <a:rPr lang="en-US" dirty="0"/>
                        <a:t>1-Item</a:t>
                      </a:r>
                      <a:r>
                        <a:rPr lang="en-US" baseline="0" dirty="0"/>
                        <a:t> set</a:t>
                      </a:r>
                      <a:endParaRPr lang="en-IN" dirty="0"/>
                    </a:p>
                  </a:txBody>
                  <a:tcPr/>
                </a:tc>
                <a:tc>
                  <a:txBody>
                    <a:bodyPr/>
                    <a:lstStyle/>
                    <a:p>
                      <a:r>
                        <a:rPr lang="en-US" dirty="0"/>
                        <a:t>Support count</a:t>
                      </a:r>
                      <a:endParaRPr lang="en-IN" dirty="0"/>
                    </a:p>
                  </a:txBody>
                  <a:tcPr/>
                </a:tc>
                <a:extLst>
                  <a:ext uri="{0D108BD9-81ED-4DB2-BD59-A6C34878D82A}">
                    <a16:rowId xmlns:a16="http://schemas.microsoft.com/office/drawing/2014/main" val="10000"/>
                  </a:ext>
                </a:extLst>
              </a:tr>
              <a:tr h="447889">
                <a:tc>
                  <a:txBody>
                    <a:bodyPr/>
                    <a:lstStyle/>
                    <a:p>
                      <a:endParaRPr lang="en-IN" dirty="0"/>
                    </a:p>
                  </a:txBody>
                  <a:tcPr/>
                </a:tc>
                <a:tc>
                  <a:txBody>
                    <a:bodyPr/>
                    <a:lstStyle/>
                    <a:p>
                      <a:endParaRPr lang="en-IN"/>
                    </a:p>
                  </a:txBody>
                  <a:tcPr/>
                </a:tc>
                <a:extLst>
                  <a:ext uri="{0D108BD9-81ED-4DB2-BD59-A6C34878D82A}">
                    <a16:rowId xmlns:a16="http://schemas.microsoft.com/office/drawing/2014/main" val="10001"/>
                  </a:ext>
                </a:extLst>
              </a:tr>
              <a:tr h="447889">
                <a:tc>
                  <a:txBody>
                    <a:bodyPr/>
                    <a:lstStyle/>
                    <a:p>
                      <a:endParaRPr lang="en-IN" dirty="0"/>
                    </a:p>
                  </a:txBody>
                  <a:tcPr/>
                </a:tc>
                <a:tc>
                  <a:txBody>
                    <a:bodyPr/>
                    <a:lstStyle/>
                    <a:p>
                      <a:endParaRPr lang="en-IN"/>
                    </a:p>
                  </a:txBody>
                  <a:tcPr/>
                </a:tc>
                <a:extLst>
                  <a:ext uri="{0D108BD9-81ED-4DB2-BD59-A6C34878D82A}">
                    <a16:rowId xmlns:a16="http://schemas.microsoft.com/office/drawing/2014/main" val="10002"/>
                  </a:ext>
                </a:extLst>
              </a:tr>
              <a:tr h="44788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3"/>
                  </a:ext>
                </a:extLst>
              </a:tr>
              <a:tr h="44788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4"/>
                  </a:ext>
                </a:extLst>
              </a:tr>
              <a:tr h="44788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5"/>
                  </a:ext>
                </a:extLst>
              </a:tr>
              <a:tr h="44788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6"/>
                  </a:ext>
                </a:extLst>
              </a:tr>
              <a:tr h="44788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7"/>
                  </a:ext>
                </a:extLst>
              </a:tr>
              <a:tr h="44788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8"/>
                  </a:ext>
                </a:extLst>
              </a:tr>
              <a:tr h="44788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9"/>
                  </a:ext>
                </a:extLst>
              </a:tr>
              <a:tr h="44788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10"/>
                  </a:ext>
                </a:extLst>
              </a:tr>
            </a:tbl>
          </a:graphicData>
        </a:graphic>
      </p:graphicFrame>
      <p:pic>
        <p:nvPicPr>
          <p:cNvPr id="7" name="Content Placeholder 3"/>
          <p:cNvPicPr>
            <a:picLocks noChangeAspect="1"/>
          </p:cNvPicPr>
          <p:nvPr/>
        </p:nvPicPr>
        <p:blipFill>
          <a:blip r:embed="rId2"/>
          <a:stretch>
            <a:fillRect/>
          </a:stretch>
        </p:blipFill>
        <p:spPr>
          <a:xfrm>
            <a:off x="965140" y="2332355"/>
            <a:ext cx="4126523" cy="3581399"/>
          </a:xfrm>
          <a:prstGeom prst="rect">
            <a:avLst/>
          </a:prstGeom>
        </p:spPr>
      </p:pic>
      <p:sp>
        <p:nvSpPr>
          <p:cNvPr id="3" name="TextBox 2"/>
          <p:cNvSpPr txBox="1"/>
          <p:nvPr/>
        </p:nvSpPr>
        <p:spPr>
          <a:xfrm>
            <a:off x="1524000" y="1905000"/>
            <a:ext cx="1335622" cy="369332"/>
          </a:xfrm>
          <a:prstGeom prst="rect">
            <a:avLst/>
          </a:prstGeom>
          <a:noFill/>
        </p:spPr>
        <p:txBody>
          <a:bodyPr wrap="none" rtlCol="0">
            <a:spAutoFit/>
          </a:bodyPr>
          <a:lstStyle/>
          <a:p>
            <a:r>
              <a:rPr lang="en-US" dirty="0"/>
              <a:t>Step- 1 Item</a:t>
            </a:r>
            <a:endParaRPr lang="en-IN" dirty="0"/>
          </a:p>
        </p:txBody>
      </p:sp>
    </p:spTree>
    <p:extLst>
      <p:ext uri="{BB962C8B-B14F-4D97-AF65-F5344CB8AC3E}">
        <p14:creationId xmlns:p14="http://schemas.microsoft.com/office/powerpoint/2010/main" val="1263227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90231685"/>
              </p:ext>
            </p:extLst>
          </p:nvPr>
        </p:nvGraphicFramePr>
        <p:xfrm>
          <a:off x="4114801" y="1660973"/>
          <a:ext cx="4842802" cy="5050408"/>
        </p:xfrm>
        <a:graphic>
          <a:graphicData uri="http://schemas.openxmlformats.org/drawingml/2006/table">
            <a:tbl>
              <a:tblPr firstRow="1" bandRow="1">
                <a:tableStyleId>{5C22544A-7EE6-4342-B048-85BDC9FD1C3A}</a:tableStyleId>
              </a:tblPr>
              <a:tblGrid>
                <a:gridCol w="2421401">
                  <a:extLst>
                    <a:ext uri="{9D8B030D-6E8A-4147-A177-3AD203B41FA5}">
                      <a16:colId xmlns:a16="http://schemas.microsoft.com/office/drawing/2014/main" val="20000"/>
                    </a:ext>
                  </a:extLst>
                </a:gridCol>
                <a:gridCol w="2421401">
                  <a:extLst>
                    <a:ext uri="{9D8B030D-6E8A-4147-A177-3AD203B41FA5}">
                      <a16:colId xmlns:a16="http://schemas.microsoft.com/office/drawing/2014/main" val="20001"/>
                    </a:ext>
                  </a:extLst>
                </a:gridCol>
              </a:tblGrid>
              <a:tr h="459128">
                <a:tc>
                  <a:txBody>
                    <a:bodyPr/>
                    <a:lstStyle/>
                    <a:p>
                      <a:r>
                        <a:rPr lang="en-US" dirty="0"/>
                        <a:t>2-Item</a:t>
                      </a:r>
                      <a:r>
                        <a:rPr lang="en-US" baseline="0" dirty="0"/>
                        <a:t> set</a:t>
                      </a:r>
                      <a:endParaRPr lang="en-IN" dirty="0"/>
                    </a:p>
                  </a:txBody>
                  <a:tcPr/>
                </a:tc>
                <a:tc>
                  <a:txBody>
                    <a:bodyPr/>
                    <a:lstStyle/>
                    <a:p>
                      <a:r>
                        <a:rPr lang="en-US" dirty="0"/>
                        <a:t>Support count</a:t>
                      </a:r>
                      <a:endParaRPr lang="en-IN" dirty="0"/>
                    </a:p>
                  </a:txBody>
                  <a:tcPr/>
                </a:tc>
                <a:extLst>
                  <a:ext uri="{0D108BD9-81ED-4DB2-BD59-A6C34878D82A}">
                    <a16:rowId xmlns:a16="http://schemas.microsoft.com/office/drawing/2014/main" val="10000"/>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1"/>
                  </a:ext>
                </a:extLst>
              </a:tr>
              <a:tr h="459128">
                <a:tc>
                  <a:txBody>
                    <a:bodyPr/>
                    <a:lstStyle/>
                    <a:p>
                      <a:endParaRPr lang="en-IN" dirty="0"/>
                    </a:p>
                  </a:txBody>
                  <a:tcPr/>
                </a:tc>
                <a:tc>
                  <a:txBody>
                    <a:bodyPr/>
                    <a:lstStyle/>
                    <a:p>
                      <a:endParaRPr lang="en-IN"/>
                    </a:p>
                  </a:txBody>
                  <a:tcPr/>
                </a:tc>
                <a:extLst>
                  <a:ext uri="{0D108BD9-81ED-4DB2-BD59-A6C34878D82A}">
                    <a16:rowId xmlns:a16="http://schemas.microsoft.com/office/drawing/2014/main" val="10002"/>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3"/>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4"/>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5"/>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6"/>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7"/>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8"/>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9"/>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10"/>
                  </a:ext>
                </a:extLst>
              </a:tr>
            </a:tbl>
          </a:graphicData>
        </a:graphic>
      </p:graphicFrame>
      <p:pic>
        <p:nvPicPr>
          <p:cNvPr id="7" name="Content Placeholder 3"/>
          <p:cNvPicPr>
            <a:picLocks noChangeAspect="1"/>
          </p:cNvPicPr>
          <p:nvPr/>
        </p:nvPicPr>
        <p:blipFill>
          <a:blip r:embed="rId2"/>
          <a:stretch>
            <a:fillRect/>
          </a:stretch>
        </p:blipFill>
        <p:spPr>
          <a:xfrm>
            <a:off x="131044" y="2379711"/>
            <a:ext cx="3755156" cy="3259090"/>
          </a:xfrm>
          <a:prstGeom prst="rect">
            <a:avLst/>
          </a:prstGeom>
        </p:spPr>
      </p:pic>
      <p:sp>
        <p:nvSpPr>
          <p:cNvPr id="8" name="TextBox 7"/>
          <p:cNvSpPr txBox="1"/>
          <p:nvPr/>
        </p:nvSpPr>
        <p:spPr>
          <a:xfrm>
            <a:off x="838200" y="1186394"/>
            <a:ext cx="8526821" cy="461665"/>
          </a:xfrm>
          <a:prstGeom prst="rect">
            <a:avLst/>
          </a:prstGeom>
          <a:noFill/>
        </p:spPr>
        <p:txBody>
          <a:bodyPr wrap="none" rtlCol="0">
            <a:spAutoFit/>
          </a:bodyPr>
          <a:lstStyle/>
          <a:p>
            <a:r>
              <a:rPr lang="en-US" sz="2400" b="1" dirty="0"/>
              <a:t>Minimum support = 40%  or 2 Minimum Confidence = 70%</a:t>
            </a:r>
            <a:endParaRPr lang="en-IN" sz="2400" b="1" dirty="0"/>
          </a:p>
        </p:txBody>
      </p:sp>
      <p:sp>
        <p:nvSpPr>
          <p:cNvPr id="9" name="TextBox 8"/>
          <p:cNvSpPr txBox="1"/>
          <p:nvPr/>
        </p:nvSpPr>
        <p:spPr>
          <a:xfrm>
            <a:off x="1278495" y="1779957"/>
            <a:ext cx="1271502" cy="369332"/>
          </a:xfrm>
          <a:prstGeom prst="rect">
            <a:avLst/>
          </a:prstGeom>
          <a:noFill/>
        </p:spPr>
        <p:txBody>
          <a:bodyPr wrap="none" rtlCol="0">
            <a:spAutoFit/>
          </a:bodyPr>
          <a:lstStyle/>
          <a:p>
            <a:r>
              <a:rPr lang="en-US" dirty="0"/>
              <a:t>Step-2 Item</a:t>
            </a:r>
            <a:endParaRPr lang="en-IN" dirty="0"/>
          </a:p>
        </p:txBody>
      </p:sp>
    </p:spTree>
    <p:extLst>
      <p:ext uri="{BB962C8B-B14F-4D97-AF65-F5344CB8AC3E}">
        <p14:creationId xmlns:p14="http://schemas.microsoft.com/office/powerpoint/2010/main" val="532820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2868794"/>
              </p:ext>
            </p:extLst>
          </p:nvPr>
        </p:nvGraphicFramePr>
        <p:xfrm>
          <a:off x="4114801" y="1660973"/>
          <a:ext cx="4842802" cy="5050408"/>
        </p:xfrm>
        <a:graphic>
          <a:graphicData uri="http://schemas.openxmlformats.org/drawingml/2006/table">
            <a:tbl>
              <a:tblPr firstRow="1" bandRow="1">
                <a:tableStyleId>{5C22544A-7EE6-4342-B048-85BDC9FD1C3A}</a:tableStyleId>
              </a:tblPr>
              <a:tblGrid>
                <a:gridCol w="2421401">
                  <a:extLst>
                    <a:ext uri="{9D8B030D-6E8A-4147-A177-3AD203B41FA5}">
                      <a16:colId xmlns:a16="http://schemas.microsoft.com/office/drawing/2014/main" val="20000"/>
                    </a:ext>
                  </a:extLst>
                </a:gridCol>
                <a:gridCol w="2421401">
                  <a:extLst>
                    <a:ext uri="{9D8B030D-6E8A-4147-A177-3AD203B41FA5}">
                      <a16:colId xmlns:a16="http://schemas.microsoft.com/office/drawing/2014/main" val="20001"/>
                    </a:ext>
                  </a:extLst>
                </a:gridCol>
              </a:tblGrid>
              <a:tr h="459128">
                <a:tc>
                  <a:txBody>
                    <a:bodyPr/>
                    <a:lstStyle/>
                    <a:p>
                      <a:r>
                        <a:rPr lang="en-US" dirty="0"/>
                        <a:t>3-Item</a:t>
                      </a:r>
                      <a:r>
                        <a:rPr lang="en-US" baseline="0" dirty="0"/>
                        <a:t> set</a:t>
                      </a:r>
                      <a:endParaRPr lang="en-IN" dirty="0"/>
                    </a:p>
                  </a:txBody>
                  <a:tcPr/>
                </a:tc>
                <a:tc>
                  <a:txBody>
                    <a:bodyPr/>
                    <a:lstStyle/>
                    <a:p>
                      <a:r>
                        <a:rPr lang="en-US" dirty="0"/>
                        <a:t>Support count</a:t>
                      </a:r>
                      <a:endParaRPr lang="en-IN" dirty="0"/>
                    </a:p>
                  </a:txBody>
                  <a:tcPr/>
                </a:tc>
                <a:extLst>
                  <a:ext uri="{0D108BD9-81ED-4DB2-BD59-A6C34878D82A}">
                    <a16:rowId xmlns:a16="http://schemas.microsoft.com/office/drawing/2014/main" val="10000"/>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1"/>
                  </a:ext>
                </a:extLst>
              </a:tr>
              <a:tr h="459128">
                <a:tc>
                  <a:txBody>
                    <a:bodyPr/>
                    <a:lstStyle/>
                    <a:p>
                      <a:endParaRPr lang="en-IN" dirty="0"/>
                    </a:p>
                  </a:txBody>
                  <a:tcPr/>
                </a:tc>
                <a:tc>
                  <a:txBody>
                    <a:bodyPr/>
                    <a:lstStyle/>
                    <a:p>
                      <a:endParaRPr lang="en-IN"/>
                    </a:p>
                  </a:txBody>
                  <a:tcPr/>
                </a:tc>
                <a:extLst>
                  <a:ext uri="{0D108BD9-81ED-4DB2-BD59-A6C34878D82A}">
                    <a16:rowId xmlns:a16="http://schemas.microsoft.com/office/drawing/2014/main" val="10002"/>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3"/>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4"/>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5"/>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6"/>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7"/>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8"/>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9"/>
                  </a:ext>
                </a:extLst>
              </a:tr>
              <a:tr h="459128">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10"/>
                  </a:ext>
                </a:extLst>
              </a:tr>
            </a:tbl>
          </a:graphicData>
        </a:graphic>
      </p:graphicFrame>
      <p:pic>
        <p:nvPicPr>
          <p:cNvPr id="7" name="Content Placeholder 3"/>
          <p:cNvPicPr>
            <a:picLocks noChangeAspect="1"/>
          </p:cNvPicPr>
          <p:nvPr/>
        </p:nvPicPr>
        <p:blipFill>
          <a:blip r:embed="rId2"/>
          <a:stretch>
            <a:fillRect/>
          </a:stretch>
        </p:blipFill>
        <p:spPr>
          <a:xfrm>
            <a:off x="131044" y="2379711"/>
            <a:ext cx="3755156" cy="3259090"/>
          </a:xfrm>
          <a:prstGeom prst="rect">
            <a:avLst/>
          </a:prstGeom>
        </p:spPr>
      </p:pic>
      <p:sp>
        <p:nvSpPr>
          <p:cNvPr id="8" name="TextBox 7"/>
          <p:cNvSpPr txBox="1"/>
          <p:nvPr/>
        </p:nvSpPr>
        <p:spPr>
          <a:xfrm>
            <a:off x="838200" y="1186394"/>
            <a:ext cx="8526821" cy="461665"/>
          </a:xfrm>
          <a:prstGeom prst="rect">
            <a:avLst/>
          </a:prstGeom>
          <a:noFill/>
        </p:spPr>
        <p:txBody>
          <a:bodyPr wrap="none" rtlCol="0">
            <a:spAutoFit/>
          </a:bodyPr>
          <a:lstStyle/>
          <a:p>
            <a:r>
              <a:rPr lang="en-US" sz="2400" b="1" dirty="0"/>
              <a:t>Minimum support = 40%  or 2 Minimum Confidence = 70%</a:t>
            </a:r>
            <a:endParaRPr lang="en-IN" sz="2400" b="1" dirty="0"/>
          </a:p>
        </p:txBody>
      </p:sp>
      <p:sp>
        <p:nvSpPr>
          <p:cNvPr id="9" name="TextBox 8"/>
          <p:cNvSpPr txBox="1"/>
          <p:nvPr/>
        </p:nvSpPr>
        <p:spPr>
          <a:xfrm>
            <a:off x="1278495" y="1779957"/>
            <a:ext cx="1271502" cy="369332"/>
          </a:xfrm>
          <a:prstGeom prst="rect">
            <a:avLst/>
          </a:prstGeom>
          <a:noFill/>
        </p:spPr>
        <p:txBody>
          <a:bodyPr wrap="none" rtlCol="0">
            <a:spAutoFit/>
          </a:bodyPr>
          <a:lstStyle/>
          <a:p>
            <a:r>
              <a:rPr lang="en-US" dirty="0"/>
              <a:t>Step-3 Item</a:t>
            </a:r>
            <a:endParaRPr lang="en-IN" dirty="0"/>
          </a:p>
        </p:txBody>
      </p:sp>
    </p:spTree>
    <p:extLst>
      <p:ext uri="{BB962C8B-B14F-4D97-AF65-F5344CB8AC3E}">
        <p14:creationId xmlns:p14="http://schemas.microsoft.com/office/powerpoint/2010/main" val="3136158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533400" y="2240507"/>
            <a:ext cx="3886202" cy="3693033"/>
          </a:xfrm>
          <a:prstGeom prst="rect">
            <a:avLst/>
          </a:prstGeom>
        </p:spPr>
      </p:pic>
      <p:sp>
        <p:nvSpPr>
          <p:cNvPr id="5" name="TextBox 4"/>
          <p:cNvSpPr txBox="1"/>
          <p:nvPr/>
        </p:nvSpPr>
        <p:spPr>
          <a:xfrm>
            <a:off x="1066800" y="1118796"/>
            <a:ext cx="6144567" cy="461665"/>
          </a:xfrm>
          <a:prstGeom prst="rect">
            <a:avLst/>
          </a:prstGeom>
          <a:noFill/>
        </p:spPr>
        <p:txBody>
          <a:bodyPr wrap="none" rtlCol="0">
            <a:spAutoFit/>
          </a:bodyPr>
          <a:lstStyle/>
          <a:p>
            <a:r>
              <a:rPr lang="en-US" sz="2400" b="1" dirty="0"/>
              <a:t>Step1: Represent distinct items in dataset</a:t>
            </a:r>
            <a:endParaRPr lang="en-IN" sz="2400" b="1" dirty="0"/>
          </a:p>
        </p:txBody>
      </p:sp>
      <p:sp>
        <p:nvSpPr>
          <p:cNvPr id="6" name="TextBox 5"/>
          <p:cNvSpPr txBox="1"/>
          <p:nvPr/>
        </p:nvSpPr>
        <p:spPr>
          <a:xfrm>
            <a:off x="533400" y="1598240"/>
            <a:ext cx="7866384" cy="461665"/>
          </a:xfrm>
          <a:prstGeom prst="rect">
            <a:avLst/>
          </a:prstGeom>
          <a:noFill/>
        </p:spPr>
        <p:txBody>
          <a:bodyPr wrap="none" rtlCol="0">
            <a:spAutoFit/>
          </a:bodyPr>
          <a:lstStyle/>
          <a:p>
            <a:r>
              <a:rPr lang="en-US" sz="2400" b="1" dirty="0"/>
              <a:t>Minimum support = 40%  Minimum Confidence = 70%</a:t>
            </a:r>
            <a:endParaRPr lang="en-IN" sz="2400" b="1" dirty="0"/>
          </a:p>
        </p:txBody>
      </p:sp>
      <p:pic>
        <p:nvPicPr>
          <p:cNvPr id="7" name="Picture 6"/>
          <p:cNvPicPr>
            <a:picLocks noChangeAspect="1"/>
          </p:cNvPicPr>
          <p:nvPr/>
        </p:nvPicPr>
        <p:blipFill>
          <a:blip r:embed="rId3"/>
          <a:stretch>
            <a:fillRect/>
          </a:stretch>
        </p:blipFill>
        <p:spPr>
          <a:xfrm>
            <a:off x="4574544" y="2059905"/>
            <a:ext cx="3810000" cy="3380043"/>
          </a:xfrm>
          <a:prstGeom prst="rect">
            <a:avLst/>
          </a:prstGeom>
        </p:spPr>
      </p:pic>
    </p:spTree>
    <p:extLst>
      <p:ext uri="{BB962C8B-B14F-4D97-AF65-F5344CB8AC3E}">
        <p14:creationId xmlns:p14="http://schemas.microsoft.com/office/powerpoint/2010/main" val="3005974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664196" y="3514061"/>
            <a:ext cx="3886202" cy="3316722"/>
          </a:xfrm>
          <a:prstGeom prst="rect">
            <a:avLst/>
          </a:prstGeom>
        </p:spPr>
      </p:pic>
      <p:sp>
        <p:nvSpPr>
          <p:cNvPr id="5" name="TextBox 4"/>
          <p:cNvSpPr txBox="1"/>
          <p:nvPr/>
        </p:nvSpPr>
        <p:spPr>
          <a:xfrm>
            <a:off x="664196" y="1076459"/>
            <a:ext cx="6144567" cy="461665"/>
          </a:xfrm>
          <a:prstGeom prst="rect">
            <a:avLst/>
          </a:prstGeom>
          <a:noFill/>
        </p:spPr>
        <p:txBody>
          <a:bodyPr wrap="none" rtlCol="0">
            <a:spAutoFit/>
          </a:bodyPr>
          <a:lstStyle/>
          <a:p>
            <a:r>
              <a:rPr lang="en-US" sz="2400" b="1" dirty="0"/>
              <a:t>Step1: Represent distinct items in dataset</a:t>
            </a:r>
            <a:endParaRPr lang="en-IN" sz="2400" b="1" dirty="0"/>
          </a:p>
        </p:txBody>
      </p:sp>
      <p:sp>
        <p:nvSpPr>
          <p:cNvPr id="6" name="TextBox 5"/>
          <p:cNvSpPr txBox="1"/>
          <p:nvPr/>
        </p:nvSpPr>
        <p:spPr>
          <a:xfrm>
            <a:off x="533400" y="1417638"/>
            <a:ext cx="7866384" cy="461665"/>
          </a:xfrm>
          <a:prstGeom prst="rect">
            <a:avLst/>
          </a:prstGeom>
          <a:noFill/>
        </p:spPr>
        <p:txBody>
          <a:bodyPr wrap="none" rtlCol="0">
            <a:spAutoFit/>
          </a:bodyPr>
          <a:lstStyle/>
          <a:p>
            <a:r>
              <a:rPr lang="en-US" sz="2400" b="1" dirty="0"/>
              <a:t>Minimum support = 40%  Minimum Confidence = 70%</a:t>
            </a:r>
            <a:endParaRPr lang="en-IN" sz="2400" b="1" dirty="0"/>
          </a:p>
        </p:txBody>
      </p:sp>
      <p:pic>
        <p:nvPicPr>
          <p:cNvPr id="7" name="Picture 6"/>
          <p:cNvPicPr>
            <a:picLocks noChangeAspect="1"/>
          </p:cNvPicPr>
          <p:nvPr/>
        </p:nvPicPr>
        <p:blipFill>
          <a:blip r:embed="rId3"/>
          <a:stretch>
            <a:fillRect/>
          </a:stretch>
        </p:blipFill>
        <p:spPr>
          <a:xfrm>
            <a:off x="5029200" y="3482400"/>
            <a:ext cx="3810000" cy="338004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2200" y="1798638"/>
            <a:ext cx="3836862" cy="1524000"/>
          </a:xfrm>
          <a:prstGeom prst="rect">
            <a:avLst/>
          </a:prstGeom>
        </p:spPr>
      </p:pic>
    </p:spTree>
    <p:extLst>
      <p:ext uri="{BB962C8B-B14F-4D97-AF65-F5344CB8AC3E}">
        <p14:creationId xmlns:p14="http://schemas.microsoft.com/office/powerpoint/2010/main" val="35550784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149723" y="2219459"/>
            <a:ext cx="2845755" cy="2428741"/>
          </a:xfrm>
          <a:prstGeom prst="rect">
            <a:avLst/>
          </a:prstGeom>
        </p:spPr>
      </p:pic>
      <p:sp>
        <p:nvSpPr>
          <p:cNvPr id="5" name="TextBox 4"/>
          <p:cNvSpPr txBox="1"/>
          <p:nvPr/>
        </p:nvSpPr>
        <p:spPr>
          <a:xfrm>
            <a:off x="664196" y="1076459"/>
            <a:ext cx="6144567" cy="461665"/>
          </a:xfrm>
          <a:prstGeom prst="rect">
            <a:avLst/>
          </a:prstGeom>
          <a:noFill/>
        </p:spPr>
        <p:txBody>
          <a:bodyPr wrap="none" rtlCol="0">
            <a:spAutoFit/>
          </a:bodyPr>
          <a:lstStyle/>
          <a:p>
            <a:r>
              <a:rPr lang="en-US" sz="2400" b="1" dirty="0"/>
              <a:t>Step1: Represent distinct items in dataset</a:t>
            </a:r>
            <a:endParaRPr lang="en-IN" sz="2400" b="1" dirty="0"/>
          </a:p>
        </p:txBody>
      </p:sp>
      <p:sp>
        <p:nvSpPr>
          <p:cNvPr id="6" name="TextBox 5"/>
          <p:cNvSpPr txBox="1"/>
          <p:nvPr/>
        </p:nvSpPr>
        <p:spPr>
          <a:xfrm>
            <a:off x="533400" y="1417638"/>
            <a:ext cx="7866384" cy="461665"/>
          </a:xfrm>
          <a:prstGeom prst="rect">
            <a:avLst/>
          </a:prstGeom>
          <a:noFill/>
        </p:spPr>
        <p:txBody>
          <a:bodyPr wrap="none" rtlCol="0">
            <a:spAutoFit/>
          </a:bodyPr>
          <a:lstStyle/>
          <a:p>
            <a:r>
              <a:rPr lang="en-US" sz="2400" b="1" dirty="0"/>
              <a:t>Minimum support = 40%  Minimum Confidence = 70%</a:t>
            </a:r>
            <a:endParaRPr lang="en-IN" sz="2400" b="1" dirty="0"/>
          </a:p>
        </p:txBody>
      </p:sp>
      <p:pic>
        <p:nvPicPr>
          <p:cNvPr id="7" name="Picture 6"/>
          <p:cNvPicPr>
            <a:picLocks noChangeAspect="1"/>
          </p:cNvPicPr>
          <p:nvPr/>
        </p:nvPicPr>
        <p:blipFill>
          <a:blip r:embed="rId3"/>
          <a:stretch>
            <a:fillRect/>
          </a:stretch>
        </p:blipFill>
        <p:spPr>
          <a:xfrm>
            <a:off x="2691343" y="2057401"/>
            <a:ext cx="3349827" cy="29718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0" y="2215941"/>
            <a:ext cx="2590800" cy="2432259"/>
          </a:xfrm>
          <a:prstGeom prst="rect">
            <a:avLst/>
          </a:prstGeom>
        </p:spPr>
      </p:pic>
      <p:sp>
        <p:nvSpPr>
          <p:cNvPr id="9" name="TextBox 8"/>
          <p:cNvSpPr txBox="1"/>
          <p:nvPr/>
        </p:nvSpPr>
        <p:spPr>
          <a:xfrm>
            <a:off x="1752600" y="5943600"/>
            <a:ext cx="4949240" cy="461665"/>
          </a:xfrm>
          <a:prstGeom prst="rect">
            <a:avLst/>
          </a:prstGeom>
          <a:noFill/>
        </p:spPr>
        <p:txBody>
          <a:bodyPr wrap="none" rtlCol="0">
            <a:spAutoFit/>
          </a:bodyPr>
          <a:lstStyle/>
          <a:p>
            <a:r>
              <a:rPr lang="en-US" sz="2400" b="1" dirty="0"/>
              <a:t>Bread, Butter, milk, Diapers, Beer</a:t>
            </a:r>
            <a:endParaRPr lang="en-IN" sz="2400" b="1" dirty="0"/>
          </a:p>
        </p:txBody>
      </p:sp>
    </p:spTree>
    <p:extLst>
      <p:ext uri="{BB962C8B-B14F-4D97-AF65-F5344CB8AC3E}">
        <p14:creationId xmlns:p14="http://schemas.microsoft.com/office/powerpoint/2010/main" val="42137452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149723" y="2219459"/>
            <a:ext cx="2845755" cy="2428741"/>
          </a:xfrm>
          <a:prstGeom prst="rect">
            <a:avLst/>
          </a:prstGeom>
        </p:spPr>
      </p:pic>
      <p:sp>
        <p:nvSpPr>
          <p:cNvPr id="5" name="TextBox 4"/>
          <p:cNvSpPr txBox="1"/>
          <p:nvPr/>
        </p:nvSpPr>
        <p:spPr>
          <a:xfrm>
            <a:off x="664196" y="1076459"/>
            <a:ext cx="3437288" cy="461665"/>
          </a:xfrm>
          <a:prstGeom prst="rect">
            <a:avLst/>
          </a:prstGeom>
          <a:noFill/>
        </p:spPr>
        <p:txBody>
          <a:bodyPr wrap="none" rtlCol="0">
            <a:spAutoFit/>
          </a:bodyPr>
          <a:lstStyle/>
          <a:p>
            <a:r>
              <a:rPr lang="en-US" sz="2400" b="1" dirty="0"/>
              <a:t>Step 2: Form item pair</a:t>
            </a:r>
            <a:endParaRPr lang="en-IN" sz="2400" b="1" dirty="0"/>
          </a:p>
        </p:txBody>
      </p:sp>
      <p:sp>
        <p:nvSpPr>
          <p:cNvPr id="6" name="TextBox 5"/>
          <p:cNvSpPr txBox="1"/>
          <p:nvPr/>
        </p:nvSpPr>
        <p:spPr>
          <a:xfrm>
            <a:off x="533400" y="1417638"/>
            <a:ext cx="7866384" cy="461665"/>
          </a:xfrm>
          <a:prstGeom prst="rect">
            <a:avLst/>
          </a:prstGeom>
          <a:noFill/>
        </p:spPr>
        <p:txBody>
          <a:bodyPr wrap="none" rtlCol="0">
            <a:spAutoFit/>
          </a:bodyPr>
          <a:lstStyle/>
          <a:p>
            <a:r>
              <a:rPr lang="en-US" sz="2400" b="1" dirty="0"/>
              <a:t>Minimum support = 40%  Minimum Confidence = 70%</a:t>
            </a:r>
            <a:endParaRPr lang="en-IN" sz="2400" b="1" dirty="0"/>
          </a:p>
        </p:txBody>
      </p:sp>
      <p:sp>
        <p:nvSpPr>
          <p:cNvPr id="9" name="TextBox 8"/>
          <p:cNvSpPr txBox="1"/>
          <p:nvPr/>
        </p:nvSpPr>
        <p:spPr>
          <a:xfrm>
            <a:off x="1752600" y="5943600"/>
            <a:ext cx="4949240" cy="461665"/>
          </a:xfrm>
          <a:prstGeom prst="rect">
            <a:avLst/>
          </a:prstGeom>
          <a:noFill/>
        </p:spPr>
        <p:txBody>
          <a:bodyPr wrap="none" rtlCol="0">
            <a:spAutoFit/>
          </a:bodyPr>
          <a:lstStyle/>
          <a:p>
            <a:r>
              <a:rPr lang="en-US" sz="2400" b="1" dirty="0"/>
              <a:t>Bread, Butter, milk, Diapers, Beer</a:t>
            </a:r>
            <a:endParaRPr lang="en-IN" sz="2400" b="1" dirty="0"/>
          </a:p>
        </p:txBody>
      </p:sp>
      <p:graphicFrame>
        <p:nvGraphicFramePr>
          <p:cNvPr id="12" name="Table 11"/>
          <p:cNvGraphicFramePr>
            <a:graphicFrameLocks noGrp="1"/>
          </p:cNvGraphicFramePr>
          <p:nvPr>
            <p:extLst>
              <p:ext uri="{D42A27DB-BD31-4B8C-83A1-F6EECF244321}">
                <p14:modId xmlns:p14="http://schemas.microsoft.com/office/powerpoint/2010/main" val="2569515470"/>
              </p:ext>
            </p:extLst>
          </p:nvPr>
        </p:nvGraphicFramePr>
        <p:xfrm>
          <a:off x="3200400" y="2331795"/>
          <a:ext cx="4499318" cy="779028"/>
        </p:xfrm>
        <a:graphic>
          <a:graphicData uri="http://schemas.openxmlformats.org/drawingml/2006/table">
            <a:tbl>
              <a:tblPr firstRow="1" bandRow="1">
                <a:tableStyleId>{5C22544A-7EE6-4342-B048-85BDC9FD1C3A}</a:tableStyleId>
              </a:tblPr>
              <a:tblGrid>
                <a:gridCol w="2249659">
                  <a:extLst>
                    <a:ext uri="{9D8B030D-6E8A-4147-A177-3AD203B41FA5}">
                      <a16:colId xmlns:a16="http://schemas.microsoft.com/office/drawing/2014/main" val="20000"/>
                    </a:ext>
                  </a:extLst>
                </a:gridCol>
                <a:gridCol w="2249659">
                  <a:extLst>
                    <a:ext uri="{9D8B030D-6E8A-4147-A177-3AD203B41FA5}">
                      <a16:colId xmlns:a16="http://schemas.microsoft.com/office/drawing/2014/main" val="20001"/>
                    </a:ext>
                  </a:extLst>
                </a:gridCol>
              </a:tblGrid>
              <a:tr h="389514">
                <a:tc>
                  <a:txBody>
                    <a:bodyPr/>
                    <a:lstStyle/>
                    <a:p>
                      <a:r>
                        <a:rPr lang="en-US" dirty="0"/>
                        <a:t>2-Item</a:t>
                      </a:r>
                      <a:r>
                        <a:rPr lang="en-US" baseline="0" dirty="0"/>
                        <a:t> set</a:t>
                      </a:r>
                      <a:endParaRPr lang="en-IN" dirty="0"/>
                    </a:p>
                  </a:txBody>
                  <a:tcPr/>
                </a:tc>
                <a:tc>
                  <a:txBody>
                    <a:bodyPr/>
                    <a:lstStyle/>
                    <a:p>
                      <a:r>
                        <a:rPr lang="en-US" dirty="0" err="1"/>
                        <a:t>Support_count</a:t>
                      </a:r>
                      <a:endParaRPr lang="en-IN" dirty="0"/>
                    </a:p>
                  </a:txBody>
                  <a:tcPr/>
                </a:tc>
                <a:extLst>
                  <a:ext uri="{0D108BD9-81ED-4DB2-BD59-A6C34878D82A}">
                    <a16:rowId xmlns:a16="http://schemas.microsoft.com/office/drawing/2014/main" val="10000"/>
                  </a:ext>
                </a:extLst>
              </a:tr>
              <a:tr h="38951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060272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149723" y="2219459"/>
            <a:ext cx="2845755" cy="2428741"/>
          </a:xfrm>
          <a:prstGeom prst="rect">
            <a:avLst/>
          </a:prstGeom>
        </p:spPr>
      </p:pic>
      <p:sp>
        <p:nvSpPr>
          <p:cNvPr id="5" name="TextBox 4"/>
          <p:cNvSpPr txBox="1"/>
          <p:nvPr/>
        </p:nvSpPr>
        <p:spPr>
          <a:xfrm>
            <a:off x="664196" y="1076459"/>
            <a:ext cx="3437288" cy="461665"/>
          </a:xfrm>
          <a:prstGeom prst="rect">
            <a:avLst/>
          </a:prstGeom>
          <a:noFill/>
        </p:spPr>
        <p:txBody>
          <a:bodyPr wrap="none" rtlCol="0">
            <a:spAutoFit/>
          </a:bodyPr>
          <a:lstStyle/>
          <a:p>
            <a:r>
              <a:rPr lang="en-US" sz="2400" b="1" dirty="0"/>
              <a:t>Step 2: Form item pair</a:t>
            </a:r>
            <a:endParaRPr lang="en-IN" sz="2400" b="1" dirty="0"/>
          </a:p>
        </p:txBody>
      </p:sp>
      <p:sp>
        <p:nvSpPr>
          <p:cNvPr id="6" name="TextBox 5"/>
          <p:cNvSpPr txBox="1"/>
          <p:nvPr/>
        </p:nvSpPr>
        <p:spPr>
          <a:xfrm>
            <a:off x="533400" y="1417638"/>
            <a:ext cx="9203289" cy="461665"/>
          </a:xfrm>
          <a:prstGeom prst="rect">
            <a:avLst/>
          </a:prstGeom>
          <a:noFill/>
        </p:spPr>
        <p:txBody>
          <a:bodyPr wrap="none" rtlCol="0">
            <a:spAutoFit/>
          </a:bodyPr>
          <a:lstStyle/>
          <a:p>
            <a:r>
              <a:rPr lang="en-US" sz="2400" b="1" dirty="0"/>
              <a:t>Minimum support = 40%  or 2 </a:t>
            </a:r>
            <a:r>
              <a:rPr lang="en-US" sz="2400" b="1" dirty="0" err="1"/>
              <a:t>i.e</a:t>
            </a:r>
            <a:r>
              <a:rPr lang="en-US" sz="2400" b="1" dirty="0"/>
              <a:t> 2 Minimum Confidence = 70%</a:t>
            </a:r>
            <a:endParaRPr lang="en-IN" sz="2400" b="1" dirty="0"/>
          </a:p>
        </p:txBody>
      </p:sp>
      <p:sp>
        <p:nvSpPr>
          <p:cNvPr id="9" name="TextBox 8"/>
          <p:cNvSpPr txBox="1"/>
          <p:nvPr/>
        </p:nvSpPr>
        <p:spPr>
          <a:xfrm>
            <a:off x="1752600" y="5943600"/>
            <a:ext cx="4949240" cy="461665"/>
          </a:xfrm>
          <a:prstGeom prst="rect">
            <a:avLst/>
          </a:prstGeom>
          <a:noFill/>
        </p:spPr>
        <p:txBody>
          <a:bodyPr wrap="none" rtlCol="0">
            <a:spAutoFit/>
          </a:bodyPr>
          <a:lstStyle/>
          <a:p>
            <a:r>
              <a:rPr lang="en-US" sz="2400" b="1" dirty="0"/>
              <a:t>Bread, Butter, milk, Diapers, Beer</a:t>
            </a:r>
            <a:endParaRPr lang="en-IN" sz="2400"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4529" y="2157710"/>
            <a:ext cx="3497311" cy="3908367"/>
          </a:xfrm>
          <a:prstGeom prst="rect">
            <a:avLst/>
          </a:prstGeom>
        </p:spPr>
      </p:pic>
    </p:spTree>
    <p:extLst>
      <p:ext uri="{BB962C8B-B14F-4D97-AF65-F5344CB8AC3E}">
        <p14:creationId xmlns:p14="http://schemas.microsoft.com/office/powerpoint/2010/main" val="3908058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149723" y="2219459"/>
            <a:ext cx="2845755" cy="2428741"/>
          </a:xfrm>
          <a:prstGeom prst="rect">
            <a:avLst/>
          </a:prstGeom>
        </p:spPr>
      </p:pic>
      <p:sp>
        <p:nvSpPr>
          <p:cNvPr id="5" name="TextBox 4"/>
          <p:cNvSpPr txBox="1"/>
          <p:nvPr/>
        </p:nvSpPr>
        <p:spPr>
          <a:xfrm>
            <a:off x="664196" y="1076459"/>
            <a:ext cx="3437288" cy="461665"/>
          </a:xfrm>
          <a:prstGeom prst="rect">
            <a:avLst/>
          </a:prstGeom>
          <a:noFill/>
        </p:spPr>
        <p:txBody>
          <a:bodyPr wrap="none" rtlCol="0">
            <a:spAutoFit/>
          </a:bodyPr>
          <a:lstStyle/>
          <a:p>
            <a:r>
              <a:rPr lang="en-US" sz="2400" b="1" dirty="0"/>
              <a:t>Step 2: Form item pair</a:t>
            </a:r>
            <a:endParaRPr lang="en-IN" sz="2400" b="1" dirty="0"/>
          </a:p>
        </p:txBody>
      </p:sp>
      <p:sp>
        <p:nvSpPr>
          <p:cNvPr id="6" name="TextBox 5"/>
          <p:cNvSpPr txBox="1"/>
          <p:nvPr/>
        </p:nvSpPr>
        <p:spPr>
          <a:xfrm>
            <a:off x="533400" y="1417638"/>
            <a:ext cx="8542851" cy="461665"/>
          </a:xfrm>
          <a:prstGeom prst="rect">
            <a:avLst/>
          </a:prstGeom>
          <a:noFill/>
        </p:spPr>
        <p:txBody>
          <a:bodyPr wrap="none" rtlCol="0">
            <a:spAutoFit/>
          </a:bodyPr>
          <a:lstStyle/>
          <a:p>
            <a:r>
              <a:rPr lang="en-US" sz="2400" b="1" dirty="0"/>
              <a:t>Minimum support = 40% </a:t>
            </a:r>
            <a:r>
              <a:rPr lang="en-US" sz="2400" b="1" dirty="0" err="1"/>
              <a:t>i.e</a:t>
            </a:r>
            <a:r>
              <a:rPr lang="en-US" sz="2400" b="1" dirty="0"/>
              <a:t> 2  Minimum Confidence = 70%</a:t>
            </a:r>
            <a:endParaRPr lang="en-IN" sz="2400" b="1" dirty="0"/>
          </a:p>
        </p:txBody>
      </p:sp>
      <p:sp>
        <p:nvSpPr>
          <p:cNvPr id="9" name="TextBox 8"/>
          <p:cNvSpPr txBox="1"/>
          <p:nvPr/>
        </p:nvSpPr>
        <p:spPr>
          <a:xfrm>
            <a:off x="1752600" y="5943600"/>
            <a:ext cx="4949240" cy="461665"/>
          </a:xfrm>
          <a:prstGeom prst="rect">
            <a:avLst/>
          </a:prstGeom>
          <a:noFill/>
        </p:spPr>
        <p:txBody>
          <a:bodyPr wrap="none" rtlCol="0">
            <a:spAutoFit/>
          </a:bodyPr>
          <a:lstStyle/>
          <a:p>
            <a:r>
              <a:rPr lang="en-US" sz="2400" b="1" dirty="0"/>
              <a:t>Bread, Butter, milk, Diapers, Beer</a:t>
            </a:r>
            <a:endParaRPr lang="en-IN" sz="2400"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7936" y="2035233"/>
            <a:ext cx="3497311" cy="390836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7151" y="2054076"/>
            <a:ext cx="2696537" cy="2365524"/>
          </a:xfrm>
          <a:prstGeom prst="rect">
            <a:avLst/>
          </a:prstGeom>
        </p:spPr>
      </p:pic>
    </p:spTree>
    <p:extLst>
      <p:ext uri="{BB962C8B-B14F-4D97-AF65-F5344CB8AC3E}">
        <p14:creationId xmlns:p14="http://schemas.microsoft.com/office/powerpoint/2010/main" val="3513631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0" y="2560638"/>
            <a:ext cx="2845755" cy="3001962"/>
          </a:xfrm>
          <a:prstGeom prst="rect">
            <a:avLst/>
          </a:prstGeom>
        </p:spPr>
      </p:pic>
      <p:sp>
        <p:nvSpPr>
          <p:cNvPr id="5" name="TextBox 4"/>
          <p:cNvSpPr txBox="1"/>
          <p:nvPr/>
        </p:nvSpPr>
        <p:spPr>
          <a:xfrm>
            <a:off x="664196" y="1076459"/>
            <a:ext cx="3607206" cy="461665"/>
          </a:xfrm>
          <a:prstGeom prst="rect">
            <a:avLst/>
          </a:prstGeom>
          <a:noFill/>
        </p:spPr>
        <p:txBody>
          <a:bodyPr wrap="none" rtlCol="0">
            <a:spAutoFit/>
          </a:bodyPr>
          <a:lstStyle/>
          <a:p>
            <a:r>
              <a:rPr lang="en-US" sz="2400" b="1" dirty="0"/>
              <a:t>Step 3: Form 3item pair</a:t>
            </a:r>
            <a:endParaRPr lang="en-IN" sz="2400" b="1" dirty="0"/>
          </a:p>
        </p:txBody>
      </p:sp>
      <p:sp>
        <p:nvSpPr>
          <p:cNvPr id="6" name="TextBox 5"/>
          <p:cNvSpPr txBox="1"/>
          <p:nvPr/>
        </p:nvSpPr>
        <p:spPr>
          <a:xfrm>
            <a:off x="533400" y="1417638"/>
            <a:ext cx="8542851" cy="461665"/>
          </a:xfrm>
          <a:prstGeom prst="rect">
            <a:avLst/>
          </a:prstGeom>
          <a:noFill/>
        </p:spPr>
        <p:txBody>
          <a:bodyPr wrap="none" rtlCol="0">
            <a:spAutoFit/>
          </a:bodyPr>
          <a:lstStyle/>
          <a:p>
            <a:r>
              <a:rPr lang="en-US" sz="2400" b="1" dirty="0"/>
              <a:t>Minimum support = 40% </a:t>
            </a:r>
            <a:r>
              <a:rPr lang="en-US" sz="2400" b="1" dirty="0" err="1"/>
              <a:t>i.e</a:t>
            </a:r>
            <a:r>
              <a:rPr lang="en-US" sz="2400" b="1" dirty="0"/>
              <a:t> 2  Minimum Confidence = 70%</a:t>
            </a:r>
            <a:endParaRPr lang="en-IN" sz="2400" b="1" dirty="0"/>
          </a:p>
        </p:txBody>
      </p:sp>
      <p:sp>
        <p:nvSpPr>
          <p:cNvPr id="9" name="TextBox 8"/>
          <p:cNvSpPr txBox="1"/>
          <p:nvPr/>
        </p:nvSpPr>
        <p:spPr>
          <a:xfrm>
            <a:off x="3505200" y="1879303"/>
            <a:ext cx="4949240" cy="461665"/>
          </a:xfrm>
          <a:prstGeom prst="rect">
            <a:avLst/>
          </a:prstGeom>
          <a:noFill/>
        </p:spPr>
        <p:txBody>
          <a:bodyPr wrap="none" rtlCol="0">
            <a:spAutoFit/>
          </a:bodyPr>
          <a:lstStyle/>
          <a:p>
            <a:r>
              <a:rPr lang="en-US" sz="2400" b="1" dirty="0"/>
              <a:t>Bread, Butter, milk, Diapers, Beer</a:t>
            </a:r>
            <a:endParaRPr lang="en-IN" sz="2400" b="1" dirty="0"/>
          </a:p>
        </p:txBody>
      </p:sp>
      <p:graphicFrame>
        <p:nvGraphicFramePr>
          <p:cNvPr id="10" name="Table 9"/>
          <p:cNvGraphicFramePr>
            <a:graphicFrameLocks noGrp="1"/>
          </p:cNvGraphicFramePr>
          <p:nvPr>
            <p:extLst>
              <p:ext uri="{D42A27DB-BD31-4B8C-83A1-F6EECF244321}">
                <p14:modId xmlns:p14="http://schemas.microsoft.com/office/powerpoint/2010/main" val="97038080"/>
              </p:ext>
            </p:extLst>
          </p:nvPr>
        </p:nvGraphicFramePr>
        <p:xfrm>
          <a:off x="3352800" y="2560638"/>
          <a:ext cx="4499318" cy="779028"/>
        </p:xfrm>
        <a:graphic>
          <a:graphicData uri="http://schemas.openxmlformats.org/drawingml/2006/table">
            <a:tbl>
              <a:tblPr firstRow="1" bandRow="1">
                <a:tableStyleId>{5C22544A-7EE6-4342-B048-85BDC9FD1C3A}</a:tableStyleId>
              </a:tblPr>
              <a:tblGrid>
                <a:gridCol w="2249659">
                  <a:extLst>
                    <a:ext uri="{9D8B030D-6E8A-4147-A177-3AD203B41FA5}">
                      <a16:colId xmlns:a16="http://schemas.microsoft.com/office/drawing/2014/main" val="20000"/>
                    </a:ext>
                  </a:extLst>
                </a:gridCol>
                <a:gridCol w="2249659">
                  <a:extLst>
                    <a:ext uri="{9D8B030D-6E8A-4147-A177-3AD203B41FA5}">
                      <a16:colId xmlns:a16="http://schemas.microsoft.com/office/drawing/2014/main" val="20001"/>
                    </a:ext>
                  </a:extLst>
                </a:gridCol>
              </a:tblGrid>
              <a:tr h="389514">
                <a:tc>
                  <a:txBody>
                    <a:bodyPr/>
                    <a:lstStyle/>
                    <a:p>
                      <a:r>
                        <a:rPr lang="en-US" dirty="0"/>
                        <a:t>3-Item</a:t>
                      </a:r>
                      <a:r>
                        <a:rPr lang="en-US" baseline="0" dirty="0"/>
                        <a:t> set</a:t>
                      </a:r>
                      <a:endParaRPr lang="en-IN" dirty="0"/>
                    </a:p>
                  </a:txBody>
                  <a:tcPr/>
                </a:tc>
                <a:tc>
                  <a:txBody>
                    <a:bodyPr/>
                    <a:lstStyle/>
                    <a:p>
                      <a:r>
                        <a:rPr lang="en-US" dirty="0" err="1"/>
                        <a:t>Support_count</a:t>
                      </a:r>
                      <a:endParaRPr lang="en-IN" dirty="0"/>
                    </a:p>
                  </a:txBody>
                  <a:tcPr/>
                </a:tc>
                <a:extLst>
                  <a:ext uri="{0D108BD9-81ED-4DB2-BD59-A6C34878D82A}">
                    <a16:rowId xmlns:a16="http://schemas.microsoft.com/office/drawing/2014/main" val="10000"/>
                  </a:ext>
                </a:extLst>
              </a:tr>
              <a:tr h="38951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53128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0" y="2560638"/>
            <a:ext cx="2845755" cy="3001962"/>
          </a:xfrm>
          <a:prstGeom prst="rect">
            <a:avLst/>
          </a:prstGeom>
        </p:spPr>
      </p:pic>
      <p:sp>
        <p:nvSpPr>
          <p:cNvPr id="5" name="TextBox 4"/>
          <p:cNvSpPr txBox="1"/>
          <p:nvPr/>
        </p:nvSpPr>
        <p:spPr>
          <a:xfrm>
            <a:off x="664196" y="1076459"/>
            <a:ext cx="3437288" cy="461665"/>
          </a:xfrm>
          <a:prstGeom prst="rect">
            <a:avLst/>
          </a:prstGeom>
          <a:noFill/>
        </p:spPr>
        <p:txBody>
          <a:bodyPr wrap="none" rtlCol="0">
            <a:spAutoFit/>
          </a:bodyPr>
          <a:lstStyle/>
          <a:p>
            <a:r>
              <a:rPr lang="en-US" sz="2400" b="1" dirty="0"/>
              <a:t>Step 2: Form item pair</a:t>
            </a:r>
            <a:endParaRPr lang="en-IN" sz="2400" b="1" dirty="0"/>
          </a:p>
        </p:txBody>
      </p:sp>
      <p:sp>
        <p:nvSpPr>
          <p:cNvPr id="6" name="TextBox 5"/>
          <p:cNvSpPr txBox="1"/>
          <p:nvPr/>
        </p:nvSpPr>
        <p:spPr>
          <a:xfrm>
            <a:off x="533400" y="1417638"/>
            <a:ext cx="8542851" cy="461665"/>
          </a:xfrm>
          <a:prstGeom prst="rect">
            <a:avLst/>
          </a:prstGeom>
          <a:noFill/>
        </p:spPr>
        <p:txBody>
          <a:bodyPr wrap="none" rtlCol="0">
            <a:spAutoFit/>
          </a:bodyPr>
          <a:lstStyle/>
          <a:p>
            <a:r>
              <a:rPr lang="en-US" sz="2400" b="1" dirty="0"/>
              <a:t>Minimum support = 40% </a:t>
            </a:r>
            <a:r>
              <a:rPr lang="en-US" sz="2400" b="1" dirty="0" err="1"/>
              <a:t>i.e</a:t>
            </a:r>
            <a:r>
              <a:rPr lang="en-US" sz="2400" b="1" dirty="0"/>
              <a:t> 2  Minimum Confidence = 70%</a:t>
            </a:r>
            <a:endParaRPr lang="en-IN" sz="2400" b="1" dirty="0"/>
          </a:p>
        </p:txBody>
      </p:sp>
      <p:sp>
        <p:nvSpPr>
          <p:cNvPr id="9" name="TextBox 8"/>
          <p:cNvSpPr txBox="1"/>
          <p:nvPr/>
        </p:nvSpPr>
        <p:spPr>
          <a:xfrm>
            <a:off x="3505200" y="1879303"/>
            <a:ext cx="4949240" cy="461665"/>
          </a:xfrm>
          <a:prstGeom prst="rect">
            <a:avLst/>
          </a:prstGeom>
          <a:noFill/>
        </p:spPr>
        <p:txBody>
          <a:bodyPr wrap="none" rtlCol="0">
            <a:spAutoFit/>
          </a:bodyPr>
          <a:lstStyle/>
          <a:p>
            <a:r>
              <a:rPr lang="en-US" sz="2400" b="1" dirty="0"/>
              <a:t>Bread, Butter, milk, Diapers, Beer</a:t>
            </a:r>
            <a:endParaRPr lang="en-IN" sz="2400" b="1" dirty="0"/>
          </a:p>
        </p:txBody>
      </p:sp>
      <p:pic>
        <p:nvPicPr>
          <p:cNvPr id="8" name="Picture 7"/>
          <p:cNvPicPr>
            <a:picLocks noChangeAspect="1"/>
          </p:cNvPicPr>
          <p:nvPr/>
        </p:nvPicPr>
        <p:blipFill>
          <a:blip r:embed="rId3"/>
          <a:stretch>
            <a:fillRect/>
          </a:stretch>
        </p:blipFill>
        <p:spPr>
          <a:xfrm>
            <a:off x="3211950" y="2339945"/>
            <a:ext cx="5535740" cy="4297362"/>
          </a:xfrm>
          <a:prstGeom prst="rect">
            <a:avLst/>
          </a:prstGeom>
        </p:spPr>
      </p:pic>
    </p:spTree>
    <p:extLst>
      <p:ext uri="{BB962C8B-B14F-4D97-AF65-F5344CB8AC3E}">
        <p14:creationId xmlns:p14="http://schemas.microsoft.com/office/powerpoint/2010/main" val="3317230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0" y="2339945"/>
            <a:ext cx="2845755" cy="3001962"/>
          </a:xfrm>
          <a:prstGeom prst="rect">
            <a:avLst/>
          </a:prstGeom>
        </p:spPr>
      </p:pic>
      <p:sp>
        <p:nvSpPr>
          <p:cNvPr id="5" name="TextBox 4"/>
          <p:cNvSpPr txBox="1"/>
          <p:nvPr/>
        </p:nvSpPr>
        <p:spPr>
          <a:xfrm>
            <a:off x="664196" y="1076459"/>
            <a:ext cx="3437288" cy="461665"/>
          </a:xfrm>
          <a:prstGeom prst="rect">
            <a:avLst/>
          </a:prstGeom>
          <a:noFill/>
        </p:spPr>
        <p:txBody>
          <a:bodyPr wrap="none" rtlCol="0">
            <a:spAutoFit/>
          </a:bodyPr>
          <a:lstStyle/>
          <a:p>
            <a:r>
              <a:rPr lang="en-US" sz="2400" b="1" dirty="0"/>
              <a:t>Step 2: Form item pair</a:t>
            </a:r>
            <a:endParaRPr lang="en-IN" sz="2400" b="1" dirty="0"/>
          </a:p>
        </p:txBody>
      </p:sp>
      <p:sp>
        <p:nvSpPr>
          <p:cNvPr id="6" name="TextBox 5"/>
          <p:cNvSpPr txBox="1"/>
          <p:nvPr/>
        </p:nvSpPr>
        <p:spPr>
          <a:xfrm>
            <a:off x="533400" y="1417638"/>
            <a:ext cx="8542851" cy="461665"/>
          </a:xfrm>
          <a:prstGeom prst="rect">
            <a:avLst/>
          </a:prstGeom>
          <a:noFill/>
        </p:spPr>
        <p:txBody>
          <a:bodyPr wrap="none" rtlCol="0">
            <a:spAutoFit/>
          </a:bodyPr>
          <a:lstStyle/>
          <a:p>
            <a:r>
              <a:rPr lang="en-US" sz="2400" b="1" dirty="0"/>
              <a:t>Minimum support = 40% </a:t>
            </a:r>
            <a:r>
              <a:rPr lang="en-US" sz="2400" b="1" dirty="0" err="1"/>
              <a:t>i.e</a:t>
            </a:r>
            <a:r>
              <a:rPr lang="en-US" sz="2400" b="1" dirty="0"/>
              <a:t> 2  Minimum Confidence = 70%</a:t>
            </a:r>
            <a:endParaRPr lang="en-IN" sz="2400" b="1" dirty="0"/>
          </a:p>
        </p:txBody>
      </p:sp>
      <p:sp>
        <p:nvSpPr>
          <p:cNvPr id="9" name="TextBox 8"/>
          <p:cNvSpPr txBox="1"/>
          <p:nvPr/>
        </p:nvSpPr>
        <p:spPr>
          <a:xfrm>
            <a:off x="3505200" y="1879303"/>
            <a:ext cx="4949240" cy="461665"/>
          </a:xfrm>
          <a:prstGeom prst="rect">
            <a:avLst/>
          </a:prstGeom>
          <a:noFill/>
        </p:spPr>
        <p:txBody>
          <a:bodyPr wrap="none" rtlCol="0">
            <a:spAutoFit/>
          </a:bodyPr>
          <a:lstStyle/>
          <a:p>
            <a:r>
              <a:rPr lang="en-US" sz="2400" b="1" dirty="0"/>
              <a:t>Bread, Butter, milk, Diapers, Beer</a:t>
            </a:r>
            <a:endParaRPr lang="en-IN" sz="2400" b="1" dirty="0"/>
          </a:p>
        </p:txBody>
      </p:sp>
      <p:pic>
        <p:nvPicPr>
          <p:cNvPr id="8" name="Picture 7"/>
          <p:cNvPicPr>
            <a:picLocks noChangeAspect="1"/>
          </p:cNvPicPr>
          <p:nvPr/>
        </p:nvPicPr>
        <p:blipFill>
          <a:blip r:embed="rId3"/>
          <a:stretch>
            <a:fillRect/>
          </a:stretch>
        </p:blipFill>
        <p:spPr>
          <a:xfrm>
            <a:off x="2836377" y="2340391"/>
            <a:ext cx="5535740" cy="3222209"/>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2840" y="5775586"/>
            <a:ext cx="5528129" cy="777614"/>
          </a:xfrm>
          <a:prstGeom prst="rect">
            <a:avLst/>
          </a:prstGeom>
        </p:spPr>
      </p:pic>
    </p:spTree>
    <p:extLst>
      <p:ext uri="{BB962C8B-B14F-4D97-AF65-F5344CB8AC3E}">
        <p14:creationId xmlns:p14="http://schemas.microsoft.com/office/powerpoint/2010/main" val="36983280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5184648" y="3547269"/>
            <a:ext cx="2845755" cy="3001962"/>
          </a:xfrm>
          <a:prstGeom prst="rect">
            <a:avLst/>
          </a:prstGeom>
        </p:spPr>
      </p:pic>
      <p:sp>
        <p:nvSpPr>
          <p:cNvPr id="5" name="TextBox 4"/>
          <p:cNvSpPr txBox="1"/>
          <p:nvPr/>
        </p:nvSpPr>
        <p:spPr>
          <a:xfrm>
            <a:off x="304800" y="1202567"/>
            <a:ext cx="9381051" cy="830997"/>
          </a:xfrm>
          <a:prstGeom prst="rect">
            <a:avLst/>
          </a:prstGeom>
          <a:noFill/>
        </p:spPr>
        <p:txBody>
          <a:bodyPr wrap="square" rtlCol="0">
            <a:spAutoFit/>
          </a:bodyPr>
          <a:lstStyle/>
          <a:p>
            <a:r>
              <a:rPr lang="en-US" sz="2400" b="1" dirty="0"/>
              <a:t>Step 3: Association Rules and select </a:t>
            </a:r>
            <a:r>
              <a:rPr lang="en-US" sz="2400" b="1" dirty="0" err="1"/>
              <a:t>srong</a:t>
            </a:r>
            <a:r>
              <a:rPr lang="en-US" sz="2400" b="1" dirty="0"/>
              <a:t> association rules </a:t>
            </a:r>
          </a:p>
          <a:p>
            <a:r>
              <a:rPr lang="en-US" sz="2400" b="1" dirty="0"/>
              <a:t>among them based on confidence</a:t>
            </a:r>
            <a:endParaRPr lang="en-IN" sz="2400" b="1" dirty="0"/>
          </a:p>
        </p:txBody>
      </p:sp>
      <p:sp>
        <p:nvSpPr>
          <p:cNvPr id="6" name="TextBox 5"/>
          <p:cNvSpPr txBox="1"/>
          <p:nvPr/>
        </p:nvSpPr>
        <p:spPr>
          <a:xfrm>
            <a:off x="0" y="1907289"/>
            <a:ext cx="8542851" cy="461665"/>
          </a:xfrm>
          <a:prstGeom prst="rect">
            <a:avLst/>
          </a:prstGeom>
          <a:noFill/>
        </p:spPr>
        <p:txBody>
          <a:bodyPr wrap="none" rtlCol="0">
            <a:spAutoFit/>
          </a:bodyPr>
          <a:lstStyle/>
          <a:p>
            <a:r>
              <a:rPr lang="en-US" sz="2400" b="1" dirty="0"/>
              <a:t>Minimum support = 40% </a:t>
            </a:r>
            <a:r>
              <a:rPr lang="en-US" sz="2400" b="1" dirty="0" err="1"/>
              <a:t>i.e</a:t>
            </a:r>
            <a:r>
              <a:rPr lang="en-US" sz="2400" b="1" dirty="0"/>
              <a:t> 2  Minimum Confidence = 70%</a:t>
            </a:r>
            <a:endParaRPr lang="en-IN" sz="2400"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404367"/>
            <a:ext cx="5528129" cy="777614"/>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400" y="3238500"/>
            <a:ext cx="3629025" cy="3619500"/>
          </a:xfrm>
          <a:prstGeom prst="rect">
            <a:avLst/>
          </a:prstGeom>
        </p:spPr>
      </p:pic>
    </p:spTree>
    <p:extLst>
      <p:ext uri="{BB962C8B-B14F-4D97-AF65-F5344CB8AC3E}">
        <p14:creationId xmlns:p14="http://schemas.microsoft.com/office/powerpoint/2010/main" val="32774723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Apriori</a:t>
            </a:r>
            <a:r>
              <a:rPr lang="en-GB" dirty="0"/>
              <a:t> </a:t>
            </a:r>
            <a:r>
              <a:rPr lang="en-US" dirty="0"/>
              <a:t>algorithm Example-2</a:t>
            </a:r>
            <a:endParaRPr lang="en-IN" dirty="0"/>
          </a:p>
        </p:txBody>
      </p:sp>
      <p:pic>
        <p:nvPicPr>
          <p:cNvPr id="4" name="Content Placeholder 3"/>
          <p:cNvPicPr>
            <a:picLocks noGrp="1" noChangeAspect="1"/>
          </p:cNvPicPr>
          <p:nvPr>
            <p:ph idx="1"/>
          </p:nvPr>
        </p:nvPicPr>
        <p:blipFill>
          <a:blip r:embed="rId2"/>
          <a:stretch>
            <a:fillRect/>
          </a:stretch>
        </p:blipFill>
        <p:spPr>
          <a:xfrm>
            <a:off x="4191000" y="3215113"/>
            <a:ext cx="2590800" cy="2733012"/>
          </a:xfrm>
          <a:prstGeom prst="rect">
            <a:avLst/>
          </a:prstGeom>
        </p:spPr>
      </p:pic>
      <p:sp>
        <p:nvSpPr>
          <p:cNvPr id="5" name="TextBox 4"/>
          <p:cNvSpPr txBox="1"/>
          <p:nvPr/>
        </p:nvSpPr>
        <p:spPr>
          <a:xfrm>
            <a:off x="304800" y="1202567"/>
            <a:ext cx="9381051" cy="830997"/>
          </a:xfrm>
          <a:prstGeom prst="rect">
            <a:avLst/>
          </a:prstGeom>
          <a:noFill/>
        </p:spPr>
        <p:txBody>
          <a:bodyPr wrap="square" rtlCol="0">
            <a:spAutoFit/>
          </a:bodyPr>
          <a:lstStyle/>
          <a:p>
            <a:r>
              <a:rPr lang="en-US" sz="2400" b="1" dirty="0"/>
              <a:t>Step 3: Association Rules and select </a:t>
            </a:r>
            <a:r>
              <a:rPr lang="en-US" sz="2400" b="1" dirty="0" err="1"/>
              <a:t>srong</a:t>
            </a:r>
            <a:r>
              <a:rPr lang="en-US" sz="2400" b="1" dirty="0"/>
              <a:t> association rules </a:t>
            </a:r>
          </a:p>
          <a:p>
            <a:r>
              <a:rPr lang="en-US" sz="2400" b="1" dirty="0"/>
              <a:t>among them based on confidence</a:t>
            </a:r>
            <a:endParaRPr lang="en-IN" sz="2400" b="1" dirty="0"/>
          </a:p>
        </p:txBody>
      </p:sp>
      <p:sp>
        <p:nvSpPr>
          <p:cNvPr id="6" name="TextBox 5"/>
          <p:cNvSpPr txBox="1"/>
          <p:nvPr/>
        </p:nvSpPr>
        <p:spPr>
          <a:xfrm>
            <a:off x="0" y="1907289"/>
            <a:ext cx="8542851" cy="461665"/>
          </a:xfrm>
          <a:prstGeom prst="rect">
            <a:avLst/>
          </a:prstGeom>
          <a:noFill/>
        </p:spPr>
        <p:txBody>
          <a:bodyPr wrap="none" rtlCol="0">
            <a:spAutoFit/>
          </a:bodyPr>
          <a:lstStyle/>
          <a:p>
            <a:r>
              <a:rPr lang="en-US" sz="2400" b="1" dirty="0"/>
              <a:t>Minimum support = 40% </a:t>
            </a:r>
            <a:r>
              <a:rPr lang="en-US" sz="2400" b="1" dirty="0" err="1"/>
              <a:t>i.e</a:t>
            </a:r>
            <a:r>
              <a:rPr lang="en-US" sz="2400" b="1" dirty="0"/>
              <a:t> 2  Minimum Confidence = 70%</a:t>
            </a:r>
            <a:endParaRPr lang="en-IN" sz="2400"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0583" y="2287184"/>
            <a:ext cx="5528129" cy="674309"/>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122018169"/>
              </p:ext>
            </p:extLst>
          </p:nvPr>
        </p:nvGraphicFramePr>
        <p:xfrm>
          <a:off x="1143000" y="3073676"/>
          <a:ext cx="7790688" cy="3403325"/>
        </p:xfrm>
        <a:graphic>
          <a:graphicData uri="http://schemas.openxmlformats.org/drawingml/2006/table">
            <a:tbl>
              <a:tblPr firstRow="1" bandRow="1">
                <a:tableStyleId>{5C22544A-7EE6-4342-B048-85BDC9FD1C3A}</a:tableStyleId>
              </a:tblPr>
              <a:tblGrid>
                <a:gridCol w="3521560">
                  <a:extLst>
                    <a:ext uri="{9D8B030D-6E8A-4147-A177-3AD203B41FA5}">
                      <a16:colId xmlns:a16="http://schemas.microsoft.com/office/drawing/2014/main" val="20000"/>
                    </a:ext>
                  </a:extLst>
                </a:gridCol>
                <a:gridCol w="2218379">
                  <a:extLst>
                    <a:ext uri="{9D8B030D-6E8A-4147-A177-3AD203B41FA5}">
                      <a16:colId xmlns:a16="http://schemas.microsoft.com/office/drawing/2014/main" val="20001"/>
                    </a:ext>
                  </a:extLst>
                </a:gridCol>
                <a:gridCol w="2050749">
                  <a:extLst>
                    <a:ext uri="{9D8B030D-6E8A-4147-A177-3AD203B41FA5}">
                      <a16:colId xmlns:a16="http://schemas.microsoft.com/office/drawing/2014/main" val="20002"/>
                    </a:ext>
                  </a:extLst>
                </a:gridCol>
              </a:tblGrid>
              <a:tr h="584897">
                <a:tc>
                  <a:txBody>
                    <a:bodyPr/>
                    <a:lstStyle/>
                    <a:p>
                      <a:r>
                        <a:rPr lang="en-US" dirty="0"/>
                        <a:t>Rule</a:t>
                      </a:r>
                      <a:endParaRPr lang="en-IN" dirty="0"/>
                    </a:p>
                  </a:txBody>
                  <a:tcPr/>
                </a:tc>
                <a:tc>
                  <a:txBody>
                    <a:bodyPr/>
                    <a:lstStyle/>
                    <a:p>
                      <a:r>
                        <a:rPr lang="en-US" dirty="0"/>
                        <a:t>Support</a:t>
                      </a:r>
                      <a:endParaRPr lang="en-IN" dirty="0"/>
                    </a:p>
                  </a:txBody>
                  <a:tcPr/>
                </a:tc>
                <a:tc>
                  <a:txBody>
                    <a:bodyPr/>
                    <a:lstStyle/>
                    <a:p>
                      <a:r>
                        <a:rPr lang="en-US" dirty="0"/>
                        <a:t>Confidence</a:t>
                      </a:r>
                      <a:endParaRPr lang="en-IN" dirty="0"/>
                    </a:p>
                  </a:txBody>
                  <a:tcPr/>
                </a:tc>
                <a:extLst>
                  <a:ext uri="{0D108BD9-81ED-4DB2-BD59-A6C34878D82A}">
                    <a16:rowId xmlns:a16="http://schemas.microsoft.com/office/drawing/2014/main" val="10000"/>
                  </a:ext>
                </a:extLst>
              </a:tr>
              <a:tr h="469738">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1"/>
                  </a:ext>
                </a:extLst>
              </a:tr>
              <a:tr h="469738">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2"/>
                  </a:ext>
                </a:extLst>
              </a:tr>
              <a:tr h="469738">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3"/>
                  </a:ext>
                </a:extLst>
              </a:tr>
              <a:tr h="469738">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4"/>
                  </a:ext>
                </a:extLst>
              </a:tr>
              <a:tr h="469738">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5"/>
                  </a:ext>
                </a:extLst>
              </a:tr>
              <a:tr h="469738">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43251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lstStyle/>
          <a:p>
            <a:r>
              <a:rPr lang="en-US" dirty="0"/>
              <a:t>Assignments </a:t>
            </a:r>
            <a:endParaRPr lang="en-IN" dirty="0"/>
          </a:p>
        </p:txBody>
      </p:sp>
      <p:sp>
        <p:nvSpPr>
          <p:cNvPr id="3" name="Content Placeholder 2"/>
          <p:cNvSpPr>
            <a:spLocks noGrp="1"/>
          </p:cNvSpPr>
          <p:nvPr>
            <p:ph idx="1"/>
          </p:nvPr>
        </p:nvSpPr>
        <p:spPr>
          <a:xfrm>
            <a:off x="1066800" y="1066800"/>
            <a:ext cx="8077200" cy="5181600"/>
          </a:xfrm>
        </p:spPr>
        <p:txBody>
          <a:bodyPr/>
          <a:lstStyle/>
          <a:p>
            <a:pPr>
              <a:buNone/>
            </a:pPr>
            <a:r>
              <a:rPr lang="en-US" dirty="0"/>
              <a:t>Q. 3 Find frequent </a:t>
            </a:r>
            <a:r>
              <a:rPr lang="en-US" dirty="0" err="1"/>
              <a:t>itemset</a:t>
            </a:r>
            <a:r>
              <a:rPr lang="en-US" dirty="0"/>
              <a:t> and generate strong association rules with min support=40% and minimum threshold confidence=60%.</a:t>
            </a:r>
          </a:p>
          <a:p>
            <a:pPr>
              <a:buNone/>
            </a:pPr>
            <a:r>
              <a:rPr lang="en-US" dirty="0"/>
              <a:t>                                      </a:t>
            </a:r>
            <a:r>
              <a:rPr lang="en-US" sz="1600" dirty="0"/>
              <a:t>min support count=(</a:t>
            </a:r>
            <a:r>
              <a:rPr lang="en-US" sz="1600" dirty="0" err="1"/>
              <a:t>min_supp%X</a:t>
            </a:r>
            <a:r>
              <a:rPr lang="en-US" sz="1600" dirty="0"/>
              <a:t> T)/100</a:t>
            </a:r>
          </a:p>
          <a:p>
            <a:pPr>
              <a:buNone/>
            </a:pPr>
            <a:r>
              <a:rPr lang="en-US" sz="1600" dirty="0"/>
              <a:t>                                                                                                                min support count=3</a:t>
            </a:r>
          </a:p>
          <a:p>
            <a:pPr>
              <a:buNone/>
            </a:pPr>
            <a:endParaRPr lang="en-IN" sz="1200" dirty="0"/>
          </a:p>
        </p:txBody>
      </p:sp>
      <p:graphicFrame>
        <p:nvGraphicFramePr>
          <p:cNvPr id="6" name="Object 21"/>
          <p:cNvGraphicFramePr>
            <a:graphicFrameLocks noGrp="1" noChangeAspect="1"/>
          </p:cNvGraphicFramePr>
          <p:nvPr/>
        </p:nvGraphicFramePr>
        <p:xfrm>
          <a:off x="1671638" y="2822575"/>
          <a:ext cx="3689350" cy="3246438"/>
        </p:xfrm>
        <a:graphic>
          <a:graphicData uri="http://schemas.openxmlformats.org/presentationml/2006/ole">
            <mc:AlternateContent xmlns:mc="http://schemas.openxmlformats.org/markup-compatibility/2006">
              <mc:Choice xmlns:v="urn:schemas-microsoft-com:vml" Requires="v">
                <p:oleObj spid="_x0000_s84016" name="Document" r:id="rId3" imgW="3817832" imgH="3227340" progId="Word.Document.8">
                  <p:embed/>
                </p:oleObj>
              </mc:Choice>
              <mc:Fallback>
                <p:oleObj name="Document" r:id="rId3" imgW="3817832" imgH="3227340" progId="Word.Document.8">
                  <p:embed/>
                  <p:pic>
                    <p:nvPicPr>
                      <p:cNvPr id="0" name="Picture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1638" y="2822575"/>
                        <a:ext cx="3689350" cy="3246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066800"/>
            <a:ext cx="8001000" cy="5181600"/>
          </a:xfrm>
        </p:spPr>
        <p:txBody>
          <a:bodyPr/>
          <a:lstStyle/>
          <a:p>
            <a:pPr>
              <a:buNone/>
            </a:pPr>
            <a:r>
              <a:rPr lang="en-US" dirty="0"/>
              <a:t>Q4 . Find frequent </a:t>
            </a:r>
            <a:r>
              <a:rPr lang="en-US" dirty="0" err="1"/>
              <a:t>itemset</a:t>
            </a:r>
            <a:r>
              <a:rPr lang="en-US" dirty="0"/>
              <a:t> and generate strong association rules with min support count=2 and minimum threshold confidence=70%.</a:t>
            </a:r>
            <a:endParaRPr lang="en-IN" dirty="0"/>
          </a:p>
        </p:txBody>
      </p:sp>
      <p:graphicFrame>
        <p:nvGraphicFramePr>
          <p:cNvPr id="82946" name="Object 21"/>
          <p:cNvGraphicFramePr>
            <a:graphicFrameLocks noGrp="1" noChangeAspect="1"/>
          </p:cNvGraphicFramePr>
          <p:nvPr/>
        </p:nvGraphicFramePr>
        <p:xfrm>
          <a:off x="1985963" y="2822575"/>
          <a:ext cx="3721100" cy="3546475"/>
        </p:xfrm>
        <a:graphic>
          <a:graphicData uri="http://schemas.openxmlformats.org/presentationml/2006/ole">
            <mc:AlternateContent xmlns:mc="http://schemas.openxmlformats.org/markup-compatibility/2006">
              <mc:Choice xmlns:v="urn:schemas-microsoft-com:vml" Requires="v">
                <p:oleObj spid="_x0000_s82990" name="Document" r:id="rId3" imgW="3513053" imgH="3217606" progId="Word.Document.8">
                  <p:embed/>
                </p:oleObj>
              </mc:Choice>
              <mc:Fallback>
                <p:oleObj name="Document" r:id="rId3" imgW="3513053" imgH="3217606" progId="Word.Document.8">
                  <p:embed/>
                  <p:pic>
                    <p:nvPicPr>
                      <p:cNvPr id="0" name="Object 2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5963" y="2822575"/>
                        <a:ext cx="3721100" cy="354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itle 1"/>
          <p:cNvSpPr txBox="1">
            <a:spLocks/>
          </p:cNvSpPr>
          <p:nvPr/>
        </p:nvSpPr>
        <p:spPr>
          <a:xfrm>
            <a:off x="1225296" y="0"/>
            <a:ext cx="7498080" cy="1143000"/>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err="1"/>
              <a:t>Apriori</a:t>
            </a:r>
            <a:r>
              <a:rPr lang="en-GB" dirty="0"/>
              <a:t> </a:t>
            </a:r>
            <a:r>
              <a:rPr lang="en-US" dirty="0"/>
              <a:t>algorithm Example-4</a:t>
            </a:r>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838200"/>
            <a:ext cx="8458200" cy="5410200"/>
          </a:xfrm>
        </p:spPr>
        <p:txBody>
          <a:bodyPr>
            <a:normAutofit/>
          </a:bodyPr>
          <a:lstStyle/>
          <a:p>
            <a:pPr>
              <a:buNone/>
            </a:pPr>
            <a:r>
              <a:rPr lang="en-US" sz="2400" dirty="0"/>
              <a:t>Q4 . Find frequent </a:t>
            </a:r>
            <a:r>
              <a:rPr lang="en-US" sz="2400" dirty="0" err="1"/>
              <a:t>itemset</a:t>
            </a:r>
            <a:r>
              <a:rPr lang="en-US" sz="2400" dirty="0"/>
              <a:t> and generate strong association rules with min support count=2 or 2/9=22%   and minimum threshold confidence=70%.</a:t>
            </a:r>
            <a:endParaRPr lang="en-IN" sz="2400" dirty="0"/>
          </a:p>
        </p:txBody>
      </p:sp>
      <p:graphicFrame>
        <p:nvGraphicFramePr>
          <p:cNvPr id="82946" name="Object 21"/>
          <p:cNvGraphicFramePr>
            <a:graphicFrameLocks noGrp="1" noChangeAspect="1"/>
          </p:cNvGraphicFramePr>
          <p:nvPr>
            <p:extLst>
              <p:ext uri="{D42A27DB-BD31-4B8C-83A1-F6EECF244321}">
                <p14:modId xmlns:p14="http://schemas.microsoft.com/office/powerpoint/2010/main" val="4183732257"/>
              </p:ext>
            </p:extLst>
          </p:nvPr>
        </p:nvGraphicFramePr>
        <p:xfrm>
          <a:off x="152400" y="1990578"/>
          <a:ext cx="3809662" cy="3630881"/>
        </p:xfrm>
        <a:graphic>
          <a:graphicData uri="http://schemas.openxmlformats.org/presentationml/2006/ole">
            <mc:AlternateContent xmlns:mc="http://schemas.openxmlformats.org/markup-compatibility/2006">
              <mc:Choice xmlns:v="urn:schemas-microsoft-com:vml" Requires="v">
                <p:oleObj spid="_x0000_s115723" name="Document" r:id="rId3" imgW="3513053" imgH="3217606" progId="Word.Document.8">
                  <p:embed/>
                </p:oleObj>
              </mc:Choice>
              <mc:Fallback>
                <p:oleObj name="Document" r:id="rId3" imgW="3513053" imgH="3217606" progId="Word.Document.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990578"/>
                        <a:ext cx="3809662" cy="3630881"/>
                      </a:xfrm>
                      <a:prstGeom prst="rect">
                        <a:avLst/>
                      </a:prstGeom>
                      <a:noFill/>
                      <a:extLst/>
                    </p:spPr>
                  </p:pic>
                </p:oleObj>
              </mc:Fallback>
            </mc:AlternateContent>
          </a:graphicData>
        </a:graphic>
      </p:graphicFrame>
      <p:sp>
        <p:nvSpPr>
          <p:cNvPr id="5" name="Title 1"/>
          <p:cNvSpPr txBox="1">
            <a:spLocks/>
          </p:cNvSpPr>
          <p:nvPr/>
        </p:nvSpPr>
        <p:spPr>
          <a:xfrm>
            <a:off x="1225296" y="0"/>
            <a:ext cx="7498080" cy="1143000"/>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sz="3600" dirty="0" err="1"/>
              <a:t>Apriori</a:t>
            </a:r>
            <a:r>
              <a:rPr lang="en-GB" sz="3600" dirty="0"/>
              <a:t> </a:t>
            </a:r>
            <a:r>
              <a:rPr lang="en-US" sz="3600" dirty="0"/>
              <a:t>algorithm Example-4</a:t>
            </a:r>
            <a:endParaRPr lang="en-IN" sz="3600" dirty="0"/>
          </a:p>
        </p:txBody>
      </p:sp>
      <p:graphicFrame>
        <p:nvGraphicFramePr>
          <p:cNvPr id="6" name="Content Placeholder 5"/>
          <p:cNvGraphicFramePr>
            <a:graphicFrameLocks/>
          </p:cNvGraphicFramePr>
          <p:nvPr>
            <p:extLst>
              <p:ext uri="{D42A27DB-BD31-4B8C-83A1-F6EECF244321}">
                <p14:modId xmlns:p14="http://schemas.microsoft.com/office/powerpoint/2010/main" val="3783150633"/>
              </p:ext>
            </p:extLst>
          </p:nvPr>
        </p:nvGraphicFramePr>
        <p:xfrm>
          <a:off x="4953000" y="1919498"/>
          <a:ext cx="3770376" cy="4557504"/>
        </p:xfrm>
        <a:graphic>
          <a:graphicData uri="http://schemas.openxmlformats.org/drawingml/2006/table">
            <a:tbl>
              <a:tblPr firstRow="1" bandRow="1">
                <a:tableStyleId>{5C22544A-7EE6-4342-B048-85BDC9FD1C3A}</a:tableStyleId>
              </a:tblPr>
              <a:tblGrid>
                <a:gridCol w="1885188">
                  <a:extLst>
                    <a:ext uri="{9D8B030D-6E8A-4147-A177-3AD203B41FA5}">
                      <a16:colId xmlns:a16="http://schemas.microsoft.com/office/drawing/2014/main" val="20000"/>
                    </a:ext>
                  </a:extLst>
                </a:gridCol>
                <a:gridCol w="1885188">
                  <a:extLst>
                    <a:ext uri="{9D8B030D-6E8A-4147-A177-3AD203B41FA5}">
                      <a16:colId xmlns:a16="http://schemas.microsoft.com/office/drawing/2014/main" val="20001"/>
                    </a:ext>
                  </a:extLst>
                </a:gridCol>
              </a:tblGrid>
              <a:tr h="759584">
                <a:tc>
                  <a:txBody>
                    <a:bodyPr/>
                    <a:lstStyle/>
                    <a:p>
                      <a:r>
                        <a:rPr lang="en-US" dirty="0"/>
                        <a:t>Items</a:t>
                      </a:r>
                      <a:endParaRPr lang="en-IN" dirty="0"/>
                    </a:p>
                  </a:txBody>
                  <a:tcPr/>
                </a:tc>
                <a:tc>
                  <a:txBody>
                    <a:bodyPr/>
                    <a:lstStyle/>
                    <a:p>
                      <a:r>
                        <a:rPr lang="en-US" dirty="0"/>
                        <a:t>Support count</a:t>
                      </a:r>
                      <a:endParaRPr lang="en-IN" dirty="0"/>
                    </a:p>
                  </a:txBody>
                  <a:tcPr/>
                </a:tc>
                <a:extLst>
                  <a:ext uri="{0D108BD9-81ED-4DB2-BD59-A6C34878D82A}">
                    <a16:rowId xmlns:a16="http://schemas.microsoft.com/office/drawing/2014/main" val="10000"/>
                  </a:ext>
                </a:extLst>
              </a:tr>
              <a:tr h="759584">
                <a:tc>
                  <a:txBody>
                    <a:bodyPr/>
                    <a:lstStyle/>
                    <a:p>
                      <a:endParaRPr lang="en-IN" dirty="0"/>
                    </a:p>
                  </a:txBody>
                  <a:tcPr/>
                </a:tc>
                <a:tc>
                  <a:txBody>
                    <a:bodyPr/>
                    <a:lstStyle/>
                    <a:p>
                      <a:endParaRPr lang="en-IN"/>
                    </a:p>
                  </a:txBody>
                  <a:tcPr/>
                </a:tc>
                <a:extLst>
                  <a:ext uri="{0D108BD9-81ED-4DB2-BD59-A6C34878D82A}">
                    <a16:rowId xmlns:a16="http://schemas.microsoft.com/office/drawing/2014/main" val="10001"/>
                  </a:ext>
                </a:extLst>
              </a:tr>
              <a:tr h="759584">
                <a:tc>
                  <a:txBody>
                    <a:bodyPr/>
                    <a:lstStyle/>
                    <a:p>
                      <a:endParaRPr lang="en-IN" dirty="0"/>
                    </a:p>
                  </a:txBody>
                  <a:tcPr/>
                </a:tc>
                <a:tc>
                  <a:txBody>
                    <a:bodyPr/>
                    <a:lstStyle/>
                    <a:p>
                      <a:endParaRPr lang="en-IN"/>
                    </a:p>
                  </a:txBody>
                  <a:tcPr/>
                </a:tc>
                <a:extLst>
                  <a:ext uri="{0D108BD9-81ED-4DB2-BD59-A6C34878D82A}">
                    <a16:rowId xmlns:a16="http://schemas.microsoft.com/office/drawing/2014/main" val="10002"/>
                  </a:ext>
                </a:extLst>
              </a:tr>
              <a:tr h="75958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3"/>
                  </a:ext>
                </a:extLst>
              </a:tr>
              <a:tr h="75958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4"/>
                  </a:ext>
                </a:extLst>
              </a:tr>
              <a:tr h="75958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556830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838200"/>
            <a:ext cx="8458200" cy="5410200"/>
          </a:xfrm>
        </p:spPr>
        <p:txBody>
          <a:bodyPr>
            <a:normAutofit fontScale="92500" lnSpcReduction="10000"/>
          </a:bodyPr>
          <a:lstStyle/>
          <a:p>
            <a:pPr fontAlgn="base"/>
            <a:r>
              <a:rPr lang="en-US" sz="2400" b="1" dirty="0"/>
              <a:t>Methods To Improve </a:t>
            </a:r>
            <a:r>
              <a:rPr lang="en-US" sz="2400" b="1" dirty="0" err="1"/>
              <a:t>Apriori's</a:t>
            </a:r>
            <a:r>
              <a:rPr lang="en-US" sz="2400" b="1" dirty="0"/>
              <a:t> Efficiency</a:t>
            </a:r>
          </a:p>
          <a:p>
            <a:pPr fontAlgn="base"/>
            <a:r>
              <a:rPr lang="en-US" sz="2400" b="1" dirty="0"/>
              <a:t>Hash-based </a:t>
            </a:r>
            <a:r>
              <a:rPr lang="en-US" sz="2400" b="1" dirty="0" err="1"/>
              <a:t>itemset</a:t>
            </a:r>
            <a:r>
              <a:rPr lang="en-US" sz="2400" b="1" dirty="0"/>
              <a:t> counting</a:t>
            </a:r>
            <a:r>
              <a:rPr lang="en-US" sz="2400" dirty="0"/>
              <a:t>: A k-</a:t>
            </a:r>
            <a:r>
              <a:rPr lang="en-US" sz="2400" dirty="0" err="1"/>
              <a:t>itemset</a:t>
            </a:r>
            <a:r>
              <a:rPr lang="en-US" sz="2400" dirty="0"/>
              <a:t> whose corresponding hashing bucket count is below the threshold cannot be frequent.</a:t>
            </a:r>
          </a:p>
          <a:p>
            <a:pPr fontAlgn="base"/>
            <a:br>
              <a:rPr lang="en-US" sz="2400" dirty="0"/>
            </a:br>
            <a:r>
              <a:rPr lang="en-US" sz="2400" b="1" dirty="0"/>
              <a:t>Transaction reduction</a:t>
            </a:r>
            <a:r>
              <a:rPr lang="en-US" sz="2400" dirty="0"/>
              <a:t>: A transaction that does not contain any frequent k-</a:t>
            </a:r>
            <a:r>
              <a:rPr lang="en-US" sz="2400" dirty="0" err="1"/>
              <a:t>itemset</a:t>
            </a:r>
            <a:r>
              <a:rPr lang="en-US" sz="2400" dirty="0"/>
              <a:t> is useless in subsequent scans.</a:t>
            </a:r>
          </a:p>
          <a:p>
            <a:pPr fontAlgn="base"/>
            <a:br>
              <a:rPr lang="en-US" sz="2400" dirty="0"/>
            </a:br>
            <a:r>
              <a:rPr lang="en-US" sz="2400" b="1" dirty="0"/>
              <a:t>Partitioning</a:t>
            </a:r>
            <a:r>
              <a:rPr lang="en-US" sz="2400" dirty="0"/>
              <a:t>: An </a:t>
            </a:r>
            <a:r>
              <a:rPr lang="en-US" sz="2400" dirty="0" err="1"/>
              <a:t>itemset</a:t>
            </a:r>
            <a:r>
              <a:rPr lang="en-US" sz="2400" dirty="0"/>
              <a:t> that is potentially frequent in DB must be frequent in at least one of the partitions of DB.</a:t>
            </a:r>
          </a:p>
          <a:p>
            <a:pPr fontAlgn="base"/>
            <a:br>
              <a:rPr lang="en-US" sz="2400" b="1" dirty="0"/>
            </a:br>
            <a:r>
              <a:rPr lang="en-US" sz="2400" b="1" dirty="0"/>
              <a:t>Sampling</a:t>
            </a:r>
            <a:r>
              <a:rPr lang="en-US" sz="2400" dirty="0"/>
              <a:t>: Mining on a subset of given data, lower support threshold and a method to determine completeness.</a:t>
            </a:r>
          </a:p>
          <a:p>
            <a:pPr fontAlgn="base"/>
            <a:br>
              <a:rPr lang="en-US" sz="2400" dirty="0"/>
            </a:br>
            <a:r>
              <a:rPr lang="en-US" sz="2400" b="1" dirty="0"/>
              <a:t>Dynamic </a:t>
            </a:r>
            <a:r>
              <a:rPr lang="en-US" sz="2400" b="1" dirty="0" err="1"/>
              <a:t>itemset</a:t>
            </a:r>
            <a:r>
              <a:rPr lang="en-US" sz="2400" b="1" dirty="0"/>
              <a:t> counting</a:t>
            </a:r>
            <a:r>
              <a:rPr lang="en-US" sz="2400" dirty="0"/>
              <a:t>: Add new candidate itemsets only when all of their subsets are estimated to be frequent.</a:t>
            </a:r>
          </a:p>
          <a:p>
            <a:pPr>
              <a:buNone/>
            </a:pPr>
            <a:endParaRPr lang="en-IN" sz="2400" b="1" dirty="0"/>
          </a:p>
        </p:txBody>
      </p:sp>
      <p:sp>
        <p:nvSpPr>
          <p:cNvPr id="5" name="Title 1"/>
          <p:cNvSpPr txBox="1">
            <a:spLocks/>
          </p:cNvSpPr>
          <p:nvPr/>
        </p:nvSpPr>
        <p:spPr>
          <a:xfrm>
            <a:off x="1225296" y="0"/>
            <a:ext cx="7498080" cy="1143000"/>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sz="3600" dirty="0" err="1"/>
              <a:t>Apriori</a:t>
            </a:r>
            <a:r>
              <a:rPr lang="en-GB" sz="3600" dirty="0"/>
              <a:t> </a:t>
            </a:r>
            <a:r>
              <a:rPr lang="en-US" sz="3600" dirty="0"/>
              <a:t>algorithm Example-4</a:t>
            </a:r>
            <a:endParaRPr lang="en-IN" sz="3600" dirty="0"/>
          </a:p>
        </p:txBody>
      </p:sp>
    </p:spTree>
    <p:extLst>
      <p:ext uri="{BB962C8B-B14F-4D97-AF65-F5344CB8AC3E}">
        <p14:creationId xmlns:p14="http://schemas.microsoft.com/office/powerpoint/2010/main" val="780876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228600" y="1066800"/>
            <a:ext cx="3195025" cy="3581400"/>
          </a:xfrm>
          <a:prstGeom prst="rect">
            <a:avLst/>
          </a:prstGeom>
        </p:spPr>
      </p:pic>
      <p:sp>
        <p:nvSpPr>
          <p:cNvPr id="5" name="Title 1"/>
          <p:cNvSpPr txBox="1">
            <a:spLocks/>
          </p:cNvSpPr>
          <p:nvPr/>
        </p:nvSpPr>
        <p:spPr>
          <a:xfrm>
            <a:off x="1225296" y="0"/>
            <a:ext cx="7498080" cy="1143000"/>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IN" sz="3600" dirty="0"/>
              <a:t>FP-Growth Method : An Example </a:t>
            </a:r>
          </a:p>
        </p:txBody>
      </p:sp>
      <p:sp>
        <p:nvSpPr>
          <p:cNvPr id="4" name="Rectangle 3"/>
          <p:cNvSpPr/>
          <p:nvPr/>
        </p:nvSpPr>
        <p:spPr>
          <a:xfrm>
            <a:off x="3687911" y="1045698"/>
            <a:ext cx="5456089" cy="2677656"/>
          </a:xfrm>
          <a:prstGeom prst="rect">
            <a:avLst/>
          </a:prstGeom>
        </p:spPr>
        <p:txBody>
          <a:bodyPr wrap="square">
            <a:spAutoFit/>
          </a:bodyPr>
          <a:lstStyle/>
          <a:p>
            <a:r>
              <a:rPr lang="en-IN" sz="2400" dirty="0" err="1"/>
              <a:t>min_sup</a:t>
            </a:r>
            <a:r>
              <a:rPr lang="en-IN" sz="2400" dirty="0"/>
              <a:t> = 2/9 = 22 % )</a:t>
            </a:r>
          </a:p>
          <a:p>
            <a:r>
              <a:rPr lang="en-US" sz="2400" dirty="0"/>
              <a:t>The first scan of database is same as Apriori, which derives </a:t>
            </a:r>
          </a:p>
          <a:p>
            <a:r>
              <a:rPr lang="en-US" sz="2400" dirty="0"/>
              <a:t>the set of 1-itemsets &amp; their support counts.</a:t>
            </a:r>
            <a:endParaRPr lang="en-IN" sz="2400" dirty="0"/>
          </a:p>
          <a:p>
            <a:r>
              <a:rPr lang="en-US" sz="2400" dirty="0"/>
              <a:t>The resulting set is denoted as L = {I2:7, I1:6, I3:6, I4:2, I5:2}</a:t>
            </a:r>
            <a:endParaRPr lang="en-IN" sz="2400" dirty="0"/>
          </a:p>
        </p:txBody>
      </p:sp>
    </p:spTree>
    <p:extLst>
      <p:ext uri="{BB962C8B-B14F-4D97-AF65-F5344CB8AC3E}">
        <p14:creationId xmlns:p14="http://schemas.microsoft.com/office/powerpoint/2010/main" val="35168370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6705600" y="1143000"/>
            <a:ext cx="2825806" cy="4191000"/>
          </a:xfrm>
          <a:prstGeom prst="rect">
            <a:avLst/>
          </a:prstGeom>
        </p:spPr>
      </p:pic>
      <p:sp>
        <p:nvSpPr>
          <p:cNvPr id="5" name="Title 1"/>
          <p:cNvSpPr txBox="1">
            <a:spLocks/>
          </p:cNvSpPr>
          <p:nvPr/>
        </p:nvSpPr>
        <p:spPr>
          <a:xfrm>
            <a:off x="1225296" y="0"/>
            <a:ext cx="7498080" cy="1143000"/>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IN" sz="3600" dirty="0"/>
              <a:t>FP-Growth Method : An Example </a:t>
            </a:r>
          </a:p>
        </p:txBody>
      </p:sp>
      <p:pic>
        <p:nvPicPr>
          <p:cNvPr id="3" name="Picture 2"/>
          <p:cNvPicPr>
            <a:picLocks noChangeAspect="1"/>
          </p:cNvPicPr>
          <p:nvPr/>
        </p:nvPicPr>
        <p:blipFill>
          <a:blip r:embed="rId3"/>
          <a:stretch>
            <a:fillRect/>
          </a:stretch>
        </p:blipFill>
        <p:spPr>
          <a:xfrm>
            <a:off x="0" y="838200"/>
            <a:ext cx="6705600" cy="4953000"/>
          </a:xfrm>
          <a:prstGeom prst="rect">
            <a:avLst/>
          </a:prstGeom>
        </p:spPr>
      </p:pic>
    </p:spTree>
    <p:extLst>
      <p:ext uri="{BB962C8B-B14F-4D97-AF65-F5344CB8AC3E}">
        <p14:creationId xmlns:p14="http://schemas.microsoft.com/office/powerpoint/2010/main" val="511472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225296" y="0"/>
            <a:ext cx="7498080" cy="1143000"/>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IN" sz="3600" dirty="0"/>
              <a:t>FP-Growth Method : An Example </a:t>
            </a:r>
          </a:p>
        </p:txBody>
      </p:sp>
      <p:pic>
        <p:nvPicPr>
          <p:cNvPr id="6" name="Picture 5"/>
          <p:cNvPicPr>
            <a:picLocks noChangeAspect="1"/>
          </p:cNvPicPr>
          <p:nvPr/>
        </p:nvPicPr>
        <p:blipFill>
          <a:blip r:embed="rId2"/>
          <a:stretch>
            <a:fillRect/>
          </a:stretch>
        </p:blipFill>
        <p:spPr>
          <a:xfrm>
            <a:off x="0" y="838200"/>
            <a:ext cx="10134600" cy="6019800"/>
          </a:xfrm>
          <a:prstGeom prst="rect">
            <a:avLst/>
          </a:prstGeom>
        </p:spPr>
      </p:pic>
    </p:spTree>
    <p:extLst>
      <p:ext uri="{BB962C8B-B14F-4D97-AF65-F5344CB8AC3E}">
        <p14:creationId xmlns:p14="http://schemas.microsoft.com/office/powerpoint/2010/main" val="2127297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noAutofit/>
          </a:bodyPr>
          <a:lstStyle/>
          <a:p>
            <a:r>
              <a:rPr lang="en-US" sz="3200" dirty="0"/>
              <a:t>Multilevel Association Rule in data mining</a:t>
            </a:r>
          </a:p>
        </p:txBody>
      </p:sp>
      <p:sp>
        <p:nvSpPr>
          <p:cNvPr id="3" name="Content Placeholder 2"/>
          <p:cNvSpPr>
            <a:spLocks noGrp="1"/>
          </p:cNvSpPr>
          <p:nvPr>
            <p:ph idx="1"/>
          </p:nvPr>
        </p:nvSpPr>
        <p:spPr>
          <a:xfrm>
            <a:off x="838200" y="1066800"/>
            <a:ext cx="8305800" cy="5791200"/>
          </a:xfrm>
        </p:spPr>
        <p:txBody>
          <a:bodyPr>
            <a:normAutofit fontScale="92500"/>
          </a:bodyPr>
          <a:lstStyle/>
          <a:p>
            <a:pPr algn="just"/>
            <a:r>
              <a:rPr lang="en-US" sz="2400" dirty="0"/>
              <a:t>Multilevel Association Rule mining is a technique that extends Association Rule mining to discover relationships between items at different levels of granularity. </a:t>
            </a:r>
          </a:p>
          <a:p>
            <a:pPr algn="just"/>
            <a:r>
              <a:rPr lang="en-US" sz="2400" dirty="0"/>
              <a:t>Multilevel Association Rule mining can be classified into two types:</a:t>
            </a:r>
          </a:p>
          <a:p>
            <a:pPr marL="82296" indent="0" algn="just">
              <a:buNone/>
            </a:pPr>
            <a:r>
              <a:rPr lang="en-US" sz="2400" dirty="0"/>
              <a:t>    multi-dimensional Association Rule and multi-level Association Rule.</a:t>
            </a:r>
          </a:p>
          <a:p>
            <a:pPr algn="just"/>
            <a:r>
              <a:rPr lang="en-US" sz="2400" b="1" dirty="0"/>
              <a:t>Multi-dimensional Association Rule mining</a:t>
            </a:r>
          </a:p>
          <a:p>
            <a:pPr marL="356616" lvl="1" indent="0" algn="just">
              <a:buNone/>
            </a:pPr>
            <a:r>
              <a:rPr lang="en-US" sz="2200" dirty="0"/>
              <a:t>This is used to find relationships between items in different dimensions of a dataset. For example, in a sales dataset, multi-dimensional Association Rule mining can be used to find relationships between products, regions, and time.</a:t>
            </a:r>
          </a:p>
          <a:p>
            <a:pPr algn="just"/>
            <a:r>
              <a:rPr lang="en-US" sz="2400" b="1" dirty="0"/>
              <a:t>Multi-level Association Rule mining</a:t>
            </a:r>
          </a:p>
          <a:p>
            <a:pPr marL="356616" lvl="1" indent="0" algn="just">
              <a:buNone/>
            </a:pPr>
            <a:r>
              <a:rPr lang="en-US" sz="2200" dirty="0"/>
              <a:t>This is used to find relationships between items at different levels of granularity. For example, in a retail dataset, multi-level Association Rule mining can be used to find relationships between individual items and categories of items.</a:t>
            </a:r>
          </a:p>
          <a:p>
            <a:pPr>
              <a:buNone/>
            </a:pPr>
            <a:endParaRPr lang="en-IN" sz="1200" dirty="0"/>
          </a:p>
        </p:txBody>
      </p:sp>
    </p:spTree>
    <p:extLst>
      <p:ext uri="{BB962C8B-B14F-4D97-AF65-F5344CB8AC3E}">
        <p14:creationId xmlns:p14="http://schemas.microsoft.com/office/powerpoint/2010/main" val="4165062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noAutofit/>
          </a:bodyPr>
          <a:lstStyle/>
          <a:p>
            <a:r>
              <a:rPr lang="en-US" sz="3200" dirty="0"/>
              <a:t>Multilevel Association Rule in data mining</a:t>
            </a:r>
          </a:p>
        </p:txBody>
      </p:sp>
      <p:sp>
        <p:nvSpPr>
          <p:cNvPr id="3" name="Content Placeholder 2"/>
          <p:cNvSpPr>
            <a:spLocks noGrp="1"/>
          </p:cNvSpPr>
          <p:nvPr>
            <p:ph idx="1"/>
          </p:nvPr>
        </p:nvSpPr>
        <p:spPr>
          <a:xfrm>
            <a:off x="838200" y="1066800"/>
            <a:ext cx="8305800" cy="5791200"/>
          </a:xfrm>
        </p:spPr>
        <p:txBody>
          <a:bodyPr>
            <a:normAutofit/>
          </a:bodyPr>
          <a:lstStyle/>
          <a:p>
            <a:r>
              <a:rPr lang="en-US" sz="2400" b="1" dirty="0"/>
              <a:t>Needs of Multidimensional Rule</a:t>
            </a:r>
          </a:p>
          <a:p>
            <a:pPr marL="356616" lvl="1" indent="0" algn="just">
              <a:buNone/>
            </a:pPr>
            <a:r>
              <a:rPr lang="en-US" sz="2400" dirty="0"/>
              <a:t>Multidimensional rule mining is important because data at lower levels may not exhibit any meaningful patterns, yet it can contain valuable insights. The goal is to find such hidden information within and across levels of abstraction</a:t>
            </a:r>
          </a:p>
          <a:p>
            <a:pPr>
              <a:buNone/>
            </a:pPr>
            <a:endParaRPr lang="en-IN" sz="1200" dirty="0"/>
          </a:p>
        </p:txBody>
      </p:sp>
    </p:spTree>
    <p:extLst>
      <p:ext uri="{BB962C8B-B14F-4D97-AF65-F5344CB8AC3E}">
        <p14:creationId xmlns:p14="http://schemas.microsoft.com/office/powerpoint/2010/main" val="1234278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5966" y="152400"/>
            <a:ext cx="7498080" cy="1143000"/>
          </a:xfrm>
        </p:spPr>
        <p:txBody>
          <a:bodyPr/>
          <a:lstStyle/>
          <a:p>
            <a:r>
              <a:rPr lang="en-GB" dirty="0" err="1"/>
              <a:t>Apriori</a:t>
            </a:r>
            <a:r>
              <a:rPr lang="en-GB" dirty="0"/>
              <a:t> </a:t>
            </a:r>
            <a:r>
              <a:rPr lang="en-US" dirty="0"/>
              <a:t>algorithm Example-3</a:t>
            </a:r>
            <a:endParaRPr lang="en-IN" dirty="0"/>
          </a:p>
        </p:txBody>
      </p:sp>
      <p:sp>
        <p:nvSpPr>
          <p:cNvPr id="3" name="Content Placeholder 2"/>
          <p:cNvSpPr>
            <a:spLocks noGrp="1"/>
          </p:cNvSpPr>
          <p:nvPr>
            <p:ph idx="1"/>
          </p:nvPr>
        </p:nvSpPr>
        <p:spPr>
          <a:xfrm>
            <a:off x="1143000" y="1143000"/>
            <a:ext cx="7790688" cy="5105400"/>
          </a:xfrm>
        </p:spPr>
        <p:txBody>
          <a:bodyPr/>
          <a:lstStyle/>
          <a:p>
            <a:pPr>
              <a:buNone/>
            </a:pPr>
            <a:r>
              <a:rPr lang="en-US" dirty="0"/>
              <a:t>Q.3 Find frequent </a:t>
            </a:r>
            <a:r>
              <a:rPr lang="en-US" dirty="0" err="1"/>
              <a:t>itemset</a:t>
            </a:r>
            <a:r>
              <a:rPr lang="en-US" dirty="0"/>
              <a:t> for the given dataset. Min support =40%</a:t>
            </a:r>
          </a:p>
          <a:p>
            <a:pPr>
              <a:buNone/>
            </a:pPr>
            <a:r>
              <a:rPr lang="en-US" sz="2400" dirty="0"/>
              <a:t>min support count=support percent*no of transactions/100</a:t>
            </a:r>
          </a:p>
          <a:p>
            <a:pPr>
              <a:buNone/>
            </a:pPr>
            <a:r>
              <a:rPr lang="en-US" sz="2400" dirty="0"/>
              <a:t>min support count=40*5/100=2 </a:t>
            </a:r>
          </a:p>
          <a:p>
            <a:pPr>
              <a:buNone/>
            </a:pPr>
            <a:r>
              <a:rPr lang="en-US" dirty="0"/>
              <a:t>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425267437"/>
              </p:ext>
            </p:extLst>
          </p:nvPr>
        </p:nvGraphicFramePr>
        <p:xfrm>
          <a:off x="1371600" y="3276600"/>
          <a:ext cx="6096000" cy="22199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142240">
                <a:tc>
                  <a:txBody>
                    <a:bodyPr/>
                    <a:lstStyle/>
                    <a:p>
                      <a:pPr algn="ctr"/>
                      <a:r>
                        <a:rPr lang="en-US" dirty="0" err="1"/>
                        <a:t>Tid</a:t>
                      </a:r>
                      <a:endParaRPr lang="en-IN" dirty="0"/>
                    </a:p>
                  </a:txBody>
                  <a:tcPr/>
                </a:tc>
                <a:tc>
                  <a:txBody>
                    <a:bodyPr/>
                    <a:lstStyle/>
                    <a:p>
                      <a:pPr algn="ctr"/>
                      <a:r>
                        <a:rPr lang="en-US" dirty="0"/>
                        <a:t>A</a:t>
                      </a:r>
                      <a:endParaRPr lang="en-IN" dirty="0"/>
                    </a:p>
                  </a:txBody>
                  <a:tcPr/>
                </a:tc>
                <a:tc>
                  <a:txBody>
                    <a:bodyPr/>
                    <a:lstStyle/>
                    <a:p>
                      <a:pPr algn="ctr"/>
                      <a:r>
                        <a:rPr lang="en-US" dirty="0"/>
                        <a:t>B</a:t>
                      </a:r>
                      <a:endParaRPr lang="en-IN" dirty="0"/>
                    </a:p>
                  </a:txBody>
                  <a:tcPr/>
                </a:tc>
                <a:tc>
                  <a:txBody>
                    <a:bodyPr/>
                    <a:lstStyle/>
                    <a:p>
                      <a:pPr algn="ctr"/>
                      <a:r>
                        <a:rPr lang="en-US" dirty="0"/>
                        <a:t>C</a:t>
                      </a:r>
                      <a:endParaRPr lang="en-IN" dirty="0"/>
                    </a:p>
                  </a:txBody>
                  <a:tcPr/>
                </a:tc>
                <a:tc>
                  <a:txBody>
                    <a:bodyPr/>
                    <a:lstStyle/>
                    <a:p>
                      <a:pPr algn="ctr"/>
                      <a:r>
                        <a:rPr lang="en-US" dirty="0"/>
                        <a:t>D</a:t>
                      </a:r>
                      <a:endParaRPr lang="en-IN" dirty="0"/>
                    </a:p>
                  </a:txBody>
                  <a:tcPr/>
                </a:tc>
                <a:tc>
                  <a:txBody>
                    <a:bodyPr/>
                    <a:lstStyle/>
                    <a:p>
                      <a:pPr algn="ctr"/>
                      <a:r>
                        <a:rPr lang="en-US" dirty="0"/>
                        <a:t>E</a:t>
                      </a:r>
                      <a:endParaRPr lang="en-IN" dirty="0"/>
                    </a:p>
                  </a:txBody>
                  <a:tcPr/>
                </a:tc>
                <a:extLst>
                  <a:ext uri="{0D108BD9-81ED-4DB2-BD59-A6C34878D82A}">
                    <a16:rowId xmlns:a16="http://schemas.microsoft.com/office/drawing/2014/main" val="10000"/>
                  </a:ext>
                </a:extLst>
              </a:tr>
              <a:tr h="370840">
                <a:tc>
                  <a:txBody>
                    <a:bodyPr/>
                    <a:lstStyle/>
                    <a:p>
                      <a:pPr algn="ctr"/>
                      <a:r>
                        <a:rPr lang="en-US" dirty="0"/>
                        <a:t>T1</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0</a:t>
                      </a:r>
                      <a:endParaRPr lang="en-IN" dirty="0"/>
                    </a:p>
                  </a:txBody>
                  <a:tcPr/>
                </a:tc>
                <a:tc>
                  <a:txBody>
                    <a:bodyPr/>
                    <a:lstStyle/>
                    <a:p>
                      <a:pPr algn="ctr"/>
                      <a:r>
                        <a:rPr lang="en-US" dirty="0"/>
                        <a:t>0</a:t>
                      </a:r>
                      <a:endParaRPr lang="en-IN" dirty="0"/>
                    </a:p>
                  </a:txBody>
                  <a:tcPr/>
                </a:tc>
                <a:extLst>
                  <a:ext uri="{0D108BD9-81ED-4DB2-BD59-A6C34878D82A}">
                    <a16:rowId xmlns:a16="http://schemas.microsoft.com/office/drawing/2014/main" val="10001"/>
                  </a:ext>
                </a:extLst>
              </a:tr>
              <a:tr h="370840">
                <a:tc>
                  <a:txBody>
                    <a:bodyPr/>
                    <a:lstStyle/>
                    <a:p>
                      <a:pPr algn="ctr"/>
                      <a:r>
                        <a:rPr lang="en-US" dirty="0"/>
                        <a:t>T2</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extLst>
                  <a:ext uri="{0D108BD9-81ED-4DB2-BD59-A6C34878D82A}">
                    <a16:rowId xmlns:a16="http://schemas.microsoft.com/office/drawing/2014/main" val="10002"/>
                  </a:ext>
                </a:extLst>
              </a:tr>
              <a:tr h="370840">
                <a:tc>
                  <a:txBody>
                    <a:bodyPr/>
                    <a:lstStyle/>
                    <a:p>
                      <a:pPr algn="ctr"/>
                      <a:r>
                        <a:rPr lang="en-US" dirty="0"/>
                        <a:t>T3</a:t>
                      </a:r>
                      <a:endParaRPr lang="en-IN" dirty="0"/>
                    </a:p>
                  </a:txBody>
                  <a:tcPr/>
                </a:tc>
                <a:tc>
                  <a:txBody>
                    <a:bodyPr/>
                    <a:lstStyle/>
                    <a:p>
                      <a:pPr algn="ctr"/>
                      <a:r>
                        <a:rPr lang="en-US" dirty="0"/>
                        <a:t>1</a:t>
                      </a:r>
                      <a:endParaRPr lang="en-IN" dirty="0"/>
                    </a:p>
                  </a:txBody>
                  <a:tcPr/>
                </a:tc>
                <a:tc>
                  <a:txBody>
                    <a:bodyPr/>
                    <a:lstStyle/>
                    <a:p>
                      <a:pPr algn="ctr"/>
                      <a:r>
                        <a:rPr lang="en-US" dirty="0"/>
                        <a:t>0</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0</a:t>
                      </a:r>
                      <a:endParaRPr lang="en-IN" dirty="0"/>
                    </a:p>
                  </a:txBody>
                  <a:tcPr/>
                </a:tc>
                <a:extLst>
                  <a:ext uri="{0D108BD9-81ED-4DB2-BD59-A6C34878D82A}">
                    <a16:rowId xmlns:a16="http://schemas.microsoft.com/office/drawing/2014/main" val="10003"/>
                  </a:ext>
                </a:extLst>
              </a:tr>
              <a:tr h="370840">
                <a:tc>
                  <a:txBody>
                    <a:bodyPr/>
                    <a:lstStyle/>
                    <a:p>
                      <a:pPr algn="ctr"/>
                      <a:r>
                        <a:rPr lang="en-US" dirty="0"/>
                        <a:t>T4</a:t>
                      </a:r>
                      <a:endParaRPr lang="en-IN" dirty="0"/>
                    </a:p>
                  </a:txBody>
                  <a:tcPr/>
                </a:tc>
                <a:tc>
                  <a:txBody>
                    <a:bodyPr/>
                    <a:lstStyle/>
                    <a:p>
                      <a:pPr algn="ctr"/>
                      <a:r>
                        <a:rPr lang="en-US" dirty="0"/>
                        <a:t>1</a:t>
                      </a:r>
                      <a:endParaRPr lang="en-IN" dirty="0"/>
                    </a:p>
                  </a:txBody>
                  <a:tcPr/>
                </a:tc>
                <a:tc>
                  <a:txBody>
                    <a:bodyPr/>
                    <a:lstStyle/>
                    <a:p>
                      <a:pPr algn="ctr"/>
                      <a:r>
                        <a:rPr lang="en-US" dirty="0"/>
                        <a:t>0</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extLst>
                  <a:ext uri="{0D108BD9-81ED-4DB2-BD59-A6C34878D82A}">
                    <a16:rowId xmlns:a16="http://schemas.microsoft.com/office/drawing/2014/main" val="10004"/>
                  </a:ext>
                </a:extLst>
              </a:tr>
              <a:tr h="370840">
                <a:tc>
                  <a:txBody>
                    <a:bodyPr/>
                    <a:lstStyle/>
                    <a:p>
                      <a:pPr algn="ctr"/>
                      <a:r>
                        <a:rPr lang="en-US" dirty="0"/>
                        <a:t>T5</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US" dirty="0"/>
                        <a:t>0</a:t>
                      </a:r>
                      <a:endParaRPr lang="en-IN"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Disclaimer</a:t>
            </a:r>
            <a:endParaRPr lang="en-IN" dirty="0"/>
          </a:p>
        </p:txBody>
      </p:sp>
      <p:sp>
        <p:nvSpPr>
          <p:cNvPr id="3" name="Content Placeholder 2"/>
          <p:cNvSpPr>
            <a:spLocks noGrp="1"/>
          </p:cNvSpPr>
          <p:nvPr>
            <p:ph idx="1"/>
          </p:nvPr>
        </p:nvSpPr>
        <p:spPr/>
        <p:txBody>
          <a:bodyPr/>
          <a:lstStyle/>
          <a:p>
            <a:r>
              <a:rPr lang="en-US" sz="2000" b="1" dirty="0"/>
              <a:t>disclaimer:</a:t>
            </a:r>
            <a:r>
              <a:rPr lang="en-US" sz="1800" b="1" dirty="0"/>
              <a:t>  Content of this presentation is not original and it has been prepared from various sources for teaching purposes.</a:t>
            </a:r>
            <a:r>
              <a:rPr lang="en-US" sz="2000" b="1" dirty="0"/>
              <a:t> </a:t>
            </a:r>
          </a:p>
          <a:p>
            <a:r>
              <a:rPr lang="en-US" sz="2000" dirty="0"/>
              <a:t>Please refer (class notes) problem solved in the classroom for detailed steps and solution or book </a:t>
            </a:r>
            <a:r>
              <a:rPr lang="en-US" sz="2000" dirty="0" err="1"/>
              <a:t>Kamber</a:t>
            </a:r>
            <a:r>
              <a:rPr lang="en-US" sz="2000" dirty="0"/>
              <a:t> (page no 250)</a:t>
            </a:r>
          </a:p>
          <a:p>
            <a:endParaRPr lang="en-US" sz="2000" b="1" dirty="0"/>
          </a:p>
          <a:p>
            <a:r>
              <a:rPr lang="en-US" dirty="0"/>
              <a:t>Thank you</a:t>
            </a:r>
            <a:endParaRPr lang="en-IN" dirty="0"/>
          </a:p>
        </p:txBody>
      </p:sp>
    </p:spTree>
    <p:extLst>
      <p:ext uri="{BB962C8B-B14F-4D97-AF65-F5344CB8AC3E}">
        <p14:creationId xmlns:p14="http://schemas.microsoft.com/office/powerpoint/2010/main" val="15295485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10023</TotalTime>
  <Words>2845</Words>
  <Application>Microsoft Office PowerPoint</Application>
  <PresentationFormat>On-screen Show (4:3)</PresentationFormat>
  <Paragraphs>337</Paragraphs>
  <Slides>48</Slides>
  <Notes>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48</vt:i4>
      </vt:variant>
    </vt:vector>
  </HeadingPairs>
  <TitlesOfParts>
    <vt:vector size="61" baseType="lpstr">
      <vt:lpstr>ＭＳ Ｐゴシック</vt:lpstr>
      <vt:lpstr>Arial</vt:lpstr>
      <vt:lpstr>Calibri</vt:lpstr>
      <vt:lpstr>Gill Sans MT</vt:lpstr>
      <vt:lpstr>Monotype Sorts</vt:lpstr>
      <vt:lpstr>Symbol</vt:lpstr>
      <vt:lpstr>Times New Roman</vt:lpstr>
      <vt:lpstr>Verdana</vt:lpstr>
      <vt:lpstr>Wingdings</vt:lpstr>
      <vt:lpstr>Wingdings 2</vt:lpstr>
      <vt:lpstr>Solstice</vt:lpstr>
      <vt:lpstr>Equation</vt:lpstr>
      <vt:lpstr>Document</vt:lpstr>
      <vt:lpstr>What is association mining</vt:lpstr>
      <vt:lpstr>Association Rule Mining</vt:lpstr>
      <vt:lpstr>Association Rule: frequent item set</vt:lpstr>
      <vt:lpstr>Market basket analysis</vt:lpstr>
      <vt:lpstr>Market basket analysis</vt:lpstr>
      <vt:lpstr>Measures of association (rules)</vt:lpstr>
      <vt:lpstr>Measures of association (rules)</vt:lpstr>
      <vt:lpstr>Example of Association Rules  Market-Basket transactions</vt:lpstr>
      <vt:lpstr>Example of Association Rules</vt:lpstr>
      <vt:lpstr>Association Rule Mining Task</vt:lpstr>
      <vt:lpstr>Find frequent itemsets</vt:lpstr>
      <vt:lpstr>Apriori Algorithm:  Find frequent itemsets using candidate generation</vt:lpstr>
      <vt:lpstr>Apriori algorithm in pseudocode</vt:lpstr>
      <vt:lpstr>Generating Association rules from Frequent Itemsets</vt:lpstr>
      <vt:lpstr>Generating rules: an example</vt:lpstr>
      <vt:lpstr>Example 1 : Transactional dataset D</vt:lpstr>
      <vt:lpstr>Example 1 : Transactional dataset D</vt:lpstr>
      <vt:lpstr>Example 1 : Transactional dataset D</vt:lpstr>
      <vt:lpstr>Example 1 : Transactional dataset D</vt:lpstr>
      <vt:lpstr>Example 1 : Transactional dataset D</vt:lpstr>
      <vt:lpstr>Example 1 : Transactional dataset D</vt:lpstr>
      <vt:lpstr>Example 1 : Transactional dataset D</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Apriori algorithm Example-2</vt:lpstr>
      <vt:lpstr>Assignments </vt:lpstr>
      <vt:lpstr>PowerPoint Presentation</vt:lpstr>
      <vt:lpstr>PowerPoint Presentation</vt:lpstr>
      <vt:lpstr>PowerPoint Presentation</vt:lpstr>
      <vt:lpstr>PowerPoint Presentation</vt:lpstr>
      <vt:lpstr>PowerPoint Presentation</vt:lpstr>
      <vt:lpstr>PowerPoint Presentation</vt:lpstr>
      <vt:lpstr>Multilevel Association Rule in data mining</vt:lpstr>
      <vt:lpstr>Multilevel Association Rule in data mining</vt:lpstr>
      <vt:lpstr>Apriori algorithm Example-3</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Seema</dc:creator>
  <cp:lastModifiedBy>CL406_06</cp:lastModifiedBy>
  <cp:revision>360</cp:revision>
  <dcterms:created xsi:type="dcterms:W3CDTF">2014-09-16T08:05:35Z</dcterms:created>
  <dcterms:modified xsi:type="dcterms:W3CDTF">2025-01-11T05:36:57Z</dcterms:modified>
</cp:coreProperties>
</file>