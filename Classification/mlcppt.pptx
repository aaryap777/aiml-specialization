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81" r:id="rId5"/>
    <p:sldId id="282" r:id="rId6"/>
    <p:sldId id="309" r:id="rId7"/>
    <p:sldId id="264" r:id="rId8"/>
    <p:sldId id="310" r:id="rId9"/>
    <p:sldId id="270" r:id="rId10"/>
    <p:sldId id="259" r:id="rId11"/>
    <p:sldId id="28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73B43"/>
    <a:srgbClr val="D8DCDE"/>
    <a:srgbClr val="03B4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36" y="1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5F63C-B9DE-4CAC-ABB5-9975DECA03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C8200-542B-4716-8FBB-A8C844CEA85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0C8200-542B-4716-8FBB-A8C844CEA8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E829A-D93B-4641-8AF3-0FA31E9770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E829A-D93B-4641-8AF3-0FA31E9770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E829A-D93B-4641-8AF3-0FA31E9770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0C8200-542B-4716-8FBB-A8C844CEA8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E829A-D93B-4641-8AF3-0FA31E9770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0C8200-542B-4716-8FBB-A8C844CEA8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0C8200-542B-4716-8FBB-A8C844CEA8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0C8200-542B-4716-8FBB-A8C844CEA8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75542" y="2960913"/>
            <a:ext cx="8040915" cy="1059544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75542" y="4139067"/>
            <a:ext cx="8040915" cy="59259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8581-CC4F-4702-8556-62DC73E616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56902-F09B-441B-B146-42AEA082A7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r>
              <a:rPr lang="zh-CN" altLang="en-US" sz="2400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第二级</a:t>
            </a:r>
            <a:endParaRPr lang="zh-CN" altLang="en-US" sz="2000" dirty="0" smtClean="0"/>
          </a:p>
          <a:p>
            <a:pPr lvl="2"/>
            <a:r>
              <a:rPr lang="zh-CN" altLang="en-US" sz="1800" dirty="0" smtClean="0"/>
              <a:t>第三级</a:t>
            </a:r>
            <a:endParaRPr lang="zh-CN" altLang="en-US" sz="1800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8581-CC4F-4702-8556-62DC73E616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56902-F09B-441B-B146-42AEA082A7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7450" y="2743200"/>
            <a:ext cx="7277100" cy="1041399"/>
          </a:xfrm>
        </p:spPr>
        <p:txBody>
          <a:bodyPr anchor="b" anchorCtr="0">
            <a:normAutofit/>
          </a:bodyPr>
          <a:lstStyle>
            <a:lvl1pPr algn="ctr">
              <a:defRPr sz="4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457450" y="3941763"/>
            <a:ext cx="7277100" cy="59213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8581-CC4F-4702-8556-62DC73E616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56902-F09B-441B-B146-42AEA082A7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r>
              <a:rPr lang="zh-CN" altLang="en-US" sz="2400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第二级</a:t>
            </a:r>
            <a:endParaRPr lang="zh-CN" altLang="en-US" sz="2000" dirty="0" smtClean="0"/>
          </a:p>
          <a:p>
            <a:pPr lvl="2"/>
            <a:r>
              <a:rPr lang="zh-CN" altLang="en-US" sz="1800" dirty="0" smtClean="0"/>
              <a:t>第三级</a:t>
            </a:r>
            <a:endParaRPr lang="zh-CN" altLang="en-US" sz="1800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r>
              <a:rPr lang="zh-CN" altLang="en-US" sz="2400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第二级</a:t>
            </a:r>
            <a:endParaRPr lang="zh-CN" altLang="en-US" sz="2000" dirty="0" smtClean="0"/>
          </a:p>
          <a:p>
            <a:pPr lvl="2"/>
            <a:r>
              <a:rPr lang="zh-CN" altLang="en-US" sz="1800" dirty="0" smtClean="0"/>
              <a:t>第三级</a:t>
            </a:r>
            <a:endParaRPr lang="zh-CN" altLang="en-US" sz="1800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8581-CC4F-4702-8556-62DC73E616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56902-F09B-441B-B146-42AEA082A7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r>
              <a:rPr lang="zh-CN" altLang="en-US" sz="2400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第二级</a:t>
            </a:r>
            <a:endParaRPr lang="zh-CN" altLang="en-US" sz="2000" dirty="0" smtClean="0"/>
          </a:p>
          <a:p>
            <a:pPr lvl="2"/>
            <a:r>
              <a:rPr lang="zh-CN" altLang="en-US" sz="1800" dirty="0" smtClean="0"/>
              <a:t>第三级</a:t>
            </a:r>
            <a:endParaRPr lang="zh-CN" altLang="en-US" sz="1800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r>
              <a:rPr lang="zh-CN" altLang="en-US" sz="2400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第二级</a:t>
            </a:r>
            <a:endParaRPr lang="zh-CN" altLang="en-US" sz="2000" dirty="0" smtClean="0"/>
          </a:p>
          <a:p>
            <a:pPr lvl="2"/>
            <a:r>
              <a:rPr lang="zh-CN" altLang="en-US" sz="1800" dirty="0" smtClean="0"/>
              <a:t>第三级</a:t>
            </a:r>
            <a:endParaRPr lang="zh-CN" altLang="en-US" sz="1800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41714" y="575356"/>
            <a:ext cx="9612086" cy="905102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8581-CC4F-4702-8556-62DC73E616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56902-F09B-441B-B146-42AEA082A7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37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510000" y="3160800"/>
            <a:ext cx="5094000" cy="1202400"/>
          </a:xfrm>
        </p:spPr>
        <p:txBody>
          <a:bodyPr anchor="t" anchorCtr="0">
            <a:norm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grpSp>
        <p:nvGrpSpPr>
          <p:cNvPr id="8" name="组合 27"/>
          <p:cNvGrpSpPr/>
          <p:nvPr userDrawn="1"/>
        </p:nvGrpSpPr>
        <p:grpSpPr bwMode="auto">
          <a:xfrm>
            <a:off x="3292475" y="2947988"/>
            <a:ext cx="5575300" cy="1624012"/>
            <a:chOff x="3327400" y="2912765"/>
            <a:chExt cx="5575300" cy="1054100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3327400" y="2912765"/>
              <a:ext cx="0" cy="1054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3340100" y="3966865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8902700" y="2912765"/>
              <a:ext cx="0" cy="1054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327400" y="2912765"/>
              <a:ext cx="4318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8470900" y="2912765"/>
              <a:ext cx="4318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3808800" y="2757600"/>
            <a:ext cx="4561200" cy="370800"/>
          </a:xfrm>
        </p:spPr>
        <p:txBody>
          <a:bodyPr>
            <a:normAutofit/>
          </a:bodyPr>
          <a:lstStyle>
            <a:lvl1pPr marL="0" indent="0" algn="dist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8581-CC4F-4702-8556-62DC73E616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56902-F09B-441B-B146-42AEA082A7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37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8581-CC4F-4702-8556-62DC73E616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56902-F09B-441B-B146-42AEA082A7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rgbClr val="37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8581-CC4F-4702-8556-62DC73E616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56902-F09B-441B-B146-42AEA082A7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rgbClr val="37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492342" y="365125"/>
            <a:ext cx="1861457" cy="5811838"/>
          </a:xfrm>
        </p:spPr>
        <p:txBody>
          <a:bodyPr vert="eaVert"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199" y="365125"/>
            <a:ext cx="8479972" cy="5811838"/>
          </a:xfrm>
        </p:spPr>
        <p:txBody>
          <a:bodyPr vert="eaVer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r>
              <a:rPr lang="zh-CN" altLang="en-US" sz="2400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第二级</a:t>
            </a:r>
            <a:endParaRPr lang="zh-CN" altLang="en-US" sz="2000" dirty="0" smtClean="0"/>
          </a:p>
          <a:p>
            <a:pPr lvl="2"/>
            <a:r>
              <a:rPr lang="zh-CN" altLang="en-US" sz="1800" dirty="0" smtClean="0"/>
              <a:t>第三级</a:t>
            </a:r>
            <a:endParaRPr lang="zh-CN" altLang="en-US" sz="1800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8581-CC4F-4702-8556-62DC73E616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56902-F09B-441B-B146-42AEA082A7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8581-CC4F-4702-8556-62DC73E616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56902-F09B-441B-B146-42AEA082A7D0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828800" y="617220"/>
            <a:ext cx="9807575" cy="54178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741714" y="575356"/>
            <a:ext cx="9612086" cy="905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712686"/>
            <a:ext cx="10515600" cy="446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zh-CN" altLang="en-US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8581-CC4F-4702-8556-62DC73E616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56902-F09B-441B-B146-42AEA082A7D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130000"/>
        </a:lnSpc>
        <a:spcBef>
          <a:spcPts val="1200"/>
        </a:spcBef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just" defTabSz="914400" rtl="0" eaLnBrk="1" latinLnBrk="0" hangingPunct="1">
        <a:lnSpc>
          <a:spcPct val="120000"/>
        </a:lnSpc>
        <a:spcBef>
          <a:spcPts val="6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074907" y="2899318"/>
            <a:ext cx="8040915" cy="105954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Employee Attrition Prediction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075815" y="4138930"/>
            <a:ext cx="8041005" cy="1564640"/>
          </a:xfrm>
        </p:spPr>
        <p:txBody>
          <a:bodyPr>
            <a:noAutofit/>
          </a:bodyPr>
          <a:lstStyle/>
          <a:p>
            <a:r>
              <a:rPr lang="zh-CN" altLang="en-US" sz="1600" b="1" dirty="0"/>
              <a:t>Objective</a:t>
            </a:r>
            <a:r>
              <a:rPr lang="zh-CN" altLang="en-US" sz="1600" dirty="0"/>
              <a:t>: Predict employee attrition and identify key influencing factors.</a:t>
            </a:r>
            <a:endParaRPr lang="zh-CN" altLang="en-US" sz="1600" dirty="0"/>
          </a:p>
          <a:p>
            <a:r>
              <a:rPr lang="zh-CN" altLang="en-US" sz="1600" b="1" dirty="0"/>
              <a:t>Motivation</a:t>
            </a:r>
            <a:r>
              <a:rPr lang="zh-CN" altLang="en-US" sz="1600" dirty="0"/>
              <a:t>: High attrition rates can lead to financial losses and decreased morale.</a:t>
            </a:r>
            <a:endParaRPr lang="zh-CN" altLang="en-US" sz="1600" dirty="0"/>
          </a:p>
          <a:p>
            <a:r>
              <a:rPr lang="zh-CN" altLang="en-US" sz="1600" b="1" dirty="0"/>
              <a:t>Project Scope</a:t>
            </a:r>
            <a:r>
              <a:rPr lang="zh-CN" altLang="en-US" sz="1600" dirty="0"/>
              <a:t>: Explore patterns, build predictive models, and suggest solutions for effective employee retention.</a:t>
            </a:r>
            <a:endParaRPr lang="zh-CN" altLang="en-US" sz="1600" dirty="0"/>
          </a:p>
        </p:txBody>
      </p:sp>
      <p:sp>
        <p:nvSpPr>
          <p:cNvPr id="6" name="Text Box 5"/>
          <p:cNvSpPr txBox="1"/>
          <p:nvPr/>
        </p:nvSpPr>
        <p:spPr>
          <a:xfrm>
            <a:off x="8844915" y="598614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Ayushi Kapgate  22070122093</a:t>
            </a:r>
            <a:endParaRPr lang="en-IN" altLang="en-US"/>
          </a:p>
          <a:p>
            <a:r>
              <a:rPr lang="en-IN" altLang="en-US"/>
              <a:t>Aarya Patil          22070122140</a:t>
            </a:r>
            <a:endParaRPr lang="en-I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38800" y="220090"/>
            <a:ext cx="10515600" cy="13248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altLang="zh-CN" b="1" dirty="0"/>
              <a:t>LITERATURE SURVEY</a:t>
            </a:r>
            <a:endParaRPr lang="en-IN" altLang="zh-CN" b="1" dirty="0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8835" y="1544955"/>
            <a:ext cx="10515600" cy="4632325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zh-CN"/>
            </a:defPPr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514350" indent="-514350">
              <a:buAutoNum type="arabicPeriod"/>
            </a:pPr>
            <a:r>
              <a:rPr lang="zh-CN" altLang="en-US" b="1" dirty="0"/>
              <a:t>Background:</a:t>
            </a:r>
            <a:endParaRPr lang="zh-CN" altLang="en-US" b="1" dirty="0"/>
          </a:p>
          <a:p>
            <a:r>
              <a:rPr lang="zh-CN" altLang="en-US" sz="2200" dirty="0"/>
              <a:t>Attrition is influenced by multiple factors: salary, job satisfaction, work-life balance, and tenure.</a:t>
            </a:r>
            <a:endParaRPr lang="zh-CN" altLang="en-US" sz="2200" dirty="0"/>
          </a:p>
          <a:p>
            <a:r>
              <a:rPr lang="zh-CN" altLang="en-US" sz="2200" dirty="0"/>
              <a:t>Machine learning models like Logistic Regression and Random Forest have been used for predictive analytics in this domain.</a:t>
            </a:r>
            <a:endParaRPr lang="zh-CN" altLang="en-US" sz="2200" dirty="0"/>
          </a:p>
          <a:p>
            <a:pPr marL="0" indent="0">
              <a:buNone/>
            </a:pPr>
            <a:endParaRPr lang="zh-CN" altLang="en-US" sz="2200" dirty="0"/>
          </a:p>
          <a:p>
            <a:pPr marL="0" indent="0">
              <a:buNone/>
            </a:pPr>
            <a:r>
              <a:rPr lang="en-IN" altLang="zh-CN" b="1" dirty="0"/>
              <a:t>2. Key Findings:</a:t>
            </a:r>
            <a:endParaRPr lang="en-IN" altLang="zh-CN" b="1" dirty="0"/>
          </a:p>
          <a:p>
            <a:r>
              <a:rPr lang="zh-CN" altLang="en-US" sz="2200" dirty="0"/>
              <a:t>Employees working overtime or receiving lower compensation are more likely to leave.</a:t>
            </a:r>
            <a:endParaRPr lang="zh-CN" altLang="en-US" sz="2200" dirty="0"/>
          </a:p>
          <a:p>
            <a:r>
              <a:rPr lang="zh-CN" altLang="en-US" sz="2200" dirty="0"/>
              <a:t>Age and years of service significantly impact attrition likelihood.</a:t>
            </a:r>
            <a:endParaRPr lang="zh-CN" altLang="en-US" sz="2200" dirty="0"/>
          </a:p>
          <a:p>
            <a:r>
              <a:rPr lang="zh-CN" altLang="en-US" sz="2200" dirty="0"/>
              <a:t>Predictive models are most effective when combined with proactive HR strategies.</a:t>
            </a:r>
            <a:endParaRPr lang="zh-CN" altLang="en-US" sz="2200" dirty="0"/>
          </a:p>
          <a:p>
            <a:pPr marL="0" indent="0">
              <a:buNone/>
            </a:pPr>
            <a:endParaRPr lang="en-IN" altLang="zh-CN" sz="2200" dirty="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38200" y="363600"/>
            <a:ext cx="10515600" cy="132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altLang="zh-CN" b="1" dirty="0"/>
              <a:t>METHODOLOGY</a:t>
            </a:r>
            <a:endParaRPr lang="en-IN" altLang="zh-CN" b="1" dirty="0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38200" y="1825625"/>
            <a:ext cx="10514965" cy="4464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zh-CN" altLang="en-US" dirty="0"/>
              <a:t>1.</a:t>
            </a:r>
            <a:r>
              <a:rPr lang="zh-CN" altLang="en-US" b="1" dirty="0"/>
              <a:t> </a:t>
            </a:r>
            <a:r>
              <a:rPr lang="zh-CN" altLang="en-US" sz="2800" b="1" dirty="0"/>
              <a:t>Data Preprocessing &amp; Feature Engineering:</a:t>
            </a:r>
            <a:endParaRPr lang="zh-CN" altLang="en-US" dirty="0"/>
          </a:p>
          <a:p>
            <a:r>
              <a:rPr lang="zh-CN" altLang="en-US" dirty="0"/>
              <a:t>Removed redundant features: 'EmployeeCount', 'StandardHours', 'Over18'.</a:t>
            </a:r>
            <a:endParaRPr lang="zh-CN" altLang="en-US" dirty="0"/>
          </a:p>
          <a:p>
            <a:r>
              <a:rPr lang="zh-CN" altLang="en-US" dirty="0"/>
              <a:t>Encoded categorical data and handled missing values.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IN" altLang="zh-CN" b="1" dirty="0"/>
              <a:t>2</a:t>
            </a:r>
            <a:r>
              <a:rPr lang="en-IN" altLang="zh-CN" sz="2800" b="1" dirty="0"/>
              <a:t>. Model Selection:</a:t>
            </a:r>
            <a:endParaRPr lang="en-IN" altLang="zh-CN" b="1" dirty="0"/>
          </a:p>
          <a:p>
            <a:r>
              <a:rPr lang="en-IN" altLang="zh-CN" dirty="0"/>
              <a:t>Models used: Logistic Regression, Decision Tree, Random Forest, and XGBoost.</a:t>
            </a:r>
            <a:endParaRPr lang="en-IN" altLang="zh-CN" dirty="0"/>
          </a:p>
          <a:p>
            <a:r>
              <a:rPr lang="en-IN" altLang="zh-CN" dirty="0"/>
              <a:t>Data split: 80% for training, 20% for testing.</a:t>
            </a:r>
            <a:endParaRPr lang="en-IN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38200" y="363600"/>
            <a:ext cx="10515600" cy="132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altLang="zh-CN" b="1" dirty="0"/>
              <a:t>METHODOLOGY</a:t>
            </a:r>
            <a:endParaRPr lang="en-IN" altLang="zh-CN" b="1" dirty="0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38200" y="1825625"/>
            <a:ext cx="10514965" cy="4464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IN" altLang="zh-CN" sz="2800" b="1" dirty="0"/>
              <a:t>3. Evaluation Metrics:</a:t>
            </a:r>
            <a:endParaRPr lang="en-IN" altLang="zh-CN" sz="2800" b="1" dirty="0"/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/>
              <a:t>Accuracy: Overall correctness of the model.</a:t>
            </a:r>
            <a:endParaRPr lang="en-IN" altLang="zh-CN" dirty="0"/>
          </a:p>
          <a:p>
            <a:r>
              <a:rPr lang="en-IN" altLang="zh-CN" dirty="0"/>
              <a:t>Precision: Focuses on correctly identifying true positives.</a:t>
            </a:r>
            <a:endParaRPr lang="en-IN" altLang="zh-CN" dirty="0"/>
          </a:p>
          <a:p>
            <a:r>
              <a:rPr lang="en-IN" altLang="zh-CN" dirty="0"/>
              <a:t>Recall: Ensures we don’t miss high-risk cases.</a:t>
            </a:r>
            <a:endParaRPr lang="en-IN" altLang="zh-CN" dirty="0"/>
          </a:p>
          <a:p>
            <a:r>
              <a:rPr lang="en-IN" altLang="zh-CN" dirty="0"/>
              <a:t>F1-Score: Balances precision and recall.</a:t>
            </a:r>
            <a:endParaRPr lang="en-IN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IN" altLang="zh-CN" dirty="0"/>
              <a:t>RESULTS &amp; DISCUSSION</a:t>
            </a:r>
            <a:endParaRPr lang="en-IN" altLang="zh-CN" dirty="0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38200" y="875030"/>
            <a:ext cx="10514965" cy="54152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IN" altLang="zh-CN" b="1" dirty="0"/>
              <a:t>1. Model Performance Summary:</a:t>
            </a:r>
            <a:endParaRPr lang="en-IN" altLang="zh-CN" b="1" dirty="0"/>
          </a:p>
          <a:p>
            <a:pPr marL="0" indent="457200">
              <a:buNone/>
            </a:pPr>
            <a:r>
              <a:rPr lang="en-IN" altLang="zh-CN" dirty="0"/>
              <a:t>Logistic Regression: Balanced but moderate performance.</a:t>
            </a:r>
            <a:endParaRPr lang="en-IN" altLang="zh-CN" dirty="0"/>
          </a:p>
          <a:p>
            <a:pPr marL="0" indent="457200">
              <a:buNone/>
            </a:pPr>
            <a:r>
              <a:rPr lang="en-IN" altLang="zh-CN" dirty="0"/>
              <a:t>Random Forest: High accuracy with low bias.</a:t>
            </a:r>
            <a:endParaRPr lang="en-IN" altLang="zh-CN" dirty="0"/>
          </a:p>
          <a:p>
            <a:pPr marL="0" indent="457200">
              <a:buNone/>
            </a:pPr>
            <a:r>
              <a:rPr lang="en-IN" altLang="zh-CN" dirty="0"/>
              <a:t>XGBoost: Best performer with well-tuned precision and recall.</a:t>
            </a:r>
            <a:endParaRPr lang="en-IN" altLang="zh-CN" dirty="0"/>
          </a:p>
          <a:p>
            <a:pPr marL="0" indent="0">
              <a:buNone/>
            </a:pPr>
            <a:endParaRPr lang="en-IN" altLang="zh-CN" b="1" dirty="0"/>
          </a:p>
          <a:p>
            <a:pPr marL="0" indent="0">
              <a:buNone/>
            </a:pPr>
            <a:r>
              <a:rPr lang="en-IN" altLang="zh-CN" b="1" dirty="0"/>
              <a:t>2. Feature Importance:</a:t>
            </a:r>
            <a:endParaRPr lang="en-IN" altLang="zh-CN" b="1" dirty="0"/>
          </a:p>
          <a:p>
            <a:pPr marL="0" indent="457200">
              <a:buNone/>
            </a:pPr>
            <a:r>
              <a:rPr lang="en-IN" altLang="zh-CN" dirty="0"/>
              <a:t>Salary, overtime, and tenure emerged as the most influential factors.</a:t>
            </a:r>
            <a:endParaRPr lang="en-IN" altLang="zh-CN" dirty="0"/>
          </a:p>
          <a:p>
            <a:pPr marL="0" indent="0">
              <a:buNone/>
            </a:pPr>
            <a:endParaRPr lang="en-IN" altLang="zh-CN" dirty="0"/>
          </a:p>
          <a:p>
            <a:pPr marL="0" indent="0">
              <a:buNone/>
            </a:pPr>
            <a:r>
              <a:rPr lang="en-IN" altLang="zh-CN" b="1" dirty="0"/>
              <a:t>3. Scenario Analysis:</a:t>
            </a:r>
            <a:endParaRPr lang="en-IN" altLang="zh-CN" b="1" dirty="0"/>
          </a:p>
          <a:p>
            <a:pPr marL="0" indent="457200">
              <a:buNone/>
            </a:pPr>
            <a:r>
              <a:rPr lang="en-IN" altLang="zh-CN" dirty="0"/>
              <a:t>Early identification of high-risk employees enables targeted retention  </a:t>
            </a:r>
            <a:endParaRPr lang="en-IN" altLang="zh-CN" dirty="0"/>
          </a:p>
          <a:p>
            <a:pPr marL="0" indent="457200">
              <a:buNone/>
            </a:pPr>
            <a:r>
              <a:rPr lang="en-IN" altLang="zh-CN" dirty="0"/>
              <a:t> efforts.</a:t>
            </a:r>
            <a:endParaRPr lang="en-IN" altLang="zh-CN" dirty="0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8495" y="1604645"/>
            <a:ext cx="11282680" cy="476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just"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latin typeface="+mn-lt"/>
                <a:ea typeface="+mn-ea"/>
              </a:rPr>
              <a:t>The pursuit of higher compensation with reduced working hours is a common aspiration among </a:t>
            </a:r>
            <a:endParaRPr lang="en-US" altLang="zh-CN" sz="2000" dirty="0">
              <a:latin typeface="+mn-lt"/>
              <a:ea typeface="+mn-ea"/>
            </a:endParaRPr>
          </a:p>
          <a:p>
            <a:pPr indent="0" algn="just" eaLnBrk="1" latin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IN" altLang="en-US" sz="2000" dirty="0">
                <a:latin typeface="+mn-lt"/>
                <a:ea typeface="+mn-ea"/>
              </a:rPr>
              <a:t>  </a:t>
            </a:r>
            <a:r>
              <a:rPr lang="en-US" altLang="zh-CN" sz="2000" dirty="0">
                <a:latin typeface="+mn-lt"/>
                <a:ea typeface="+mn-ea"/>
              </a:rPr>
              <a:t>employees.</a:t>
            </a:r>
            <a:endParaRPr lang="en-US" altLang="zh-CN" sz="2000" dirty="0">
              <a:latin typeface="+mn-lt"/>
              <a:ea typeface="+mn-ea"/>
            </a:endParaRPr>
          </a:p>
          <a:p>
            <a:pPr algn="just"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latin typeface="+mn-lt"/>
                <a:ea typeface="+mn-ea"/>
              </a:rPr>
              <a:t>Critical factors influencing attrition include:</a:t>
            </a:r>
            <a:r>
              <a:rPr lang="en-IN" altLang="en-US" sz="2000" dirty="0">
                <a:latin typeface="+mn-lt"/>
                <a:ea typeface="+mn-ea"/>
              </a:rPr>
              <a:t> </a:t>
            </a:r>
            <a:r>
              <a:rPr lang="en-US" altLang="zh-CN" sz="2000" dirty="0">
                <a:latin typeface="+mn-lt"/>
                <a:ea typeface="+mn-ea"/>
              </a:rPr>
              <a:t>Overtime</a:t>
            </a:r>
            <a:r>
              <a:rPr lang="en-IN" altLang="en-US" sz="2000" dirty="0">
                <a:latin typeface="+mn-lt"/>
                <a:ea typeface="+mn-ea"/>
              </a:rPr>
              <a:t>,</a:t>
            </a:r>
            <a:r>
              <a:rPr lang="en-US" altLang="zh-CN" sz="2000" dirty="0">
                <a:latin typeface="+mn-lt"/>
                <a:ea typeface="+mn-ea"/>
                <a:sym typeface="+mn-ea"/>
              </a:rPr>
              <a:t>Monthly salary</a:t>
            </a:r>
            <a:r>
              <a:rPr lang="en-IN" altLang="en-US" sz="2000" dirty="0">
                <a:latin typeface="+mn-lt"/>
                <a:ea typeface="+mn-ea"/>
                <a:sym typeface="+mn-ea"/>
              </a:rPr>
              <a:t>, Age &amp; Tenure</a:t>
            </a:r>
            <a:endParaRPr lang="en-US" altLang="zh-CN" sz="2000" dirty="0">
              <a:latin typeface="+mn-lt"/>
              <a:ea typeface="+mn-ea"/>
            </a:endParaRPr>
          </a:p>
          <a:p>
            <a:pPr algn="just"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latin typeface="+mn-lt"/>
                <a:ea typeface="+mn-ea"/>
              </a:rPr>
              <a:t>Early identification of high-risk employees is essential for effective turnover mitigation.</a:t>
            </a:r>
            <a:endParaRPr lang="en-US" altLang="zh-CN" sz="2000" dirty="0">
              <a:latin typeface="+mn-lt"/>
              <a:ea typeface="+mn-ea"/>
            </a:endParaRPr>
          </a:p>
          <a:p>
            <a:pPr algn="just"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latin typeface="+mn-lt"/>
                <a:ea typeface="+mn-ea"/>
              </a:rPr>
              <a:t>Engaging employees in meaningful dialogues can address concerns and enhance retention.</a:t>
            </a:r>
            <a:endParaRPr lang="en-US" altLang="zh-CN" sz="2000" dirty="0">
              <a:latin typeface="+mn-lt"/>
              <a:ea typeface="+mn-ea"/>
            </a:endParaRPr>
          </a:p>
          <a:p>
            <a:pPr algn="just"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latin typeface="+mn-lt"/>
                <a:ea typeface="+mn-ea"/>
              </a:rPr>
              <a:t>A proactive strategy fosters a positive workplace culture.</a:t>
            </a:r>
            <a:endParaRPr lang="en-US" altLang="zh-CN" sz="2000" dirty="0">
              <a:latin typeface="+mn-lt"/>
              <a:ea typeface="+mn-ea"/>
            </a:endParaRPr>
          </a:p>
          <a:p>
            <a:pPr algn="just"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latin typeface="+mn-lt"/>
                <a:ea typeface="+mn-ea"/>
              </a:rPr>
              <a:t>In cases where retention is not feasible, having a comprehensive recruitment plan ensures</a:t>
            </a:r>
            <a:endParaRPr lang="en-US" altLang="zh-CN" sz="2000" dirty="0">
              <a:latin typeface="+mn-lt"/>
              <a:ea typeface="+mn-ea"/>
            </a:endParaRPr>
          </a:p>
          <a:p>
            <a:pPr indent="0" algn="just" eaLnBrk="1" latin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+mn-lt"/>
                <a:ea typeface="+mn-ea"/>
              </a:rPr>
              <a:t> operational continuity.</a:t>
            </a:r>
            <a:endParaRPr lang="en-US" altLang="zh-CN" sz="2000" dirty="0">
              <a:latin typeface="+mn-lt"/>
              <a:ea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741714" y="575356"/>
            <a:ext cx="9612086" cy="905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zh-CN" dirty="0"/>
              <a:t>CONCLUSION</a:t>
            </a:r>
            <a:endParaRPr lang="en-IN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>
            <p:custDataLst>
              <p:tags r:id="rId1"/>
            </p:custDataLst>
          </p:nvPr>
        </p:nvCxnSpPr>
        <p:spPr bwMode="auto">
          <a:xfrm flipH="1">
            <a:off x="2147143" y="804309"/>
            <a:ext cx="26670" cy="45580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2"/>
            </p:custDataLst>
          </p:nvPr>
        </p:nvCxnSpPr>
        <p:spPr bwMode="auto">
          <a:xfrm>
            <a:off x="2173813" y="5359071"/>
            <a:ext cx="7511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3"/>
            </p:custDataLst>
          </p:nvPr>
        </p:nvCxnSpPr>
        <p:spPr bwMode="auto">
          <a:xfrm>
            <a:off x="9684956" y="804309"/>
            <a:ext cx="8890" cy="4547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4"/>
            </p:custDataLst>
          </p:nvPr>
        </p:nvCxnSpPr>
        <p:spPr bwMode="auto">
          <a:xfrm>
            <a:off x="2173813" y="804309"/>
            <a:ext cx="5796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5"/>
            </p:custDataLst>
          </p:nvPr>
        </p:nvCxnSpPr>
        <p:spPr bwMode="auto">
          <a:xfrm>
            <a:off x="9105319" y="804309"/>
            <a:ext cx="579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>
            <p:custDataLst>
              <p:tags r:id="rId6"/>
            </p:custDataLst>
          </p:nvPr>
        </p:nvSpPr>
        <p:spPr bwMode="auto">
          <a:xfrm>
            <a:off x="2881254" y="1528373"/>
            <a:ext cx="961888" cy="6008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chemeClr val="tx1"/>
                </a:solidFill>
              </a:rPr>
              <a:t>01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3" name="矩形 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976017" y="1548593"/>
            <a:ext cx="5001499" cy="56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+mn-lt"/>
                <a:ea typeface="+mn-ea"/>
                <a:sym typeface="+mn-lt"/>
              </a:rPr>
              <a:t>IBM HR Analytics Dataset</a:t>
            </a:r>
            <a:endParaRPr lang="en-US" altLang="zh-CN" sz="2000" dirty="0">
              <a:latin typeface="+mn-lt"/>
              <a:ea typeface="+mn-ea"/>
              <a:sym typeface="+mn-lt"/>
            </a:endParaRPr>
          </a:p>
        </p:txBody>
      </p:sp>
      <p:sp>
        <p:nvSpPr>
          <p:cNvPr id="15" name="矩形 14"/>
          <p:cNvSpPr/>
          <p:nvPr>
            <p:custDataLst>
              <p:tags r:id="rId8"/>
            </p:custDataLst>
          </p:nvPr>
        </p:nvSpPr>
        <p:spPr bwMode="auto">
          <a:xfrm>
            <a:off x="2881254" y="2337167"/>
            <a:ext cx="961888" cy="6008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chemeClr val="tx1"/>
                </a:solidFill>
              </a:rPr>
              <a:t>02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7" name="矩形 28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976017" y="2357387"/>
            <a:ext cx="5001499" cy="56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rmAutofit fontScale="6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da-DK" altLang="zh-CN" sz="2000" dirty="0" smtClean="0">
                <a:latin typeface="+mn-lt"/>
                <a:ea typeface="+mn-ea"/>
                <a:sym typeface="+mn-lt"/>
              </a:rPr>
              <a:t> Mishra S N, Lama D R and Pal Y 2016 Human Resource Predictive Analytics (HRPA) for HR Management in Organizations International Journal Of Scientific &amp; Technology Research 5(5) 33-35</a:t>
            </a:r>
            <a:endParaRPr lang="da-DK" altLang="zh-CN" sz="2000" dirty="0" smtClean="0">
              <a:latin typeface="+mn-lt"/>
              <a:ea typeface="+mn-ea"/>
              <a:sym typeface="+mn-lt"/>
            </a:endParaRPr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 bwMode="auto">
          <a:xfrm>
            <a:off x="2881254" y="3147887"/>
            <a:ext cx="961888" cy="6008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chemeClr val="tx1"/>
                </a:solidFill>
              </a:rPr>
              <a:t>03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21" name="矩形 2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976017" y="3169070"/>
            <a:ext cx="5001499" cy="5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rmAutofit fontScale="6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da-DK" altLang="zh-CN" sz="2000" dirty="0" smtClean="0">
                <a:latin typeface="+mn-lt"/>
                <a:ea typeface="+mn-ea"/>
                <a:sym typeface="+mn-lt"/>
              </a:rPr>
              <a:t>S. Yadav, A. Jain and D. Singh, "Early Prediction of Employee Attrition using Data Mining Techniques," 2018 IEEE 8th International Advance Computing Conference (IACC), Greater Noida, India, 2018, pp. 349-354</a:t>
            </a:r>
            <a:endParaRPr lang="da-DK" altLang="zh-CN" sz="2000" dirty="0" smtClean="0">
              <a:latin typeface="+mn-lt"/>
              <a:ea typeface="+mn-ea"/>
              <a:sym typeface="+mn-lt"/>
            </a:endParaRPr>
          </a:p>
        </p:txBody>
      </p:sp>
      <p:sp>
        <p:nvSpPr>
          <p:cNvPr id="23" name="矩形 22"/>
          <p:cNvSpPr/>
          <p:nvPr>
            <p:custDataLst>
              <p:tags r:id="rId12"/>
            </p:custDataLst>
          </p:nvPr>
        </p:nvSpPr>
        <p:spPr bwMode="auto">
          <a:xfrm>
            <a:off x="2881254" y="3958607"/>
            <a:ext cx="961888" cy="6008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 smtClean="0">
                <a:solidFill>
                  <a:schemeClr val="tx1"/>
                </a:solidFill>
              </a:rPr>
              <a:t>04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25" name="矩形 32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976017" y="3978827"/>
            <a:ext cx="5001499" cy="560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rmAutofit fontScale="5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da-DK" altLang="zh-CN" sz="2000" dirty="0" smtClean="0">
                <a:latin typeface="+mn-lt"/>
                <a:ea typeface="+mn-ea"/>
                <a:sym typeface="+mn-lt"/>
              </a:rPr>
              <a:t>Glavas, A., &amp; Willness, C. (2020). Employee (dis)engagement in corporate social responsibility. In D. Haski-Leventhal, L. Roza, &amp; S. Brammer (Eds.), Employee engagement in corporate social responsibility (pp. 10–27). Sage Publications Ltd.</a:t>
            </a:r>
            <a:endParaRPr lang="da-DK" altLang="zh-CN" sz="2000" dirty="0" smtClean="0">
              <a:latin typeface="+mn-lt"/>
              <a:ea typeface="+mn-ea"/>
              <a:sym typeface="+mn-lt"/>
            </a:endParaRPr>
          </a:p>
        </p:txBody>
      </p:sp>
      <p:sp>
        <p:nvSpPr>
          <p:cNvPr id="22" name="文本框 15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555365" y="419735"/>
            <a:ext cx="5054600" cy="769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N" altLang="zh-CN" sz="4400" b="1" dirty="0">
                <a:latin typeface="+mn-lt"/>
                <a:ea typeface="+mn-ea"/>
              </a:rPr>
              <a:t>References</a:t>
            </a:r>
            <a:endParaRPr lang="en-IN" altLang="zh-CN" sz="4400" b="1" dirty="0">
              <a:latin typeface="+mn-lt"/>
              <a:ea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Thank You</a:t>
            </a:r>
            <a:endParaRPr lang="en-US" altLang="zh-CN" dirty="0"/>
          </a:p>
        </p:txBody>
      </p:sp>
      <p:sp>
        <p:nvSpPr>
          <p:cNvPr id="11" name="副标题 10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85000" lnSpcReduction="10000"/>
          </a:bodyPr>
          <a:lstStyle/>
          <a:p>
            <a:pPr>
              <a:spcBef>
                <a:spcPct val="0"/>
              </a:spcBef>
            </a:pPr>
            <a:r>
              <a:rPr lang="en-US" altLang="zh-CN" smtClean="0"/>
              <a:t>THANK YOU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175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175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a"/>
  <p:tag name="KSO_WM_UNIT_INDEX" val="1"/>
  <p:tag name="KSO_WM_UNIT_ID" val="custom160175_1*a*1"/>
  <p:tag name="KSO_WM_UNIT_CLEAR" val="1"/>
  <p:tag name="KSO_WM_UNIT_LAYERLEVEL" val="1"/>
  <p:tag name="KSO_WM_UNIT_VALUE" val="15"/>
  <p:tag name="KSO_WM_UNIT_ISCONTENTSTITLE" val="0"/>
  <p:tag name="KSO_WM_UNIT_HIGHLIGHT" val="0"/>
  <p:tag name="KSO_WM_UNIT_COMPATIBLE" val="0"/>
  <p:tag name="KSO_WM_UNIT_PRESET_TEXT_INDEX" val="3"/>
  <p:tag name="KSO_WM_UNIT_PRESET_TEXT_LEN" val="21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b"/>
  <p:tag name="KSO_WM_UNIT_INDEX" val="1"/>
  <p:tag name="KSO_WM_UNIT_ID" val="custom160175_1*b*1"/>
  <p:tag name="KSO_WM_UNIT_CLEAR" val="1"/>
  <p:tag name="KSO_WM_UNIT_LAYERLEVEL" val="1"/>
  <p:tag name="KSO_WM_UNIT_VALUE" val="34"/>
  <p:tag name="KSO_WM_UNIT_ISCONTENTSTITLE" val="0"/>
  <p:tag name="KSO_WM_UNIT_HIGHLIGHT" val="0"/>
  <p:tag name="KSO_WM_UNIT_COMPATIBLE" val="0"/>
  <p:tag name="KSO_WM_UNIT_PRESET_TEXT_INDEX" val="3"/>
  <p:tag name="KSO_WM_UNIT_PRESET_TEXT_LEN" val="24"/>
</p:tagLst>
</file>

<file path=ppt/tags/tag5.xml><?xml version="1.0" encoding="utf-8"?>
<p:tagLst xmlns:p="http://schemas.openxmlformats.org/presentationml/2006/main">
  <p:tag name="KSO_WM_TEMPLATE_THUMBS_INDEX" val="1、4、5、9、12、15、19、21、22、24、29"/>
  <p:tag name="KSO_WM_TEMPLATE_CATEGORY" val="custom"/>
  <p:tag name="KSO_WM_TEMPLATE_INDEX" val="160175"/>
  <p:tag name="KSO_WM_TAG_VERSION" val="1.0"/>
  <p:tag name="KSO_WM_SLIDE_ID" val="custom160175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a"/>
  <p:tag name="KSO_WM_UNIT_INDEX" val="1"/>
  <p:tag name="KSO_WM_UNIT_ID" val="custom160175_2*a*1"/>
  <p:tag name="KSO_WM_UNIT_CLEAR" val="1"/>
  <p:tag name="KSO_WM_UNIT_LAYERLEVEL" val="1"/>
  <p:tag name="KSO_WM_UNIT_VALUE" val="4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f"/>
  <p:tag name="KSO_WM_UNIT_INDEX" val="1"/>
  <p:tag name="KSO_WM_UNIT_ID" val="custom160175_2*f*1"/>
  <p:tag name="KSO_WM_UNIT_CLEAR" val="1"/>
  <p:tag name="KSO_WM_UNIT_LAYERLEVEL" val="1"/>
  <p:tag name="KSO_WM_UNIT_VALUE" val="429"/>
  <p:tag name="KSO_WM_UNIT_HIGHLIGHT" val="0"/>
  <p:tag name="KSO_WM_UNIT_COMPATIBLE" val="0"/>
  <p:tag name="KSO_WM_UNIT_PRESET_TEXT_INDEX" val="5"/>
  <p:tag name="KSO_WM_UNIT_PRESET_TEXT_LEN" val="232"/>
</p:tagLst>
</file>

<file path=ppt/tags/tag8.xml><?xml version="1.0" encoding="utf-8"?>
<p:tagLst xmlns:p="http://schemas.openxmlformats.org/presentationml/2006/main">
  <p:tag name="KSO_WM_TEMPLATE_CATEGORY" val="custom"/>
  <p:tag name="KSO_WM_TEMPLATE_INDEX" val="160175"/>
  <p:tag name="KSO_WM_TAG_VERSION" val="1.0"/>
  <p:tag name="KSO_WM_SLIDE_ID" val="custom160175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44"/>
  <p:tag name="KSO_WM_SLIDE_SIZE" val="828*343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a"/>
  <p:tag name="KSO_WM_UNIT_INDEX" val="1"/>
  <p:tag name="KSO_WM_UNIT_ID" val="custom160175_3*a*1"/>
  <p:tag name="KSO_WM_UNIT_CLEAR" val="1"/>
  <p:tag name="KSO_WM_UNIT_LAYERLEVEL" val="1"/>
  <p:tag name="KSO_WM_UNIT_VALUE" val="4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f"/>
  <p:tag name="KSO_WM_UNIT_INDEX" val="1"/>
  <p:tag name="KSO_WM_UNIT_ID" val="custom160175_3*f*1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11.xml><?xml version="1.0" encoding="utf-8"?>
<p:tagLst xmlns:p="http://schemas.openxmlformats.org/presentationml/2006/main">
  <p:tag name="KSO_WM_TEMPLATE_CATEGORY" val="custom"/>
  <p:tag name="KSO_WM_TEMPLATE_INDEX" val="160175"/>
  <p:tag name="KSO_WM_TAG_VERSION" val="1.0"/>
  <p:tag name="KSO_WM_SLIDE_ID" val="custom160175_3"/>
  <p:tag name="KSO_WM_SLIDE_INDEX" val="3"/>
  <p:tag name="KSO_WM_SLIDE_ITEM_CNT" val="2"/>
  <p:tag name="KSO_WM_SLIDE_LAYOUT" val="a_f"/>
  <p:tag name="KSO_WM_SLIDE_LAYOUT_CNT" val="1_2"/>
  <p:tag name="KSO_WM_SLIDE_TYPE" val="text"/>
  <p:tag name="KSO_WM_BEAUTIFY_FLAG" val="#wm#"/>
  <p:tag name="KSO_WM_SLIDE_POSITION" val="66*144"/>
  <p:tag name="KSO_WM_SLIDE_SIZE" val="828*343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a"/>
  <p:tag name="KSO_WM_UNIT_INDEX" val="1"/>
  <p:tag name="KSO_WM_UNIT_ID" val="custom160175_3*a*1"/>
  <p:tag name="KSO_WM_UNIT_CLEAR" val="1"/>
  <p:tag name="KSO_WM_UNIT_LAYERLEVEL" val="1"/>
  <p:tag name="KSO_WM_UNIT_VALUE" val="4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f"/>
  <p:tag name="KSO_WM_UNIT_INDEX" val="1"/>
  <p:tag name="KSO_WM_UNIT_ID" val="custom160175_3*f*1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14.xml><?xml version="1.0" encoding="utf-8"?>
<p:tagLst xmlns:p="http://schemas.openxmlformats.org/presentationml/2006/main">
  <p:tag name="KSO_WM_TEMPLATE_CATEGORY" val="custom"/>
  <p:tag name="KSO_WM_TEMPLATE_INDEX" val="160175"/>
  <p:tag name="KSO_WM_TAG_VERSION" val="1.0"/>
  <p:tag name="KSO_WM_SLIDE_ID" val="custom160175_3"/>
  <p:tag name="KSO_WM_SLIDE_INDEX" val="3"/>
  <p:tag name="KSO_WM_SLIDE_ITEM_CNT" val="2"/>
  <p:tag name="KSO_WM_SLIDE_LAYOUT" val="a_f"/>
  <p:tag name="KSO_WM_SLIDE_LAYOUT_CNT" val="1_2"/>
  <p:tag name="KSO_WM_SLIDE_TYPE" val="text"/>
  <p:tag name="KSO_WM_BEAUTIFY_FLAG" val="#wm#"/>
  <p:tag name="KSO_WM_SLIDE_POSITION" val="66*144"/>
  <p:tag name="KSO_WM_SLIDE_SIZE" val="828*34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a"/>
  <p:tag name="KSO_WM_UNIT_INDEX" val="1"/>
  <p:tag name="KSO_WM_UNIT_ID" val="custom160175_12*a*1"/>
  <p:tag name="KSO_WM_UNIT_CLEAR" val="1"/>
  <p:tag name="KSO_WM_UNIT_LAYERLEVEL" val="1"/>
  <p:tag name="KSO_WM_UNIT_VALUE" val="15"/>
  <p:tag name="KSO_WM_UNIT_ISCONTENTSTITLE" val="0"/>
  <p:tag name="KSO_WM_UNIT_HIGHLIGHT" val="0"/>
  <p:tag name="KSO_WM_UNIT_COMPATIBLE" val="0"/>
  <p:tag name="KSO_WM_UNIT_PRESET_TEXT_INDEX" val="3"/>
  <p:tag name="KSO_WM_UNIT_PRESET_TEXT_LEN" val="21"/>
</p:tagLst>
</file>

<file path=ppt/tags/tag16.xml><?xml version="1.0" encoding="utf-8"?>
<p:tagLst xmlns:p="http://schemas.openxmlformats.org/presentationml/2006/main">
  <p:tag name="KSO_WM_TEMPLATE_CATEGORY" val="custom"/>
  <p:tag name="KSO_WM_TEMPLATE_INDEX" val="160175"/>
  <p:tag name="KSO_WM_TAG_VERSION" val="1.0"/>
  <p:tag name="KSO_WM_SLIDE_ID" val="custom160175_12"/>
  <p:tag name="KSO_WM_SLIDE_INDEX" val="12"/>
  <p:tag name="KSO_WM_SLIDE_ITEM_CNT" val="2"/>
  <p:tag name="KSO_WM_SLIDE_LAYOUT" val="a_b_e"/>
  <p:tag name="KSO_WM_SLIDE_LAYOUT_CNT" val="1_1_1"/>
  <p:tag name="KSO_WM_SLIDE_TYPE" val="sectionTitle"/>
  <p:tag name="KSO_WM_BEAUTIFY_FLAG" val="#wm#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f"/>
  <p:tag name="KSO_WM_UNIT_INDEX" val="1"/>
  <p:tag name="KSO_WM_UNIT_ID" val="custom160175_3*f*1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18.xml><?xml version="1.0" encoding="utf-8"?>
<p:tagLst xmlns:p="http://schemas.openxmlformats.org/presentationml/2006/main">
  <p:tag name="KSO_WM_TEMPLATE_CATEGORY" val="custom"/>
  <p:tag name="KSO_WM_TEMPLATE_INDEX" val="160175"/>
  <p:tag name="KSO_WM_TAG_VERSION" val="1.0"/>
  <p:tag name="KSO_WM_SLIDE_ID" val="custom160175_3"/>
  <p:tag name="KSO_WM_SLIDE_INDEX" val="3"/>
  <p:tag name="KSO_WM_SLIDE_ITEM_CNT" val="2"/>
  <p:tag name="KSO_WM_SLIDE_LAYOUT" val="a_f"/>
  <p:tag name="KSO_WM_SLIDE_LAYOUT_CNT" val="1_2"/>
  <p:tag name="KSO_WM_SLIDE_TYPE" val="text"/>
  <p:tag name="KSO_WM_BEAUTIFY_FLAG" val="#wm#"/>
  <p:tag name="KSO_WM_SLIDE_POSITION" val="66*144"/>
  <p:tag name="KSO_WM_SLIDE_SIZE" val="828*343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f"/>
  <p:tag name="KSO_WM_UNIT_INDEX" val="1"/>
  <p:tag name="KSO_WM_UNIT_ID" val="custom160175_19*f*1"/>
  <p:tag name="KSO_WM_UNIT_CLEAR" val="1"/>
  <p:tag name="KSO_WM_UNIT_LAYERLEVEL" val="1"/>
  <p:tag name="KSO_WM_UNIT_VALUE" val="100"/>
  <p:tag name="KSO_WM_UNIT_HIGHLIGHT" val="0"/>
  <p:tag name="KSO_WM_UNIT_COMPATIBLE" val="0"/>
  <p:tag name="KSO_WM_UNIT_PRESET_TEXT_INDEX" val="5"/>
  <p:tag name="KSO_WM_UNIT_PRESET_TEXT_LEN" val="200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a"/>
  <p:tag name="KSO_WM_UNIT_INDEX" val="1"/>
  <p:tag name="KSO_WM_UNIT_ID" val="custom160175_19*a*1"/>
  <p:tag name="KSO_WM_UNIT_CLEAR" val="1"/>
  <p:tag name="KSO_WM_UNIT_LAYERLEVEL" val="1"/>
  <p:tag name="KSO_WM_UNIT_VALUE" val="23"/>
  <p:tag name="KSO_WM_UNIT_ISCONTENTSTITLE" val="0"/>
  <p:tag name="KSO_WM_UNIT_HIGHLIGHT" val="0"/>
  <p:tag name="KSO_WM_UNIT_COMPATIBLE" val="0"/>
  <p:tag name="KSO_WM_UNIT_PRESET_TEXT_INDEX" val="3"/>
  <p:tag name="KSO_WM_UNIT_PRESET_TEXT_LEN" val="24"/>
</p:tagLst>
</file>

<file path=ppt/tags/tag21.xml><?xml version="1.0" encoding="utf-8"?>
<p:tagLst xmlns:p="http://schemas.openxmlformats.org/presentationml/2006/main">
  <p:tag name="KSO_WM_TEMPLATE_CATEGORY" val="custom"/>
  <p:tag name="KSO_WM_TEMPLATE_INDEX" val="160175"/>
  <p:tag name="KSO_WM_TAG_VERSION" val="1.0"/>
  <p:tag name="KSO_WM_SLIDE_ID" val="custom160175_19"/>
  <p:tag name="KSO_WM_SLIDE_INDEX" val="19"/>
  <p:tag name="KSO_WM_SLIDE_ITEM_CNT" val="2"/>
  <p:tag name="KSO_WM_SLIDE_LAYOUT" val="a_f_d"/>
  <p:tag name="KSO_WM_SLIDE_LAYOUT_CNT" val="1_1_1"/>
  <p:tag name="KSO_WM_SLIDE_TYPE" val="text"/>
  <p:tag name="KSO_WM_BEAUTIFY_FLAG" val="#wm#"/>
  <p:tag name="KSO_WM_SLIDE_POSITION" val="72*110"/>
  <p:tag name="KSO_WM_SLIDE_SIZE" val="805*285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l_i"/>
  <p:tag name="KSO_WM_UNIT_INDEX" val="1_1"/>
  <p:tag name="KSO_WM_UNIT_ID" val="custom160175_11*l_i*1_1"/>
  <p:tag name="KSO_WM_UNIT_CLEAR" val="1"/>
  <p:tag name="KSO_WM_UNIT_LAYERLEVEL" val="1_1"/>
  <p:tag name="KSO_WM_DIAGRAM_GROUP_CODE" val="l1-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l_i"/>
  <p:tag name="KSO_WM_UNIT_INDEX" val="1_2"/>
  <p:tag name="KSO_WM_UNIT_ID" val="custom160175_11*l_i*1_2"/>
  <p:tag name="KSO_WM_UNIT_CLEAR" val="1"/>
  <p:tag name="KSO_WM_UNIT_LAYERLEVEL" val="1_1"/>
  <p:tag name="KSO_WM_DIAGRAM_GROUP_CODE" val="l1-1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l_i"/>
  <p:tag name="KSO_WM_UNIT_INDEX" val="1_3"/>
  <p:tag name="KSO_WM_UNIT_ID" val="custom160175_11*l_i*1_3"/>
  <p:tag name="KSO_WM_UNIT_CLEAR" val="1"/>
  <p:tag name="KSO_WM_UNIT_LAYERLEVEL" val="1_1"/>
  <p:tag name="KSO_WM_DIAGRAM_GROUP_CODE" val="l1-1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l_i"/>
  <p:tag name="KSO_WM_UNIT_INDEX" val="1_4"/>
  <p:tag name="KSO_WM_UNIT_ID" val="custom160175_11*l_i*1_4"/>
  <p:tag name="KSO_WM_UNIT_CLEAR" val="1"/>
  <p:tag name="KSO_WM_UNIT_LAYERLEVEL" val="1_1"/>
  <p:tag name="KSO_WM_DIAGRAM_GROUP_CODE" val="l1-1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l_i"/>
  <p:tag name="KSO_WM_UNIT_INDEX" val="1_5"/>
  <p:tag name="KSO_WM_UNIT_ID" val="custom160175_11*l_i*1_5"/>
  <p:tag name="KSO_WM_UNIT_CLEAR" val="1"/>
  <p:tag name="KSO_WM_UNIT_LAYERLEVEL" val="1_1"/>
  <p:tag name="KSO_WM_DIAGRAM_GROUP_CODE" val="l1-1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l_i"/>
  <p:tag name="KSO_WM_UNIT_INDEX" val="1_6"/>
  <p:tag name="KSO_WM_UNIT_ID" val="custom160175_11*l_i*1_6"/>
  <p:tag name="KSO_WM_UNIT_CLEAR" val="1"/>
  <p:tag name="KSO_WM_UNIT_LAYERLEVEL" val="1_1"/>
  <p:tag name="KSO_WM_DIAGRAM_GROUP_CODE" val="l1-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l_h_f"/>
  <p:tag name="KSO_WM_UNIT_INDEX" val="1_1_1"/>
  <p:tag name="KSO_WM_UNIT_ID" val="custom160175_11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4"/>
  <p:tag name="KSO_WM_DIAGRAM_GROUP_CODE" val="l1-1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l_i"/>
  <p:tag name="KSO_WM_UNIT_INDEX" val="1_7"/>
  <p:tag name="KSO_WM_UNIT_ID" val="custom160175_11*l_i*1_7"/>
  <p:tag name="KSO_WM_UNIT_CLEAR" val="1"/>
  <p:tag name="KSO_WM_UNIT_LAYERLEVEL" val="1_1"/>
  <p:tag name="KSO_WM_DIAGRAM_GROUP_CODE" val="l1-1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l_h_f"/>
  <p:tag name="KSO_WM_UNIT_INDEX" val="1_2_1"/>
  <p:tag name="KSO_WM_UNIT_ID" val="custom160175_11*l_h_f*1_2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4"/>
  <p:tag name="KSO_WM_DIAGRAM_GROUP_CODE" val="l1-1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l_i"/>
  <p:tag name="KSO_WM_UNIT_INDEX" val="1_8"/>
  <p:tag name="KSO_WM_UNIT_ID" val="custom160175_11*l_i*1_8"/>
  <p:tag name="KSO_WM_UNIT_CLEAR" val="1"/>
  <p:tag name="KSO_WM_UNIT_LAYERLEVEL" val="1_1"/>
  <p:tag name="KSO_WM_DIAGRAM_GROUP_CODE" val="l1-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l_h_f"/>
  <p:tag name="KSO_WM_UNIT_INDEX" val="1_3_1"/>
  <p:tag name="KSO_WM_UNIT_ID" val="custom160175_11*l_h_f*1_3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4"/>
  <p:tag name="KSO_WM_DIAGRAM_GROUP_CODE" val="l1-1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l_i"/>
  <p:tag name="KSO_WM_UNIT_INDEX" val="1_9"/>
  <p:tag name="KSO_WM_UNIT_ID" val="custom160175_11*l_i*1_9"/>
  <p:tag name="KSO_WM_UNIT_CLEAR" val="1"/>
  <p:tag name="KSO_WM_UNIT_LAYERLEVEL" val="1_1"/>
  <p:tag name="KSO_WM_DIAGRAM_GROUP_CODE" val="l1-1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l_h_f"/>
  <p:tag name="KSO_WM_UNIT_INDEX" val="1_4_1"/>
  <p:tag name="KSO_WM_UNIT_ID" val="custom160175_11*l_h_f*1_4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4"/>
  <p:tag name="KSO_WM_DIAGRAM_GROUP_CODE" val="l1-1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b"/>
  <p:tag name="KSO_WM_UNIT_INDEX" val="1"/>
  <p:tag name="KSO_WM_UNIT_ID" val="custom160175_11*b*1"/>
  <p:tag name="KSO_WM_UNIT_CLEAR" val="1"/>
  <p:tag name="KSO_WM_UNIT_LAYERLEVEL" val="1"/>
  <p:tag name="KSO_WM_UNIT_VALUE" val="4"/>
  <p:tag name="KSO_WM_UNIT_ISCONTENTSTITLE" val="1"/>
  <p:tag name="KSO_WM_UNIT_HIGHLIGHT" val="0"/>
  <p:tag name="KSO_WM_UNIT_COMPATIBLE" val="0"/>
  <p:tag name="KSO_WM_UNIT_PRESET_TEXT" val="content"/>
</p:tagLst>
</file>

<file path=ppt/tags/tag36.xml><?xml version="1.0" encoding="utf-8"?>
<p:tagLst xmlns:p="http://schemas.openxmlformats.org/presentationml/2006/main">
  <p:tag name="KSO_WM_TEMPLATE_CATEGORY" val="custom"/>
  <p:tag name="KSO_WM_TEMPLATE_INDEX" val="160175"/>
  <p:tag name="KSO_WM_TAG_VERSION" val="1.0"/>
  <p:tag name="KSO_WM_SLIDE_ID" val="custom160175_11"/>
  <p:tag name="KSO_WM_SLIDE_INDEX" val="11"/>
  <p:tag name="KSO_WM_SLIDE_ITEM_CNT" val="6"/>
  <p:tag name="KSO_WM_SLIDE_LAYOUT" val="a_b_l"/>
  <p:tag name="KSO_WM_SLIDE_LAYOUT_CNT" val="1_1_1"/>
  <p:tag name="KSO_WM_SLIDE_TYPE" val="contents"/>
  <p:tag name="KSO_WM_BEAUTIFY_FLAG" val="#wm#"/>
  <p:tag name="KSO_WM_DIAGRAM_GROUP_CODE" val="l1-1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a"/>
  <p:tag name="KSO_WM_UNIT_INDEX" val="1"/>
  <p:tag name="KSO_WM_UNIT_ID" val="custom160175_29*a*1"/>
  <p:tag name="KSO_WM_UNIT_CLEAR" val="1"/>
  <p:tag name="KSO_WM_UNIT_LAYERLEVEL" val="1"/>
  <p:tag name="KSO_WM_UNIT_VALUE" val="5"/>
  <p:tag name="KSO_WM_UNIT_ISCONTENTSTITLE" val="0"/>
  <p:tag name="KSO_WM_UNIT_HIGHLIGHT" val="0"/>
  <p:tag name="KSO_WM_UNIT_COMPATIBLE" val="0"/>
  <p:tag name="KSO_WM_UNIT_PRESET_TEXT" val="谢 谢 大 家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75"/>
  <p:tag name="KSO_WM_UNIT_TYPE" val="b"/>
  <p:tag name="KSO_WM_UNIT_INDEX" val="1"/>
  <p:tag name="KSO_WM_UNIT_ID" val="custom160175_29*b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" val="THANK YOU"/>
</p:tagLst>
</file>

<file path=ppt/tags/tag39.xml><?xml version="1.0" encoding="utf-8"?>
<p:tagLst xmlns:p="http://schemas.openxmlformats.org/presentationml/2006/main">
  <p:tag name="KSO_WM_TEMPLATE_CATEGORY" val="custom"/>
  <p:tag name="KSO_WM_TEMPLATE_INDEX" val="160175"/>
  <p:tag name="KSO_WM_TAG_VERSION" val="1.0"/>
  <p:tag name="KSO_WM_SLIDE_ID" val="custom160175_29"/>
  <p:tag name="KSO_WM_SLIDE_INDEX" val="29"/>
  <p:tag name="KSO_WM_SLIDE_ITEM_CNT" val="2"/>
  <p:tag name="KSO_WM_SLIDE_LAYOUT" val="a_b"/>
  <p:tag name="KSO_WM_SLIDE_LAYOUT_CNT" val="1_1"/>
  <p:tag name="KSO_WM_SLIDE_TYPE" val="endPage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自定义 30">
      <a:dk1>
        <a:srgbClr val="FFFFFF"/>
      </a:dk1>
      <a:lt1>
        <a:srgbClr val="55595B"/>
      </a:lt1>
      <a:dk2>
        <a:srgbClr val="FFFFFF"/>
      </a:dk2>
      <a:lt2>
        <a:srgbClr val="55595B"/>
      </a:lt2>
      <a:accent1>
        <a:srgbClr val="03B4D2"/>
      </a:accent1>
      <a:accent2>
        <a:srgbClr val="628EE3"/>
      </a:accent2>
      <a:accent3>
        <a:srgbClr val="2BC3B5"/>
      </a:accent3>
      <a:accent4>
        <a:srgbClr val="92D050"/>
      </a:accent4>
      <a:accent5>
        <a:srgbClr val="C00000"/>
      </a:accent5>
      <a:accent6>
        <a:srgbClr val="FFC000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A000120141114A02KPBG</Template>
  <TotalTime>0</TotalTime>
  <Words>3033</Words>
  <Application>WPS Presentation</Application>
  <PresentationFormat>宽屏</PresentationFormat>
  <Paragraphs>87</Paragraphs>
  <Slides>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Microsoft YaHei</vt:lpstr>
      <vt:lpstr>Arial Unicode MS</vt:lpstr>
      <vt:lpstr>黑体</vt:lpstr>
      <vt:lpstr>Merriweather</vt:lpstr>
      <vt:lpstr>Segoe Print</vt:lpstr>
      <vt:lpstr>Arial</vt:lpstr>
      <vt:lpstr>Office 主题</vt:lpstr>
      <vt:lpstr>LOREM IPSUM DOLOR LOR</vt:lpstr>
      <vt:lpstr>PowerPoint 演示文稿</vt:lpstr>
      <vt:lpstr>PowerPoint 演示文稿</vt:lpstr>
      <vt:lpstr>PowerPoint 演示文稿</vt:lpstr>
      <vt:lpstr>LOREM IPSUM DOLOR LOR</vt:lpstr>
      <vt:lpstr>PowerPoint 演示文稿</vt:lpstr>
      <vt:lpstr>PowerPoint 演示文稿</vt:lpstr>
      <vt:lpstr>PowerPoint 演示文稿</vt:lpstr>
      <vt:lpstr>Thank You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Ayushi Kapgate</cp:lastModifiedBy>
  <cp:revision>112</cp:revision>
  <dcterms:created xsi:type="dcterms:W3CDTF">2015-11-10T02:20:00Z</dcterms:created>
  <dcterms:modified xsi:type="dcterms:W3CDTF">2024-10-17T20:41:38Z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1033-12.2.0.13472</vt:lpwstr>
  </property>
  <property fmtid="{D5CDD505-2E9C-101B-9397-08002B2CF9AE}" pid="3" name="ICV">
    <vt:lpwstr>68925DF5EFCE4E79B613A59D86E201C7_13</vt:lpwstr>
  </property>
</Properties>
</file>